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e8099f5d7b424a" /><Relationship Type="http://schemas.openxmlformats.org/officeDocument/2006/relationships/extended-properties" Target="/docProps/app.xml" Id="R712eb54feaee46d1" /><Relationship Type="http://schemas.openxmlformats.org/officeDocument/2006/relationships/officeDocument" Target="/ppt/presentation.xml" Id="R1cfbe56d150d419e" /></Relationships>
</file>

<file path=ppt/presentation.xml><?xml version="1.0" encoding="utf-8"?>
<p:presentation xmlns:p="http://schemas.openxmlformats.org/presentationml/2006/main">
  <p:sldMasterIdLst>
    <p:sldMasterId xmlns:r="http://schemas.openxmlformats.org/officeDocument/2006/relationships" id="2147483648" r:id="Rb9a8eddfa9e240e5"/>
  </p:sldMasterIdLst>
  <p:notesMasterIdLst>
    <p:notesMasterId xmlns:r="http://schemas.openxmlformats.org/officeDocument/2006/relationships" r:id="R2ae1d3fa7a3545e0"/>
  </p:notesMasterIdLst>
  <p:sldIdLst>
    <p:sldId xmlns:r="http://schemas.openxmlformats.org/officeDocument/2006/relationships" id="256" r:id="R17f6ced90b6d49c3"/>
    <p:sldId xmlns:r="http://schemas.openxmlformats.org/officeDocument/2006/relationships" id="257" r:id="R184d844dfadd410c"/>
    <p:sldId xmlns:r="http://schemas.openxmlformats.org/officeDocument/2006/relationships" id="258" r:id="Rc474db270eac40c2"/>
    <p:sldId xmlns:r="http://schemas.openxmlformats.org/officeDocument/2006/relationships" id="259" r:id="Rdaa1c61d19834679"/>
    <p:sldId xmlns:r="http://schemas.openxmlformats.org/officeDocument/2006/relationships" id="260" r:id="R9bd1a9435d984770"/>
    <p:sldId xmlns:r="http://schemas.openxmlformats.org/officeDocument/2006/relationships" id="261" r:id="R990686a2a5d941b0"/>
    <p:sldId xmlns:r="http://schemas.openxmlformats.org/officeDocument/2006/relationships" id="262" r:id="R56e1ab2af08e4872"/>
    <p:sldId xmlns:r="http://schemas.openxmlformats.org/officeDocument/2006/relationships" id="263" r:id="R37a42ff8d6df4fb0"/>
    <p:sldId xmlns:r="http://schemas.openxmlformats.org/officeDocument/2006/relationships" id="264" r:id="Rcb2c0352ec3d4ba0"/>
    <p:sldId xmlns:r="http://schemas.openxmlformats.org/officeDocument/2006/relationships" id="265" r:id="Ra28c1d73211048a4"/>
    <p:sldId xmlns:r="http://schemas.openxmlformats.org/officeDocument/2006/relationships" id="266" r:id="R17b869886612490a"/>
    <p:sldId xmlns:r="http://schemas.openxmlformats.org/officeDocument/2006/relationships" id="267" r:id="R0a4936e1e32b4b12"/>
    <p:sldId xmlns:r="http://schemas.openxmlformats.org/officeDocument/2006/relationships" id="268" r:id="R8ef0d9134893427a"/>
    <p:sldId xmlns:r="http://schemas.openxmlformats.org/officeDocument/2006/relationships" id="269" r:id="R9779bf477aea4173"/>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0c18b0274fe438c" /><Relationship Type="http://schemas.openxmlformats.org/officeDocument/2006/relationships/slideMaster" Target="/ppt/slideMasters/slideMaster1.xml" Id="Rb9a8eddfa9e240e5" /><Relationship Type="http://schemas.openxmlformats.org/officeDocument/2006/relationships/notesMaster" Target="/ppt/notesMasters/notesMaster1.xml" Id="R2ae1d3fa7a3545e0" /><Relationship Type="http://schemas.openxmlformats.org/officeDocument/2006/relationships/presProps" Target="/ppt/presProps.xml" Id="R8b94a2c70ce84a5e" /><Relationship Type="http://schemas.openxmlformats.org/officeDocument/2006/relationships/tableStyles" Target="/ppt/tableStyles.xml" Id="R91665487c88149b6" /><Relationship Type="http://schemas.openxmlformats.org/officeDocument/2006/relationships/slide" Target="/ppt/slides/slide1.xml" Id="R17f6ced90b6d49c3" /><Relationship Type="http://schemas.openxmlformats.org/officeDocument/2006/relationships/slide" Target="/ppt/slides/slide2.xml" Id="R184d844dfadd410c" /><Relationship Type="http://schemas.openxmlformats.org/officeDocument/2006/relationships/slide" Target="/ppt/slides/slide3.xml" Id="Rc474db270eac40c2" /><Relationship Type="http://schemas.openxmlformats.org/officeDocument/2006/relationships/slide" Target="/ppt/slides/slide4.xml" Id="Rdaa1c61d19834679" /><Relationship Type="http://schemas.openxmlformats.org/officeDocument/2006/relationships/slide" Target="/ppt/slides/slide5.xml" Id="R9bd1a9435d984770" /><Relationship Type="http://schemas.openxmlformats.org/officeDocument/2006/relationships/slide" Target="/ppt/slides/slide6.xml" Id="R990686a2a5d941b0" /><Relationship Type="http://schemas.openxmlformats.org/officeDocument/2006/relationships/slide" Target="/ppt/slides/slide7.xml" Id="R56e1ab2af08e4872" /><Relationship Type="http://schemas.openxmlformats.org/officeDocument/2006/relationships/slide" Target="/ppt/slides/slide8.xml" Id="R37a42ff8d6df4fb0" /><Relationship Type="http://schemas.openxmlformats.org/officeDocument/2006/relationships/slide" Target="/ppt/slides/slide9.xml" Id="Rcb2c0352ec3d4ba0" /><Relationship Type="http://schemas.openxmlformats.org/officeDocument/2006/relationships/slide" Target="/ppt/slides/slide10.xml" Id="Ra28c1d73211048a4" /><Relationship Type="http://schemas.openxmlformats.org/officeDocument/2006/relationships/slide" Target="/ppt/slides/slide11.xml" Id="R17b869886612490a" /><Relationship Type="http://schemas.openxmlformats.org/officeDocument/2006/relationships/slide" Target="/ppt/slides/slide12.xml" Id="R0a4936e1e32b4b12" /><Relationship Type="http://schemas.openxmlformats.org/officeDocument/2006/relationships/slide" Target="/ppt/slides/slide13.xml" Id="R8ef0d9134893427a" /><Relationship Type="http://schemas.openxmlformats.org/officeDocument/2006/relationships/slide" Target="/ppt/slides/slide14.xml" Id="R9779bf477aea41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b3bea5025545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3f12bd49854184" /><Relationship Type="http://schemas.openxmlformats.org/officeDocument/2006/relationships/notesMaster" Target="/ppt/notesMasters/notesMaster1.xml" Id="Rb97cfa5183294e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dfa28cda0c4676" /><Relationship Type="http://schemas.openxmlformats.org/officeDocument/2006/relationships/notesMaster" Target="/ppt/notesMasters/notesMaster1.xml" Id="R9c3ddde11a8c4b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a1016adeaf4bfb" /><Relationship Type="http://schemas.openxmlformats.org/officeDocument/2006/relationships/notesMaster" Target="/ppt/notesMasters/notesMaster1.xml" Id="R235d8274f63242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cf239472ea4967" /><Relationship Type="http://schemas.openxmlformats.org/officeDocument/2006/relationships/notesMaster" Target="/ppt/notesMasters/notesMaster1.xml" Id="R2bfc7994cd1f41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96af351f684546" /><Relationship Type="http://schemas.openxmlformats.org/officeDocument/2006/relationships/notesMaster" Target="/ppt/notesMasters/notesMaster1.xml" Id="Rd55ebb160c0841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995cc0641f4a54" /><Relationship Type="http://schemas.openxmlformats.org/officeDocument/2006/relationships/notesMaster" Target="/ppt/notesMasters/notesMaster1.xml" Id="R83677ffc77f8419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b8b11132224619" /><Relationship Type="http://schemas.openxmlformats.org/officeDocument/2006/relationships/notesMaster" Target="/ppt/notesMasters/notesMaster1.xml" Id="Rd55e197210ee4d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d029b1380b4c6a" /><Relationship Type="http://schemas.openxmlformats.org/officeDocument/2006/relationships/notesMaster" Target="/ppt/notesMasters/notesMaster1.xml" Id="Rdf12454dd6d04a87" /></Relationships>
</file>

<file path=ppt/notesSlides/_rels/notesSlide9.xml.rels>&#65279;<?xml version="1.0" encoding="utf-8"?><Relationships xmlns="http://schemas.openxmlformats.org/package/2006/relationships"><Relationship Type="http://schemas.openxmlformats.org/officeDocument/2006/relationships/slide" Target="/ppt/slides/slide9.xml" Id="Rd87adddade0149cb" /><Relationship Type="http://schemas.openxmlformats.org/officeDocument/2006/relationships/notesMaster" Target="/ppt/notesMasters/notesMaster1.xml" Id="R040e894cd00b4ee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a76af96a57443c" /><Relationship Type="http://schemas.openxmlformats.org/officeDocument/2006/relationships/notesMaster" Target="/ppt/notesMasters/notesMaster1.xml" Id="R3a3c31f8789c4e0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4cb908448fd4c23" /><Relationship Type="http://schemas.openxmlformats.org/officeDocument/2006/relationships/notesMaster" Target="/ppt/notesMasters/notesMaster1.xml" Id="R02647477ec624cc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f7975e0ea7e41fe" /><Relationship Type="http://schemas.openxmlformats.org/officeDocument/2006/relationships/notesMaster" Target="/ppt/notesMasters/notesMaster1.xml" Id="R0e555d94254e4a7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175b9e055c248c1" /><Relationship Type="http://schemas.openxmlformats.org/officeDocument/2006/relationships/notesMaster" Target="/ppt/notesMasters/notesMaster1.xml" Id="Reafb90e918e249b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cc30c9d17864a2f" /><Relationship Type="http://schemas.openxmlformats.org/officeDocument/2006/relationships/notesMaster" Target="/ppt/notesMasters/notesMaster1.xml" Id="R3ab381e7d9b94e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 decision requested: target architecture direction, minimum requirements, accountable ownership and a phased adoption approach. Approval does not imply that capabilities are already implemented. Business cases, delivery dates and platform selections require their applicable decisions.</a:t>
            </a:r>
          </a:p>
          <a:p xmlns:a="http://schemas.openxmlformats.org/drawingml/2006/main">
            <a:r>
              <a:t/>
            </a:r>
          </a:p>
          <a:p xmlns:a="http://schemas.openxmlformats.org/drawingml/2006/main">
            <a:r>
              <a:t>Source: supplied Euroclear API Target Architecture slide photographs: IMG_AAF8A2D7-C609-481E-AFBA-841FF3414048.jpeg, IMG_9F14B2A3-D384-4285-B5F5-CE664C86E548.jpeg, IMG_6ABA1DF8-9CCC-42BE-A42A-C9227E459D2A.jpeg. Revised following the review feedback supplied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channel refers to the external engagement role of Euroclear-provided external APIs. External APIs consumed from other organisations are described explicitly as third-party APIs. Protocol and integration-pattern selection follow the Integration Decision Framework. North–South and East–West require a defined boundary in deployment views and are not synonyms for external and internal.</a:t>
            </a:r>
          </a:p>
          <a:p xmlns:a="http://schemas.openxmlformats.org/drawingml/2006/main">
            <a:r>
              <a:t/>
            </a:r>
          </a:p>
          <a:p xmlns:a="http://schemas.openxmlformats.org/drawingml/2006/main">
            <a:r>
              <a:t>Source: supplied Euroclear API Target Architecture slide photographs: IMG_489D9016-0C2A-4BD8-839B-BC4CB8B9E993.jpeg, IMG_2CAE9921-EE12-4817-BBA6-702398291534.jpeg. Revised following the review feedback supplied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combines the original background and architecture vision. An internal API does not require an external equivalent. External APIs are managed offerings for external consumers. Internal APIs are managed service contracts for internal integration. Reuse is assessed against consumer needs and security boundaries.</a:t>
            </a:r>
          </a:p>
          <a:p xmlns:a="http://schemas.openxmlformats.org/drawingml/2006/main">
            <a:r>
              <a:t/>
            </a:r>
          </a:p>
          <a:p xmlns:a="http://schemas.openxmlformats.org/drawingml/2006/main">
            <a:r>
              <a:t>Source: supplied Euroclear API Target Architecture slide photographs: IMG_9F14B2A3-D384-4285-B5F5-CE664C86E548.jpeg, IMG_6ABA1DF8-9CCC-42BE-A42A-C9227E459D2A.jpeg. Revised following the review feedback supplied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risk of rework from fragmented upfront design reflects review feedback and is not presented as a measured root cause. Existing fragmentation, limited reuse and onboarding friction come from the supplied problem statements. Outcomes are intended benefits, not quantified forecasts. The required AB table headings and structure are preserved.</a:t>
            </a:r>
          </a:p>
          <a:p xmlns:a="http://schemas.openxmlformats.org/drawingml/2006/main">
            <a:r>
              <a:t/>
            </a:r>
          </a:p>
          <a:p xmlns:a="http://schemas.openxmlformats.org/drawingml/2006/main">
            <a:r>
              <a:t>Source: supplied Euroclear API Target Architecture slide photographs: IMG_3216D43B-5AA1-45F4-89F2-CF5D422D383E.jpeg, IMG_9F14B2A3-D384-4285-B5F5-CE664C86E548.jpeg. Revised following the review feedback supplied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outcomes indicate the main expected contribution rather than exclusive causality. Metrics are proposed for agreement and have no invented baseline values. Business participation refers to product and domain decisions, not ownership of all platform implementation tasks.</a:t>
            </a:r>
          </a:p>
          <a:p xmlns:a="http://schemas.openxmlformats.org/drawingml/2006/main">
            <a:r>
              <a:t/>
            </a:r>
          </a:p>
          <a:p xmlns:a="http://schemas.openxmlformats.org/drawingml/2006/main">
            <a:r>
              <a:t>Source: supplied Euroclear API Target Architecture slide photographs: IMG_2CAE9921-EE12-4817-BBA6-702398291534.jpeg, IMG_6ABA1DF8-9CCC-42BE-A42A-C9227E459D2A.jpeg, IMG_3216D43B-5AA1-45F4-89F2-CF5D422D383E.jpeg. Revised following the review feedback supplied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Principle applicability is common, with external and internal implications stated separately. Consumer validation and reuse assessment are explicit before implementation. Commercial productization is conditional on the external offering. Governed data definitions should respect domain ownership and enterprise data standards. Shared governance does not prescribe a single gateway or universal deployment model.</a:t>
            </a:r>
          </a:p>
          <a:p xmlns:a="http://schemas.openxmlformats.org/drawingml/2006/main">
            <a:r>
              <a:t/>
            </a:r>
          </a:p>
          <a:p xmlns:a="http://schemas.openxmlformats.org/drawingml/2006/main">
            <a:r>
              <a:t>Source: supplied Euroclear API Target Architecture slide photographs: IMG_3388C7BB-C295-4C9D-B232-BF71A854F5D7.jpeg, IMG_BA563AEA-F0BE-4B3C-8276-A32DC3341A19.jpeg. Revised following the review feedback supplied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Logical architecture, not a physical deployment prescription. The horizontal external-to-internal relationship represents reuse where appropriate. Both API categories expose domain business capabilities. Shared management capabilities do not require every request to cross one central gateway or mediation hub. API identity and access capabilities use existing enterprise CIAM and/or IDAM services as appropriate. Runtime API enforcement remains at the appropriate exposure, service and data boundaries. Commercial billing is an external offering dependency where applicable. Third-party API consumption is in scope and requires controlled egress, credentials and dependency management.</a:t>
            </a:r>
          </a:p>
          <a:p xmlns:a="http://schemas.openxmlformats.org/drawingml/2006/main">
            <a:r>
              <a:t/>
            </a:r>
          </a:p>
          <a:p xmlns:a="http://schemas.openxmlformats.org/drawingml/2006/main">
            <a:r>
              <a:t>Source: supplied Euroclear API Target Architecture slide photographs: IMG_151DCF34-DF77-47B9-BB71-681AE1A2CAAA.jpeg, IMG_2CAE9921-EE12-4817-BBA6-702398291534.jpeg. Revised following the review feedback supplied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lifecycle capability map already includes design and specification authoring. This view makes requirements validation, discovery, reuse assessment and consumer validation visible before build. Business participation is decision-specific. Platform teams provide common tooling and delivery controls. Existing APIs transition through the agreed adoption plan rather than an assumed immediate rework requirement.</a:t>
            </a:r>
          </a:p>
          <a:p xmlns:a="http://schemas.openxmlformats.org/drawingml/2006/main">
            <a:r>
              <a:t/>
            </a:r>
          </a:p>
          <a:p xmlns:a="http://schemas.openxmlformats.org/drawingml/2006/main">
            <a:r>
              <a:t>Source: supplied Euroclear API Target Architecture slide photographs: IMG_2CAE9921-EE12-4817-BBA6-702398291534.jpeg, IMG_3388C7BB-C295-4C9D-B232-BF71A854F5D7.jpeg. Revised following the review feedback supplied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sequencing for approval. No delivery dates, funding amounts or unsupported maturity claims have been added. Current-state status is retained in the appendix from the supplied assessment and requires owner confirmation. Capability availability and deployment coverage are distinct. Foundation means minimum requirements for the selected adoption scope. Where AI-agent use cases already operate, their identity, authorization and audit controls are not deferred.</a:t>
            </a:r>
          </a:p>
          <a:p xmlns:a="http://schemas.openxmlformats.org/drawingml/2006/main">
            <a:r>
              <a:t/>
            </a:r>
          </a:p>
          <a:p xmlns:a="http://schemas.openxmlformats.org/drawingml/2006/main">
            <a:r>
              <a:t>Source: supplied Euroclear API Target Architecture slide photographs: IMG_587B7C20-E726-4ACD-ADFA-96FA9D85A2ED.jpeg, IMG_2CAE9921-EE12-4817-BBA6-702398291534.jpeg, IMG_6ABA1DF8-9CCC-42BE-A42A-C9227E459D2A.jpeg. Revised following the review feedback supplied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Explicit steer for the Architecture Board. Approval establishes the target direction and minimum alignment evidence, and endorses a phased adoption approach. It does not assert that current APIs already conform. Accountable owners confirm the transition scope, milestones and exception process after approval. Existing Integration Standards and the Integration Decision Framework should incorporate the agreed REST, GraphQL and gRPC patterns. Investment and product-selection decisions follow their applicable processes.</a:t>
            </a:r>
          </a:p>
          <a:p xmlns:a="http://schemas.openxmlformats.org/drawingml/2006/main">
            <a:r>
              <a:t/>
            </a:r>
          </a:p>
          <a:p xmlns:a="http://schemas.openxmlformats.org/drawingml/2006/main">
            <a:r>
              <a:t>Source: supplied Euroclear API Target Architecture slide photographs: IMG_AAF8A2D7-C609-481E-AFBA-841FF3414048.jpeg, IMG_489D9016-0C2A-4BD8-839B-BC4CB8B9E993.jpeg, IMG_3388C7BB-C295-4C9D-B232-BF71A854F5D7.jpeg. Revised following the review feedback supplied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target applicability matrix replaces the source duplicated common-capability map. Common requirements do not imply identical controls or implementation. CIAM and IDAM participation depends on identity type and service responsibilities. Internal APIs may need strong entitlements, data-sharing rules and consent-related controls depending on the business use case.</a:t>
            </a:r>
          </a:p>
          <a:p xmlns:a="http://schemas.openxmlformats.org/drawingml/2006/main">
            <a:r>
              <a:t/>
            </a:r>
          </a:p>
          <a:p xmlns:a="http://schemas.openxmlformats.org/drawingml/2006/main">
            <a:r>
              <a:t>Source: supplied Euroclear API Target Architecture slide photographs: IMG_BA563AEA-F0BE-4B3C-8276-A32DC3341A19.jpeg, IMG_2CAE9921-EE12-4817-BBA6-702398291534.jpeg. Revised following the review feedback supplied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capability names are normalised from the supplied maps. Provider/consumer role follows the source capability perspective; it is separate from external/internal audience. E, W and Y reproduce the supplied current-state labels. No independent current-state validation has been performed. The assessment date was not supplied. Capabilities marked established may still require coverage or operating-model work. MCP and agent capabilities are use-case-led, with applicable controls required for active use cases.</a:t>
            </a:r>
          </a:p>
          <a:p xmlns:a="http://schemas.openxmlformats.org/drawingml/2006/main">
            <a:r>
              <a:t/>
            </a:r>
          </a:p>
          <a:p xmlns:a="http://schemas.openxmlformats.org/drawingml/2006/main">
            <a:r>
              <a:t>Source: supplied Euroclear API Target Architecture slide photographs: IMG_2CAE9921-EE12-4817-BBA6-702398291534.jpeg, IMG_587B7C20-E726-4ACD-ADFA-96FA9D85A2ED.jpeg. Revised following the review feedback supplied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Reported state and provider/consumer perspective come from the supplied maps. Request/response orchestration and aggregation is described as aggregation and mediation at the API runtime boundary to separate this concern from domain-owned business orchestration. Commercial policies apply where required by an offering. Gateway capabilities are logical requirements and do not dictate a single deployment.</a:t>
            </a:r>
          </a:p>
          <a:p xmlns:a="http://schemas.openxmlformats.org/drawingml/2006/main">
            <a:r>
              <a:t/>
            </a:r>
          </a:p>
          <a:p xmlns:a="http://schemas.openxmlformats.org/drawingml/2006/main">
            <a:r>
              <a:t>Source: supplied Euroclear API Target Architecture slide photographs: IMG_2CAE9921-EE12-4817-BBA6-702398291534.jpeg, IMG_587B7C20-E726-4ACD-ADFA-96FA9D85A2ED.jpeg, IMG_151DCF34-DF77-47B9-BB71-681AE1A2CAAA.jpeg. Revised following the review feedback supplied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Reported state labels come from the supplied current-state map. Consumer requirements validation and reuse assessment are explicit additions to the target lifecycle and have not been assigned an invented current-state status. The original investment and MYCP rationalization label is normalised to investment and portfolio rationalisation. Canonical data modelling represents governed domain and enterprise data definitions. API Channel incident/problem management is renamed API incident/problem management to apply to both API roles.</a:t>
            </a:r>
          </a:p>
          <a:p xmlns:a="http://schemas.openxmlformats.org/drawingml/2006/main">
            <a:r>
              <a:t/>
            </a:r>
          </a:p>
          <a:p xmlns:a="http://schemas.openxmlformats.org/drawingml/2006/main">
            <a:r>
              <a:t>Source: supplied Euroclear API Target Architecture slide photographs: IMG_2CAE9921-EE12-4817-BBA6-702398291534.jpeg, IMG_587B7C20-E726-4ACD-ADFA-96FA9D85A2ED.jpeg. Revised following the review feedback supplied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806bd3f47645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d5f17867f04e04" /><Relationship Type="http://schemas.openxmlformats.org/officeDocument/2006/relationships/slideLayout" Target="/ppt/slideLayouts/slideLayout1.xml" Id="R2c4b49f2199f4c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4b49f2199f4c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c0da770fc5e4668" /><Relationship Type="http://schemas.openxmlformats.org/officeDocument/2006/relationships/notesSlide" Target="/ppt/notesSlides/notesSlide1.xml" Id="R7ebf9f913db248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5f1b686dc0a4c5e" /><Relationship Type="http://schemas.openxmlformats.org/officeDocument/2006/relationships/image" Target="/ppt/media/image.png" Id="Rd921d62fdc214f23" /><Relationship Type="http://schemas.openxmlformats.org/officeDocument/2006/relationships/notesSlide" Target="/ppt/notesSlides/notesSlide2.xml" Id="R08be08b5a2d24f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7cf358eb26f49ed" /><Relationship Type="http://schemas.openxmlformats.org/officeDocument/2006/relationships/image" Target="/ppt/media/image2.png" Id="Re04e963b14f94c23" /><Relationship Type="http://schemas.openxmlformats.org/officeDocument/2006/relationships/notesSlide" Target="/ppt/notesSlides/notesSlide3.xml" Id="R39a8b167bfea4f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84a87d37faa48b8" /><Relationship Type="http://schemas.openxmlformats.org/officeDocument/2006/relationships/image" Target="/ppt/media/image3.png" Id="Re383b222dd49404b" /><Relationship Type="http://schemas.openxmlformats.org/officeDocument/2006/relationships/notesSlide" Target="/ppt/notesSlides/notesSlide4.xml" Id="R881e26da04624b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5e1e3be0f504a1a" /><Relationship Type="http://schemas.openxmlformats.org/officeDocument/2006/relationships/image" Target="/ppt/media/image4.png" Id="R3b3e9730bf004d0e" /><Relationship Type="http://schemas.openxmlformats.org/officeDocument/2006/relationships/notesSlide" Target="/ppt/notesSlides/notesSlide5.xml" Id="R07625fd09a414a9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8d92ac2a37a4f55" /><Relationship Type="http://schemas.openxmlformats.org/officeDocument/2006/relationships/image" Target="/ppt/media/image5.png" Id="Reac48cde4ecf4061" /><Relationship Type="http://schemas.openxmlformats.org/officeDocument/2006/relationships/notesSlide" Target="/ppt/notesSlides/notesSlide6.xml" Id="Rc379a7f7fd4e470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74c11dcd6bb43f0" /><Relationship Type="http://schemas.openxmlformats.org/officeDocument/2006/relationships/image" Target="/ppt/media/image6.png" Id="R0432e404cf47401c" /><Relationship Type="http://schemas.openxmlformats.org/officeDocument/2006/relationships/notesSlide" Target="/ppt/notesSlides/notesSlide7.xml" Id="R8cf5a0214340410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cb217e10f9a4a07" /><Relationship Type="http://schemas.openxmlformats.org/officeDocument/2006/relationships/image" Target="/ppt/media/image7.png" Id="Rb695c4fe2f93499a" /><Relationship Type="http://schemas.openxmlformats.org/officeDocument/2006/relationships/notesSlide" Target="/ppt/notesSlides/notesSlide8.xml" Id="R6f9fe4db56c844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0c850553c634ff3" /><Relationship Type="http://schemas.openxmlformats.org/officeDocument/2006/relationships/image" Target="/ppt/media/image8.png" Id="Rc9eb2156764e4bca" /><Relationship Type="http://schemas.openxmlformats.org/officeDocument/2006/relationships/notesSlide" Target="/ppt/notesSlides/notesSlide9.xml" Id="Rcef8984e2cd14b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bc4cd2f049a4ad1" /><Relationship Type="http://schemas.openxmlformats.org/officeDocument/2006/relationships/image" Target="/ppt/media/image9.png" Id="R84fe005a09144c55" /><Relationship Type="http://schemas.openxmlformats.org/officeDocument/2006/relationships/notesSlide" Target="/ppt/notesSlides/notesSlide10.xml" Id="R9965b40d6ada421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3e1da7cd8eb43fa" /><Relationship Type="http://schemas.openxmlformats.org/officeDocument/2006/relationships/image" Target="/ppt/media/image10.png" Id="R4aa37d453e7b4771" /><Relationship Type="http://schemas.openxmlformats.org/officeDocument/2006/relationships/notesSlide" Target="/ppt/notesSlides/notesSlide11.xml" Id="Rcb002e1b891944a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0a29b7b113c4c6b" /><Relationship Type="http://schemas.openxmlformats.org/officeDocument/2006/relationships/image" Target="/ppt/media/image11.png" Id="R73c3befeb73d490c" /><Relationship Type="http://schemas.openxmlformats.org/officeDocument/2006/relationships/notesSlide" Target="/ppt/notesSlides/notesSlide12.xml" Id="Rf71c6b47f24740e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7198ec2e3234ec9" /><Relationship Type="http://schemas.openxmlformats.org/officeDocument/2006/relationships/image" Target="/ppt/media/image12.png" Id="Rdc3f9efeaaa740ac" /><Relationship Type="http://schemas.openxmlformats.org/officeDocument/2006/relationships/notesSlide" Target="/ppt/notesSlides/notesSlide13.xml" Id="Rca94acee375e426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effe88e940b4fb1" /><Relationship Type="http://schemas.openxmlformats.org/officeDocument/2006/relationships/image" Target="/ppt/media/image13.png" Id="R67046fc9f1034c1e" /><Relationship Type="http://schemas.openxmlformats.org/officeDocument/2006/relationships/notesSlide" Target="/ppt/notesSlides/notesSlide14.xml" Id="R227b6c349b83470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itle-outline">
            <a:extLst xmlns:a="http://schemas.openxmlformats.org/drawingml/2006/main">
              <a:ext uri="{FF2B5EF4-FFF2-40B4-BE49-F238E27FC236}">
                <a16:creationId xmlns:a16="http://schemas.microsoft.com/office/drawing/2014/main" id="{B21758D2-0879-4732-8CBA-8AF9A0F7ABA7}"/>
              </a:ext>
            </a:extLst>
          </p:cNvPr>
          <p:cNvSpPr>
            <a:spLocks xmlns:a="http://schemas.openxmlformats.org/drawingml/2006/main" noGrp="1"/>
          </p:cNvSpPr>
          <p:nvPr/>
        </p:nvSpPr>
        <p:spPr>
          <a:xfrm xmlns:a="http://schemas.openxmlformats.org/drawingml/2006/main">
            <a:off x="342900" y="457200"/>
            <a:ext cx="8724900" cy="504825"/>
          </a:xfrm>
          <a:prstGeom xmlns:a="http://schemas.openxmlformats.org/drawingml/2006/main" prst="roundRect">
            <a:avLst>
              <a:gd name="adj" fmla="val 49057"/>
            </a:avLst>
          </a:prstGeom>
          <a:solidFill xmlns:a="http://schemas.openxmlformats.org/drawingml/2006/main">
            <a:srgbClr val="FFFFFF"/>
          </a:solidFill>
          <a:ln xmlns:a="http://schemas.openxmlformats.org/drawingml/2006/main" w="28575">
            <a:solidFill>
              <a:srgbClr val="BE1738"/>
            </a:solidFill>
          </a:ln>
        </p:spPr>
      </p:sp>
      <p:sp>
        <p:nvSpPr>
          <p:cNvPr id="2" name="slide-title">
            <a:extLst xmlns:a="http://schemas.openxmlformats.org/drawingml/2006/main">
              <a:ext uri="{FF2B5EF4-FFF2-40B4-BE49-F238E27FC236}">
                <a16:creationId xmlns:a16="http://schemas.microsoft.com/office/drawing/2014/main" id="{086254C9-FF00-4C05-B26F-5E382EA678AD}"/>
              </a:ext>
            </a:extLst>
          </p:cNvPr>
          <p:cNvSpPr>
            <a:spLocks xmlns:a="http://schemas.openxmlformats.org/drawingml/2006/main" noGrp="1"/>
          </p:cNvSpPr>
          <p:nvPr/>
        </p:nvSpPr>
        <p:spPr>
          <a:xfrm xmlns:a="http://schemas.openxmlformats.org/drawingml/2006/main">
            <a:off x="628650" y="542925"/>
            <a:ext cx="804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A91632"/>
                </a:solidFill>
                <a:latin typeface="Carlito"/>
                <a:ea typeface="Carlito"/>
                <a:cs typeface="Carlito"/>
              </a:defRPr>
            </a:pPr>
            <a:r>
              <a:rPr sz="2175" b="1">
                <a:solidFill>
                  <a:srgbClr val="A91632"/>
                </a:solidFill>
                <a:latin typeface="Carlito"/>
                <a:ea typeface="Carlito"/>
                <a:cs typeface="Carlito"/>
              </a:rPr>
              <a:t>EXECUTIVE SUMMARY</a:t>
            </a:r>
          </a:p>
        </p:txBody>
      </p:sp>
      <p:sp>
        <p:nvSpPr>
          <p:cNvPr id="3" name="classification">
            <a:extLst xmlns:a="http://schemas.openxmlformats.org/drawingml/2006/main">
              <a:ext uri="{FF2B5EF4-FFF2-40B4-BE49-F238E27FC236}">
                <a16:creationId xmlns:a16="http://schemas.microsoft.com/office/drawing/2014/main" id="{B8198022-C43E-4A51-9F4B-443A056371B5}"/>
              </a:ext>
            </a:extLst>
          </p:cNvPr>
          <p:cNvSpPr>
            <a:spLocks xmlns:a="http://schemas.openxmlformats.org/drawingml/2006/main" noGrp="1"/>
          </p:cNvSpPr>
          <p:nvPr/>
        </p:nvSpPr>
        <p:spPr>
          <a:xfrm xmlns:a="http://schemas.openxmlformats.org/drawingml/2006/main">
            <a:off x="12001500" y="619125"/>
            <a:ext cx="2905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30343A"/>
                </a:solidFill>
                <a:latin typeface="Carlito"/>
                <a:ea typeface="Carlito"/>
                <a:cs typeface="Carlito"/>
              </a:defRPr>
            </a:pPr>
            <a:r>
              <a:rPr sz="1275" b="0">
                <a:solidFill>
                  <a:srgbClr val="30343A"/>
                </a:solidFill>
                <a:latin typeface="Carlito"/>
                <a:ea typeface="Carlito"/>
                <a:cs typeface="Carlito"/>
              </a:rPr>
              <a:t>RESTRICTED TO Euroclear</a:t>
            </a:r>
          </a:p>
        </p:txBody>
      </p:sp>
      <p:sp>
        <p:nvSpPr>
          <p:cNvPr id="4" name="footer-outline">
            <a:extLst xmlns:a="http://schemas.openxmlformats.org/drawingml/2006/main">
              <a:ext uri="{FF2B5EF4-FFF2-40B4-BE49-F238E27FC236}">
                <a16:creationId xmlns:a16="http://schemas.microsoft.com/office/drawing/2014/main" id="{072DF34E-1003-48EE-84F4-F853F8A1030F}"/>
              </a:ext>
            </a:extLst>
          </p:cNvPr>
          <p:cNvSpPr>
            <a:spLocks xmlns:a="http://schemas.openxmlformats.org/drawingml/2006/main" noGrp="1"/>
          </p:cNvSpPr>
          <p:nvPr/>
        </p:nvSpPr>
        <p:spPr>
          <a:xfrm xmlns:a="http://schemas.openxmlformats.org/drawingml/2006/main">
            <a:off x="171450" y="8143875"/>
            <a:ext cx="3009900" cy="2952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4288">
            <a:solidFill>
              <a:srgbClr val="70757C"/>
            </a:solidFill>
          </a:ln>
        </p:spPr>
      </p:sp>
      <p:sp>
        <p:nvSpPr>
          <p:cNvPr id="5" name="footer">
            <a:extLst xmlns:a="http://schemas.openxmlformats.org/drawingml/2006/main">
              <a:ext uri="{FF2B5EF4-FFF2-40B4-BE49-F238E27FC236}">
                <a16:creationId xmlns:a16="http://schemas.microsoft.com/office/drawing/2014/main" id="{56C9E184-9BC9-448D-BCEA-C8C42B79F478}"/>
              </a:ext>
            </a:extLst>
          </p:cNvPr>
          <p:cNvSpPr>
            <a:spLocks xmlns:a="http://schemas.openxmlformats.org/drawingml/2006/main" noGrp="1"/>
          </p:cNvSpPr>
          <p:nvPr/>
        </p:nvSpPr>
        <p:spPr>
          <a:xfrm xmlns:a="http://schemas.openxmlformats.org/drawingml/2006/main">
            <a:off x="295275" y="8172450"/>
            <a:ext cx="2771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0343A"/>
                </a:solidFill>
                <a:latin typeface="Carlito"/>
                <a:ea typeface="Carlito"/>
                <a:cs typeface="Carlito"/>
              </a:defRPr>
            </a:pPr>
            <a:r>
              <a:rPr sz="1500" b="0">
                <a:solidFill>
                  <a:srgbClr val="30343A"/>
                </a:solidFill>
                <a:latin typeface="Carlito"/>
                <a:ea typeface="Carlito"/>
                <a:cs typeface="Carlito"/>
              </a:rPr>
              <a:t>API Target Architecture</a:t>
            </a:r>
          </a:p>
        </p:txBody>
      </p:sp>
      <p:sp>
        <p:nvSpPr>
          <p:cNvPr id="6" name="page-number">
            <a:extLst xmlns:a="http://schemas.openxmlformats.org/drawingml/2006/main">
              <a:ext uri="{FF2B5EF4-FFF2-40B4-BE49-F238E27FC236}">
                <a16:creationId xmlns:a16="http://schemas.microsoft.com/office/drawing/2014/main" id="{C2E58BA4-0EAE-43BC-8D2A-A67FC5DD5EEE}"/>
              </a:ext>
            </a:extLst>
          </p:cNvPr>
          <p:cNvSpPr>
            <a:spLocks xmlns:a="http://schemas.openxmlformats.org/drawingml/2006/main" noGrp="1"/>
          </p:cNvSpPr>
          <p:nvPr/>
        </p:nvSpPr>
        <p:spPr>
          <a:xfrm xmlns:a="http://schemas.openxmlformats.org/drawingml/2006/main">
            <a:off x="14458950" y="8162925"/>
            <a:ext cx="4476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70757C"/>
                </a:solidFill>
                <a:latin typeface="Carlito"/>
                <a:ea typeface="Carlito"/>
                <a:cs typeface="Carlito"/>
              </a:defRPr>
            </a:pPr>
            <a:r>
              <a:rPr sz="1350" b="0">
                <a:solidFill>
                  <a:srgbClr val="70757C"/>
                </a:solidFill>
                <a:latin typeface="Carlito"/>
                <a:ea typeface="Carlito"/>
                <a:cs typeface="Carlito"/>
              </a:rPr>
              <a:t>1</a:t>
            </a:r>
          </a:p>
        </p:txBody>
      </p:sp>
      <p:sp>
        <p:nvSpPr>
          <p:cNvPr id="7" name="section-band">
            <a:extLst xmlns:a="http://schemas.openxmlformats.org/drawingml/2006/main">
              <a:ext uri="{FF2B5EF4-FFF2-40B4-BE49-F238E27FC236}">
                <a16:creationId xmlns:a16="http://schemas.microsoft.com/office/drawing/2014/main" id="{98641DFF-85FB-4E1F-BC63-97ED3F54C438}"/>
              </a:ext>
            </a:extLst>
          </p:cNvPr>
          <p:cNvSpPr>
            <a:spLocks xmlns:a="http://schemas.openxmlformats.org/drawingml/2006/main" noGrp="1"/>
          </p:cNvSpPr>
          <p:nvPr/>
        </p:nvSpPr>
        <p:spPr>
          <a:xfrm xmlns:a="http://schemas.openxmlformats.org/drawingml/2006/main">
            <a:off x="342900" y="1200150"/>
            <a:ext cx="4905375" cy="304800"/>
          </a:xfrm>
          <a:prstGeom xmlns:a="http://schemas.openxmlformats.org/drawingml/2006/main" prst="rect">
            <a:avLst/>
          </a:prstGeom>
          <a:solidFill xmlns:a="http://schemas.openxmlformats.org/drawingml/2006/main">
            <a:srgbClr val="BE1738"/>
          </a:solidFill>
          <a:ln xmlns:a="http://schemas.openxmlformats.org/drawingml/2006/main" w="11430">
            <a:solidFill>
              <a:srgbClr val="BE1738"/>
            </a:solidFill>
          </a:ln>
        </p:spPr>
      </p:sp>
      <p:sp>
        <p:nvSpPr>
          <p:cNvPr id="8" name="text">
            <a:extLst xmlns:a="http://schemas.openxmlformats.org/drawingml/2006/main">
              <a:ext uri="{FF2B5EF4-FFF2-40B4-BE49-F238E27FC236}">
                <a16:creationId xmlns:a16="http://schemas.microsoft.com/office/drawing/2014/main" id="{ED037A74-1BA1-422C-8448-1E92F807533A}"/>
              </a:ext>
            </a:extLst>
          </p:cNvPr>
          <p:cNvSpPr>
            <a:spLocks xmlns:a="http://schemas.openxmlformats.org/drawingml/2006/main" noGrp="1"/>
          </p:cNvSpPr>
          <p:nvPr/>
        </p:nvSpPr>
        <p:spPr>
          <a:xfrm xmlns:a="http://schemas.openxmlformats.org/drawingml/2006/main">
            <a:off x="457200" y="1238250"/>
            <a:ext cx="46767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FFF"/>
                </a:solidFill>
                <a:latin typeface="Carlito"/>
                <a:ea typeface="Carlito"/>
                <a:cs typeface="Carlito"/>
              </a:defRPr>
            </a:pPr>
            <a:r>
              <a:rPr sz="1800" b="1">
                <a:solidFill>
                  <a:srgbClr val="FFFFFF"/>
                </a:solidFill>
                <a:latin typeface="Carlito"/>
                <a:ea typeface="Carlito"/>
                <a:cs typeface="Carlito"/>
              </a:rPr>
              <a:t>Background and Purpose</a:t>
            </a:r>
          </a:p>
        </p:txBody>
      </p:sp>
      <p:sp>
        <p:nvSpPr>
          <p:cNvPr id="9" name="box">
            <a:extLst xmlns:a="http://schemas.openxmlformats.org/drawingml/2006/main">
              <a:ext uri="{FF2B5EF4-FFF2-40B4-BE49-F238E27FC236}">
                <a16:creationId xmlns:a16="http://schemas.microsoft.com/office/drawing/2014/main" id="{46CFCBB9-1045-425A-92BD-E7E4346A06CB}"/>
              </a:ext>
            </a:extLst>
          </p:cNvPr>
          <p:cNvSpPr>
            <a:spLocks xmlns:a="http://schemas.openxmlformats.org/drawingml/2006/main" noGrp="1"/>
          </p:cNvSpPr>
          <p:nvPr/>
        </p:nvSpPr>
        <p:spPr>
          <a:xfrm xmlns:a="http://schemas.openxmlformats.org/drawingml/2006/main">
            <a:off x="342900" y="1504950"/>
            <a:ext cx="14554200" cy="2124075"/>
          </a:xfrm>
          <a:prstGeom xmlns:a="http://schemas.openxmlformats.org/drawingml/2006/main" prst="rect">
            <a:avLst/>
          </a:prstGeom>
          <a:solidFill xmlns:a="http://schemas.openxmlformats.org/drawingml/2006/main">
            <a:srgbClr val="FFFFFF"/>
          </a:solidFill>
          <a:ln xmlns:a="http://schemas.openxmlformats.org/drawingml/2006/main" w="11430">
            <a:solidFill>
              <a:srgbClr val="A7ABB0"/>
            </a:solidFill>
          </a:ln>
        </p:spPr>
      </p:sp>
      <p:sp>
        <p:nvSpPr>
          <p:cNvPr id="10" name="text">
            <a:extLst xmlns:a="http://schemas.openxmlformats.org/drawingml/2006/main">
              <a:ext uri="{FF2B5EF4-FFF2-40B4-BE49-F238E27FC236}">
                <a16:creationId xmlns:a16="http://schemas.microsoft.com/office/drawing/2014/main" id="{4486529D-9509-44A0-968E-ED89D129F38A}"/>
              </a:ext>
            </a:extLst>
          </p:cNvPr>
          <p:cNvSpPr>
            <a:spLocks xmlns:a="http://schemas.openxmlformats.org/drawingml/2006/main" noGrp="1"/>
          </p:cNvSpPr>
          <p:nvPr/>
        </p:nvSpPr>
        <p:spPr>
          <a:xfrm xmlns:a="http://schemas.openxmlformats.org/drawingml/2006/main">
            <a:off x="514350" y="16478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30343A"/>
                </a:solidFill>
                <a:latin typeface="Carlito"/>
                <a:ea typeface="Carlito"/>
                <a:cs typeface="Carlito"/>
              </a:defRPr>
            </a:pPr>
            <a:r>
              <a:rPr sz="1875" b="1">
                <a:solidFill>
                  <a:srgbClr val="30343A"/>
                </a:solidFill>
                <a:latin typeface="Carlito"/>
                <a:ea typeface="Carlito"/>
                <a:cs typeface="Carlito"/>
              </a:rPr>
              <a:t>Background</a:t>
            </a:r>
          </a:p>
        </p:txBody>
      </p:sp>
      <p:sp>
        <p:nvSpPr>
          <p:cNvPr id="11" name="text">
            <a:extLst xmlns:a="http://schemas.openxmlformats.org/drawingml/2006/main">
              <a:ext uri="{FF2B5EF4-FFF2-40B4-BE49-F238E27FC236}">
                <a16:creationId xmlns:a16="http://schemas.microsoft.com/office/drawing/2014/main" id="{47AAE4C5-10D7-44E4-86E0-9D98305F1373}"/>
              </a:ext>
            </a:extLst>
          </p:cNvPr>
          <p:cNvSpPr>
            <a:spLocks xmlns:a="http://schemas.openxmlformats.org/drawingml/2006/main" noGrp="1"/>
          </p:cNvSpPr>
          <p:nvPr/>
        </p:nvSpPr>
        <p:spPr>
          <a:xfrm xmlns:a="http://schemas.openxmlformats.org/drawingml/2006/main">
            <a:off x="514350" y="2000250"/>
            <a:ext cx="140684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30343A"/>
                </a:solidFill>
                <a:latin typeface="Carlito"/>
                <a:ea typeface="Carlito"/>
                <a:cs typeface="Carlito"/>
              </a:defRPr>
            </a:pPr>
            <a:r>
              <a:rPr sz="1875" b="0">
                <a:solidFill>
                  <a:srgbClr val="30343A"/>
                </a:solidFill>
                <a:latin typeface="Carlito"/>
                <a:ea typeface="Carlito"/>
                <a:cs typeface="Carlito"/>
              </a:rPr>
              <a:t>API adoption has grown through individual initiatives, with uneven discovery, reuse and governance. The Group needs a consistent approach across external service access and internal integration.</a:t>
            </a:r>
          </a:p>
        </p:txBody>
      </p:sp>
      <p:sp>
        <p:nvSpPr>
          <p:cNvPr id="12" name="text">
            <a:extLst xmlns:a="http://schemas.openxmlformats.org/drawingml/2006/main">
              <a:ext uri="{FF2B5EF4-FFF2-40B4-BE49-F238E27FC236}">
                <a16:creationId xmlns:a16="http://schemas.microsoft.com/office/drawing/2014/main" id="{6EFEEBCF-DC5D-4FC2-9352-3A2D6BB3B662}"/>
              </a:ext>
            </a:extLst>
          </p:cNvPr>
          <p:cNvSpPr>
            <a:spLocks xmlns:a="http://schemas.openxmlformats.org/drawingml/2006/main" noGrp="1"/>
          </p:cNvSpPr>
          <p:nvPr/>
        </p:nvSpPr>
        <p:spPr>
          <a:xfrm xmlns:a="http://schemas.openxmlformats.org/drawingml/2006/main">
            <a:off x="514350" y="276225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30343A"/>
                </a:solidFill>
                <a:latin typeface="Carlito"/>
                <a:ea typeface="Carlito"/>
                <a:cs typeface="Carlito"/>
              </a:defRPr>
            </a:pPr>
            <a:r>
              <a:rPr sz="1875" b="1">
                <a:solidFill>
                  <a:srgbClr val="30343A"/>
                </a:solidFill>
                <a:latin typeface="Carlito"/>
                <a:ea typeface="Carlito"/>
                <a:cs typeface="Carlito"/>
              </a:rPr>
              <a:t>Purpose</a:t>
            </a:r>
          </a:p>
        </p:txBody>
      </p:sp>
      <p:sp>
        <p:nvSpPr>
          <p:cNvPr id="13" name="text">
            <a:extLst xmlns:a="http://schemas.openxmlformats.org/drawingml/2006/main">
              <a:ext uri="{FF2B5EF4-FFF2-40B4-BE49-F238E27FC236}">
                <a16:creationId xmlns:a16="http://schemas.microsoft.com/office/drawing/2014/main" id="{939FA2EB-2A48-480A-97E1-BA02CB0D1454}"/>
              </a:ext>
            </a:extLst>
          </p:cNvPr>
          <p:cNvSpPr>
            <a:spLocks xmlns:a="http://schemas.openxmlformats.org/drawingml/2006/main" noGrp="1"/>
          </p:cNvSpPr>
          <p:nvPr/>
        </p:nvSpPr>
        <p:spPr>
          <a:xfrm xmlns:a="http://schemas.openxmlformats.org/drawingml/2006/main">
            <a:off x="514350" y="3067050"/>
            <a:ext cx="140684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30343A"/>
                </a:solidFill>
                <a:latin typeface="Carlito"/>
                <a:ea typeface="Carlito"/>
                <a:cs typeface="Carlito"/>
              </a:defRPr>
            </a:pPr>
            <a:r>
              <a:rPr sz="1800" b="0">
                <a:solidFill>
                  <a:srgbClr val="30343A"/>
                </a:solidFill>
                <a:latin typeface="Carlito"/>
                <a:ea typeface="Carlito"/>
                <a:cs typeface="Carlito"/>
              </a:rPr>
              <a:t>Establish a common target architecture for external APIs as a digital engagement channel and internal APIs as an enterprise integration mechanism.</a:t>
            </a:r>
          </a:p>
        </p:txBody>
      </p:sp>
      <p:sp>
        <p:nvSpPr>
          <p:cNvPr id="14" name="section-band">
            <a:extLst xmlns:a="http://schemas.openxmlformats.org/drawingml/2006/main">
              <a:ext uri="{FF2B5EF4-FFF2-40B4-BE49-F238E27FC236}">
                <a16:creationId xmlns:a16="http://schemas.microsoft.com/office/drawing/2014/main" id="{B1F7D941-92F5-4EBE-91E7-29430AB38CE0}"/>
              </a:ext>
            </a:extLst>
          </p:cNvPr>
          <p:cNvSpPr>
            <a:spLocks xmlns:a="http://schemas.openxmlformats.org/drawingml/2006/main" noGrp="1"/>
          </p:cNvSpPr>
          <p:nvPr/>
        </p:nvSpPr>
        <p:spPr>
          <a:xfrm xmlns:a="http://schemas.openxmlformats.org/drawingml/2006/main">
            <a:off x="342900" y="3781425"/>
            <a:ext cx="4905375" cy="304800"/>
          </a:xfrm>
          <a:prstGeom xmlns:a="http://schemas.openxmlformats.org/drawingml/2006/main" prst="rect">
            <a:avLst/>
          </a:prstGeom>
          <a:solidFill xmlns:a="http://schemas.openxmlformats.org/drawingml/2006/main">
            <a:srgbClr val="BE1738"/>
          </a:solidFill>
          <a:ln xmlns:a="http://schemas.openxmlformats.org/drawingml/2006/main" w="11430">
            <a:solidFill>
              <a:srgbClr val="BE1738"/>
            </a:solidFill>
          </a:ln>
        </p:spPr>
      </p:sp>
      <p:sp>
        <p:nvSpPr>
          <p:cNvPr id="15" name="text">
            <a:extLst xmlns:a="http://schemas.openxmlformats.org/drawingml/2006/main">
              <a:ext uri="{FF2B5EF4-FFF2-40B4-BE49-F238E27FC236}">
                <a16:creationId xmlns:a16="http://schemas.microsoft.com/office/drawing/2014/main" id="{5CA8E78D-1C98-409E-90A1-D5C63A61EECF}"/>
              </a:ext>
            </a:extLst>
          </p:cNvPr>
          <p:cNvSpPr>
            <a:spLocks xmlns:a="http://schemas.openxmlformats.org/drawingml/2006/main" noGrp="1"/>
          </p:cNvSpPr>
          <p:nvPr/>
        </p:nvSpPr>
        <p:spPr>
          <a:xfrm xmlns:a="http://schemas.openxmlformats.org/drawingml/2006/main">
            <a:off x="457200" y="3819525"/>
            <a:ext cx="46767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FFF"/>
                </a:solidFill>
                <a:latin typeface="Carlito"/>
                <a:ea typeface="Carlito"/>
                <a:cs typeface="Carlito"/>
              </a:defRPr>
            </a:pPr>
            <a:r>
              <a:rPr sz="1800" b="1">
                <a:solidFill>
                  <a:srgbClr val="FFFFFF"/>
                </a:solidFill>
                <a:latin typeface="Carlito"/>
                <a:ea typeface="Carlito"/>
                <a:cs typeface="Carlito"/>
              </a:rPr>
              <a:t>Executive Summary</a:t>
            </a:r>
          </a:p>
        </p:txBody>
      </p:sp>
      <p:sp>
        <p:nvSpPr>
          <p:cNvPr id="16" name="box">
            <a:extLst xmlns:a="http://schemas.openxmlformats.org/drawingml/2006/main">
              <a:ext uri="{FF2B5EF4-FFF2-40B4-BE49-F238E27FC236}">
                <a16:creationId xmlns:a16="http://schemas.microsoft.com/office/drawing/2014/main" id="{E8C07D17-27DC-4470-A02C-65D9E39BDFA8}"/>
              </a:ext>
            </a:extLst>
          </p:cNvPr>
          <p:cNvSpPr>
            <a:spLocks xmlns:a="http://schemas.openxmlformats.org/drawingml/2006/main" noGrp="1"/>
          </p:cNvSpPr>
          <p:nvPr/>
        </p:nvSpPr>
        <p:spPr>
          <a:xfrm xmlns:a="http://schemas.openxmlformats.org/drawingml/2006/main">
            <a:off x="342900" y="4086225"/>
            <a:ext cx="14554200" cy="1933575"/>
          </a:xfrm>
          <a:prstGeom xmlns:a="http://schemas.openxmlformats.org/drawingml/2006/main" prst="rect">
            <a:avLst/>
          </a:prstGeom>
          <a:solidFill xmlns:a="http://schemas.openxmlformats.org/drawingml/2006/main">
            <a:srgbClr val="FFFFFF"/>
          </a:solidFill>
          <a:ln xmlns:a="http://schemas.openxmlformats.org/drawingml/2006/main" w="11430">
            <a:solidFill>
              <a:srgbClr val="A7ABB0"/>
            </a:solidFill>
          </a:ln>
        </p:spPr>
      </p:sp>
      <p:sp>
        <p:nvSpPr>
          <p:cNvPr id="17" name="bullets">
            <a:extLst xmlns:a="http://schemas.openxmlformats.org/drawingml/2006/main">
              <a:ext uri="{FF2B5EF4-FFF2-40B4-BE49-F238E27FC236}">
                <a16:creationId xmlns:a16="http://schemas.microsoft.com/office/drawing/2014/main" id="{AB5639BC-3902-4773-8276-A209A100160F}"/>
              </a:ext>
            </a:extLst>
          </p:cNvPr>
          <p:cNvSpPr>
            <a:spLocks xmlns:a="http://schemas.openxmlformats.org/drawingml/2006/main" noGrp="1"/>
          </p:cNvSpPr>
          <p:nvPr/>
        </p:nvSpPr>
        <p:spPr>
          <a:xfrm xmlns:a="http://schemas.openxmlformats.org/drawingml/2006/main">
            <a:off x="523875" y="4229100"/>
            <a:ext cx="139827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700"/>
              </a:spcAft>
              <a:buChar char="•"/>
              <a:defRPr sz="1875" b="0">
                <a:solidFill>
                  <a:srgbClr val="30343A"/>
                </a:solidFill>
                <a:latin typeface="Carlito"/>
                <a:ea typeface="Carlito"/>
                <a:cs typeface="Carlito"/>
              </a:defRPr>
            </a:pPr>
            <a:r>
              <a:t>External APIs enable clients and partners to consume Euroclear services through a consistent experience.</a:t>
            </a:r>
          </a:p>
          <a:p xmlns:a="http://schemas.openxmlformats.org/drawingml/2006/main">
            <a:pPr marL="228600" indent="-114300" algn="l">
              <a:spcAft>
                <a:spcPts val="700"/>
              </a:spcAft>
              <a:buChar char="•"/>
              <a:defRPr sz="1875" b="0">
                <a:solidFill>
                  <a:srgbClr val="30343A"/>
                </a:solidFill>
                <a:latin typeface="Carlito"/>
                <a:ea typeface="Carlito"/>
                <a:cs typeface="Carlito"/>
              </a:defRPr>
            </a:pPr>
            <a:r>
              <a:t>Internal APIs connect domains and platforms through discoverable, reusable service contracts.</a:t>
            </a:r>
          </a:p>
          <a:p xmlns:a="http://schemas.openxmlformats.org/drawingml/2006/main">
            <a:pPr marL="228600" indent="-114300" algn="l">
              <a:spcAft>
                <a:spcPts val="700"/>
              </a:spcAft>
              <a:buChar char="•"/>
              <a:defRPr sz="1875" b="0">
                <a:solidFill>
                  <a:srgbClr val="30343A"/>
                </a:solidFill>
                <a:latin typeface="Carlito"/>
                <a:ea typeface="Carlito"/>
                <a:cs typeface="Carlito"/>
              </a:defRPr>
            </a:pPr>
            <a:r>
              <a:t>Both roles share governance and lifecycle standards, with controls appropriate to each consumer and use case.</a:t>
            </a:r>
          </a:p>
          <a:p xmlns:a="http://schemas.openxmlformats.org/drawingml/2006/main">
            <a:pPr marL="228600" indent="-114300" algn="l">
              <a:spcAft>
                <a:spcPts val="700"/>
              </a:spcAft>
              <a:buChar char="•"/>
              <a:defRPr sz="1875" b="0">
                <a:solidFill>
                  <a:srgbClr val="30343A"/>
                </a:solidFill>
                <a:latin typeface="Carlito"/>
                <a:ea typeface="Carlito"/>
                <a:cs typeface="Carlito"/>
              </a:defRPr>
            </a:pPr>
            <a:r>
              <a:t>Consumer design, reuse and automation support faster delivery, lower integration effort and accountable operation.</a:t>
            </a:r>
          </a:p>
        </p:txBody>
      </p:sp>
      <p:sp>
        <p:nvSpPr>
          <p:cNvPr id="18" name="section-band">
            <a:extLst xmlns:a="http://schemas.openxmlformats.org/drawingml/2006/main">
              <a:ext uri="{FF2B5EF4-FFF2-40B4-BE49-F238E27FC236}">
                <a16:creationId xmlns:a16="http://schemas.microsoft.com/office/drawing/2014/main" id="{64F964D3-06D4-4AB0-BE19-C9A680F33AD8}"/>
              </a:ext>
            </a:extLst>
          </p:cNvPr>
          <p:cNvSpPr>
            <a:spLocks xmlns:a="http://schemas.openxmlformats.org/drawingml/2006/main" noGrp="1"/>
          </p:cNvSpPr>
          <p:nvPr/>
        </p:nvSpPr>
        <p:spPr>
          <a:xfrm xmlns:a="http://schemas.openxmlformats.org/drawingml/2006/main">
            <a:off x="342900" y="6172200"/>
            <a:ext cx="4905375" cy="304800"/>
          </a:xfrm>
          <a:prstGeom xmlns:a="http://schemas.openxmlformats.org/drawingml/2006/main" prst="rect">
            <a:avLst/>
          </a:prstGeom>
          <a:solidFill xmlns:a="http://schemas.openxmlformats.org/drawingml/2006/main">
            <a:srgbClr val="BE1738"/>
          </a:solidFill>
          <a:ln xmlns:a="http://schemas.openxmlformats.org/drawingml/2006/main" w="11430">
            <a:solidFill>
              <a:srgbClr val="BE1738"/>
            </a:solidFill>
          </a:ln>
        </p:spPr>
      </p:sp>
      <p:sp>
        <p:nvSpPr>
          <p:cNvPr id="19" name="text">
            <a:extLst xmlns:a="http://schemas.openxmlformats.org/drawingml/2006/main">
              <a:ext uri="{FF2B5EF4-FFF2-40B4-BE49-F238E27FC236}">
                <a16:creationId xmlns:a16="http://schemas.microsoft.com/office/drawing/2014/main" id="{6A6C3FAE-414C-4E32-9B4A-51C8E05F3F86}"/>
              </a:ext>
            </a:extLst>
          </p:cNvPr>
          <p:cNvSpPr>
            <a:spLocks xmlns:a="http://schemas.openxmlformats.org/drawingml/2006/main" noGrp="1"/>
          </p:cNvSpPr>
          <p:nvPr/>
        </p:nvSpPr>
        <p:spPr>
          <a:xfrm xmlns:a="http://schemas.openxmlformats.org/drawingml/2006/main">
            <a:off x="457200" y="6210300"/>
            <a:ext cx="46767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FFF"/>
                </a:solidFill>
                <a:latin typeface="Carlito"/>
                <a:ea typeface="Carlito"/>
                <a:cs typeface="Carlito"/>
              </a:defRPr>
            </a:pPr>
            <a:r>
              <a:rPr sz="1800" b="1">
                <a:solidFill>
                  <a:srgbClr val="FFFFFF"/>
                </a:solidFill>
                <a:latin typeface="Carlito"/>
                <a:ea typeface="Carlito"/>
                <a:cs typeface="Carlito"/>
              </a:rPr>
              <a:t>Decision / Discussion Points</a:t>
            </a:r>
          </a:p>
        </p:txBody>
      </p:sp>
      <p:sp>
        <p:nvSpPr>
          <p:cNvPr id="20" name="box">
            <a:extLst xmlns:a="http://schemas.openxmlformats.org/drawingml/2006/main">
              <a:ext uri="{FF2B5EF4-FFF2-40B4-BE49-F238E27FC236}">
                <a16:creationId xmlns:a16="http://schemas.microsoft.com/office/drawing/2014/main" id="{8AA75C90-6449-4710-8CB0-8741BA5CF06B}"/>
              </a:ext>
            </a:extLst>
          </p:cNvPr>
          <p:cNvSpPr>
            <a:spLocks xmlns:a="http://schemas.openxmlformats.org/drawingml/2006/main" noGrp="1"/>
          </p:cNvSpPr>
          <p:nvPr/>
        </p:nvSpPr>
        <p:spPr>
          <a:xfrm xmlns:a="http://schemas.openxmlformats.org/drawingml/2006/main">
            <a:off x="342900" y="6477000"/>
            <a:ext cx="14554200" cy="1466850"/>
          </a:xfrm>
          <a:prstGeom xmlns:a="http://schemas.openxmlformats.org/drawingml/2006/main" prst="rect">
            <a:avLst/>
          </a:prstGeom>
          <a:solidFill xmlns:a="http://schemas.openxmlformats.org/drawingml/2006/main">
            <a:srgbClr val="FFFFFF"/>
          </a:solidFill>
          <a:ln xmlns:a="http://schemas.openxmlformats.org/drawingml/2006/main" w="11430">
            <a:solidFill>
              <a:srgbClr val="A7ABB0"/>
            </a:solidFill>
          </a:ln>
        </p:spPr>
      </p:sp>
      <p:sp>
        <p:nvSpPr>
          <p:cNvPr id="21" name="bullets">
            <a:extLst xmlns:a="http://schemas.openxmlformats.org/drawingml/2006/main">
              <a:ext uri="{FF2B5EF4-FFF2-40B4-BE49-F238E27FC236}">
                <a16:creationId xmlns:a16="http://schemas.microsoft.com/office/drawing/2014/main" id="{F4EC426C-53E8-482C-AFF4-4B2FDF5DEE35}"/>
              </a:ext>
            </a:extLst>
          </p:cNvPr>
          <p:cNvSpPr>
            <a:spLocks xmlns:a="http://schemas.openxmlformats.org/drawingml/2006/main" noGrp="1"/>
          </p:cNvSpPr>
          <p:nvPr/>
        </p:nvSpPr>
        <p:spPr>
          <a:xfrm xmlns:a="http://schemas.openxmlformats.org/drawingml/2006/main">
            <a:off x="523875" y="6619875"/>
            <a:ext cx="139827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600"/>
              </a:spcAft>
              <a:buChar char="•"/>
              <a:defRPr sz="1800" b="0">
                <a:solidFill>
                  <a:srgbClr val="30343A"/>
                </a:solidFill>
                <a:latin typeface="Carlito"/>
                <a:ea typeface="Carlito"/>
                <a:cs typeface="Carlito"/>
              </a:defRPr>
            </a:pPr>
            <a:r>
              <a:t>Approve the target direction, minimum alignment requirements and ownership model for new APIs and material changes.</a:t>
            </a:r>
          </a:p>
          <a:p xmlns:a="http://schemas.openxmlformats.org/drawingml/2006/main">
            <a:pPr marL="228600" indent="-114300" algn="l">
              <a:spcAft>
                <a:spcPts val="600"/>
              </a:spcAft>
              <a:buChar char="•"/>
              <a:defRPr sz="1800" b="0">
                <a:solidFill>
                  <a:srgbClr val="30343A"/>
                </a:solidFill>
                <a:latin typeface="Carlito"/>
                <a:ea typeface="Carlito"/>
                <a:cs typeface="Carlito"/>
              </a:defRPr>
            </a:pPr>
            <a:r>
              <a:t>Endorse phased adoption and updates to the Integration Standards and Integration Decision Framework.</a:t>
            </a:r>
          </a:p>
          <a:p xmlns:a="http://schemas.openxmlformats.org/drawingml/2006/main">
            <a:pPr marL="228600" indent="-114300" algn="l">
              <a:spcAft>
                <a:spcPts val="600"/>
              </a:spcAft>
              <a:buChar char="•"/>
              <a:defRPr sz="1800" b="0">
                <a:solidFill>
                  <a:srgbClr val="30343A"/>
                </a:solidFill>
                <a:latin typeface="Carlito"/>
                <a:ea typeface="Carlito"/>
                <a:cs typeface="Carlito"/>
              </a:defRPr>
            </a:pPr>
            <a:r>
              <a:t>Confirm transition and exception arrangements. Funding and platform selection follow their applicable approval processes.</a:t>
            </a:r>
          </a:p>
        </p:txBody>
      </p:sp>
    </p:spTree>
    <p:extLst>
      <p:ext uri="{BB962C8B-B14F-4D97-AF65-F5344CB8AC3E}">
        <p14:creationId xmlns:p14="http://schemas.microsoft.com/office/powerpoint/2010/main" val="156221585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nav-Background">
            <a:extLst xmlns:a="http://schemas.openxmlformats.org/drawingml/2006/main">
              <a:ext uri="{FF2B5EF4-FFF2-40B4-BE49-F238E27FC236}">
                <a16:creationId xmlns:a16="http://schemas.microsoft.com/office/drawing/2014/main" id="{F9907A96-DF99-4F79-8FE2-FC04BB12ABB0}"/>
              </a:ext>
            </a:extLst>
          </p:cNvPr>
          <p:cNvSpPr>
            <a:spLocks xmlns:a="http://schemas.openxmlformats.org/drawingml/2006/main" noGrp="1"/>
          </p:cNvSpPr>
          <p:nvPr/>
        </p:nvSpPr>
        <p:spPr>
          <a:xfrm xmlns:a="http://schemas.openxmlformats.org/drawingml/2006/main">
            <a:off x="228600" y="171450"/>
            <a:ext cx="1600200" cy="381000"/>
          </a:xfrm>
          <a:prstGeom xmlns:a="http://schemas.openxmlformats.org/drawingml/2006/main" prst="roundRect">
            <a:avLst>
              <a:gd name="adj" fmla="val 17500"/>
            </a:avLst>
          </a:prstGeom>
          <a:solidFill xmlns:a="http://schemas.openxmlformats.org/drawingml/2006/main">
            <a:srgbClr val="BE1738"/>
          </a:solidFill>
          <a:ln xmlns:a="http://schemas.openxmlformats.org/drawingml/2006/main" w="11430">
            <a:solidFill>
              <a:srgbClr val="BE1738"/>
            </a:solidFill>
          </a:ln>
        </p:spPr>
      </p:sp>
      <p:sp>
        <p:nvSpPr>
          <p:cNvPr id="2" name="navigation-Background">
            <a:extLst xmlns:a="http://schemas.openxmlformats.org/drawingml/2006/main">
              <a:ext uri="{FF2B5EF4-FFF2-40B4-BE49-F238E27FC236}">
                <a16:creationId xmlns:a16="http://schemas.microsoft.com/office/drawing/2014/main" id="{806582F3-73BE-47D1-A822-589F18858B7F}"/>
              </a:ext>
            </a:extLst>
          </p:cNvPr>
          <p:cNvSpPr>
            <a:spLocks xmlns:a="http://schemas.openxmlformats.org/drawingml/2006/main" noGrp="1"/>
          </p:cNvSpPr>
          <p:nvPr/>
        </p:nvSpPr>
        <p:spPr>
          <a:xfrm xmlns:a="http://schemas.openxmlformats.org/drawingml/2006/main">
            <a:off x="2571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FFFFFF"/>
                </a:solidFill>
                <a:latin typeface="Carlito"/>
                <a:ea typeface="Carlito"/>
                <a:cs typeface="Carlito"/>
              </a:defRPr>
            </a:pPr>
            <a:r>
              <a:rPr sz="1313" b="0">
                <a:solidFill>
                  <a:srgbClr val="FFFFFF"/>
                </a:solidFill>
                <a:latin typeface="Carlito"/>
                <a:ea typeface="Carlito"/>
                <a:cs typeface="Carlito"/>
              </a:rPr>
              <a:t>Background</a:t>
            </a:r>
          </a:p>
        </p:txBody>
      </p:sp>
      <p:sp>
        <p:nvSpPr>
          <p:cNvPr id="3" name="nav-Problem Statements">
            <a:extLst xmlns:a="http://schemas.openxmlformats.org/drawingml/2006/main">
              <a:ext uri="{FF2B5EF4-FFF2-40B4-BE49-F238E27FC236}">
                <a16:creationId xmlns:a16="http://schemas.microsoft.com/office/drawing/2014/main" id="{B768B793-D4AB-4393-9090-978E5C2C36D6}"/>
              </a:ext>
            </a:extLst>
          </p:cNvPr>
          <p:cNvSpPr>
            <a:spLocks xmlns:a="http://schemas.openxmlformats.org/drawingml/2006/main" noGrp="1"/>
          </p:cNvSpPr>
          <p:nvPr/>
        </p:nvSpPr>
        <p:spPr>
          <a:xfrm xmlns:a="http://schemas.openxmlformats.org/drawingml/2006/main">
            <a:off x="19050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4" name="navigation-Problem Statements">
            <a:extLst xmlns:a="http://schemas.openxmlformats.org/drawingml/2006/main">
              <a:ext uri="{FF2B5EF4-FFF2-40B4-BE49-F238E27FC236}">
                <a16:creationId xmlns:a16="http://schemas.microsoft.com/office/drawing/2014/main" id="{51C86020-11E0-409A-A011-668EC8CB86E4}"/>
              </a:ext>
            </a:extLst>
          </p:cNvPr>
          <p:cNvSpPr>
            <a:spLocks xmlns:a="http://schemas.openxmlformats.org/drawingml/2006/main" noGrp="1"/>
          </p:cNvSpPr>
          <p:nvPr/>
        </p:nvSpPr>
        <p:spPr>
          <a:xfrm xmlns:a="http://schemas.openxmlformats.org/drawingml/2006/main">
            <a:off x="19335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Problem Statements</a:t>
            </a:r>
          </a:p>
        </p:txBody>
      </p:sp>
      <p:sp>
        <p:nvSpPr>
          <p:cNvPr id="5" name="nav-Capability Context">
            <a:extLst xmlns:a="http://schemas.openxmlformats.org/drawingml/2006/main">
              <a:ext uri="{FF2B5EF4-FFF2-40B4-BE49-F238E27FC236}">
                <a16:creationId xmlns:a16="http://schemas.microsoft.com/office/drawing/2014/main" id="{5B4D2824-3775-4049-98FE-DF86238E47B1}"/>
              </a:ext>
            </a:extLst>
          </p:cNvPr>
          <p:cNvSpPr>
            <a:spLocks xmlns:a="http://schemas.openxmlformats.org/drawingml/2006/main" noGrp="1"/>
          </p:cNvSpPr>
          <p:nvPr/>
        </p:nvSpPr>
        <p:spPr>
          <a:xfrm xmlns:a="http://schemas.openxmlformats.org/drawingml/2006/main">
            <a:off x="35814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6" name="navigation-Capability Context">
            <a:extLst xmlns:a="http://schemas.openxmlformats.org/drawingml/2006/main">
              <a:ext uri="{FF2B5EF4-FFF2-40B4-BE49-F238E27FC236}">
                <a16:creationId xmlns:a16="http://schemas.microsoft.com/office/drawing/2014/main" id="{9A99DEF2-444A-498D-9521-F01571AD9FEF}"/>
              </a:ext>
            </a:extLst>
          </p:cNvPr>
          <p:cNvSpPr>
            <a:spLocks xmlns:a="http://schemas.openxmlformats.org/drawingml/2006/main" noGrp="1"/>
          </p:cNvSpPr>
          <p:nvPr/>
        </p:nvSpPr>
        <p:spPr>
          <a:xfrm xmlns:a="http://schemas.openxmlformats.org/drawingml/2006/main">
            <a:off x="36099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Capability Context</a:t>
            </a:r>
          </a:p>
        </p:txBody>
      </p:sp>
      <p:sp>
        <p:nvSpPr>
          <p:cNvPr id="7" name="nav-Artefact Content">
            <a:extLst xmlns:a="http://schemas.openxmlformats.org/drawingml/2006/main">
              <a:ext uri="{FF2B5EF4-FFF2-40B4-BE49-F238E27FC236}">
                <a16:creationId xmlns:a16="http://schemas.microsoft.com/office/drawing/2014/main" id="{CDF93878-B1A0-475A-BCBC-61FD35845A83}"/>
              </a:ext>
            </a:extLst>
          </p:cNvPr>
          <p:cNvSpPr>
            <a:spLocks xmlns:a="http://schemas.openxmlformats.org/drawingml/2006/main" noGrp="1"/>
          </p:cNvSpPr>
          <p:nvPr/>
        </p:nvSpPr>
        <p:spPr>
          <a:xfrm xmlns:a="http://schemas.openxmlformats.org/drawingml/2006/main">
            <a:off x="52578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8" name="navigation-Artefact Content">
            <a:extLst xmlns:a="http://schemas.openxmlformats.org/drawingml/2006/main">
              <a:ext uri="{FF2B5EF4-FFF2-40B4-BE49-F238E27FC236}">
                <a16:creationId xmlns:a16="http://schemas.microsoft.com/office/drawing/2014/main" id="{714AF267-8DCC-4BB6-A251-0E076227FE6B}"/>
              </a:ext>
            </a:extLst>
          </p:cNvPr>
          <p:cNvSpPr>
            <a:spLocks xmlns:a="http://schemas.openxmlformats.org/drawingml/2006/main" noGrp="1"/>
          </p:cNvSpPr>
          <p:nvPr/>
        </p:nvSpPr>
        <p:spPr>
          <a:xfrm xmlns:a="http://schemas.openxmlformats.org/drawingml/2006/main">
            <a:off x="52863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Artefact Content</a:t>
            </a:r>
          </a:p>
        </p:txBody>
      </p:sp>
      <p:sp>
        <p:nvSpPr>
          <p:cNvPr id="9" name="nav-Roadmap">
            <a:extLst xmlns:a="http://schemas.openxmlformats.org/drawingml/2006/main">
              <a:ext uri="{FF2B5EF4-FFF2-40B4-BE49-F238E27FC236}">
                <a16:creationId xmlns:a16="http://schemas.microsoft.com/office/drawing/2014/main" id="{061075A9-2D9A-41C6-ABED-4E0D49181C0A}"/>
              </a:ext>
            </a:extLst>
          </p:cNvPr>
          <p:cNvSpPr>
            <a:spLocks xmlns:a="http://schemas.openxmlformats.org/drawingml/2006/main" noGrp="1"/>
          </p:cNvSpPr>
          <p:nvPr/>
        </p:nvSpPr>
        <p:spPr>
          <a:xfrm xmlns:a="http://schemas.openxmlformats.org/drawingml/2006/main">
            <a:off x="69342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0" name="navigation-Roadmap">
            <a:extLst xmlns:a="http://schemas.openxmlformats.org/drawingml/2006/main">
              <a:ext uri="{FF2B5EF4-FFF2-40B4-BE49-F238E27FC236}">
                <a16:creationId xmlns:a16="http://schemas.microsoft.com/office/drawing/2014/main" id="{760FF7CE-4D33-4D78-B1A0-F29119634EFF}"/>
              </a:ext>
            </a:extLst>
          </p:cNvPr>
          <p:cNvSpPr>
            <a:spLocks xmlns:a="http://schemas.openxmlformats.org/drawingml/2006/main" noGrp="1"/>
          </p:cNvSpPr>
          <p:nvPr/>
        </p:nvSpPr>
        <p:spPr>
          <a:xfrm xmlns:a="http://schemas.openxmlformats.org/drawingml/2006/main">
            <a:off x="69627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Roadmap</a:t>
            </a:r>
          </a:p>
        </p:txBody>
      </p:sp>
      <p:sp>
        <p:nvSpPr>
          <p:cNvPr id="11" name="nav-Decision">
            <a:extLst xmlns:a="http://schemas.openxmlformats.org/drawingml/2006/main">
              <a:ext uri="{FF2B5EF4-FFF2-40B4-BE49-F238E27FC236}">
                <a16:creationId xmlns:a16="http://schemas.microsoft.com/office/drawing/2014/main" id="{74C84634-8A62-4409-B158-2B2A3A1E4FDC}"/>
              </a:ext>
            </a:extLst>
          </p:cNvPr>
          <p:cNvSpPr>
            <a:spLocks xmlns:a="http://schemas.openxmlformats.org/drawingml/2006/main" noGrp="1"/>
          </p:cNvSpPr>
          <p:nvPr/>
        </p:nvSpPr>
        <p:spPr>
          <a:xfrm xmlns:a="http://schemas.openxmlformats.org/drawingml/2006/main">
            <a:off x="86106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2" name="navigation-Decision">
            <a:extLst xmlns:a="http://schemas.openxmlformats.org/drawingml/2006/main">
              <a:ext uri="{FF2B5EF4-FFF2-40B4-BE49-F238E27FC236}">
                <a16:creationId xmlns:a16="http://schemas.microsoft.com/office/drawing/2014/main" id="{185CEA4F-E6C1-45A3-A465-D49C0108D645}"/>
              </a:ext>
            </a:extLst>
          </p:cNvPr>
          <p:cNvSpPr>
            <a:spLocks xmlns:a="http://schemas.openxmlformats.org/drawingml/2006/main" noGrp="1"/>
          </p:cNvSpPr>
          <p:nvPr/>
        </p:nvSpPr>
        <p:spPr>
          <a:xfrm xmlns:a="http://schemas.openxmlformats.org/drawingml/2006/main">
            <a:off x="86391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Decision</a:t>
            </a:r>
          </a:p>
        </p:txBody>
      </p:sp>
      <p:sp>
        <p:nvSpPr>
          <p:cNvPr id="13" name="nav-Appendix">
            <a:extLst xmlns:a="http://schemas.openxmlformats.org/drawingml/2006/main">
              <a:ext uri="{FF2B5EF4-FFF2-40B4-BE49-F238E27FC236}">
                <a16:creationId xmlns:a16="http://schemas.microsoft.com/office/drawing/2014/main" id="{F0644842-AA50-4F79-9E35-42C7CAC46A04}"/>
              </a:ext>
            </a:extLst>
          </p:cNvPr>
          <p:cNvSpPr>
            <a:spLocks xmlns:a="http://schemas.openxmlformats.org/drawingml/2006/main" noGrp="1"/>
          </p:cNvSpPr>
          <p:nvPr/>
        </p:nvSpPr>
        <p:spPr>
          <a:xfrm xmlns:a="http://schemas.openxmlformats.org/drawingml/2006/main">
            <a:off x="102870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4" name="navigation-Appendix">
            <a:extLst xmlns:a="http://schemas.openxmlformats.org/drawingml/2006/main">
              <a:ext uri="{FF2B5EF4-FFF2-40B4-BE49-F238E27FC236}">
                <a16:creationId xmlns:a16="http://schemas.microsoft.com/office/drawing/2014/main" id="{DCD9D611-31D0-4A38-8F9B-E9C9CC3BF11E}"/>
              </a:ext>
            </a:extLst>
          </p:cNvPr>
          <p:cNvSpPr>
            <a:spLocks xmlns:a="http://schemas.openxmlformats.org/drawingml/2006/main" noGrp="1"/>
          </p:cNvSpPr>
          <p:nvPr/>
        </p:nvSpPr>
        <p:spPr>
          <a:xfrm xmlns:a="http://schemas.openxmlformats.org/drawingml/2006/main">
            <a:off x="103155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Appendix</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d921d62fdc214f23"/>
          <a:stretch xmlns:a="http://schemas.openxmlformats.org/drawingml/2006/main"/>
        </p:blipFill>
        <p:spPr>
          <a:xfrm xmlns:a="http://schemas.openxmlformats.org/drawingml/2006/main">
            <a:off x="304800" y="737436"/>
            <a:ext cx="1057275" cy="1001629"/>
          </a:xfrm>
          <a:prstGeom xmlns:a="http://schemas.openxmlformats.org/drawingml/2006/main" prst="rect">
            <a:avLst/>
          </a:prstGeom>
        </p:spPr>
      </p:pic>
      <p:sp>
        <p:nvSpPr>
          <p:cNvPr id="16" name="title-outline">
            <a:extLst xmlns:a="http://schemas.openxmlformats.org/drawingml/2006/main">
              <a:ext uri="{FF2B5EF4-FFF2-40B4-BE49-F238E27FC236}">
                <a16:creationId xmlns:a16="http://schemas.microsoft.com/office/drawing/2014/main" id="{C3AD74C9-50BE-40D3-99D6-5348BB6D55F3}"/>
              </a:ext>
            </a:extLst>
          </p:cNvPr>
          <p:cNvSpPr>
            <a:spLocks xmlns:a="http://schemas.openxmlformats.org/drawingml/2006/main" noGrp="1"/>
          </p:cNvSpPr>
          <p:nvPr/>
        </p:nvSpPr>
        <p:spPr>
          <a:xfrm xmlns:a="http://schemas.openxmlformats.org/drawingml/2006/main">
            <a:off x="1657350" y="866775"/>
            <a:ext cx="10496550" cy="4857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8575">
            <a:solidFill>
              <a:srgbClr val="BE1738"/>
            </a:solidFill>
          </a:ln>
        </p:spPr>
      </p:sp>
      <p:sp>
        <p:nvSpPr>
          <p:cNvPr id="17" name="slide-title">
            <a:extLst xmlns:a="http://schemas.openxmlformats.org/drawingml/2006/main">
              <a:ext uri="{FF2B5EF4-FFF2-40B4-BE49-F238E27FC236}">
                <a16:creationId xmlns:a16="http://schemas.microsoft.com/office/drawing/2014/main" id="{CB05DE74-AE28-4854-9EB6-21C51C6885BC}"/>
              </a:ext>
            </a:extLst>
          </p:cNvPr>
          <p:cNvSpPr>
            <a:spLocks xmlns:a="http://schemas.openxmlformats.org/drawingml/2006/main" noGrp="1"/>
          </p:cNvSpPr>
          <p:nvPr/>
        </p:nvSpPr>
        <p:spPr>
          <a:xfrm xmlns:a="http://schemas.openxmlformats.org/drawingml/2006/main">
            <a:off x="1933575" y="933450"/>
            <a:ext cx="994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1632"/>
                </a:solidFill>
                <a:latin typeface="Carlito"/>
                <a:ea typeface="Carlito"/>
                <a:cs typeface="Carlito"/>
              </a:defRPr>
            </a:pPr>
            <a:r>
              <a:rPr sz="2100" b="1">
                <a:solidFill>
                  <a:srgbClr val="A91632"/>
                </a:solidFill>
                <a:latin typeface="Carlito"/>
                <a:ea typeface="Carlito"/>
                <a:cs typeface="Carlito"/>
              </a:rPr>
              <a:t>TARGET ARCHITECTURE SCOPE</a:t>
            </a:r>
          </a:p>
        </p:txBody>
      </p:sp>
      <p:sp>
        <p:nvSpPr>
          <p:cNvPr id="18" name="classification">
            <a:extLst xmlns:a="http://schemas.openxmlformats.org/drawingml/2006/main">
              <a:ext uri="{FF2B5EF4-FFF2-40B4-BE49-F238E27FC236}">
                <a16:creationId xmlns:a16="http://schemas.microsoft.com/office/drawing/2014/main" id="{537BAE69-EB59-4BD5-BDE7-8D5742C9A7AD}"/>
              </a:ext>
            </a:extLst>
          </p:cNvPr>
          <p:cNvSpPr>
            <a:spLocks xmlns:a="http://schemas.openxmlformats.org/drawingml/2006/main" noGrp="1"/>
          </p:cNvSpPr>
          <p:nvPr/>
        </p:nvSpPr>
        <p:spPr>
          <a:xfrm xmlns:a="http://schemas.openxmlformats.org/drawingml/2006/main">
            <a:off x="12001500" y="619125"/>
            <a:ext cx="2905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30343A"/>
                </a:solidFill>
                <a:latin typeface="Carlito"/>
                <a:ea typeface="Carlito"/>
                <a:cs typeface="Carlito"/>
              </a:defRPr>
            </a:pPr>
            <a:r>
              <a:rPr sz="1275" b="0">
                <a:solidFill>
                  <a:srgbClr val="30343A"/>
                </a:solidFill>
                <a:latin typeface="Carlito"/>
                <a:ea typeface="Carlito"/>
                <a:cs typeface="Carlito"/>
              </a:rPr>
              <a:t>RESTRICTED TO Euroclear</a:t>
            </a:r>
          </a:p>
        </p:txBody>
      </p:sp>
      <p:sp>
        <p:nvSpPr>
          <p:cNvPr id="19" name="footer-outline">
            <a:extLst xmlns:a="http://schemas.openxmlformats.org/drawingml/2006/main">
              <a:ext uri="{FF2B5EF4-FFF2-40B4-BE49-F238E27FC236}">
                <a16:creationId xmlns:a16="http://schemas.microsoft.com/office/drawing/2014/main" id="{5E28B45D-DD63-42FD-B87A-9CFF2AFBB53F}"/>
              </a:ext>
            </a:extLst>
          </p:cNvPr>
          <p:cNvSpPr>
            <a:spLocks xmlns:a="http://schemas.openxmlformats.org/drawingml/2006/main" noGrp="1"/>
          </p:cNvSpPr>
          <p:nvPr/>
        </p:nvSpPr>
        <p:spPr>
          <a:xfrm xmlns:a="http://schemas.openxmlformats.org/drawingml/2006/main">
            <a:off x="171450" y="8143875"/>
            <a:ext cx="3009900" cy="2952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4288">
            <a:solidFill>
              <a:srgbClr val="70757C"/>
            </a:solidFill>
          </a:ln>
        </p:spPr>
      </p:sp>
      <p:sp>
        <p:nvSpPr>
          <p:cNvPr id="20" name="footer">
            <a:extLst xmlns:a="http://schemas.openxmlformats.org/drawingml/2006/main">
              <a:ext uri="{FF2B5EF4-FFF2-40B4-BE49-F238E27FC236}">
                <a16:creationId xmlns:a16="http://schemas.microsoft.com/office/drawing/2014/main" id="{386CDCC1-C490-4049-ABFB-BAC9C4738509}"/>
              </a:ext>
            </a:extLst>
          </p:cNvPr>
          <p:cNvSpPr>
            <a:spLocks xmlns:a="http://schemas.openxmlformats.org/drawingml/2006/main" noGrp="1"/>
          </p:cNvSpPr>
          <p:nvPr/>
        </p:nvSpPr>
        <p:spPr>
          <a:xfrm xmlns:a="http://schemas.openxmlformats.org/drawingml/2006/main">
            <a:off x="295275" y="8172450"/>
            <a:ext cx="2771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0343A"/>
                </a:solidFill>
                <a:latin typeface="Carlito"/>
                <a:ea typeface="Carlito"/>
                <a:cs typeface="Carlito"/>
              </a:defRPr>
            </a:pPr>
            <a:r>
              <a:rPr sz="1500" b="0">
                <a:solidFill>
                  <a:srgbClr val="30343A"/>
                </a:solidFill>
                <a:latin typeface="Carlito"/>
                <a:ea typeface="Carlito"/>
                <a:cs typeface="Carlito"/>
              </a:rPr>
              <a:t>API Target Architecture</a:t>
            </a:r>
          </a:p>
        </p:txBody>
      </p:sp>
      <p:sp>
        <p:nvSpPr>
          <p:cNvPr id="21" name="page-number">
            <a:extLst xmlns:a="http://schemas.openxmlformats.org/drawingml/2006/main">
              <a:ext uri="{FF2B5EF4-FFF2-40B4-BE49-F238E27FC236}">
                <a16:creationId xmlns:a16="http://schemas.microsoft.com/office/drawing/2014/main" id="{DF9CE390-5A7D-4FBD-A5CF-E2F79D18E3B0}"/>
              </a:ext>
            </a:extLst>
          </p:cNvPr>
          <p:cNvSpPr>
            <a:spLocks xmlns:a="http://schemas.openxmlformats.org/drawingml/2006/main" noGrp="1"/>
          </p:cNvSpPr>
          <p:nvPr/>
        </p:nvSpPr>
        <p:spPr>
          <a:xfrm xmlns:a="http://schemas.openxmlformats.org/drawingml/2006/main">
            <a:off x="14458950" y="8162925"/>
            <a:ext cx="4476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70757C"/>
                </a:solidFill>
                <a:latin typeface="Carlito"/>
                <a:ea typeface="Carlito"/>
                <a:cs typeface="Carlito"/>
              </a:defRPr>
            </a:pPr>
            <a:r>
              <a:rPr sz="1350" b="0">
                <a:solidFill>
                  <a:srgbClr val="70757C"/>
                </a:solidFill>
                <a:latin typeface="Carlito"/>
                <a:ea typeface="Carlito"/>
                <a:cs typeface="Carlito"/>
              </a:rPr>
              <a:t>2</a:t>
            </a:r>
          </a:p>
        </p:txBody>
      </p:sp>
      <p:sp>
        <p:nvSpPr>
          <p:cNvPr id="22" name="section-band">
            <a:extLst xmlns:a="http://schemas.openxmlformats.org/drawingml/2006/main">
              <a:ext uri="{FF2B5EF4-FFF2-40B4-BE49-F238E27FC236}">
                <a16:creationId xmlns:a16="http://schemas.microsoft.com/office/drawing/2014/main" id="{BAB03312-57F2-42CE-A6B0-14CE2633C213}"/>
              </a:ext>
            </a:extLst>
          </p:cNvPr>
          <p:cNvSpPr>
            <a:spLocks xmlns:a="http://schemas.openxmlformats.org/drawingml/2006/main" noGrp="1"/>
          </p:cNvSpPr>
          <p:nvPr/>
        </p:nvSpPr>
        <p:spPr>
          <a:xfrm xmlns:a="http://schemas.openxmlformats.org/drawingml/2006/main">
            <a:off x="342900" y="1943100"/>
            <a:ext cx="4905375" cy="304800"/>
          </a:xfrm>
          <a:prstGeom xmlns:a="http://schemas.openxmlformats.org/drawingml/2006/main" prst="rect">
            <a:avLst/>
          </a:prstGeom>
          <a:solidFill xmlns:a="http://schemas.openxmlformats.org/drawingml/2006/main">
            <a:srgbClr val="BE1738"/>
          </a:solidFill>
          <a:ln xmlns:a="http://schemas.openxmlformats.org/drawingml/2006/main" w="11430">
            <a:solidFill>
              <a:srgbClr val="BE1738"/>
            </a:solidFill>
          </a:ln>
        </p:spPr>
      </p:sp>
      <p:sp>
        <p:nvSpPr>
          <p:cNvPr id="23" name="text">
            <a:extLst xmlns:a="http://schemas.openxmlformats.org/drawingml/2006/main">
              <a:ext uri="{FF2B5EF4-FFF2-40B4-BE49-F238E27FC236}">
                <a16:creationId xmlns:a16="http://schemas.microsoft.com/office/drawing/2014/main" id="{96D3C767-B5AC-4C63-B734-8D903E581DD1}"/>
              </a:ext>
            </a:extLst>
          </p:cNvPr>
          <p:cNvSpPr>
            <a:spLocks xmlns:a="http://schemas.openxmlformats.org/drawingml/2006/main" noGrp="1"/>
          </p:cNvSpPr>
          <p:nvPr/>
        </p:nvSpPr>
        <p:spPr>
          <a:xfrm xmlns:a="http://schemas.openxmlformats.org/drawingml/2006/main">
            <a:off x="457200" y="1981200"/>
            <a:ext cx="46767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FFF"/>
                </a:solidFill>
                <a:latin typeface="Carlito"/>
                <a:ea typeface="Carlito"/>
                <a:cs typeface="Carlito"/>
              </a:defRPr>
            </a:pPr>
            <a:r>
              <a:rPr sz="1800" b="1">
                <a:solidFill>
                  <a:srgbClr val="FFFFFF"/>
                </a:solidFill>
                <a:latin typeface="Carlito"/>
                <a:ea typeface="Carlito"/>
                <a:cs typeface="Carlito"/>
              </a:rPr>
              <a:t>What do we mean by APIs</a:t>
            </a:r>
          </a:p>
        </p:txBody>
      </p:sp>
      <p:sp>
        <p:nvSpPr>
          <p:cNvPr id="24" name="text">
            <a:extLst xmlns:a="http://schemas.openxmlformats.org/drawingml/2006/main">
              <a:ext uri="{FF2B5EF4-FFF2-40B4-BE49-F238E27FC236}">
                <a16:creationId xmlns:a16="http://schemas.microsoft.com/office/drawing/2014/main" id="{637A5BB4-EB06-4937-BD43-2F5ABCADEFD1}"/>
              </a:ext>
            </a:extLst>
          </p:cNvPr>
          <p:cNvSpPr>
            <a:spLocks xmlns:a="http://schemas.openxmlformats.org/drawingml/2006/main" noGrp="1"/>
          </p:cNvSpPr>
          <p:nvPr/>
        </p:nvSpPr>
        <p:spPr>
          <a:xfrm xmlns:a="http://schemas.openxmlformats.org/drawingml/2006/main">
            <a:off x="457200" y="2381250"/>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30343A"/>
                </a:solidFill>
                <a:latin typeface="Carlito"/>
                <a:ea typeface="Carlito"/>
                <a:cs typeface="Carlito"/>
              </a:defRPr>
            </a:pPr>
            <a:r>
              <a:rPr sz="1950" b="0">
                <a:solidFill>
                  <a:srgbClr val="30343A"/>
                </a:solidFill>
                <a:latin typeface="Carlito"/>
                <a:ea typeface="Carlito"/>
                <a:cs typeface="Carlito"/>
              </a:rPr>
              <a:t>This target architecture covers REST, GraphQL and gRPC interfaces and the capabilities used to design, expose, consume, secure and manage them across Euroclear.</a:t>
            </a:r>
          </a:p>
        </p:txBody>
      </p:sp>
      <p:graphicFrame>
        <p:nvGraphicFramePr>
          <p:cNvPr id="53" name=""/>
          <p:cNvGraphicFramePr/>
          <p:nvPr/>
        </p:nvGraphicFramePr>
        <p:xfrm>
          <a:off xmlns:a="http://schemas.openxmlformats.org/drawingml/2006/main" x="342900" y="3190875"/>
          <a:ext xmlns:a="http://schemas.openxmlformats.org/drawingml/2006/main" cx="14554200" cy="3590925"/>
        </p:xfrm>
        <a:graphic xmlns:a="http://schemas.openxmlformats.org/drawingml/2006/main">
          <a:graphicData uri="http://schemas.openxmlformats.org/drawingml/2006/table">
            <a:tbl>
              <a:tblPr firstRow="0" bandRow="0"/>
              <a:tblGrid>
                <a:gridCol w="6000750"/>
                <a:gridCol w="8553450"/>
              </a:tblGrid>
              <a:tr h="428625">
                <a:tc>
                  <a:txBody>
                    <a:bodyPr>
                      <a:noAutofit/>
                    </a:bodyPr>
                    <a:lstStyle/>
                    <a:p>
                      <a:r>
                        <a:rPr sz="1725" b="1">
                          <a:solidFill>
                            <a:srgbClr val="FFFFFF"/>
                          </a:solidFill>
                          <a:latin typeface="Carlito"/>
                          <a:ea typeface="Carlito"/>
                          <a:cs typeface="Carlito"/>
                        </a:rPr>
                        <a:t>Scope area</a:t>
                      </a:r>
                    </a:p>
                  </a:txBody>
                  <a:tcPr marL="133350" marR="133350" marT="95250" marB="76200" anchor="t">
                    <a:solidFill>
                      <a:srgbClr val="BE1738"/>
                    </a:solidFill>
                  </a:tcPr>
                </a:tc>
                <a:tc>
                  <a:txBody>
                    <a:bodyPr>
                      <a:noAutofit/>
                    </a:bodyPr>
                    <a:lstStyle/>
                    <a:p>
                      <a:r>
                        <a:rPr sz="1725" b="1">
                          <a:solidFill>
                            <a:srgbClr val="FFFFFF"/>
                          </a:solidFill>
                          <a:latin typeface="Carlito"/>
                          <a:ea typeface="Carlito"/>
                          <a:cs typeface="Carlito"/>
                        </a:rPr>
                        <a:t>Architecture boundary</a:t>
                      </a:r>
                    </a:p>
                  </a:txBody>
                  <a:tcPr marL="133350" marR="133350" marT="95250" marB="76200" anchor="t">
                    <a:solidFill>
                      <a:srgbClr val="BE1738"/>
                    </a:solidFill>
                  </a:tcPr>
                </a:tc>
              </a:tr>
              <a:tr h="790575">
                <a:tc>
                  <a:txBody>
                    <a:bodyPr>
                      <a:noAutofit/>
                    </a:bodyPr>
                    <a:lstStyle/>
                    <a:p>
                      <a:r>
                        <a:rPr sz="1800" b="0">
                          <a:solidFill>
                            <a:srgbClr val="30343A"/>
                          </a:solidFill>
                          <a:latin typeface="Carlito"/>
                          <a:ea typeface="Carlito"/>
                          <a:cs typeface="Carlito"/>
                        </a:rPr>
                        <a:t>In scope: Euroclear-provided external and internal APIs</a:t>
                      </a:r>
                    </a:p>
                  </a:txBody>
                  <a:tcPr marL="133350" marR="133350" marT="95250" marB="76200" anchor="t">
                    <a:solidFill>
                      <a:srgbClr val="FFFFFF"/>
                    </a:solidFill>
                  </a:tcPr>
                </a:tc>
                <a:tc>
                  <a:txBody>
                    <a:bodyPr>
                      <a:noAutofit/>
                    </a:bodyPr>
                    <a:lstStyle/>
                    <a:p>
                      <a:r>
                        <a:rPr sz="1800" b="0">
                          <a:solidFill>
                            <a:srgbClr val="30343A"/>
                          </a:solidFill>
                          <a:latin typeface="Carlito"/>
                          <a:ea typeface="Carlito"/>
                          <a:cs typeface="Carlito"/>
                        </a:rPr>
                        <a:t>Read and read/write interactions across on-premises, cloud and SaaS estates.</a:t>
                      </a:r>
                    </a:p>
                  </a:txBody>
                  <a:tcPr marL="133350" marR="133350" marT="95250" marB="76200" anchor="t">
                    <a:solidFill>
                      <a:srgbClr val="FFFFFF"/>
                    </a:solidFill>
                  </a:tcPr>
                </a:tc>
              </a:tr>
              <a:tr h="790575">
                <a:tc>
                  <a:txBody>
                    <a:bodyPr>
                      <a:noAutofit/>
                    </a:bodyPr>
                    <a:lstStyle/>
                    <a:p>
                      <a:r>
                        <a:rPr sz="1800" b="0">
                          <a:solidFill>
                            <a:srgbClr val="30343A"/>
                          </a:solidFill>
                          <a:latin typeface="Carlito"/>
                          <a:ea typeface="Carlito"/>
                          <a:cs typeface="Carlito"/>
                        </a:rPr>
                        <a:t>In scope: third-party API consumption</a:t>
                      </a:r>
                    </a:p>
                  </a:txBody>
                  <a:tcPr marL="133350" marR="133350" marT="95250" marB="76200" anchor="t">
                    <a:solidFill>
                      <a:srgbClr val="F4F5F6"/>
                    </a:solidFill>
                  </a:tcPr>
                </a:tc>
                <a:tc>
                  <a:txBody>
                    <a:bodyPr>
                      <a:noAutofit/>
                    </a:bodyPr>
                    <a:lstStyle/>
                    <a:p>
                      <a:r>
                        <a:rPr sz="1800" b="0">
                          <a:solidFill>
                            <a:srgbClr val="30343A"/>
                          </a:solidFill>
                          <a:latin typeface="Carlito"/>
                          <a:ea typeface="Carlito"/>
                          <a:cs typeface="Carlito"/>
                        </a:rPr>
                        <a:t>Discovery, due diligence, credentials, access policies and dependencies for APIs Euroclear consumes.</a:t>
                      </a:r>
                    </a:p>
                  </a:txBody>
                  <a:tcPr marL="133350" marR="133350" marT="95250" marB="76200" anchor="t">
                    <a:solidFill>
                      <a:srgbClr val="F4F5F6"/>
                    </a:solidFill>
                  </a:tcPr>
                </a:tc>
              </a:tr>
              <a:tr h="790575">
                <a:tc>
                  <a:txBody>
                    <a:bodyPr>
                      <a:noAutofit/>
                    </a:bodyPr>
                    <a:lstStyle/>
                    <a:p>
                      <a:r>
                        <a:rPr sz="1800" b="0">
                          <a:solidFill>
                            <a:srgbClr val="30343A"/>
                          </a:solidFill>
                          <a:latin typeface="Carlito"/>
                          <a:ea typeface="Carlito"/>
                          <a:cs typeface="Carlito"/>
                        </a:rPr>
                        <a:t>In scope: API design, governance and lifecycle</a:t>
                      </a:r>
                    </a:p>
                  </a:txBody>
                  <a:tcPr marL="133350" marR="133350" marT="95250" marB="76200" anchor="t">
                    <a:solidFill>
                      <a:srgbClr val="FFFFFF"/>
                    </a:solidFill>
                  </a:tcPr>
                </a:tc>
                <a:tc>
                  <a:txBody>
                    <a:bodyPr>
                      <a:noAutofit/>
                    </a:bodyPr>
                    <a:lstStyle/>
                    <a:p>
                      <a:r>
                        <a:rPr sz="1800" b="0">
                          <a:solidFill>
                            <a:srgbClr val="30343A"/>
                          </a:solidFill>
                          <a:latin typeface="Carlito"/>
                          <a:ea typeface="Carlito"/>
                          <a:cs typeface="Carlito"/>
                        </a:rPr>
                        <a:t>Consumer requirements, reuse, contracts, delivery, publication, operation and retirement.</a:t>
                      </a:r>
                    </a:p>
                  </a:txBody>
                  <a:tcPr marL="133350" marR="133350" marT="95250" marB="76200" anchor="t">
                    <a:solidFill>
                      <a:srgbClr val="FFFFFF"/>
                    </a:solidFill>
                  </a:tcPr>
                </a:tc>
              </a:tr>
              <a:tr h="790575">
                <a:tc>
                  <a:txBody>
                    <a:bodyPr>
                      <a:noAutofit/>
                    </a:bodyPr>
                    <a:lstStyle/>
                    <a:p>
                      <a:r>
                        <a:rPr sz="1800" b="0">
                          <a:solidFill>
                            <a:srgbClr val="30343A"/>
                          </a:solidFill>
                          <a:latin typeface="Carlito"/>
                          <a:ea typeface="Carlito"/>
                          <a:cs typeface="Carlito"/>
                        </a:rPr>
                        <a:t>Out of scope: other integration mechanisms</a:t>
                      </a:r>
                    </a:p>
                  </a:txBody>
                  <a:tcPr marL="133350" marR="133350" marT="95250" marB="76200" anchor="t">
                    <a:solidFill>
                      <a:srgbClr val="F4F5F6"/>
                    </a:solidFill>
                  </a:tcPr>
                </a:tc>
                <a:tc>
                  <a:txBody>
                    <a:bodyPr>
                      <a:noAutofit/>
                    </a:bodyPr>
                    <a:lstStyle/>
                    <a:p>
                      <a:r>
                        <a:rPr sz="1800" b="0">
                          <a:solidFill>
                            <a:srgbClr val="30343A"/>
                          </a:solidFill>
                          <a:latin typeface="Carlito"/>
                          <a:ea typeface="Carlito"/>
                          <a:cs typeface="Carlito"/>
                        </a:rPr>
                        <a:t>Messaging, events, files and legacy interfaces remain in the wider Integration Decision Framework.</a:t>
                      </a:r>
                    </a:p>
                  </a:txBody>
                  <a:tcPr marL="133350" marR="133350" marT="95250" marB="76200" anchor="t">
                    <a:solidFill>
                      <a:srgbClr val="F4F5F6"/>
                    </a:solidFill>
                  </a:tcPr>
                </a:tc>
              </a:tr>
            </a:tbl>
          </a:graphicData>
        </a:graphic>
      </p:graphicFrame>
      <p:sp>
        <p:nvSpPr>
          <p:cNvPr id="26" name="section-band">
            <a:extLst xmlns:a="http://schemas.openxmlformats.org/drawingml/2006/main">
              <a:ext uri="{FF2B5EF4-FFF2-40B4-BE49-F238E27FC236}">
                <a16:creationId xmlns:a16="http://schemas.microsoft.com/office/drawing/2014/main" id="{78AC18FE-4DF1-43A0-9DF5-9B0E0C86678B}"/>
              </a:ext>
            </a:extLst>
          </p:cNvPr>
          <p:cNvSpPr>
            <a:spLocks xmlns:a="http://schemas.openxmlformats.org/drawingml/2006/main" noGrp="1"/>
          </p:cNvSpPr>
          <p:nvPr/>
        </p:nvSpPr>
        <p:spPr>
          <a:xfrm xmlns:a="http://schemas.openxmlformats.org/drawingml/2006/main">
            <a:off x="342900" y="7019925"/>
            <a:ext cx="4905375" cy="304800"/>
          </a:xfrm>
          <a:prstGeom xmlns:a="http://schemas.openxmlformats.org/drawingml/2006/main" prst="rect">
            <a:avLst/>
          </a:prstGeom>
          <a:solidFill xmlns:a="http://schemas.openxmlformats.org/drawingml/2006/main">
            <a:srgbClr val="BE1738"/>
          </a:solidFill>
          <a:ln xmlns:a="http://schemas.openxmlformats.org/drawingml/2006/main" w="11430">
            <a:solidFill>
              <a:srgbClr val="BE1738"/>
            </a:solidFill>
          </a:ln>
        </p:spPr>
      </p:sp>
      <p:sp>
        <p:nvSpPr>
          <p:cNvPr id="27" name="text">
            <a:extLst xmlns:a="http://schemas.openxmlformats.org/drawingml/2006/main">
              <a:ext uri="{FF2B5EF4-FFF2-40B4-BE49-F238E27FC236}">
                <a16:creationId xmlns:a16="http://schemas.microsoft.com/office/drawing/2014/main" id="{F1D1E8B8-B120-402F-AC87-5E7FA90D48FA}"/>
              </a:ext>
            </a:extLst>
          </p:cNvPr>
          <p:cNvSpPr>
            <a:spLocks xmlns:a="http://schemas.openxmlformats.org/drawingml/2006/main" noGrp="1"/>
          </p:cNvSpPr>
          <p:nvPr/>
        </p:nvSpPr>
        <p:spPr>
          <a:xfrm xmlns:a="http://schemas.openxmlformats.org/drawingml/2006/main">
            <a:off x="457200" y="7058025"/>
            <a:ext cx="46767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FFF"/>
                </a:solidFill>
                <a:latin typeface="Carlito"/>
                <a:ea typeface="Carlito"/>
                <a:cs typeface="Carlito"/>
              </a:defRPr>
            </a:pPr>
            <a:r>
              <a:rPr sz="1800" b="1">
                <a:solidFill>
                  <a:srgbClr val="FFFFFF"/>
                </a:solidFill>
                <a:latin typeface="Carlito"/>
                <a:ea typeface="Carlito"/>
                <a:cs typeface="Carlito"/>
              </a:rPr>
              <a:t>Terminology and traffic direction</a:t>
            </a:r>
          </a:p>
        </p:txBody>
      </p:sp>
      <p:sp>
        <p:nvSpPr>
          <p:cNvPr id="28" name="text">
            <a:extLst xmlns:a="http://schemas.openxmlformats.org/drawingml/2006/main">
              <a:ext uri="{FF2B5EF4-FFF2-40B4-BE49-F238E27FC236}">
                <a16:creationId xmlns:a16="http://schemas.microsoft.com/office/drawing/2014/main" id="{CBA2AE00-A735-4F38-8F82-57EC20E1AB6C}"/>
              </a:ext>
            </a:extLst>
          </p:cNvPr>
          <p:cNvSpPr>
            <a:spLocks xmlns:a="http://schemas.openxmlformats.org/drawingml/2006/main" noGrp="1"/>
          </p:cNvSpPr>
          <p:nvPr/>
        </p:nvSpPr>
        <p:spPr>
          <a:xfrm xmlns:a="http://schemas.openxmlformats.org/drawingml/2006/main">
            <a:off x="457200" y="7439025"/>
            <a:ext cx="1428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0343A"/>
                </a:solidFill>
                <a:latin typeface="Carlito"/>
                <a:ea typeface="Carlito"/>
                <a:cs typeface="Carlito"/>
              </a:defRPr>
            </a:pPr>
            <a:r>
              <a:rPr sz="1650" b="0">
                <a:solidFill>
                  <a:srgbClr val="30343A"/>
                </a:solidFill>
                <a:latin typeface="Carlito"/>
                <a:ea typeface="Carlito"/>
                <a:cs typeface="Carlito"/>
              </a:rPr>
              <a:t>API ecosystem covers both roles. External/internal identifies the audience. Provider/consumer identifies the role in an interaction. Inbound/outbound is relative to Euroclear. North–South/East–West describes topology, not API audience.</a:t>
            </a:r>
          </a:p>
        </p:txBody>
      </p:sp>
    </p:spTree>
    <p:extLst>
      <p:ext uri="{BB962C8B-B14F-4D97-AF65-F5344CB8AC3E}">
        <p14:creationId xmlns:p14="http://schemas.microsoft.com/office/powerpoint/2010/main" val="20551220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nav-Background">
            <a:extLst xmlns:a="http://schemas.openxmlformats.org/drawingml/2006/main">
              <a:ext uri="{FF2B5EF4-FFF2-40B4-BE49-F238E27FC236}">
                <a16:creationId xmlns:a16="http://schemas.microsoft.com/office/drawing/2014/main" id="{CFD9099D-F910-47DE-8588-B4A86CFE0FAC}"/>
              </a:ext>
            </a:extLst>
          </p:cNvPr>
          <p:cNvSpPr>
            <a:spLocks xmlns:a="http://schemas.openxmlformats.org/drawingml/2006/main" noGrp="1"/>
          </p:cNvSpPr>
          <p:nvPr/>
        </p:nvSpPr>
        <p:spPr>
          <a:xfrm xmlns:a="http://schemas.openxmlformats.org/drawingml/2006/main">
            <a:off x="228600" y="171450"/>
            <a:ext cx="1600200" cy="381000"/>
          </a:xfrm>
          <a:prstGeom xmlns:a="http://schemas.openxmlformats.org/drawingml/2006/main" prst="roundRect">
            <a:avLst>
              <a:gd name="adj" fmla="val 17500"/>
            </a:avLst>
          </a:prstGeom>
          <a:solidFill xmlns:a="http://schemas.openxmlformats.org/drawingml/2006/main">
            <a:srgbClr val="BE1738"/>
          </a:solidFill>
          <a:ln xmlns:a="http://schemas.openxmlformats.org/drawingml/2006/main" w="11430">
            <a:solidFill>
              <a:srgbClr val="BE1738"/>
            </a:solidFill>
          </a:ln>
        </p:spPr>
      </p:sp>
      <p:sp>
        <p:nvSpPr>
          <p:cNvPr id="2" name="navigation-Background">
            <a:extLst xmlns:a="http://schemas.openxmlformats.org/drawingml/2006/main">
              <a:ext uri="{FF2B5EF4-FFF2-40B4-BE49-F238E27FC236}">
                <a16:creationId xmlns:a16="http://schemas.microsoft.com/office/drawing/2014/main" id="{8B800D98-B695-4666-ACD0-9871A5AD6C91}"/>
              </a:ext>
            </a:extLst>
          </p:cNvPr>
          <p:cNvSpPr>
            <a:spLocks xmlns:a="http://schemas.openxmlformats.org/drawingml/2006/main" noGrp="1"/>
          </p:cNvSpPr>
          <p:nvPr/>
        </p:nvSpPr>
        <p:spPr>
          <a:xfrm xmlns:a="http://schemas.openxmlformats.org/drawingml/2006/main">
            <a:off x="2571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FFFFFF"/>
                </a:solidFill>
                <a:latin typeface="Carlito"/>
                <a:ea typeface="Carlito"/>
                <a:cs typeface="Carlito"/>
              </a:defRPr>
            </a:pPr>
            <a:r>
              <a:rPr sz="1313" b="0">
                <a:solidFill>
                  <a:srgbClr val="FFFFFF"/>
                </a:solidFill>
                <a:latin typeface="Carlito"/>
                <a:ea typeface="Carlito"/>
                <a:cs typeface="Carlito"/>
              </a:rPr>
              <a:t>Background</a:t>
            </a:r>
          </a:p>
        </p:txBody>
      </p:sp>
      <p:sp>
        <p:nvSpPr>
          <p:cNvPr id="3" name="nav-Problem Statements">
            <a:extLst xmlns:a="http://schemas.openxmlformats.org/drawingml/2006/main">
              <a:ext uri="{FF2B5EF4-FFF2-40B4-BE49-F238E27FC236}">
                <a16:creationId xmlns:a16="http://schemas.microsoft.com/office/drawing/2014/main" id="{026EE031-2AC6-479A-8B3F-13F4B55E14F5}"/>
              </a:ext>
            </a:extLst>
          </p:cNvPr>
          <p:cNvSpPr>
            <a:spLocks xmlns:a="http://schemas.openxmlformats.org/drawingml/2006/main" noGrp="1"/>
          </p:cNvSpPr>
          <p:nvPr/>
        </p:nvSpPr>
        <p:spPr>
          <a:xfrm xmlns:a="http://schemas.openxmlformats.org/drawingml/2006/main">
            <a:off x="19050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4" name="navigation-Problem Statements">
            <a:extLst xmlns:a="http://schemas.openxmlformats.org/drawingml/2006/main">
              <a:ext uri="{FF2B5EF4-FFF2-40B4-BE49-F238E27FC236}">
                <a16:creationId xmlns:a16="http://schemas.microsoft.com/office/drawing/2014/main" id="{8D079407-73C0-4A79-9B0C-9D5699C7F89D}"/>
              </a:ext>
            </a:extLst>
          </p:cNvPr>
          <p:cNvSpPr>
            <a:spLocks xmlns:a="http://schemas.openxmlformats.org/drawingml/2006/main" noGrp="1"/>
          </p:cNvSpPr>
          <p:nvPr/>
        </p:nvSpPr>
        <p:spPr>
          <a:xfrm xmlns:a="http://schemas.openxmlformats.org/drawingml/2006/main">
            <a:off x="19335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Problem Statements</a:t>
            </a:r>
          </a:p>
        </p:txBody>
      </p:sp>
      <p:sp>
        <p:nvSpPr>
          <p:cNvPr id="5" name="nav-Capability Context">
            <a:extLst xmlns:a="http://schemas.openxmlformats.org/drawingml/2006/main">
              <a:ext uri="{FF2B5EF4-FFF2-40B4-BE49-F238E27FC236}">
                <a16:creationId xmlns:a16="http://schemas.microsoft.com/office/drawing/2014/main" id="{D12AE6D0-D655-4ABC-A342-05157DD85208}"/>
              </a:ext>
            </a:extLst>
          </p:cNvPr>
          <p:cNvSpPr>
            <a:spLocks xmlns:a="http://schemas.openxmlformats.org/drawingml/2006/main" noGrp="1"/>
          </p:cNvSpPr>
          <p:nvPr/>
        </p:nvSpPr>
        <p:spPr>
          <a:xfrm xmlns:a="http://schemas.openxmlformats.org/drawingml/2006/main">
            <a:off x="35814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6" name="navigation-Capability Context">
            <a:extLst xmlns:a="http://schemas.openxmlformats.org/drawingml/2006/main">
              <a:ext uri="{FF2B5EF4-FFF2-40B4-BE49-F238E27FC236}">
                <a16:creationId xmlns:a16="http://schemas.microsoft.com/office/drawing/2014/main" id="{2D54E95C-73DD-453F-B5C4-145B36B8D935}"/>
              </a:ext>
            </a:extLst>
          </p:cNvPr>
          <p:cNvSpPr>
            <a:spLocks xmlns:a="http://schemas.openxmlformats.org/drawingml/2006/main" noGrp="1"/>
          </p:cNvSpPr>
          <p:nvPr/>
        </p:nvSpPr>
        <p:spPr>
          <a:xfrm xmlns:a="http://schemas.openxmlformats.org/drawingml/2006/main">
            <a:off x="36099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Capability Context</a:t>
            </a:r>
          </a:p>
        </p:txBody>
      </p:sp>
      <p:sp>
        <p:nvSpPr>
          <p:cNvPr id="7" name="nav-Artefact Content">
            <a:extLst xmlns:a="http://schemas.openxmlformats.org/drawingml/2006/main">
              <a:ext uri="{FF2B5EF4-FFF2-40B4-BE49-F238E27FC236}">
                <a16:creationId xmlns:a16="http://schemas.microsoft.com/office/drawing/2014/main" id="{772124DF-B74B-4C57-BF3E-6201FA28658A}"/>
              </a:ext>
            </a:extLst>
          </p:cNvPr>
          <p:cNvSpPr>
            <a:spLocks xmlns:a="http://schemas.openxmlformats.org/drawingml/2006/main" noGrp="1"/>
          </p:cNvSpPr>
          <p:nvPr/>
        </p:nvSpPr>
        <p:spPr>
          <a:xfrm xmlns:a="http://schemas.openxmlformats.org/drawingml/2006/main">
            <a:off x="52578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8" name="navigation-Artefact Content">
            <a:extLst xmlns:a="http://schemas.openxmlformats.org/drawingml/2006/main">
              <a:ext uri="{FF2B5EF4-FFF2-40B4-BE49-F238E27FC236}">
                <a16:creationId xmlns:a16="http://schemas.microsoft.com/office/drawing/2014/main" id="{69A9B7C4-167B-44F0-9BC9-3F2D755C9176}"/>
              </a:ext>
            </a:extLst>
          </p:cNvPr>
          <p:cNvSpPr>
            <a:spLocks xmlns:a="http://schemas.openxmlformats.org/drawingml/2006/main" noGrp="1"/>
          </p:cNvSpPr>
          <p:nvPr/>
        </p:nvSpPr>
        <p:spPr>
          <a:xfrm xmlns:a="http://schemas.openxmlformats.org/drawingml/2006/main">
            <a:off x="52863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Artefact Content</a:t>
            </a:r>
          </a:p>
        </p:txBody>
      </p:sp>
      <p:sp>
        <p:nvSpPr>
          <p:cNvPr id="9" name="nav-Roadmap">
            <a:extLst xmlns:a="http://schemas.openxmlformats.org/drawingml/2006/main">
              <a:ext uri="{FF2B5EF4-FFF2-40B4-BE49-F238E27FC236}">
                <a16:creationId xmlns:a16="http://schemas.microsoft.com/office/drawing/2014/main" id="{048DC9AE-1DB7-4108-A0D1-A42D39321612}"/>
              </a:ext>
            </a:extLst>
          </p:cNvPr>
          <p:cNvSpPr>
            <a:spLocks xmlns:a="http://schemas.openxmlformats.org/drawingml/2006/main" noGrp="1"/>
          </p:cNvSpPr>
          <p:nvPr/>
        </p:nvSpPr>
        <p:spPr>
          <a:xfrm xmlns:a="http://schemas.openxmlformats.org/drawingml/2006/main">
            <a:off x="69342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0" name="navigation-Roadmap">
            <a:extLst xmlns:a="http://schemas.openxmlformats.org/drawingml/2006/main">
              <a:ext uri="{FF2B5EF4-FFF2-40B4-BE49-F238E27FC236}">
                <a16:creationId xmlns:a16="http://schemas.microsoft.com/office/drawing/2014/main" id="{131B1328-99C0-4AA0-9704-DDCDC3182BA4}"/>
              </a:ext>
            </a:extLst>
          </p:cNvPr>
          <p:cNvSpPr>
            <a:spLocks xmlns:a="http://schemas.openxmlformats.org/drawingml/2006/main" noGrp="1"/>
          </p:cNvSpPr>
          <p:nvPr/>
        </p:nvSpPr>
        <p:spPr>
          <a:xfrm xmlns:a="http://schemas.openxmlformats.org/drawingml/2006/main">
            <a:off x="69627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Roadmap</a:t>
            </a:r>
          </a:p>
        </p:txBody>
      </p:sp>
      <p:sp>
        <p:nvSpPr>
          <p:cNvPr id="11" name="nav-Decision">
            <a:extLst xmlns:a="http://schemas.openxmlformats.org/drawingml/2006/main">
              <a:ext uri="{FF2B5EF4-FFF2-40B4-BE49-F238E27FC236}">
                <a16:creationId xmlns:a16="http://schemas.microsoft.com/office/drawing/2014/main" id="{5D17BE0A-DE91-4D89-81A6-A331DD8F55C2}"/>
              </a:ext>
            </a:extLst>
          </p:cNvPr>
          <p:cNvSpPr>
            <a:spLocks xmlns:a="http://schemas.openxmlformats.org/drawingml/2006/main" noGrp="1"/>
          </p:cNvSpPr>
          <p:nvPr/>
        </p:nvSpPr>
        <p:spPr>
          <a:xfrm xmlns:a="http://schemas.openxmlformats.org/drawingml/2006/main">
            <a:off x="86106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2" name="navigation-Decision">
            <a:extLst xmlns:a="http://schemas.openxmlformats.org/drawingml/2006/main">
              <a:ext uri="{FF2B5EF4-FFF2-40B4-BE49-F238E27FC236}">
                <a16:creationId xmlns:a16="http://schemas.microsoft.com/office/drawing/2014/main" id="{47A7C223-5B7C-4C9D-BD6F-13BDEA4E985D}"/>
              </a:ext>
            </a:extLst>
          </p:cNvPr>
          <p:cNvSpPr>
            <a:spLocks xmlns:a="http://schemas.openxmlformats.org/drawingml/2006/main" noGrp="1"/>
          </p:cNvSpPr>
          <p:nvPr/>
        </p:nvSpPr>
        <p:spPr>
          <a:xfrm xmlns:a="http://schemas.openxmlformats.org/drawingml/2006/main">
            <a:off x="86391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Decision</a:t>
            </a:r>
          </a:p>
        </p:txBody>
      </p:sp>
      <p:sp>
        <p:nvSpPr>
          <p:cNvPr id="13" name="nav-Appendix">
            <a:extLst xmlns:a="http://schemas.openxmlformats.org/drawingml/2006/main">
              <a:ext uri="{FF2B5EF4-FFF2-40B4-BE49-F238E27FC236}">
                <a16:creationId xmlns:a16="http://schemas.microsoft.com/office/drawing/2014/main" id="{A05D941B-BEB1-4DF0-85FF-D0889FC08DA9}"/>
              </a:ext>
            </a:extLst>
          </p:cNvPr>
          <p:cNvSpPr>
            <a:spLocks xmlns:a="http://schemas.openxmlformats.org/drawingml/2006/main" noGrp="1"/>
          </p:cNvSpPr>
          <p:nvPr/>
        </p:nvSpPr>
        <p:spPr>
          <a:xfrm xmlns:a="http://schemas.openxmlformats.org/drawingml/2006/main">
            <a:off x="102870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4" name="navigation-Appendix">
            <a:extLst xmlns:a="http://schemas.openxmlformats.org/drawingml/2006/main">
              <a:ext uri="{FF2B5EF4-FFF2-40B4-BE49-F238E27FC236}">
                <a16:creationId xmlns:a16="http://schemas.microsoft.com/office/drawing/2014/main" id="{945107D7-EED0-4537-B6ED-5D95C5A6C1E2}"/>
              </a:ext>
            </a:extLst>
          </p:cNvPr>
          <p:cNvSpPr>
            <a:spLocks xmlns:a="http://schemas.openxmlformats.org/drawingml/2006/main" noGrp="1"/>
          </p:cNvSpPr>
          <p:nvPr/>
        </p:nvSpPr>
        <p:spPr>
          <a:xfrm xmlns:a="http://schemas.openxmlformats.org/drawingml/2006/main">
            <a:off x="103155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Appendix</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e04e963b14f94c23"/>
          <a:stretch xmlns:a="http://schemas.openxmlformats.org/drawingml/2006/main"/>
        </p:blipFill>
        <p:spPr>
          <a:xfrm xmlns:a="http://schemas.openxmlformats.org/drawingml/2006/main">
            <a:off x="304800" y="737436"/>
            <a:ext cx="1057275" cy="1001629"/>
          </a:xfrm>
          <a:prstGeom xmlns:a="http://schemas.openxmlformats.org/drawingml/2006/main" prst="rect">
            <a:avLst/>
          </a:prstGeom>
        </p:spPr>
      </p:pic>
      <p:sp>
        <p:nvSpPr>
          <p:cNvPr id="16" name="title-outline">
            <a:extLst xmlns:a="http://schemas.openxmlformats.org/drawingml/2006/main">
              <a:ext uri="{FF2B5EF4-FFF2-40B4-BE49-F238E27FC236}">
                <a16:creationId xmlns:a16="http://schemas.microsoft.com/office/drawing/2014/main" id="{56E03B2B-8461-4656-9829-4C79FA53429B}"/>
              </a:ext>
            </a:extLst>
          </p:cNvPr>
          <p:cNvSpPr>
            <a:spLocks xmlns:a="http://schemas.openxmlformats.org/drawingml/2006/main" noGrp="1"/>
          </p:cNvSpPr>
          <p:nvPr/>
        </p:nvSpPr>
        <p:spPr>
          <a:xfrm xmlns:a="http://schemas.openxmlformats.org/drawingml/2006/main">
            <a:off x="1657350" y="866775"/>
            <a:ext cx="10496550" cy="4857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8575">
            <a:solidFill>
              <a:srgbClr val="BE1738"/>
            </a:solidFill>
          </a:ln>
        </p:spPr>
      </p:sp>
      <p:sp>
        <p:nvSpPr>
          <p:cNvPr id="17" name="slide-title">
            <a:extLst xmlns:a="http://schemas.openxmlformats.org/drawingml/2006/main">
              <a:ext uri="{FF2B5EF4-FFF2-40B4-BE49-F238E27FC236}">
                <a16:creationId xmlns:a16="http://schemas.microsoft.com/office/drawing/2014/main" id="{D25D509D-E8DB-4F66-B6AA-5AD2EEECE806}"/>
              </a:ext>
            </a:extLst>
          </p:cNvPr>
          <p:cNvSpPr>
            <a:spLocks xmlns:a="http://schemas.openxmlformats.org/drawingml/2006/main" noGrp="1"/>
          </p:cNvSpPr>
          <p:nvPr/>
        </p:nvSpPr>
        <p:spPr>
          <a:xfrm xmlns:a="http://schemas.openxmlformats.org/drawingml/2006/main">
            <a:off x="1933575" y="933450"/>
            <a:ext cx="994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1632"/>
                </a:solidFill>
                <a:latin typeface="Carlito"/>
                <a:ea typeface="Carlito"/>
                <a:cs typeface="Carlito"/>
              </a:defRPr>
            </a:pPr>
            <a:r>
              <a:rPr sz="2100" b="1">
                <a:solidFill>
                  <a:srgbClr val="A91632"/>
                </a:solidFill>
                <a:latin typeface="Carlito"/>
                <a:ea typeface="Carlito"/>
                <a:cs typeface="Carlito"/>
              </a:rPr>
              <a:t>BACKGROUND – EXTERNAL &amp; INTERNAL API FOUNDATION</a:t>
            </a:r>
          </a:p>
        </p:txBody>
      </p:sp>
      <p:sp>
        <p:nvSpPr>
          <p:cNvPr id="18" name="classification">
            <a:extLst xmlns:a="http://schemas.openxmlformats.org/drawingml/2006/main">
              <a:ext uri="{FF2B5EF4-FFF2-40B4-BE49-F238E27FC236}">
                <a16:creationId xmlns:a16="http://schemas.microsoft.com/office/drawing/2014/main" id="{2C9A818E-4E1E-44F9-9EF5-79D1E2A0A5BF}"/>
              </a:ext>
            </a:extLst>
          </p:cNvPr>
          <p:cNvSpPr>
            <a:spLocks xmlns:a="http://schemas.openxmlformats.org/drawingml/2006/main" noGrp="1"/>
          </p:cNvSpPr>
          <p:nvPr/>
        </p:nvSpPr>
        <p:spPr>
          <a:xfrm xmlns:a="http://schemas.openxmlformats.org/drawingml/2006/main">
            <a:off x="12001500" y="619125"/>
            <a:ext cx="2905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30343A"/>
                </a:solidFill>
                <a:latin typeface="Carlito"/>
                <a:ea typeface="Carlito"/>
                <a:cs typeface="Carlito"/>
              </a:defRPr>
            </a:pPr>
            <a:r>
              <a:rPr sz="1275" b="0">
                <a:solidFill>
                  <a:srgbClr val="30343A"/>
                </a:solidFill>
                <a:latin typeface="Carlito"/>
                <a:ea typeface="Carlito"/>
                <a:cs typeface="Carlito"/>
              </a:rPr>
              <a:t>RESTRICTED TO Euroclear</a:t>
            </a:r>
          </a:p>
        </p:txBody>
      </p:sp>
      <p:sp>
        <p:nvSpPr>
          <p:cNvPr id="19" name="footer-outline">
            <a:extLst xmlns:a="http://schemas.openxmlformats.org/drawingml/2006/main">
              <a:ext uri="{FF2B5EF4-FFF2-40B4-BE49-F238E27FC236}">
                <a16:creationId xmlns:a16="http://schemas.microsoft.com/office/drawing/2014/main" id="{3EC9E3D0-4A61-423B-B8F3-52BE4E0F6B81}"/>
              </a:ext>
            </a:extLst>
          </p:cNvPr>
          <p:cNvSpPr>
            <a:spLocks xmlns:a="http://schemas.openxmlformats.org/drawingml/2006/main" noGrp="1"/>
          </p:cNvSpPr>
          <p:nvPr/>
        </p:nvSpPr>
        <p:spPr>
          <a:xfrm xmlns:a="http://schemas.openxmlformats.org/drawingml/2006/main">
            <a:off x="171450" y="8143875"/>
            <a:ext cx="3009900" cy="2952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4288">
            <a:solidFill>
              <a:srgbClr val="70757C"/>
            </a:solidFill>
          </a:ln>
        </p:spPr>
      </p:sp>
      <p:sp>
        <p:nvSpPr>
          <p:cNvPr id="20" name="footer">
            <a:extLst xmlns:a="http://schemas.openxmlformats.org/drawingml/2006/main">
              <a:ext uri="{FF2B5EF4-FFF2-40B4-BE49-F238E27FC236}">
                <a16:creationId xmlns:a16="http://schemas.microsoft.com/office/drawing/2014/main" id="{845E2B6D-DFF7-4D90-BECE-901E2B001193}"/>
              </a:ext>
            </a:extLst>
          </p:cNvPr>
          <p:cNvSpPr>
            <a:spLocks xmlns:a="http://schemas.openxmlformats.org/drawingml/2006/main" noGrp="1"/>
          </p:cNvSpPr>
          <p:nvPr/>
        </p:nvSpPr>
        <p:spPr>
          <a:xfrm xmlns:a="http://schemas.openxmlformats.org/drawingml/2006/main">
            <a:off x="295275" y="8172450"/>
            <a:ext cx="2771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0343A"/>
                </a:solidFill>
                <a:latin typeface="Carlito"/>
                <a:ea typeface="Carlito"/>
                <a:cs typeface="Carlito"/>
              </a:defRPr>
            </a:pPr>
            <a:r>
              <a:rPr sz="1500" b="0">
                <a:solidFill>
                  <a:srgbClr val="30343A"/>
                </a:solidFill>
                <a:latin typeface="Carlito"/>
                <a:ea typeface="Carlito"/>
                <a:cs typeface="Carlito"/>
              </a:rPr>
              <a:t>API Target Architecture</a:t>
            </a:r>
          </a:p>
        </p:txBody>
      </p:sp>
      <p:sp>
        <p:nvSpPr>
          <p:cNvPr id="21" name="page-number">
            <a:extLst xmlns:a="http://schemas.openxmlformats.org/drawingml/2006/main">
              <a:ext uri="{FF2B5EF4-FFF2-40B4-BE49-F238E27FC236}">
                <a16:creationId xmlns:a16="http://schemas.microsoft.com/office/drawing/2014/main" id="{96DFB9E3-9A13-4107-B599-DBAE4826F782}"/>
              </a:ext>
            </a:extLst>
          </p:cNvPr>
          <p:cNvSpPr>
            <a:spLocks xmlns:a="http://schemas.openxmlformats.org/drawingml/2006/main" noGrp="1"/>
          </p:cNvSpPr>
          <p:nvPr/>
        </p:nvSpPr>
        <p:spPr>
          <a:xfrm xmlns:a="http://schemas.openxmlformats.org/drawingml/2006/main">
            <a:off x="14458950" y="8162925"/>
            <a:ext cx="4476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70757C"/>
                </a:solidFill>
                <a:latin typeface="Carlito"/>
                <a:ea typeface="Carlito"/>
                <a:cs typeface="Carlito"/>
              </a:defRPr>
            </a:pPr>
            <a:r>
              <a:rPr sz="1350" b="0">
                <a:solidFill>
                  <a:srgbClr val="70757C"/>
                </a:solidFill>
                <a:latin typeface="Carlito"/>
                <a:ea typeface="Carlito"/>
                <a:cs typeface="Carlito"/>
              </a:rPr>
              <a:t>3</a:t>
            </a:r>
          </a:p>
        </p:txBody>
      </p:sp>
      <p:sp>
        <p:nvSpPr>
          <p:cNvPr id="22" name="text">
            <a:extLst xmlns:a="http://schemas.openxmlformats.org/drawingml/2006/main">
              <a:ext uri="{FF2B5EF4-FFF2-40B4-BE49-F238E27FC236}">
                <a16:creationId xmlns:a16="http://schemas.microsoft.com/office/drawing/2014/main" id="{5BAE1A7B-3218-4936-A9BB-814440242BEF}"/>
              </a:ext>
            </a:extLst>
          </p:cNvPr>
          <p:cNvSpPr>
            <a:spLocks xmlns:a="http://schemas.openxmlformats.org/drawingml/2006/main" noGrp="1"/>
          </p:cNvSpPr>
          <p:nvPr/>
        </p:nvSpPr>
        <p:spPr>
          <a:xfrm xmlns:a="http://schemas.openxmlformats.org/drawingml/2006/main">
            <a:off x="361950" y="1952625"/>
            <a:ext cx="14439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91632"/>
                </a:solidFill>
                <a:latin typeface="Carlito"/>
                <a:ea typeface="Carlito"/>
                <a:cs typeface="Carlito"/>
              </a:defRPr>
            </a:pPr>
            <a:r>
              <a:rPr sz="2400" b="1">
                <a:solidFill>
                  <a:srgbClr val="A91632"/>
                </a:solidFill>
                <a:latin typeface="Carlito"/>
                <a:ea typeface="Carlito"/>
                <a:cs typeface="Carlito"/>
              </a:rPr>
              <a:t>One API ecosystem supports two complementary roles</a:t>
            </a:r>
          </a:p>
        </p:txBody>
      </p:sp>
      <p:graphicFrame>
        <p:nvGraphicFramePr>
          <p:cNvPr id="50" name=""/>
          <p:cNvGraphicFramePr/>
          <p:nvPr/>
        </p:nvGraphicFramePr>
        <p:xfrm>
          <a:off xmlns:a="http://schemas.openxmlformats.org/drawingml/2006/main" x="342900" y="2581275"/>
          <a:ext xmlns:a="http://schemas.openxmlformats.org/drawingml/2006/main" cx="14554200" cy="3486150"/>
        </p:xfrm>
        <a:graphic xmlns:a="http://schemas.openxmlformats.org/drawingml/2006/main">
          <a:graphicData uri="http://schemas.openxmlformats.org/drawingml/2006/table">
            <a:tbl>
              <a:tblPr firstRow="0" bandRow="0"/>
              <a:tblGrid>
                <a:gridCol w="2705100"/>
                <a:gridCol w="5924550"/>
                <a:gridCol w="5924550"/>
              </a:tblGrid>
              <a:tr h="457200">
                <a:tc>
                  <a:txBody>
                    <a:bodyPr>
                      <a:noAutofit/>
                    </a:bodyPr>
                    <a:lstStyle/>
                    <a:p>
                      <a:r>
                        <a:rPr sz="1725" b="1">
                          <a:solidFill>
                            <a:srgbClr val="FFFFFF"/>
                          </a:solidFill>
                          <a:latin typeface="Carlito"/>
                          <a:ea typeface="Carlito"/>
                          <a:cs typeface="Carlito"/>
                        </a:rPr>
                        <a:t/>
                      </a:r>
                    </a:p>
                  </a:txBody>
                  <a:tcPr marL="133350" marR="133350" marT="95250" marB="76200" anchor="t">
                    <a:solidFill>
                      <a:srgbClr val="BE1738"/>
                    </a:solidFill>
                  </a:tcPr>
                </a:tc>
                <a:tc>
                  <a:txBody>
                    <a:bodyPr>
                      <a:noAutofit/>
                    </a:bodyPr>
                    <a:lstStyle/>
                    <a:p>
                      <a:r>
                        <a:rPr sz="1725" b="1">
                          <a:solidFill>
                            <a:srgbClr val="FFFFFF"/>
                          </a:solidFill>
                          <a:latin typeface="Carlito"/>
                          <a:ea typeface="Carlito"/>
                          <a:cs typeface="Carlito"/>
                        </a:rPr>
                        <a:t>External APIs</a:t>
                      </a:r>
                    </a:p>
                  </a:txBody>
                  <a:tcPr marL="133350" marR="133350" marT="95250" marB="76200" anchor="t">
                    <a:solidFill>
                      <a:srgbClr val="BE1738"/>
                    </a:solidFill>
                  </a:tcPr>
                </a:tc>
                <a:tc>
                  <a:txBody>
                    <a:bodyPr>
                      <a:noAutofit/>
                    </a:bodyPr>
                    <a:lstStyle/>
                    <a:p>
                      <a:r>
                        <a:rPr sz="1725" b="1">
                          <a:solidFill>
                            <a:srgbClr val="FFFFFF"/>
                          </a:solidFill>
                          <a:latin typeface="Carlito"/>
                          <a:ea typeface="Carlito"/>
                          <a:cs typeface="Carlito"/>
                        </a:rPr>
                        <a:t>Internal APIs</a:t>
                      </a:r>
                    </a:p>
                  </a:txBody>
                  <a:tcPr marL="133350" marR="133350" marT="95250" marB="76200" anchor="t">
                    <a:solidFill>
                      <a:srgbClr val="BE1738"/>
                    </a:solidFill>
                  </a:tcPr>
                </a:tc>
              </a:tr>
              <a:tr h="685800">
                <a:tc>
                  <a:txBody>
                    <a:bodyPr>
                      <a:noAutofit/>
                    </a:bodyPr>
                    <a:lstStyle/>
                    <a:p>
                      <a:r>
                        <a:rPr sz="1875" b="1">
                          <a:solidFill>
                            <a:srgbClr val="30343A"/>
                          </a:solidFill>
                          <a:latin typeface="Carlito"/>
                          <a:ea typeface="Carlito"/>
                          <a:cs typeface="Carlito"/>
                        </a:rPr>
                        <a:t>Architectural role</a:t>
                      </a:r>
                    </a:p>
                  </a:txBody>
                  <a:tcPr marL="133350" marR="133350" marT="95250" marB="76200" anchor="t">
                    <a:solidFill>
                      <a:srgbClr val="FFFFFF"/>
                    </a:solidFill>
                  </a:tcPr>
                </a:tc>
                <a:tc>
                  <a:txBody>
                    <a:bodyPr>
                      <a:noAutofit/>
                    </a:bodyPr>
                    <a:lstStyle/>
                    <a:p>
                      <a:r>
                        <a:rPr sz="1875" b="0">
                          <a:solidFill>
                            <a:srgbClr val="30343A"/>
                          </a:solidFill>
                          <a:latin typeface="Carlito"/>
                          <a:ea typeface="Carlito"/>
                          <a:cs typeface="Carlito"/>
                        </a:rPr>
                        <a:t>Digital engagement channel</a:t>
                      </a:r>
                    </a:p>
                  </a:txBody>
                  <a:tcPr marL="133350" marR="133350" marT="95250" marB="76200" anchor="t">
                    <a:solidFill>
                      <a:srgbClr val="FFFFFF"/>
                    </a:solidFill>
                  </a:tcPr>
                </a:tc>
                <a:tc>
                  <a:txBody>
                    <a:bodyPr>
                      <a:noAutofit/>
                    </a:bodyPr>
                    <a:lstStyle/>
                    <a:p>
                      <a:r>
                        <a:rPr sz="1875" b="0">
                          <a:solidFill>
                            <a:srgbClr val="30343A"/>
                          </a:solidFill>
                          <a:latin typeface="Carlito"/>
                          <a:ea typeface="Carlito"/>
                          <a:cs typeface="Carlito"/>
                        </a:rPr>
                        <a:t>Enterprise integration mechanism</a:t>
                      </a:r>
                    </a:p>
                  </a:txBody>
                  <a:tcPr marL="133350" marR="133350" marT="95250" marB="76200" anchor="t">
                    <a:solidFill>
                      <a:srgbClr val="FFFFFF"/>
                    </a:solidFill>
                  </a:tcPr>
                </a:tc>
              </a:tr>
              <a:tr h="809625">
                <a:tc>
                  <a:txBody>
                    <a:bodyPr>
                      <a:noAutofit/>
                    </a:bodyPr>
                    <a:lstStyle/>
                    <a:p>
                      <a:r>
                        <a:rPr sz="1875" b="1">
                          <a:solidFill>
                            <a:srgbClr val="30343A"/>
                          </a:solidFill>
                          <a:latin typeface="Carlito"/>
                          <a:ea typeface="Carlito"/>
                          <a:cs typeface="Carlito"/>
                        </a:rPr>
                        <a:t>Consumers</a:t>
                      </a:r>
                    </a:p>
                  </a:txBody>
                  <a:tcPr marL="133350" marR="133350" marT="95250" marB="76200" anchor="t">
                    <a:solidFill>
                      <a:srgbClr val="F4F5F6"/>
                    </a:solidFill>
                  </a:tcPr>
                </a:tc>
                <a:tc>
                  <a:txBody>
                    <a:bodyPr>
                      <a:noAutofit/>
                    </a:bodyPr>
                    <a:lstStyle/>
                    <a:p>
                      <a:r>
                        <a:rPr sz="1875" b="0">
                          <a:solidFill>
                            <a:srgbClr val="30343A"/>
                          </a:solidFill>
                          <a:latin typeface="Carlito"/>
                          <a:ea typeface="Carlito"/>
                          <a:cs typeface="Carlito"/>
                        </a:rPr>
                        <a:t>Client and partner applications, external platforms</a:t>
                      </a:r>
                    </a:p>
                  </a:txBody>
                  <a:tcPr marL="133350" marR="133350" marT="95250" marB="76200" anchor="t">
                    <a:solidFill>
                      <a:srgbClr val="F4F5F6"/>
                    </a:solidFill>
                  </a:tcPr>
                </a:tc>
                <a:tc>
                  <a:txBody>
                    <a:bodyPr>
                      <a:noAutofit/>
                    </a:bodyPr>
                    <a:lstStyle/>
                    <a:p>
                      <a:r>
                        <a:rPr sz="1875" b="0">
                          <a:solidFill>
                            <a:srgbClr val="30343A"/>
                          </a:solidFill>
                          <a:latin typeface="Carlito"/>
                          <a:ea typeface="Carlito"/>
                          <a:cs typeface="Carlito"/>
                        </a:rPr>
                        <a:t>Euroclear channels, applications and services</a:t>
                      </a:r>
                    </a:p>
                  </a:txBody>
                  <a:tcPr marL="133350" marR="133350" marT="95250" marB="76200" anchor="t">
                    <a:solidFill>
                      <a:srgbClr val="F4F5F6"/>
                    </a:solidFill>
                  </a:tcPr>
                </a:tc>
              </a:tr>
              <a:tr h="809625">
                <a:tc>
                  <a:txBody>
                    <a:bodyPr>
                      <a:noAutofit/>
                    </a:bodyPr>
                    <a:lstStyle/>
                    <a:p>
                      <a:r>
                        <a:rPr sz="1875" b="1">
                          <a:solidFill>
                            <a:srgbClr val="30343A"/>
                          </a:solidFill>
                          <a:latin typeface="Carlito"/>
                          <a:ea typeface="Carlito"/>
                          <a:cs typeface="Carlito"/>
                        </a:rPr>
                        <a:t>Purpose</a:t>
                      </a:r>
                    </a:p>
                  </a:txBody>
                  <a:tcPr marL="133350" marR="133350" marT="95250" marB="76200" anchor="t">
                    <a:solidFill>
                      <a:srgbClr val="FFFFFF"/>
                    </a:solidFill>
                  </a:tcPr>
                </a:tc>
                <a:tc>
                  <a:txBody>
                    <a:bodyPr>
                      <a:noAutofit/>
                    </a:bodyPr>
                    <a:lstStyle/>
                    <a:p>
                      <a:r>
                        <a:rPr sz="1875" b="0">
                          <a:solidFill>
                            <a:srgbClr val="30343A"/>
                          </a:solidFill>
                          <a:latin typeface="Carlito"/>
                          <a:ea typeface="Carlito"/>
                          <a:cs typeface="Carlito"/>
                        </a:rPr>
                        <a:t>Controlled access to Euroclear business services</a:t>
                      </a:r>
                    </a:p>
                  </a:txBody>
                  <a:tcPr marL="133350" marR="133350" marT="95250" marB="76200" anchor="t">
                    <a:solidFill>
                      <a:srgbClr val="FFFFFF"/>
                    </a:solidFill>
                  </a:tcPr>
                </a:tc>
                <a:tc>
                  <a:txBody>
                    <a:bodyPr>
                      <a:noAutofit/>
                    </a:bodyPr>
                    <a:lstStyle/>
                    <a:p>
                      <a:r>
                        <a:rPr sz="1875" b="0">
                          <a:solidFill>
                            <a:srgbClr val="30343A"/>
                          </a:solidFill>
                          <a:latin typeface="Carlito"/>
                          <a:ea typeface="Carlito"/>
                          <a:cs typeface="Carlito"/>
                        </a:rPr>
                        <a:t>Interaction and reuse across domains and systems</a:t>
                      </a:r>
                    </a:p>
                  </a:txBody>
                  <a:tcPr marL="133350" marR="133350" marT="95250" marB="76200" anchor="t">
                    <a:solidFill>
                      <a:srgbClr val="FFFFFF"/>
                    </a:solidFill>
                  </a:tcPr>
                </a:tc>
              </a:tr>
              <a:tr h="723900">
                <a:tc>
                  <a:txBody>
                    <a:bodyPr>
                      <a:noAutofit/>
                    </a:bodyPr>
                    <a:lstStyle/>
                    <a:p>
                      <a:r>
                        <a:rPr sz="1875" b="1">
                          <a:solidFill>
                            <a:srgbClr val="30343A"/>
                          </a:solidFill>
                          <a:latin typeface="Carlito"/>
                          <a:ea typeface="Carlito"/>
                          <a:cs typeface="Carlito"/>
                        </a:rPr>
                        <a:t>Success measures</a:t>
                      </a:r>
                    </a:p>
                  </a:txBody>
                  <a:tcPr marL="133350" marR="133350" marT="95250" marB="76200" anchor="t">
                    <a:solidFill>
                      <a:srgbClr val="F4F5F6"/>
                    </a:solidFill>
                  </a:tcPr>
                </a:tc>
                <a:tc>
                  <a:txBody>
                    <a:bodyPr>
                      <a:noAutofit/>
                    </a:bodyPr>
                    <a:lstStyle/>
                    <a:p>
                      <a:r>
                        <a:rPr sz="1875" b="0">
                          <a:solidFill>
                            <a:srgbClr val="30343A"/>
                          </a:solidFill>
                          <a:latin typeface="Carlito"/>
                          <a:ea typeface="Carlito"/>
                          <a:cs typeface="Carlito"/>
                        </a:rPr>
                        <a:t>Adoption, onboarding time and consumer experience</a:t>
                      </a:r>
                    </a:p>
                  </a:txBody>
                  <a:tcPr marL="133350" marR="133350" marT="95250" marB="76200" anchor="t">
                    <a:solidFill>
                      <a:srgbClr val="F4F5F6"/>
                    </a:solidFill>
                  </a:tcPr>
                </a:tc>
                <a:tc>
                  <a:txBody>
                    <a:bodyPr>
                      <a:noAutofit/>
                    </a:bodyPr>
                    <a:lstStyle/>
                    <a:p>
                      <a:r>
                        <a:rPr sz="1875" b="0">
                          <a:solidFill>
                            <a:srgbClr val="30343A"/>
                          </a:solidFill>
                          <a:latin typeface="Carlito"/>
                          <a:ea typeface="Carlito"/>
                          <a:cs typeface="Carlito"/>
                        </a:rPr>
                        <a:t>Delivery lead time, reuse and integration effort</a:t>
                      </a:r>
                    </a:p>
                  </a:txBody>
                  <a:tcPr marL="133350" marR="133350" marT="95250" marB="76200" anchor="t">
                    <a:solidFill>
                      <a:srgbClr val="F4F5F6"/>
                    </a:solidFill>
                  </a:tcPr>
                </a:tc>
              </a:tr>
            </a:tbl>
          </a:graphicData>
        </a:graphic>
      </p:graphicFrame>
      <p:sp>
        <p:nvSpPr>
          <p:cNvPr id="24" name="box">
            <a:extLst xmlns:a="http://schemas.openxmlformats.org/drawingml/2006/main">
              <a:ext uri="{FF2B5EF4-FFF2-40B4-BE49-F238E27FC236}">
                <a16:creationId xmlns:a16="http://schemas.microsoft.com/office/drawing/2014/main" id="{4C2BFC10-B5CE-4C6E-9EA3-9532DFE6BEB6}"/>
              </a:ext>
            </a:extLst>
          </p:cNvPr>
          <p:cNvSpPr>
            <a:spLocks xmlns:a="http://schemas.openxmlformats.org/drawingml/2006/main" noGrp="1"/>
          </p:cNvSpPr>
          <p:nvPr/>
        </p:nvSpPr>
        <p:spPr>
          <a:xfrm xmlns:a="http://schemas.openxmlformats.org/drawingml/2006/main">
            <a:off x="342900" y="6305550"/>
            <a:ext cx="14554200" cy="1095375"/>
          </a:xfrm>
          <a:prstGeom xmlns:a="http://schemas.openxmlformats.org/drawingml/2006/main" prst="rect">
            <a:avLst/>
          </a:prstGeom>
          <a:solidFill xmlns:a="http://schemas.openxmlformats.org/drawingml/2006/main">
            <a:srgbClr val="FAEEF1"/>
          </a:solidFill>
          <a:ln xmlns:a="http://schemas.openxmlformats.org/drawingml/2006/main" w="14288">
            <a:solidFill>
              <a:srgbClr val="BE1738"/>
            </a:solidFill>
          </a:ln>
        </p:spPr>
      </p:sp>
      <p:sp>
        <p:nvSpPr>
          <p:cNvPr id="25" name="text">
            <a:extLst xmlns:a="http://schemas.openxmlformats.org/drawingml/2006/main">
              <a:ext uri="{FF2B5EF4-FFF2-40B4-BE49-F238E27FC236}">
                <a16:creationId xmlns:a16="http://schemas.microsoft.com/office/drawing/2014/main" id="{1B647030-9FC2-471D-A56A-6105B3DE08D2}"/>
              </a:ext>
            </a:extLst>
          </p:cNvPr>
          <p:cNvSpPr>
            <a:spLocks xmlns:a="http://schemas.openxmlformats.org/drawingml/2006/main" noGrp="1"/>
          </p:cNvSpPr>
          <p:nvPr/>
        </p:nvSpPr>
        <p:spPr>
          <a:xfrm xmlns:a="http://schemas.openxmlformats.org/drawingml/2006/main">
            <a:off x="533400" y="6429375"/>
            <a:ext cx="14173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1632"/>
                </a:solidFill>
                <a:latin typeface="Carlito"/>
                <a:ea typeface="Carlito"/>
                <a:cs typeface="Carlito"/>
              </a:defRPr>
            </a:pPr>
            <a:r>
              <a:rPr sz="2100" b="1">
                <a:solidFill>
                  <a:srgbClr val="A91632"/>
                </a:solidFill>
                <a:latin typeface="Carlito"/>
                <a:ea typeface="Carlito"/>
                <a:cs typeface="Carlito"/>
              </a:rPr>
              <a:t>External offerings can reuse internal business capabilities</a:t>
            </a:r>
          </a:p>
        </p:txBody>
      </p:sp>
      <p:sp>
        <p:nvSpPr>
          <p:cNvPr id="26" name="text">
            <a:extLst xmlns:a="http://schemas.openxmlformats.org/drawingml/2006/main">
              <a:ext uri="{FF2B5EF4-FFF2-40B4-BE49-F238E27FC236}">
                <a16:creationId xmlns:a16="http://schemas.microsoft.com/office/drawing/2014/main" id="{E64F4BBD-A2B3-4FB1-BF76-FDBD022DF721}"/>
              </a:ext>
            </a:extLst>
          </p:cNvPr>
          <p:cNvSpPr>
            <a:spLocks xmlns:a="http://schemas.openxmlformats.org/drawingml/2006/main" noGrp="1"/>
          </p:cNvSpPr>
          <p:nvPr/>
        </p:nvSpPr>
        <p:spPr>
          <a:xfrm xmlns:a="http://schemas.openxmlformats.org/drawingml/2006/main">
            <a:off x="533400" y="6819900"/>
            <a:ext cx="14173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30343A"/>
                </a:solidFill>
                <a:latin typeface="Carlito"/>
                <a:ea typeface="Carlito"/>
                <a:cs typeface="Carlito"/>
              </a:defRPr>
            </a:pPr>
            <a:r>
              <a:rPr sz="1800" b="0">
                <a:solidFill>
                  <a:srgbClr val="30343A"/>
                </a:solidFill>
                <a:latin typeface="Carlito"/>
                <a:ea typeface="Carlito"/>
                <a:cs typeface="Carlito"/>
              </a:rPr>
              <a:t>Common ownership, security standards, cataloguing and lifecycle management support both roles. Exposure policies and consumer journeys vary by audience and use case.</a:t>
            </a:r>
          </a:p>
        </p:txBody>
      </p:sp>
      <p:sp>
        <p:nvSpPr>
          <p:cNvPr id="27" name="text">
            <a:extLst xmlns:a="http://schemas.openxmlformats.org/drawingml/2006/main">
              <a:ext uri="{FF2B5EF4-FFF2-40B4-BE49-F238E27FC236}">
                <a16:creationId xmlns:a16="http://schemas.microsoft.com/office/drawing/2014/main" id="{CF3EF2F6-5366-469B-84CF-AA7E816E4D33}"/>
              </a:ext>
            </a:extLst>
          </p:cNvPr>
          <p:cNvSpPr>
            <a:spLocks xmlns:a="http://schemas.openxmlformats.org/drawingml/2006/main" noGrp="1"/>
          </p:cNvSpPr>
          <p:nvPr/>
        </p:nvSpPr>
        <p:spPr>
          <a:xfrm xmlns:a="http://schemas.openxmlformats.org/drawingml/2006/main">
            <a:off x="361950" y="7534275"/>
            <a:ext cx="1443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30343A"/>
                </a:solidFill>
                <a:latin typeface="Carlito"/>
                <a:ea typeface="Carlito"/>
                <a:cs typeface="Carlito"/>
              </a:defRPr>
            </a:pPr>
            <a:r>
              <a:rPr sz="1800" b="1">
                <a:solidFill>
                  <a:srgbClr val="30343A"/>
                </a:solidFill>
                <a:latin typeface="Carlito"/>
                <a:ea typeface="Carlito"/>
                <a:cs typeface="Carlito"/>
              </a:rPr>
              <a:t>Target outcomes: stronger external adoption, lower integration cost and faster service delivery, supported by consistent controls.</a:t>
            </a:r>
          </a:p>
        </p:txBody>
      </p:sp>
    </p:spTree>
    <p:extLst>
      <p:ext uri="{BB962C8B-B14F-4D97-AF65-F5344CB8AC3E}">
        <p14:creationId xmlns:p14="http://schemas.microsoft.com/office/powerpoint/2010/main" val="10139986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nav-Background">
            <a:extLst xmlns:a="http://schemas.openxmlformats.org/drawingml/2006/main">
              <a:ext uri="{FF2B5EF4-FFF2-40B4-BE49-F238E27FC236}">
                <a16:creationId xmlns:a16="http://schemas.microsoft.com/office/drawing/2014/main" id="{0EDDE87F-5881-4E60-A7D3-389D0E667FC3}"/>
              </a:ext>
            </a:extLst>
          </p:cNvPr>
          <p:cNvSpPr>
            <a:spLocks xmlns:a="http://schemas.openxmlformats.org/drawingml/2006/main" noGrp="1"/>
          </p:cNvSpPr>
          <p:nvPr/>
        </p:nvSpPr>
        <p:spPr>
          <a:xfrm xmlns:a="http://schemas.openxmlformats.org/drawingml/2006/main">
            <a:off x="2286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2" name="navigation-Background">
            <a:extLst xmlns:a="http://schemas.openxmlformats.org/drawingml/2006/main">
              <a:ext uri="{FF2B5EF4-FFF2-40B4-BE49-F238E27FC236}">
                <a16:creationId xmlns:a16="http://schemas.microsoft.com/office/drawing/2014/main" id="{B40A547B-1A1C-4BEB-8E08-4495B6E2C5B7}"/>
              </a:ext>
            </a:extLst>
          </p:cNvPr>
          <p:cNvSpPr>
            <a:spLocks xmlns:a="http://schemas.openxmlformats.org/drawingml/2006/main" noGrp="1"/>
          </p:cNvSpPr>
          <p:nvPr/>
        </p:nvSpPr>
        <p:spPr>
          <a:xfrm xmlns:a="http://schemas.openxmlformats.org/drawingml/2006/main">
            <a:off x="2571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Background</a:t>
            </a:r>
          </a:p>
        </p:txBody>
      </p:sp>
      <p:sp>
        <p:nvSpPr>
          <p:cNvPr id="3" name="nav-Problem Statements">
            <a:extLst xmlns:a="http://schemas.openxmlformats.org/drawingml/2006/main">
              <a:ext uri="{FF2B5EF4-FFF2-40B4-BE49-F238E27FC236}">
                <a16:creationId xmlns:a16="http://schemas.microsoft.com/office/drawing/2014/main" id="{45206569-2898-4376-9C4D-101FD1CDB475}"/>
              </a:ext>
            </a:extLst>
          </p:cNvPr>
          <p:cNvSpPr>
            <a:spLocks xmlns:a="http://schemas.openxmlformats.org/drawingml/2006/main" noGrp="1"/>
          </p:cNvSpPr>
          <p:nvPr/>
        </p:nvSpPr>
        <p:spPr>
          <a:xfrm xmlns:a="http://schemas.openxmlformats.org/drawingml/2006/main">
            <a:off x="1905000" y="171450"/>
            <a:ext cx="1600200" cy="381000"/>
          </a:xfrm>
          <a:prstGeom xmlns:a="http://schemas.openxmlformats.org/drawingml/2006/main" prst="roundRect">
            <a:avLst>
              <a:gd name="adj" fmla="val 17500"/>
            </a:avLst>
          </a:prstGeom>
          <a:solidFill xmlns:a="http://schemas.openxmlformats.org/drawingml/2006/main">
            <a:srgbClr val="BE1738"/>
          </a:solidFill>
          <a:ln xmlns:a="http://schemas.openxmlformats.org/drawingml/2006/main" w="11430">
            <a:solidFill>
              <a:srgbClr val="BE1738"/>
            </a:solidFill>
          </a:ln>
        </p:spPr>
      </p:sp>
      <p:sp>
        <p:nvSpPr>
          <p:cNvPr id="4" name="navigation-Problem Statements">
            <a:extLst xmlns:a="http://schemas.openxmlformats.org/drawingml/2006/main">
              <a:ext uri="{FF2B5EF4-FFF2-40B4-BE49-F238E27FC236}">
                <a16:creationId xmlns:a16="http://schemas.microsoft.com/office/drawing/2014/main" id="{F9EB23B7-B7BC-4795-B1A3-07FADE2730B8}"/>
              </a:ext>
            </a:extLst>
          </p:cNvPr>
          <p:cNvSpPr>
            <a:spLocks xmlns:a="http://schemas.openxmlformats.org/drawingml/2006/main" noGrp="1"/>
          </p:cNvSpPr>
          <p:nvPr/>
        </p:nvSpPr>
        <p:spPr>
          <a:xfrm xmlns:a="http://schemas.openxmlformats.org/drawingml/2006/main">
            <a:off x="19335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FFFFFF"/>
                </a:solidFill>
                <a:latin typeface="Carlito"/>
                <a:ea typeface="Carlito"/>
                <a:cs typeface="Carlito"/>
              </a:defRPr>
            </a:pPr>
            <a:r>
              <a:rPr sz="1313" b="0">
                <a:solidFill>
                  <a:srgbClr val="FFFFFF"/>
                </a:solidFill>
                <a:latin typeface="Carlito"/>
                <a:ea typeface="Carlito"/>
                <a:cs typeface="Carlito"/>
              </a:rPr>
              <a:t>Problem Statements</a:t>
            </a:r>
          </a:p>
        </p:txBody>
      </p:sp>
      <p:sp>
        <p:nvSpPr>
          <p:cNvPr id="5" name="nav-Capability Context">
            <a:extLst xmlns:a="http://schemas.openxmlformats.org/drawingml/2006/main">
              <a:ext uri="{FF2B5EF4-FFF2-40B4-BE49-F238E27FC236}">
                <a16:creationId xmlns:a16="http://schemas.microsoft.com/office/drawing/2014/main" id="{2766C1F2-83DA-4E70-8B4C-CC1D3F7A0A59}"/>
              </a:ext>
            </a:extLst>
          </p:cNvPr>
          <p:cNvSpPr>
            <a:spLocks xmlns:a="http://schemas.openxmlformats.org/drawingml/2006/main" noGrp="1"/>
          </p:cNvSpPr>
          <p:nvPr/>
        </p:nvSpPr>
        <p:spPr>
          <a:xfrm xmlns:a="http://schemas.openxmlformats.org/drawingml/2006/main">
            <a:off x="35814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6" name="navigation-Capability Context">
            <a:extLst xmlns:a="http://schemas.openxmlformats.org/drawingml/2006/main">
              <a:ext uri="{FF2B5EF4-FFF2-40B4-BE49-F238E27FC236}">
                <a16:creationId xmlns:a16="http://schemas.microsoft.com/office/drawing/2014/main" id="{5F6F9BC6-6D27-4DFB-9CD7-DAF24C0F29DD}"/>
              </a:ext>
            </a:extLst>
          </p:cNvPr>
          <p:cNvSpPr>
            <a:spLocks xmlns:a="http://schemas.openxmlformats.org/drawingml/2006/main" noGrp="1"/>
          </p:cNvSpPr>
          <p:nvPr/>
        </p:nvSpPr>
        <p:spPr>
          <a:xfrm xmlns:a="http://schemas.openxmlformats.org/drawingml/2006/main">
            <a:off x="36099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Capability Context</a:t>
            </a:r>
          </a:p>
        </p:txBody>
      </p:sp>
      <p:sp>
        <p:nvSpPr>
          <p:cNvPr id="7" name="nav-Artefact Content">
            <a:extLst xmlns:a="http://schemas.openxmlformats.org/drawingml/2006/main">
              <a:ext uri="{FF2B5EF4-FFF2-40B4-BE49-F238E27FC236}">
                <a16:creationId xmlns:a16="http://schemas.microsoft.com/office/drawing/2014/main" id="{90925C07-42D8-4806-A4B4-A0F79BD82EA5}"/>
              </a:ext>
            </a:extLst>
          </p:cNvPr>
          <p:cNvSpPr>
            <a:spLocks xmlns:a="http://schemas.openxmlformats.org/drawingml/2006/main" noGrp="1"/>
          </p:cNvSpPr>
          <p:nvPr/>
        </p:nvSpPr>
        <p:spPr>
          <a:xfrm xmlns:a="http://schemas.openxmlformats.org/drawingml/2006/main">
            <a:off x="52578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8" name="navigation-Artefact Content">
            <a:extLst xmlns:a="http://schemas.openxmlformats.org/drawingml/2006/main">
              <a:ext uri="{FF2B5EF4-FFF2-40B4-BE49-F238E27FC236}">
                <a16:creationId xmlns:a16="http://schemas.microsoft.com/office/drawing/2014/main" id="{C01EFFC6-2E21-4B23-BA8D-7E20AE37EA9C}"/>
              </a:ext>
            </a:extLst>
          </p:cNvPr>
          <p:cNvSpPr>
            <a:spLocks xmlns:a="http://schemas.openxmlformats.org/drawingml/2006/main" noGrp="1"/>
          </p:cNvSpPr>
          <p:nvPr/>
        </p:nvSpPr>
        <p:spPr>
          <a:xfrm xmlns:a="http://schemas.openxmlformats.org/drawingml/2006/main">
            <a:off x="52863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Artefact Content</a:t>
            </a:r>
          </a:p>
        </p:txBody>
      </p:sp>
      <p:sp>
        <p:nvSpPr>
          <p:cNvPr id="9" name="nav-Roadmap">
            <a:extLst xmlns:a="http://schemas.openxmlformats.org/drawingml/2006/main">
              <a:ext uri="{FF2B5EF4-FFF2-40B4-BE49-F238E27FC236}">
                <a16:creationId xmlns:a16="http://schemas.microsoft.com/office/drawing/2014/main" id="{6032C710-5A64-4BC4-818C-F7C5B0A3ED00}"/>
              </a:ext>
            </a:extLst>
          </p:cNvPr>
          <p:cNvSpPr>
            <a:spLocks xmlns:a="http://schemas.openxmlformats.org/drawingml/2006/main" noGrp="1"/>
          </p:cNvSpPr>
          <p:nvPr/>
        </p:nvSpPr>
        <p:spPr>
          <a:xfrm xmlns:a="http://schemas.openxmlformats.org/drawingml/2006/main">
            <a:off x="69342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0" name="navigation-Roadmap">
            <a:extLst xmlns:a="http://schemas.openxmlformats.org/drawingml/2006/main">
              <a:ext uri="{FF2B5EF4-FFF2-40B4-BE49-F238E27FC236}">
                <a16:creationId xmlns:a16="http://schemas.microsoft.com/office/drawing/2014/main" id="{58F36B79-4499-4766-ADE6-D649C1BD2287}"/>
              </a:ext>
            </a:extLst>
          </p:cNvPr>
          <p:cNvSpPr>
            <a:spLocks xmlns:a="http://schemas.openxmlformats.org/drawingml/2006/main" noGrp="1"/>
          </p:cNvSpPr>
          <p:nvPr/>
        </p:nvSpPr>
        <p:spPr>
          <a:xfrm xmlns:a="http://schemas.openxmlformats.org/drawingml/2006/main">
            <a:off x="69627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Roadmap</a:t>
            </a:r>
          </a:p>
        </p:txBody>
      </p:sp>
      <p:sp>
        <p:nvSpPr>
          <p:cNvPr id="11" name="nav-Decision">
            <a:extLst xmlns:a="http://schemas.openxmlformats.org/drawingml/2006/main">
              <a:ext uri="{FF2B5EF4-FFF2-40B4-BE49-F238E27FC236}">
                <a16:creationId xmlns:a16="http://schemas.microsoft.com/office/drawing/2014/main" id="{98A6F6C5-411C-4365-97FB-13ED951442C7}"/>
              </a:ext>
            </a:extLst>
          </p:cNvPr>
          <p:cNvSpPr>
            <a:spLocks xmlns:a="http://schemas.openxmlformats.org/drawingml/2006/main" noGrp="1"/>
          </p:cNvSpPr>
          <p:nvPr/>
        </p:nvSpPr>
        <p:spPr>
          <a:xfrm xmlns:a="http://schemas.openxmlformats.org/drawingml/2006/main">
            <a:off x="86106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2" name="navigation-Decision">
            <a:extLst xmlns:a="http://schemas.openxmlformats.org/drawingml/2006/main">
              <a:ext uri="{FF2B5EF4-FFF2-40B4-BE49-F238E27FC236}">
                <a16:creationId xmlns:a16="http://schemas.microsoft.com/office/drawing/2014/main" id="{88A702C2-92DB-4D01-9F76-AC15C447E054}"/>
              </a:ext>
            </a:extLst>
          </p:cNvPr>
          <p:cNvSpPr>
            <a:spLocks xmlns:a="http://schemas.openxmlformats.org/drawingml/2006/main" noGrp="1"/>
          </p:cNvSpPr>
          <p:nvPr/>
        </p:nvSpPr>
        <p:spPr>
          <a:xfrm xmlns:a="http://schemas.openxmlformats.org/drawingml/2006/main">
            <a:off x="86391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Decision</a:t>
            </a:r>
          </a:p>
        </p:txBody>
      </p:sp>
      <p:sp>
        <p:nvSpPr>
          <p:cNvPr id="13" name="nav-Appendix">
            <a:extLst xmlns:a="http://schemas.openxmlformats.org/drawingml/2006/main">
              <a:ext uri="{FF2B5EF4-FFF2-40B4-BE49-F238E27FC236}">
                <a16:creationId xmlns:a16="http://schemas.microsoft.com/office/drawing/2014/main" id="{CC124FE7-7BC8-48AB-BC14-1086154640DD}"/>
              </a:ext>
            </a:extLst>
          </p:cNvPr>
          <p:cNvSpPr>
            <a:spLocks xmlns:a="http://schemas.openxmlformats.org/drawingml/2006/main" noGrp="1"/>
          </p:cNvSpPr>
          <p:nvPr/>
        </p:nvSpPr>
        <p:spPr>
          <a:xfrm xmlns:a="http://schemas.openxmlformats.org/drawingml/2006/main">
            <a:off x="102870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4" name="navigation-Appendix">
            <a:extLst xmlns:a="http://schemas.openxmlformats.org/drawingml/2006/main">
              <a:ext uri="{FF2B5EF4-FFF2-40B4-BE49-F238E27FC236}">
                <a16:creationId xmlns:a16="http://schemas.microsoft.com/office/drawing/2014/main" id="{4725A354-C243-479E-890F-20B77E335016}"/>
              </a:ext>
            </a:extLst>
          </p:cNvPr>
          <p:cNvSpPr>
            <a:spLocks xmlns:a="http://schemas.openxmlformats.org/drawingml/2006/main" noGrp="1"/>
          </p:cNvSpPr>
          <p:nvPr/>
        </p:nvSpPr>
        <p:spPr>
          <a:xfrm xmlns:a="http://schemas.openxmlformats.org/drawingml/2006/main">
            <a:off x="103155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Appendix</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e383b222dd49404b"/>
          <a:stretch xmlns:a="http://schemas.openxmlformats.org/drawingml/2006/main"/>
        </p:blipFill>
        <p:spPr>
          <a:xfrm xmlns:a="http://schemas.openxmlformats.org/drawingml/2006/main">
            <a:off x="304800" y="737436"/>
            <a:ext cx="1057275" cy="1001629"/>
          </a:xfrm>
          <a:prstGeom xmlns:a="http://schemas.openxmlformats.org/drawingml/2006/main" prst="rect">
            <a:avLst/>
          </a:prstGeom>
        </p:spPr>
      </p:pic>
      <p:sp>
        <p:nvSpPr>
          <p:cNvPr id="16" name="title-outline">
            <a:extLst xmlns:a="http://schemas.openxmlformats.org/drawingml/2006/main">
              <a:ext uri="{FF2B5EF4-FFF2-40B4-BE49-F238E27FC236}">
                <a16:creationId xmlns:a16="http://schemas.microsoft.com/office/drawing/2014/main" id="{3AACDC42-3FCD-45B6-BB6C-E44CF7E3C943}"/>
              </a:ext>
            </a:extLst>
          </p:cNvPr>
          <p:cNvSpPr>
            <a:spLocks xmlns:a="http://schemas.openxmlformats.org/drawingml/2006/main" noGrp="1"/>
          </p:cNvSpPr>
          <p:nvPr/>
        </p:nvSpPr>
        <p:spPr>
          <a:xfrm xmlns:a="http://schemas.openxmlformats.org/drawingml/2006/main">
            <a:off x="1657350" y="866775"/>
            <a:ext cx="10496550" cy="4857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8575">
            <a:solidFill>
              <a:srgbClr val="BE1738"/>
            </a:solidFill>
          </a:ln>
        </p:spPr>
      </p:sp>
      <p:sp>
        <p:nvSpPr>
          <p:cNvPr id="17" name="slide-title">
            <a:extLst xmlns:a="http://schemas.openxmlformats.org/drawingml/2006/main">
              <a:ext uri="{FF2B5EF4-FFF2-40B4-BE49-F238E27FC236}">
                <a16:creationId xmlns:a16="http://schemas.microsoft.com/office/drawing/2014/main" id="{F2AE9A03-F865-41FC-95A1-EE696C713DAE}"/>
              </a:ext>
            </a:extLst>
          </p:cNvPr>
          <p:cNvSpPr>
            <a:spLocks xmlns:a="http://schemas.openxmlformats.org/drawingml/2006/main" noGrp="1"/>
          </p:cNvSpPr>
          <p:nvPr/>
        </p:nvSpPr>
        <p:spPr>
          <a:xfrm xmlns:a="http://schemas.openxmlformats.org/drawingml/2006/main">
            <a:off x="1933575" y="933450"/>
            <a:ext cx="994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1632"/>
                </a:solidFill>
                <a:latin typeface="Carlito"/>
                <a:ea typeface="Carlito"/>
                <a:cs typeface="Carlito"/>
              </a:defRPr>
            </a:pPr>
            <a:r>
              <a:rPr sz="2100" b="1">
                <a:solidFill>
                  <a:srgbClr val="A91632"/>
                </a:solidFill>
                <a:latin typeface="Carlito"/>
                <a:ea typeface="Carlito"/>
                <a:cs typeface="Carlito"/>
              </a:rPr>
              <a:t>PROBLEM STATEMENTS</a:t>
            </a:r>
          </a:p>
        </p:txBody>
      </p:sp>
      <p:sp>
        <p:nvSpPr>
          <p:cNvPr id="18" name="classification">
            <a:extLst xmlns:a="http://schemas.openxmlformats.org/drawingml/2006/main">
              <a:ext uri="{FF2B5EF4-FFF2-40B4-BE49-F238E27FC236}">
                <a16:creationId xmlns:a16="http://schemas.microsoft.com/office/drawing/2014/main" id="{D6850B6A-BF92-4543-88D1-2B2FB72F0CAE}"/>
              </a:ext>
            </a:extLst>
          </p:cNvPr>
          <p:cNvSpPr>
            <a:spLocks xmlns:a="http://schemas.openxmlformats.org/drawingml/2006/main" noGrp="1"/>
          </p:cNvSpPr>
          <p:nvPr/>
        </p:nvSpPr>
        <p:spPr>
          <a:xfrm xmlns:a="http://schemas.openxmlformats.org/drawingml/2006/main">
            <a:off x="12001500" y="619125"/>
            <a:ext cx="2905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30343A"/>
                </a:solidFill>
                <a:latin typeface="Carlito"/>
                <a:ea typeface="Carlito"/>
                <a:cs typeface="Carlito"/>
              </a:defRPr>
            </a:pPr>
            <a:r>
              <a:rPr sz="1275" b="0">
                <a:solidFill>
                  <a:srgbClr val="30343A"/>
                </a:solidFill>
                <a:latin typeface="Carlito"/>
                <a:ea typeface="Carlito"/>
                <a:cs typeface="Carlito"/>
              </a:rPr>
              <a:t>RESTRICTED TO Euroclear</a:t>
            </a:r>
          </a:p>
        </p:txBody>
      </p:sp>
      <p:sp>
        <p:nvSpPr>
          <p:cNvPr id="19" name="footer-outline">
            <a:extLst xmlns:a="http://schemas.openxmlformats.org/drawingml/2006/main">
              <a:ext uri="{FF2B5EF4-FFF2-40B4-BE49-F238E27FC236}">
                <a16:creationId xmlns:a16="http://schemas.microsoft.com/office/drawing/2014/main" id="{735A815A-EFBE-4F5D-BE69-72E725C5D5A7}"/>
              </a:ext>
            </a:extLst>
          </p:cNvPr>
          <p:cNvSpPr>
            <a:spLocks xmlns:a="http://schemas.openxmlformats.org/drawingml/2006/main" noGrp="1"/>
          </p:cNvSpPr>
          <p:nvPr/>
        </p:nvSpPr>
        <p:spPr>
          <a:xfrm xmlns:a="http://schemas.openxmlformats.org/drawingml/2006/main">
            <a:off x="171450" y="8143875"/>
            <a:ext cx="3009900" cy="2952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4288">
            <a:solidFill>
              <a:srgbClr val="70757C"/>
            </a:solidFill>
          </a:ln>
        </p:spPr>
      </p:sp>
      <p:sp>
        <p:nvSpPr>
          <p:cNvPr id="20" name="footer">
            <a:extLst xmlns:a="http://schemas.openxmlformats.org/drawingml/2006/main">
              <a:ext uri="{FF2B5EF4-FFF2-40B4-BE49-F238E27FC236}">
                <a16:creationId xmlns:a16="http://schemas.microsoft.com/office/drawing/2014/main" id="{74CA69BE-8E75-4518-B16D-55510E9B2163}"/>
              </a:ext>
            </a:extLst>
          </p:cNvPr>
          <p:cNvSpPr>
            <a:spLocks xmlns:a="http://schemas.openxmlformats.org/drawingml/2006/main" noGrp="1"/>
          </p:cNvSpPr>
          <p:nvPr/>
        </p:nvSpPr>
        <p:spPr>
          <a:xfrm xmlns:a="http://schemas.openxmlformats.org/drawingml/2006/main">
            <a:off x="295275" y="8172450"/>
            <a:ext cx="2771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0343A"/>
                </a:solidFill>
                <a:latin typeface="Carlito"/>
                <a:ea typeface="Carlito"/>
                <a:cs typeface="Carlito"/>
              </a:defRPr>
            </a:pPr>
            <a:r>
              <a:rPr sz="1500" b="0">
                <a:solidFill>
                  <a:srgbClr val="30343A"/>
                </a:solidFill>
                <a:latin typeface="Carlito"/>
                <a:ea typeface="Carlito"/>
                <a:cs typeface="Carlito"/>
              </a:rPr>
              <a:t>API Target Architecture</a:t>
            </a:r>
          </a:p>
        </p:txBody>
      </p:sp>
      <p:sp>
        <p:nvSpPr>
          <p:cNvPr id="21" name="page-number">
            <a:extLst xmlns:a="http://schemas.openxmlformats.org/drawingml/2006/main">
              <a:ext uri="{FF2B5EF4-FFF2-40B4-BE49-F238E27FC236}">
                <a16:creationId xmlns:a16="http://schemas.microsoft.com/office/drawing/2014/main" id="{500B36E9-4639-46B9-87C8-4216A1C919D6}"/>
              </a:ext>
            </a:extLst>
          </p:cNvPr>
          <p:cNvSpPr>
            <a:spLocks xmlns:a="http://schemas.openxmlformats.org/drawingml/2006/main" noGrp="1"/>
          </p:cNvSpPr>
          <p:nvPr/>
        </p:nvSpPr>
        <p:spPr>
          <a:xfrm xmlns:a="http://schemas.openxmlformats.org/drawingml/2006/main">
            <a:off x="14458950" y="8162925"/>
            <a:ext cx="4476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70757C"/>
                </a:solidFill>
                <a:latin typeface="Carlito"/>
                <a:ea typeface="Carlito"/>
                <a:cs typeface="Carlito"/>
              </a:defRPr>
            </a:pPr>
            <a:r>
              <a:rPr sz="1350" b="0">
                <a:solidFill>
                  <a:srgbClr val="70757C"/>
                </a:solidFill>
                <a:latin typeface="Carlito"/>
                <a:ea typeface="Carlito"/>
                <a:cs typeface="Carlito"/>
              </a:rPr>
              <a:t>4</a:t>
            </a:r>
          </a:p>
        </p:txBody>
      </p:sp>
      <p:graphicFrame>
        <p:nvGraphicFramePr>
          <p:cNvPr id="45" name=""/>
          <p:cNvGraphicFramePr/>
          <p:nvPr/>
        </p:nvGraphicFramePr>
        <p:xfrm>
          <a:off xmlns:a="http://schemas.openxmlformats.org/drawingml/2006/main" x="342900" y="2095500"/>
          <a:ext xmlns:a="http://schemas.openxmlformats.org/drawingml/2006/main" cx="14554200" cy="5705475"/>
        </p:xfrm>
        <a:graphic xmlns:a="http://schemas.openxmlformats.org/drawingml/2006/main">
          <a:graphicData uri="http://schemas.openxmlformats.org/drawingml/2006/table">
            <a:tbl>
              <a:tblPr firstRow="0" bandRow="0"/>
              <a:tblGrid>
                <a:gridCol w="6238875"/>
                <a:gridCol w="4019550"/>
                <a:gridCol w="4295775"/>
              </a:tblGrid>
              <a:tr h="466725">
                <a:tc>
                  <a:txBody>
                    <a:bodyPr>
                      <a:noAutofit/>
                    </a:bodyPr>
                    <a:lstStyle/>
                    <a:p>
                      <a:r>
                        <a:rPr sz="1875" b="1">
                          <a:solidFill>
                            <a:srgbClr val="FFFFFF"/>
                          </a:solidFill>
                          <a:latin typeface="Carlito"/>
                          <a:ea typeface="Carlito"/>
                          <a:cs typeface="Carlito"/>
                        </a:rPr>
                        <a:t>Issue or Opportunity</a:t>
                      </a:r>
                    </a:p>
                  </a:txBody>
                  <a:tcPr marL="133350" marR="133350" marT="95250" marB="76200" anchor="t">
                    <a:solidFill>
                      <a:srgbClr val="BE1738"/>
                    </a:solidFill>
                  </a:tcPr>
                </a:tc>
                <a:tc>
                  <a:txBody>
                    <a:bodyPr>
                      <a:noAutofit/>
                    </a:bodyPr>
                    <a:lstStyle/>
                    <a:p>
                      <a:r>
                        <a:rPr sz="1875" b="1">
                          <a:solidFill>
                            <a:srgbClr val="FFFFFF"/>
                          </a:solidFill>
                          <a:latin typeface="Carlito"/>
                          <a:ea typeface="Carlito"/>
                          <a:cs typeface="Carlito"/>
                        </a:rPr>
                        <a:t>Goal and Value Outcome</a:t>
                      </a:r>
                    </a:p>
                  </a:txBody>
                  <a:tcPr marL="133350" marR="133350" marT="95250" marB="76200" anchor="t">
                    <a:solidFill>
                      <a:srgbClr val="BE1738"/>
                    </a:solidFill>
                  </a:tcPr>
                </a:tc>
                <a:tc>
                  <a:txBody>
                    <a:bodyPr>
                      <a:noAutofit/>
                    </a:bodyPr>
                    <a:lstStyle/>
                    <a:p>
                      <a:r>
                        <a:rPr sz="1875" b="1">
                          <a:solidFill>
                            <a:srgbClr val="FFFFFF"/>
                          </a:solidFill>
                          <a:latin typeface="Carlito"/>
                          <a:ea typeface="Carlito"/>
                          <a:cs typeface="Carlito"/>
                        </a:rPr>
                        <a:t>Architectural Change</a:t>
                      </a:r>
                    </a:p>
                  </a:txBody>
                  <a:tcPr marL="133350" marR="133350" marT="95250" marB="76200" anchor="t">
                    <a:solidFill>
                      <a:srgbClr val="BE1738"/>
                    </a:solidFill>
                  </a:tcPr>
                </a:tc>
              </a:tr>
              <a:tr h="1047750">
                <a:tc>
                  <a:txBody>
                    <a:bodyPr>
                      <a:noAutofit/>
                    </a:bodyPr>
                    <a:lstStyle/>
                    <a:p>
                      <a:r>
                        <a:rPr sz="1800" b="0">
                          <a:solidFill>
                            <a:srgbClr val="30343A"/>
                          </a:solidFill>
                          <a:latin typeface="Carlito"/>
                          <a:ea typeface="Carlito"/>
                          <a:cs typeface="Carlito"/>
                        </a:rPr>
                        <a:t>Issue: API initiatives provide uneven external consumer experiences and fragmented onboarding.</a:t>
                      </a:r>
                    </a:p>
                  </a:txBody>
                  <a:tcPr marL="133350" marR="133350" marT="95250" marB="76200" anchor="t">
                    <a:solidFill>
                      <a:srgbClr val="FFFFFF"/>
                    </a:solidFill>
                  </a:tcPr>
                </a:tc>
                <a:tc>
                  <a:txBody>
                    <a:bodyPr>
                      <a:noAutofit/>
                    </a:bodyPr>
                    <a:lstStyle/>
                    <a:p>
                      <a:r>
                        <a:rPr sz="1800" b="0">
                          <a:solidFill>
                            <a:srgbClr val="30343A"/>
                          </a:solidFill>
                          <a:latin typeface="Carlito"/>
                          <a:ea typeface="Carlito"/>
                          <a:cs typeface="Carlito"/>
                        </a:rPr>
                        <a:t>Improve adoption and shorten the time needed to consume existing APIs.</a:t>
                      </a:r>
                    </a:p>
                  </a:txBody>
                  <a:tcPr marL="133350" marR="133350" marT="95250" marB="76200" anchor="t">
                    <a:solidFill>
                      <a:srgbClr val="FFFFFF"/>
                    </a:solidFill>
                  </a:tcPr>
                </a:tc>
                <a:tc>
                  <a:txBody>
                    <a:bodyPr>
                      <a:noAutofit/>
                    </a:bodyPr>
                    <a:lstStyle/>
                    <a:p>
                      <a:r>
                        <a:rPr sz="1800" b="0">
                          <a:solidFill>
                            <a:srgbClr val="30343A"/>
                          </a:solidFill>
                          <a:latin typeface="Carlito"/>
                          <a:ea typeface="Carlito"/>
                          <a:cs typeface="Carlito"/>
                        </a:rPr>
                        <a:t>Consistent API discovery, documentation, sandbox and self-service onboarding.</a:t>
                      </a:r>
                    </a:p>
                  </a:txBody>
                  <a:tcPr marL="133350" marR="133350" marT="95250" marB="76200" anchor="t">
                    <a:solidFill>
                      <a:srgbClr val="FFFFFF"/>
                    </a:solidFill>
                  </a:tcPr>
                </a:tc>
              </a:tr>
              <a:tr h="1047750">
                <a:tc>
                  <a:txBody>
                    <a:bodyPr>
                      <a:noAutofit/>
                    </a:bodyPr>
                    <a:lstStyle/>
                    <a:p>
                      <a:r>
                        <a:rPr sz="1800" b="0">
                          <a:solidFill>
                            <a:srgbClr val="30343A"/>
                          </a:solidFill>
                          <a:latin typeface="Carlito"/>
                          <a:ea typeface="Carlito"/>
                          <a:cs typeface="Carlito"/>
                        </a:rPr>
                        <a:t>Issue: Bespoke internal integrations and limited discovery or reuse increase integration effort and coupling.</a:t>
                      </a:r>
                    </a:p>
                  </a:txBody>
                  <a:tcPr marL="133350" marR="133350" marT="95250" marB="76200" anchor="t">
                    <a:solidFill>
                      <a:srgbClr val="F4F5F6"/>
                    </a:solidFill>
                  </a:tcPr>
                </a:tc>
                <a:tc>
                  <a:txBody>
                    <a:bodyPr>
                      <a:noAutofit/>
                    </a:bodyPr>
                    <a:lstStyle/>
                    <a:p>
                      <a:r>
                        <a:rPr sz="1800" b="0">
                          <a:solidFill>
                            <a:srgbClr val="30343A"/>
                          </a:solidFill>
                          <a:latin typeface="Carlito"/>
                          <a:ea typeface="Carlito"/>
                          <a:cs typeface="Carlito"/>
                        </a:rPr>
                        <a:t>Reduce duplicated integration work and support faster delivery across domains.</a:t>
                      </a:r>
                    </a:p>
                  </a:txBody>
                  <a:tcPr marL="133350" marR="133350" marT="95250" marB="76200" anchor="t">
                    <a:solidFill>
                      <a:srgbClr val="F4F5F6"/>
                    </a:solidFill>
                  </a:tcPr>
                </a:tc>
                <a:tc>
                  <a:txBody>
                    <a:bodyPr>
                      <a:noAutofit/>
                    </a:bodyPr>
                    <a:lstStyle/>
                    <a:p>
                      <a:r>
                        <a:rPr sz="1800" b="0">
                          <a:solidFill>
                            <a:srgbClr val="30343A"/>
                          </a:solidFill>
                          <a:latin typeface="Carlito"/>
                          <a:ea typeface="Carlito"/>
                          <a:cs typeface="Carlito"/>
                        </a:rPr>
                        <a:t>Discoverable domain APIs, stable contracts and reuse assessment before build.</a:t>
                      </a:r>
                    </a:p>
                  </a:txBody>
                  <a:tcPr marL="133350" marR="133350" marT="95250" marB="76200" anchor="t">
                    <a:solidFill>
                      <a:srgbClr val="F4F5F6"/>
                    </a:solidFill>
                  </a:tcPr>
                </a:tc>
              </a:tr>
              <a:tr h="1047750">
                <a:tc>
                  <a:txBody>
                    <a:bodyPr>
                      <a:noAutofit/>
                    </a:bodyPr>
                    <a:lstStyle/>
                    <a:p>
                      <a:r>
                        <a:rPr sz="1800" b="0">
                          <a:solidFill>
                            <a:srgbClr val="30343A"/>
                          </a:solidFill>
                          <a:latin typeface="Carlito"/>
                          <a:ea typeface="Carlito"/>
                          <a:cs typeface="Carlito"/>
                        </a:rPr>
                        <a:t>Issue: Fragmented requirements and design practices create a risk of rework between business intent and delivery.</a:t>
                      </a:r>
                    </a:p>
                  </a:txBody>
                  <a:tcPr marL="133350" marR="133350" marT="95250" marB="76200" anchor="t">
                    <a:solidFill>
                      <a:srgbClr val="FFFFFF"/>
                    </a:solidFill>
                  </a:tcPr>
                </a:tc>
                <a:tc>
                  <a:txBody>
                    <a:bodyPr>
                      <a:noAutofit/>
                    </a:bodyPr>
                    <a:lstStyle/>
                    <a:p>
                      <a:r>
                        <a:rPr sz="1800" b="0">
                          <a:solidFill>
                            <a:srgbClr val="30343A"/>
                          </a:solidFill>
                          <a:latin typeface="Carlito"/>
                          <a:ea typeface="Carlito"/>
                          <a:cs typeface="Carlito"/>
                        </a:rPr>
                        <a:t>Shorten delivery lead time and improve fit to consumer needs.</a:t>
                      </a:r>
                    </a:p>
                  </a:txBody>
                  <a:tcPr marL="133350" marR="133350" marT="95250" marB="76200" anchor="t">
                    <a:solidFill>
                      <a:srgbClr val="FFFFFF"/>
                    </a:solidFill>
                  </a:tcPr>
                </a:tc>
                <a:tc>
                  <a:txBody>
                    <a:bodyPr>
                      <a:noAutofit/>
                    </a:bodyPr>
                    <a:lstStyle/>
                    <a:p>
                      <a:r>
                        <a:rPr sz="1800" b="0">
                          <a:solidFill>
                            <a:srgbClr val="30343A"/>
                          </a:solidFill>
                          <a:latin typeface="Carlito"/>
                          <a:ea typeface="Carlito"/>
                          <a:cs typeface="Carlito"/>
                        </a:rPr>
                        <a:t>Validate consumer requirements and acceptance criteria, then review reuse and contract design.</a:t>
                      </a:r>
                    </a:p>
                  </a:txBody>
                  <a:tcPr marL="133350" marR="133350" marT="95250" marB="76200" anchor="t">
                    <a:solidFill>
                      <a:srgbClr val="FFFFFF"/>
                    </a:solidFill>
                  </a:tcPr>
                </a:tc>
              </a:tr>
              <a:tr h="1047750">
                <a:tc>
                  <a:txBody>
                    <a:bodyPr>
                      <a:noAutofit/>
                    </a:bodyPr>
                    <a:lstStyle/>
                    <a:p>
                      <a:r>
                        <a:rPr sz="1800" b="0">
                          <a:solidFill>
                            <a:srgbClr val="30343A"/>
                          </a:solidFill>
                          <a:latin typeface="Carlito"/>
                          <a:ea typeface="Carlito"/>
                          <a:cs typeface="Carlito"/>
                        </a:rPr>
                        <a:t>Issue: Inconsistent ownership, controls and lifecycle practices limit accountability across the API estate.</a:t>
                      </a:r>
                    </a:p>
                  </a:txBody>
                  <a:tcPr marL="133350" marR="133350" marT="95250" marB="76200" anchor="t">
                    <a:solidFill>
                      <a:srgbClr val="F4F5F6"/>
                    </a:solidFill>
                  </a:tcPr>
                </a:tc>
                <a:tc>
                  <a:txBody>
                    <a:bodyPr>
                      <a:noAutofit/>
                    </a:bodyPr>
                    <a:lstStyle/>
                    <a:p>
                      <a:r>
                        <a:rPr sz="1800" b="0">
                          <a:solidFill>
                            <a:srgbClr val="30343A"/>
                          </a:solidFill>
                          <a:latin typeface="Carlito"/>
                          <a:ea typeface="Carlito"/>
                          <a:cs typeface="Carlito"/>
                        </a:rPr>
                        <a:t>Strengthen security, operational accountability and compliance evidence.</a:t>
                      </a:r>
                    </a:p>
                  </a:txBody>
                  <a:tcPr marL="133350" marR="133350" marT="95250" marB="76200" anchor="t">
                    <a:solidFill>
                      <a:srgbClr val="F4F5F6"/>
                    </a:solidFill>
                  </a:tcPr>
                </a:tc>
                <a:tc>
                  <a:txBody>
                    <a:bodyPr>
                      <a:noAutofit/>
                    </a:bodyPr>
                    <a:lstStyle/>
                    <a:p>
                      <a:r>
                        <a:rPr sz="1800" b="0">
                          <a:solidFill>
                            <a:srgbClr val="30343A"/>
                          </a:solidFill>
                          <a:latin typeface="Carlito"/>
                          <a:ea typeface="Carlito"/>
                          <a:cs typeface="Carlito"/>
                        </a:rPr>
                        <a:t>Named owners, common minimum controls, enterprise IAM services and lifecycle governance.</a:t>
                      </a:r>
                    </a:p>
                  </a:txBody>
                  <a:tcPr marL="133350" marR="133350" marT="95250" marB="76200" anchor="t">
                    <a:solidFill>
                      <a:srgbClr val="F4F5F6"/>
                    </a:solidFill>
                  </a:tcPr>
                </a:tc>
              </a:tr>
              <a:tr h="1047750">
                <a:tc>
                  <a:txBody>
                    <a:bodyPr>
                      <a:noAutofit/>
                    </a:bodyPr>
                    <a:lstStyle/>
                    <a:p>
                      <a:r>
                        <a:rPr sz="1800" b="0">
                          <a:solidFill>
                            <a:srgbClr val="30343A"/>
                          </a:solidFill>
                          <a:latin typeface="Carlito"/>
                          <a:ea typeface="Carlito"/>
                          <a:cs typeface="Carlito"/>
                        </a:rPr>
                        <a:t>Opportunity: APIs can extend digital service access and ecosystem participation.</a:t>
                      </a:r>
                    </a:p>
                  </a:txBody>
                  <a:tcPr marL="133350" marR="133350" marT="95250" marB="76200" anchor="t">
                    <a:solidFill>
                      <a:srgbClr val="FFFFFF"/>
                    </a:solidFill>
                  </a:tcPr>
                </a:tc>
                <a:tc>
                  <a:txBody>
                    <a:bodyPr>
                      <a:noAutofit/>
                    </a:bodyPr>
                    <a:lstStyle/>
                    <a:p>
                      <a:r>
                        <a:rPr sz="1800" b="0">
                          <a:solidFill>
                            <a:srgbClr val="30343A"/>
                          </a:solidFill>
                          <a:latin typeface="Carlito"/>
                          <a:ea typeface="Carlito"/>
                          <a:cs typeface="Carlito"/>
                        </a:rPr>
                        <a:t>Increase service adoption and support new offerings where justified.</a:t>
                      </a:r>
                    </a:p>
                  </a:txBody>
                  <a:tcPr marL="133350" marR="133350" marT="95250" marB="76200" anchor="t">
                    <a:solidFill>
                      <a:srgbClr val="FFFFFF"/>
                    </a:solidFill>
                  </a:tcPr>
                </a:tc>
                <a:tc>
                  <a:txBody>
                    <a:bodyPr>
                      <a:noAutofit/>
                    </a:bodyPr>
                    <a:lstStyle/>
                    <a:p>
                      <a:r>
                        <a:rPr sz="1800" b="0">
                          <a:solidFill>
                            <a:srgbClr val="30343A"/>
                          </a:solidFill>
                          <a:latin typeface="Carlito"/>
                          <a:ea typeface="Carlito"/>
                          <a:cs typeface="Carlito"/>
                        </a:rPr>
                        <a:t>Managed external API offerings, partner enablement and use-case-led strategic extensions.</a:t>
                      </a:r>
                    </a:p>
                  </a:txBody>
                  <a:tcPr marL="133350" marR="133350" marT="95250" marB="76200" anchor="t">
                    <a:solidFill>
                      <a:srgbClr val="FFFFFF"/>
                    </a:solidFill>
                  </a:tcPr>
                </a:tc>
              </a:tr>
            </a:tbl>
          </a:graphicData>
        </a:graphic>
      </p:graphicFrame>
      <p:sp>
        <p:nvSpPr>
          <p:cNvPr id="23" name="text">
            <a:extLst xmlns:a="http://schemas.openxmlformats.org/drawingml/2006/main">
              <a:ext uri="{FF2B5EF4-FFF2-40B4-BE49-F238E27FC236}">
                <a16:creationId xmlns:a16="http://schemas.microsoft.com/office/drawing/2014/main" id="{BC03E6A5-5334-4170-9AAA-344AB865A8AE}"/>
              </a:ext>
            </a:extLst>
          </p:cNvPr>
          <p:cNvSpPr>
            <a:spLocks xmlns:a="http://schemas.openxmlformats.org/drawingml/2006/main" noGrp="1"/>
          </p:cNvSpPr>
          <p:nvPr/>
        </p:nvSpPr>
        <p:spPr>
          <a:xfrm xmlns:a="http://schemas.openxmlformats.org/drawingml/2006/main">
            <a:off x="361950" y="7867650"/>
            <a:ext cx="1445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70757C"/>
                </a:solidFill>
                <a:latin typeface="Carlito"/>
                <a:ea typeface="Carlito"/>
                <a:cs typeface="Carlito"/>
              </a:defRPr>
            </a:pPr>
            <a:r>
              <a:rPr sz="1350" b="0">
                <a:solidFill>
                  <a:srgbClr val="70757C"/>
                </a:solidFill>
                <a:latin typeface="Carlito"/>
                <a:ea typeface="Carlito"/>
                <a:cs typeface="Carlito"/>
              </a:rPr>
              <a:t>Delivery lead time and consumer onboarding time are separate measures. Confirm the causes and baseline of delay during mobilisation.</a:t>
            </a:r>
          </a:p>
        </p:txBody>
      </p:sp>
    </p:spTree>
    <p:extLst>
      <p:ext uri="{BB962C8B-B14F-4D97-AF65-F5344CB8AC3E}">
        <p14:creationId xmlns:p14="http://schemas.microsoft.com/office/powerpoint/2010/main" val="3041606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nav-Background">
            <a:extLst xmlns:a="http://schemas.openxmlformats.org/drawingml/2006/main">
              <a:ext uri="{FF2B5EF4-FFF2-40B4-BE49-F238E27FC236}">
                <a16:creationId xmlns:a16="http://schemas.microsoft.com/office/drawing/2014/main" id="{3B667D39-370B-4C17-9364-16FC3866479F}"/>
              </a:ext>
            </a:extLst>
          </p:cNvPr>
          <p:cNvSpPr>
            <a:spLocks xmlns:a="http://schemas.openxmlformats.org/drawingml/2006/main" noGrp="1"/>
          </p:cNvSpPr>
          <p:nvPr/>
        </p:nvSpPr>
        <p:spPr>
          <a:xfrm xmlns:a="http://schemas.openxmlformats.org/drawingml/2006/main">
            <a:off x="2286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2" name="navigation-Background">
            <a:extLst xmlns:a="http://schemas.openxmlformats.org/drawingml/2006/main">
              <a:ext uri="{FF2B5EF4-FFF2-40B4-BE49-F238E27FC236}">
                <a16:creationId xmlns:a16="http://schemas.microsoft.com/office/drawing/2014/main" id="{897C0ED6-FB75-4B8A-9B2C-73B0AD2BC9DB}"/>
              </a:ext>
            </a:extLst>
          </p:cNvPr>
          <p:cNvSpPr>
            <a:spLocks xmlns:a="http://schemas.openxmlformats.org/drawingml/2006/main" noGrp="1"/>
          </p:cNvSpPr>
          <p:nvPr/>
        </p:nvSpPr>
        <p:spPr>
          <a:xfrm xmlns:a="http://schemas.openxmlformats.org/drawingml/2006/main">
            <a:off x="2571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Background</a:t>
            </a:r>
          </a:p>
        </p:txBody>
      </p:sp>
      <p:sp>
        <p:nvSpPr>
          <p:cNvPr id="3" name="nav-Problem Statements">
            <a:extLst xmlns:a="http://schemas.openxmlformats.org/drawingml/2006/main">
              <a:ext uri="{FF2B5EF4-FFF2-40B4-BE49-F238E27FC236}">
                <a16:creationId xmlns:a16="http://schemas.microsoft.com/office/drawing/2014/main" id="{7E1ACBD7-C0C6-4392-B516-76FD945D885A}"/>
              </a:ext>
            </a:extLst>
          </p:cNvPr>
          <p:cNvSpPr>
            <a:spLocks xmlns:a="http://schemas.openxmlformats.org/drawingml/2006/main" noGrp="1"/>
          </p:cNvSpPr>
          <p:nvPr/>
        </p:nvSpPr>
        <p:spPr>
          <a:xfrm xmlns:a="http://schemas.openxmlformats.org/drawingml/2006/main">
            <a:off x="19050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4" name="navigation-Problem Statements">
            <a:extLst xmlns:a="http://schemas.openxmlformats.org/drawingml/2006/main">
              <a:ext uri="{FF2B5EF4-FFF2-40B4-BE49-F238E27FC236}">
                <a16:creationId xmlns:a16="http://schemas.microsoft.com/office/drawing/2014/main" id="{DEE9086F-581C-4A8D-9060-9872BC1C39AC}"/>
              </a:ext>
            </a:extLst>
          </p:cNvPr>
          <p:cNvSpPr>
            <a:spLocks xmlns:a="http://schemas.openxmlformats.org/drawingml/2006/main" noGrp="1"/>
          </p:cNvSpPr>
          <p:nvPr/>
        </p:nvSpPr>
        <p:spPr>
          <a:xfrm xmlns:a="http://schemas.openxmlformats.org/drawingml/2006/main">
            <a:off x="19335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Problem Statements</a:t>
            </a:r>
          </a:p>
        </p:txBody>
      </p:sp>
      <p:sp>
        <p:nvSpPr>
          <p:cNvPr id="5" name="nav-Capability Context">
            <a:extLst xmlns:a="http://schemas.openxmlformats.org/drawingml/2006/main">
              <a:ext uri="{FF2B5EF4-FFF2-40B4-BE49-F238E27FC236}">
                <a16:creationId xmlns:a16="http://schemas.microsoft.com/office/drawing/2014/main" id="{EFEBD0F0-4DFF-4F8B-B0BE-0C3F47A8F9A5}"/>
              </a:ext>
            </a:extLst>
          </p:cNvPr>
          <p:cNvSpPr>
            <a:spLocks xmlns:a="http://schemas.openxmlformats.org/drawingml/2006/main" noGrp="1"/>
          </p:cNvSpPr>
          <p:nvPr/>
        </p:nvSpPr>
        <p:spPr>
          <a:xfrm xmlns:a="http://schemas.openxmlformats.org/drawingml/2006/main">
            <a:off x="3581400" y="171450"/>
            <a:ext cx="1600200" cy="381000"/>
          </a:xfrm>
          <a:prstGeom xmlns:a="http://schemas.openxmlformats.org/drawingml/2006/main" prst="roundRect">
            <a:avLst>
              <a:gd name="adj" fmla="val 17500"/>
            </a:avLst>
          </a:prstGeom>
          <a:solidFill xmlns:a="http://schemas.openxmlformats.org/drawingml/2006/main">
            <a:srgbClr val="BE1738"/>
          </a:solidFill>
          <a:ln xmlns:a="http://schemas.openxmlformats.org/drawingml/2006/main" w="11430">
            <a:solidFill>
              <a:srgbClr val="BE1738"/>
            </a:solidFill>
          </a:ln>
        </p:spPr>
      </p:sp>
      <p:sp>
        <p:nvSpPr>
          <p:cNvPr id="6" name="navigation-Capability Context">
            <a:extLst xmlns:a="http://schemas.openxmlformats.org/drawingml/2006/main">
              <a:ext uri="{FF2B5EF4-FFF2-40B4-BE49-F238E27FC236}">
                <a16:creationId xmlns:a16="http://schemas.microsoft.com/office/drawing/2014/main" id="{8F47EA52-CD0A-4C3A-BF42-42CA1B74672F}"/>
              </a:ext>
            </a:extLst>
          </p:cNvPr>
          <p:cNvSpPr>
            <a:spLocks xmlns:a="http://schemas.openxmlformats.org/drawingml/2006/main" noGrp="1"/>
          </p:cNvSpPr>
          <p:nvPr/>
        </p:nvSpPr>
        <p:spPr>
          <a:xfrm xmlns:a="http://schemas.openxmlformats.org/drawingml/2006/main">
            <a:off x="36099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FFFFFF"/>
                </a:solidFill>
                <a:latin typeface="Carlito"/>
                <a:ea typeface="Carlito"/>
                <a:cs typeface="Carlito"/>
              </a:defRPr>
            </a:pPr>
            <a:r>
              <a:rPr sz="1313" b="0">
                <a:solidFill>
                  <a:srgbClr val="FFFFFF"/>
                </a:solidFill>
                <a:latin typeface="Carlito"/>
                <a:ea typeface="Carlito"/>
                <a:cs typeface="Carlito"/>
              </a:rPr>
              <a:t>Capability Context</a:t>
            </a:r>
          </a:p>
        </p:txBody>
      </p:sp>
      <p:sp>
        <p:nvSpPr>
          <p:cNvPr id="7" name="nav-Artefact Content">
            <a:extLst xmlns:a="http://schemas.openxmlformats.org/drawingml/2006/main">
              <a:ext uri="{FF2B5EF4-FFF2-40B4-BE49-F238E27FC236}">
                <a16:creationId xmlns:a16="http://schemas.microsoft.com/office/drawing/2014/main" id="{82881557-0CF2-4C83-9A59-20849A1C0899}"/>
              </a:ext>
            </a:extLst>
          </p:cNvPr>
          <p:cNvSpPr>
            <a:spLocks xmlns:a="http://schemas.openxmlformats.org/drawingml/2006/main" noGrp="1"/>
          </p:cNvSpPr>
          <p:nvPr/>
        </p:nvSpPr>
        <p:spPr>
          <a:xfrm xmlns:a="http://schemas.openxmlformats.org/drawingml/2006/main">
            <a:off x="52578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8" name="navigation-Artefact Content">
            <a:extLst xmlns:a="http://schemas.openxmlformats.org/drawingml/2006/main">
              <a:ext uri="{FF2B5EF4-FFF2-40B4-BE49-F238E27FC236}">
                <a16:creationId xmlns:a16="http://schemas.microsoft.com/office/drawing/2014/main" id="{7727918F-6CE1-422A-A463-21622F304A14}"/>
              </a:ext>
            </a:extLst>
          </p:cNvPr>
          <p:cNvSpPr>
            <a:spLocks xmlns:a="http://schemas.openxmlformats.org/drawingml/2006/main" noGrp="1"/>
          </p:cNvSpPr>
          <p:nvPr/>
        </p:nvSpPr>
        <p:spPr>
          <a:xfrm xmlns:a="http://schemas.openxmlformats.org/drawingml/2006/main">
            <a:off x="52863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Artefact Content</a:t>
            </a:r>
          </a:p>
        </p:txBody>
      </p:sp>
      <p:sp>
        <p:nvSpPr>
          <p:cNvPr id="9" name="nav-Roadmap">
            <a:extLst xmlns:a="http://schemas.openxmlformats.org/drawingml/2006/main">
              <a:ext uri="{FF2B5EF4-FFF2-40B4-BE49-F238E27FC236}">
                <a16:creationId xmlns:a16="http://schemas.microsoft.com/office/drawing/2014/main" id="{3927F397-4C09-4D91-85F4-FD8D9AA3D7F0}"/>
              </a:ext>
            </a:extLst>
          </p:cNvPr>
          <p:cNvSpPr>
            <a:spLocks xmlns:a="http://schemas.openxmlformats.org/drawingml/2006/main" noGrp="1"/>
          </p:cNvSpPr>
          <p:nvPr/>
        </p:nvSpPr>
        <p:spPr>
          <a:xfrm xmlns:a="http://schemas.openxmlformats.org/drawingml/2006/main">
            <a:off x="69342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0" name="navigation-Roadmap">
            <a:extLst xmlns:a="http://schemas.openxmlformats.org/drawingml/2006/main">
              <a:ext uri="{FF2B5EF4-FFF2-40B4-BE49-F238E27FC236}">
                <a16:creationId xmlns:a16="http://schemas.microsoft.com/office/drawing/2014/main" id="{FA30B0DF-105D-4A97-A34A-2141303E0BB1}"/>
              </a:ext>
            </a:extLst>
          </p:cNvPr>
          <p:cNvSpPr>
            <a:spLocks xmlns:a="http://schemas.openxmlformats.org/drawingml/2006/main" noGrp="1"/>
          </p:cNvSpPr>
          <p:nvPr/>
        </p:nvSpPr>
        <p:spPr>
          <a:xfrm xmlns:a="http://schemas.openxmlformats.org/drawingml/2006/main">
            <a:off x="69627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Roadmap</a:t>
            </a:r>
          </a:p>
        </p:txBody>
      </p:sp>
      <p:sp>
        <p:nvSpPr>
          <p:cNvPr id="11" name="nav-Decision">
            <a:extLst xmlns:a="http://schemas.openxmlformats.org/drawingml/2006/main">
              <a:ext uri="{FF2B5EF4-FFF2-40B4-BE49-F238E27FC236}">
                <a16:creationId xmlns:a16="http://schemas.microsoft.com/office/drawing/2014/main" id="{06A17E93-03A9-4AE9-9C58-583963C99EDD}"/>
              </a:ext>
            </a:extLst>
          </p:cNvPr>
          <p:cNvSpPr>
            <a:spLocks xmlns:a="http://schemas.openxmlformats.org/drawingml/2006/main" noGrp="1"/>
          </p:cNvSpPr>
          <p:nvPr/>
        </p:nvSpPr>
        <p:spPr>
          <a:xfrm xmlns:a="http://schemas.openxmlformats.org/drawingml/2006/main">
            <a:off x="86106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2" name="navigation-Decision">
            <a:extLst xmlns:a="http://schemas.openxmlformats.org/drawingml/2006/main">
              <a:ext uri="{FF2B5EF4-FFF2-40B4-BE49-F238E27FC236}">
                <a16:creationId xmlns:a16="http://schemas.microsoft.com/office/drawing/2014/main" id="{F7FBF25D-8759-4C8C-A592-DC6750650766}"/>
              </a:ext>
            </a:extLst>
          </p:cNvPr>
          <p:cNvSpPr>
            <a:spLocks xmlns:a="http://schemas.openxmlformats.org/drawingml/2006/main" noGrp="1"/>
          </p:cNvSpPr>
          <p:nvPr/>
        </p:nvSpPr>
        <p:spPr>
          <a:xfrm xmlns:a="http://schemas.openxmlformats.org/drawingml/2006/main">
            <a:off x="86391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Decision</a:t>
            </a:r>
          </a:p>
        </p:txBody>
      </p:sp>
      <p:sp>
        <p:nvSpPr>
          <p:cNvPr id="13" name="nav-Appendix">
            <a:extLst xmlns:a="http://schemas.openxmlformats.org/drawingml/2006/main">
              <a:ext uri="{FF2B5EF4-FFF2-40B4-BE49-F238E27FC236}">
                <a16:creationId xmlns:a16="http://schemas.microsoft.com/office/drawing/2014/main" id="{7F5317C8-EFAE-4D15-BBB1-605206975A81}"/>
              </a:ext>
            </a:extLst>
          </p:cNvPr>
          <p:cNvSpPr>
            <a:spLocks xmlns:a="http://schemas.openxmlformats.org/drawingml/2006/main" noGrp="1"/>
          </p:cNvSpPr>
          <p:nvPr/>
        </p:nvSpPr>
        <p:spPr>
          <a:xfrm xmlns:a="http://schemas.openxmlformats.org/drawingml/2006/main">
            <a:off x="102870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4" name="navigation-Appendix">
            <a:extLst xmlns:a="http://schemas.openxmlformats.org/drawingml/2006/main">
              <a:ext uri="{FF2B5EF4-FFF2-40B4-BE49-F238E27FC236}">
                <a16:creationId xmlns:a16="http://schemas.microsoft.com/office/drawing/2014/main" id="{836479FA-AC48-4D70-A81B-2F92DBC10D40}"/>
              </a:ext>
            </a:extLst>
          </p:cNvPr>
          <p:cNvSpPr>
            <a:spLocks xmlns:a="http://schemas.openxmlformats.org/drawingml/2006/main" noGrp="1"/>
          </p:cNvSpPr>
          <p:nvPr/>
        </p:nvSpPr>
        <p:spPr>
          <a:xfrm xmlns:a="http://schemas.openxmlformats.org/drawingml/2006/main">
            <a:off x="103155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Appendix</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3b3e9730bf004d0e"/>
          <a:stretch xmlns:a="http://schemas.openxmlformats.org/drawingml/2006/main"/>
        </p:blipFill>
        <p:spPr>
          <a:xfrm xmlns:a="http://schemas.openxmlformats.org/drawingml/2006/main">
            <a:off x="304800" y="737436"/>
            <a:ext cx="1057275" cy="1001629"/>
          </a:xfrm>
          <a:prstGeom xmlns:a="http://schemas.openxmlformats.org/drawingml/2006/main" prst="rect">
            <a:avLst/>
          </a:prstGeom>
        </p:spPr>
      </p:pic>
      <p:sp>
        <p:nvSpPr>
          <p:cNvPr id="16" name="title-outline">
            <a:extLst xmlns:a="http://schemas.openxmlformats.org/drawingml/2006/main">
              <a:ext uri="{FF2B5EF4-FFF2-40B4-BE49-F238E27FC236}">
                <a16:creationId xmlns:a16="http://schemas.microsoft.com/office/drawing/2014/main" id="{BB5DD78C-8646-4B8F-BC5B-AEDED67182BB}"/>
              </a:ext>
            </a:extLst>
          </p:cNvPr>
          <p:cNvSpPr>
            <a:spLocks xmlns:a="http://schemas.openxmlformats.org/drawingml/2006/main" noGrp="1"/>
          </p:cNvSpPr>
          <p:nvPr/>
        </p:nvSpPr>
        <p:spPr>
          <a:xfrm xmlns:a="http://schemas.openxmlformats.org/drawingml/2006/main">
            <a:off x="1657350" y="866775"/>
            <a:ext cx="10496550" cy="4857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8575">
            <a:solidFill>
              <a:srgbClr val="BE1738"/>
            </a:solidFill>
          </a:ln>
        </p:spPr>
      </p:sp>
      <p:sp>
        <p:nvSpPr>
          <p:cNvPr id="17" name="slide-title">
            <a:extLst xmlns:a="http://schemas.openxmlformats.org/drawingml/2006/main">
              <a:ext uri="{FF2B5EF4-FFF2-40B4-BE49-F238E27FC236}">
                <a16:creationId xmlns:a16="http://schemas.microsoft.com/office/drawing/2014/main" id="{52E2970F-7920-46D3-97BC-79D34D00E9D2}"/>
              </a:ext>
            </a:extLst>
          </p:cNvPr>
          <p:cNvSpPr>
            <a:spLocks xmlns:a="http://schemas.openxmlformats.org/drawingml/2006/main" noGrp="1"/>
          </p:cNvSpPr>
          <p:nvPr/>
        </p:nvSpPr>
        <p:spPr>
          <a:xfrm xmlns:a="http://schemas.openxmlformats.org/drawingml/2006/main">
            <a:off x="1933575" y="933450"/>
            <a:ext cx="994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1632"/>
                </a:solidFill>
                <a:latin typeface="Carlito"/>
                <a:ea typeface="Carlito"/>
                <a:cs typeface="Carlito"/>
              </a:defRPr>
            </a:pPr>
            <a:r>
              <a:rPr sz="2100" b="1">
                <a:solidFill>
                  <a:srgbClr val="A91632"/>
                </a:solidFill>
                <a:latin typeface="Carlito"/>
                <a:ea typeface="Carlito"/>
                <a:cs typeface="Carlito"/>
              </a:rPr>
              <a:t>API CAPABILITIES AND BUSINESS OUTCOMES</a:t>
            </a:r>
          </a:p>
        </p:txBody>
      </p:sp>
      <p:sp>
        <p:nvSpPr>
          <p:cNvPr id="18" name="classification">
            <a:extLst xmlns:a="http://schemas.openxmlformats.org/drawingml/2006/main">
              <a:ext uri="{FF2B5EF4-FFF2-40B4-BE49-F238E27FC236}">
                <a16:creationId xmlns:a16="http://schemas.microsoft.com/office/drawing/2014/main" id="{D7435E9B-266F-4022-9BEB-F42B156BB746}"/>
              </a:ext>
            </a:extLst>
          </p:cNvPr>
          <p:cNvSpPr>
            <a:spLocks xmlns:a="http://schemas.openxmlformats.org/drawingml/2006/main" noGrp="1"/>
          </p:cNvSpPr>
          <p:nvPr/>
        </p:nvSpPr>
        <p:spPr>
          <a:xfrm xmlns:a="http://schemas.openxmlformats.org/drawingml/2006/main">
            <a:off x="12001500" y="619125"/>
            <a:ext cx="2905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30343A"/>
                </a:solidFill>
                <a:latin typeface="Carlito"/>
                <a:ea typeface="Carlito"/>
                <a:cs typeface="Carlito"/>
              </a:defRPr>
            </a:pPr>
            <a:r>
              <a:rPr sz="1275" b="0">
                <a:solidFill>
                  <a:srgbClr val="30343A"/>
                </a:solidFill>
                <a:latin typeface="Carlito"/>
                <a:ea typeface="Carlito"/>
                <a:cs typeface="Carlito"/>
              </a:rPr>
              <a:t>RESTRICTED TO Euroclear</a:t>
            </a:r>
          </a:p>
        </p:txBody>
      </p:sp>
      <p:sp>
        <p:nvSpPr>
          <p:cNvPr id="19" name="footer-outline">
            <a:extLst xmlns:a="http://schemas.openxmlformats.org/drawingml/2006/main">
              <a:ext uri="{FF2B5EF4-FFF2-40B4-BE49-F238E27FC236}">
                <a16:creationId xmlns:a16="http://schemas.microsoft.com/office/drawing/2014/main" id="{413FFCF4-6CCE-4EC3-807C-BB0715C2433B}"/>
              </a:ext>
            </a:extLst>
          </p:cNvPr>
          <p:cNvSpPr>
            <a:spLocks xmlns:a="http://schemas.openxmlformats.org/drawingml/2006/main" noGrp="1"/>
          </p:cNvSpPr>
          <p:nvPr/>
        </p:nvSpPr>
        <p:spPr>
          <a:xfrm xmlns:a="http://schemas.openxmlformats.org/drawingml/2006/main">
            <a:off x="171450" y="8143875"/>
            <a:ext cx="3009900" cy="2952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4288">
            <a:solidFill>
              <a:srgbClr val="70757C"/>
            </a:solidFill>
          </a:ln>
        </p:spPr>
      </p:sp>
      <p:sp>
        <p:nvSpPr>
          <p:cNvPr id="20" name="footer">
            <a:extLst xmlns:a="http://schemas.openxmlformats.org/drawingml/2006/main">
              <a:ext uri="{FF2B5EF4-FFF2-40B4-BE49-F238E27FC236}">
                <a16:creationId xmlns:a16="http://schemas.microsoft.com/office/drawing/2014/main" id="{6BC4FA23-6049-47C7-A7D7-2F4ED2D21391}"/>
              </a:ext>
            </a:extLst>
          </p:cNvPr>
          <p:cNvSpPr>
            <a:spLocks xmlns:a="http://schemas.openxmlformats.org/drawingml/2006/main" noGrp="1"/>
          </p:cNvSpPr>
          <p:nvPr/>
        </p:nvSpPr>
        <p:spPr>
          <a:xfrm xmlns:a="http://schemas.openxmlformats.org/drawingml/2006/main">
            <a:off x="295275" y="8172450"/>
            <a:ext cx="2771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0343A"/>
                </a:solidFill>
                <a:latin typeface="Carlito"/>
                <a:ea typeface="Carlito"/>
                <a:cs typeface="Carlito"/>
              </a:defRPr>
            </a:pPr>
            <a:r>
              <a:rPr sz="1500" b="0">
                <a:solidFill>
                  <a:srgbClr val="30343A"/>
                </a:solidFill>
                <a:latin typeface="Carlito"/>
                <a:ea typeface="Carlito"/>
                <a:cs typeface="Carlito"/>
              </a:rPr>
              <a:t>API Target Architecture</a:t>
            </a:r>
          </a:p>
        </p:txBody>
      </p:sp>
      <p:sp>
        <p:nvSpPr>
          <p:cNvPr id="21" name="page-number">
            <a:extLst xmlns:a="http://schemas.openxmlformats.org/drawingml/2006/main">
              <a:ext uri="{FF2B5EF4-FFF2-40B4-BE49-F238E27FC236}">
                <a16:creationId xmlns:a16="http://schemas.microsoft.com/office/drawing/2014/main" id="{637BE17C-7677-4EB9-8317-DE517208D67E}"/>
              </a:ext>
            </a:extLst>
          </p:cNvPr>
          <p:cNvSpPr>
            <a:spLocks xmlns:a="http://schemas.openxmlformats.org/drawingml/2006/main" noGrp="1"/>
          </p:cNvSpPr>
          <p:nvPr/>
        </p:nvSpPr>
        <p:spPr>
          <a:xfrm xmlns:a="http://schemas.openxmlformats.org/drawingml/2006/main">
            <a:off x="14458950" y="8162925"/>
            <a:ext cx="4476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70757C"/>
                </a:solidFill>
                <a:latin typeface="Carlito"/>
                <a:ea typeface="Carlito"/>
                <a:cs typeface="Carlito"/>
              </a:defRPr>
            </a:pPr>
            <a:r>
              <a:rPr sz="1350" b="0">
                <a:solidFill>
                  <a:srgbClr val="70757C"/>
                </a:solidFill>
                <a:latin typeface="Carlito"/>
                <a:ea typeface="Carlito"/>
                <a:cs typeface="Carlito"/>
              </a:rPr>
              <a:t>5</a:t>
            </a:r>
          </a:p>
        </p:txBody>
      </p:sp>
      <p:sp>
        <p:nvSpPr>
          <p:cNvPr id="22" name="text">
            <a:extLst xmlns:a="http://schemas.openxmlformats.org/drawingml/2006/main">
              <a:ext uri="{FF2B5EF4-FFF2-40B4-BE49-F238E27FC236}">
                <a16:creationId xmlns:a16="http://schemas.microsoft.com/office/drawing/2014/main" id="{45FBAB95-E94A-4909-9CD7-0FA45F87D080}"/>
              </a:ext>
            </a:extLst>
          </p:cNvPr>
          <p:cNvSpPr>
            <a:spLocks xmlns:a="http://schemas.openxmlformats.org/drawingml/2006/main" noGrp="1"/>
          </p:cNvSpPr>
          <p:nvPr/>
        </p:nvSpPr>
        <p:spPr>
          <a:xfrm xmlns:a="http://schemas.openxmlformats.org/drawingml/2006/main">
            <a:off x="361950" y="1895475"/>
            <a:ext cx="144684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1632"/>
                </a:solidFill>
                <a:latin typeface="Carlito"/>
                <a:ea typeface="Carlito"/>
                <a:cs typeface="Carlito"/>
              </a:defRPr>
            </a:pPr>
            <a:r>
              <a:rPr sz="2100" b="1">
                <a:solidFill>
                  <a:srgbClr val="A91632"/>
                </a:solidFill>
                <a:latin typeface="Carlito"/>
                <a:ea typeface="Carlito"/>
                <a:cs typeface="Carlito"/>
              </a:rPr>
              <a:t>Business participation is tied to decisions throughout the API lifecycle</a:t>
            </a:r>
          </a:p>
        </p:txBody>
      </p:sp>
      <p:graphicFrame>
        <p:nvGraphicFramePr>
          <p:cNvPr id="47" name=""/>
          <p:cNvGraphicFramePr/>
          <p:nvPr/>
        </p:nvGraphicFramePr>
        <p:xfrm>
          <a:off xmlns:a="http://schemas.openxmlformats.org/drawingml/2006/main" x="342900" y="2381250"/>
          <a:ext xmlns:a="http://schemas.openxmlformats.org/drawingml/2006/main" cx="14554200" cy="5295900"/>
        </p:xfrm>
        <a:graphic xmlns:a="http://schemas.openxmlformats.org/drawingml/2006/main">
          <a:graphicData uri="http://schemas.openxmlformats.org/drawingml/2006/table">
            <a:tbl>
              <a:tblPr firstRow="0" bandRow="0"/>
              <a:tblGrid>
                <a:gridCol w="4438650"/>
                <a:gridCol w="4981575"/>
                <a:gridCol w="5133975"/>
              </a:tblGrid>
              <a:tr h="438150">
                <a:tc>
                  <a:txBody>
                    <a:bodyPr>
                      <a:noAutofit/>
                    </a:bodyPr>
                    <a:lstStyle/>
                    <a:p>
                      <a:r>
                        <a:rPr sz="1800" b="1">
                          <a:solidFill>
                            <a:srgbClr val="FFFFFF"/>
                          </a:solidFill>
                          <a:latin typeface="Carlito"/>
                          <a:ea typeface="Carlito"/>
                          <a:cs typeface="Carlito"/>
                        </a:rPr>
                        <a:t>Capability group</a:t>
                      </a:r>
                    </a:p>
                  </a:txBody>
                  <a:tcPr marL="133350" marR="133350" marT="95250" marB="76200" anchor="t">
                    <a:solidFill>
                      <a:srgbClr val="BE1738"/>
                    </a:solidFill>
                  </a:tcPr>
                </a:tc>
                <a:tc>
                  <a:txBody>
                    <a:bodyPr>
                      <a:noAutofit/>
                    </a:bodyPr>
                    <a:lstStyle/>
                    <a:p>
                      <a:r>
                        <a:rPr sz="1800" b="1">
                          <a:solidFill>
                            <a:srgbClr val="FFFFFF"/>
                          </a:solidFill>
                          <a:latin typeface="Carlito"/>
                          <a:ea typeface="Carlito"/>
                          <a:cs typeface="Carlito"/>
                        </a:rPr>
                        <a:t>Primary outcome and measure</a:t>
                      </a:r>
                    </a:p>
                  </a:txBody>
                  <a:tcPr marL="133350" marR="133350" marT="95250" marB="76200" anchor="t">
                    <a:solidFill>
                      <a:srgbClr val="BE1738"/>
                    </a:solidFill>
                  </a:tcPr>
                </a:tc>
                <a:tc>
                  <a:txBody>
                    <a:bodyPr>
                      <a:noAutofit/>
                    </a:bodyPr>
                    <a:lstStyle/>
                    <a:p>
                      <a:r>
                        <a:rPr sz="1800" b="1">
                          <a:solidFill>
                            <a:srgbClr val="FFFFFF"/>
                          </a:solidFill>
                          <a:latin typeface="Carlito"/>
                          <a:ea typeface="Carlito"/>
                          <a:cs typeface="Carlito"/>
                        </a:rPr>
                        <a:t>Business / domain participation</a:t>
                      </a:r>
                    </a:p>
                  </a:txBody>
                  <a:tcPr marL="133350" marR="133350" marT="95250" marB="76200" anchor="t">
                    <a:solidFill>
                      <a:srgbClr val="BE1738"/>
                    </a:solidFill>
                  </a:tcPr>
                </a:tc>
              </a:tr>
              <a:tr h="809625">
                <a:tc>
                  <a:txBody>
                    <a:bodyPr>
                      <a:noAutofit/>
                    </a:bodyPr>
                    <a:lstStyle/>
                    <a:p>
                      <a:r>
                        <a:rPr sz="1688" b="1">
                          <a:solidFill>
                            <a:srgbClr val="30343A"/>
                          </a:solidFill>
                          <a:latin typeface="Carlito"/>
                          <a:ea typeface="Carlito"/>
                          <a:cs typeface="Carlito"/>
                        </a:rPr>
                        <a:t>Consumer design and reuse assessment</a:t>
                      </a:r>
                    </a:p>
                  </a:txBody>
                  <a:tcPr marL="133350" marR="133350" marT="95250" marB="76200" anchor="t">
                    <a:solidFill>
                      <a:srgbClr val="FFFFFF"/>
                    </a:solidFill>
                  </a:tcPr>
                </a:tc>
                <a:tc>
                  <a:txBody>
                    <a:bodyPr>
                      <a:noAutofit/>
                    </a:bodyPr>
                    <a:lstStyle/>
                    <a:p>
                      <a:r>
                        <a:rPr sz="1688" b="0">
                          <a:solidFill>
                            <a:srgbClr val="30343A"/>
                          </a:solidFill>
                          <a:latin typeface="Carlito"/>
                          <a:ea typeface="Carlito"/>
                          <a:cs typeface="Carlito"/>
                        </a:rPr>
                        <a:t>Faster delivery, less rework</a:t>
                      </a:r>
                    </a:p>
                    <a:p>
                      <a:r>
                        <a:rPr sz="1688" b="0">
                          <a:solidFill>
                            <a:srgbClr val="30343A"/>
                          </a:solidFill>
                          <a:latin typeface="Carlito"/>
                          <a:ea typeface="Carlito"/>
                          <a:cs typeface="Carlito"/>
                        </a:rPr>
                        <a:t>Measure: intent-to-usable-capability lead time</a:t>
                      </a:r>
                    </a:p>
                  </a:txBody>
                  <a:tcPr marL="133350" marR="133350" marT="95250" marB="76200" anchor="t">
                    <a:solidFill>
                      <a:srgbClr val="FFFFFF"/>
                    </a:solidFill>
                  </a:tcPr>
                </a:tc>
                <a:tc>
                  <a:txBody>
                    <a:bodyPr>
                      <a:noAutofit/>
                    </a:bodyPr>
                    <a:lstStyle/>
                    <a:p>
                      <a:r>
                        <a:rPr sz="1688" b="0">
                          <a:solidFill>
                            <a:srgbClr val="30343A"/>
                          </a:solidFill>
                          <a:latin typeface="Carlito"/>
                          <a:ea typeface="Carlito"/>
                          <a:cs typeface="Carlito"/>
                        </a:rPr>
                        <a:t>Validate consumer needs, acceptance criteria and reuse opportunities.</a:t>
                      </a:r>
                    </a:p>
                  </a:txBody>
                  <a:tcPr marL="133350" marR="133350" marT="95250" marB="76200" anchor="t">
                    <a:solidFill>
                      <a:srgbClr val="FFFFFF"/>
                    </a:solidFill>
                  </a:tcPr>
                </a:tc>
              </a:tr>
              <a:tr h="809625">
                <a:tc>
                  <a:txBody>
                    <a:bodyPr>
                      <a:noAutofit/>
                    </a:bodyPr>
                    <a:lstStyle/>
                    <a:p>
                      <a:r>
                        <a:rPr sz="1688" b="1">
                          <a:solidFill>
                            <a:srgbClr val="30343A"/>
                          </a:solidFill>
                          <a:latin typeface="Carlito"/>
                          <a:ea typeface="Carlito"/>
                          <a:cs typeface="Carlito"/>
                        </a:rPr>
                        <a:t>Catalogue, documentation, portal and sandbox</a:t>
                      </a:r>
                    </a:p>
                  </a:txBody>
                  <a:tcPr marL="133350" marR="133350" marT="95250" marB="76200" anchor="t">
                    <a:solidFill>
                      <a:srgbClr val="F4F5F6"/>
                    </a:solidFill>
                  </a:tcPr>
                </a:tc>
                <a:tc>
                  <a:txBody>
                    <a:bodyPr>
                      <a:noAutofit/>
                    </a:bodyPr>
                    <a:lstStyle/>
                    <a:p>
                      <a:r>
                        <a:rPr sz="1688" b="0">
                          <a:solidFill>
                            <a:srgbClr val="30343A"/>
                          </a:solidFill>
                          <a:latin typeface="Carlito"/>
                          <a:ea typeface="Carlito"/>
                          <a:cs typeface="Carlito"/>
                        </a:rPr>
                        <a:t>Faster onboarding and greater adoption</a:t>
                      </a:r>
                    </a:p>
                    <a:p>
                      <a:r>
                        <a:rPr sz="1688" b="0">
                          <a:solidFill>
                            <a:srgbClr val="30343A"/>
                          </a:solidFill>
                          <a:latin typeface="Carlito"/>
                          <a:ea typeface="Carlito"/>
                          <a:cs typeface="Carlito"/>
                        </a:rPr>
                        <a:t>Measure: time to first successful use</a:t>
                      </a:r>
                    </a:p>
                  </a:txBody>
                  <a:tcPr marL="133350" marR="133350" marT="95250" marB="76200" anchor="t">
                    <a:solidFill>
                      <a:srgbClr val="F4F5F6"/>
                    </a:solidFill>
                  </a:tcPr>
                </a:tc>
                <a:tc>
                  <a:txBody>
                    <a:bodyPr>
                      <a:noAutofit/>
                    </a:bodyPr>
                    <a:lstStyle/>
                    <a:p>
                      <a:r>
                        <a:rPr sz="1688" b="0">
                          <a:solidFill>
                            <a:srgbClr val="30343A"/>
                          </a:solidFill>
                          <a:latin typeface="Carlito"/>
                          <a:ea typeface="Carlito"/>
                          <a:cs typeface="Carlito"/>
                        </a:rPr>
                        <a:t>Define offerings and audiences. Assess documentation and consumer experience.</a:t>
                      </a:r>
                    </a:p>
                  </a:txBody>
                  <a:tcPr marL="133350" marR="133350" marT="95250" marB="76200" anchor="t">
                    <a:solidFill>
                      <a:srgbClr val="F4F5F6"/>
                    </a:solidFill>
                  </a:tcPr>
                </a:tc>
              </a:tr>
              <a:tr h="809625">
                <a:tc>
                  <a:txBody>
                    <a:bodyPr>
                      <a:noAutofit/>
                    </a:bodyPr>
                    <a:lstStyle/>
                    <a:p>
                      <a:r>
                        <a:rPr sz="1688" b="1">
                          <a:solidFill>
                            <a:srgbClr val="30343A"/>
                          </a:solidFill>
                          <a:latin typeface="Carlito"/>
                          <a:ea typeface="Carlito"/>
                          <a:cs typeface="Carlito"/>
                        </a:rPr>
                        <a:t>Lifecycle management and delivery automation</a:t>
                      </a:r>
                    </a:p>
                  </a:txBody>
                  <a:tcPr marL="133350" marR="133350" marT="95250" marB="76200" anchor="t">
                    <a:solidFill>
                      <a:srgbClr val="FFFFFF"/>
                    </a:solidFill>
                  </a:tcPr>
                </a:tc>
                <a:tc>
                  <a:txBody>
                    <a:bodyPr>
                      <a:noAutofit/>
                    </a:bodyPr>
                    <a:lstStyle/>
                    <a:p>
                      <a:r>
                        <a:rPr sz="1688" b="0">
                          <a:solidFill>
                            <a:srgbClr val="30343A"/>
                          </a:solidFill>
                          <a:latin typeface="Carlito"/>
                          <a:ea typeface="Carlito"/>
                          <a:cs typeface="Carlito"/>
                        </a:rPr>
                        <a:t>Less delivery and operating effort</a:t>
                      </a:r>
                    </a:p>
                    <a:p>
                      <a:r>
                        <a:rPr sz="1688" b="0">
                          <a:solidFill>
                            <a:srgbClr val="30343A"/>
                          </a:solidFill>
                          <a:latin typeface="Carlito"/>
                          <a:ea typeface="Carlito"/>
                          <a:cs typeface="Carlito"/>
                        </a:rPr>
                        <a:t>Measure: release lead time and cost</a:t>
                      </a:r>
                    </a:p>
                  </a:txBody>
                  <a:tcPr marL="133350" marR="133350" marT="95250" marB="76200" anchor="t">
                    <a:solidFill>
                      <a:srgbClr val="FFFFFF"/>
                    </a:solidFill>
                  </a:tcPr>
                </a:tc>
                <a:tc>
                  <a:txBody>
                    <a:bodyPr>
                      <a:noAutofit/>
                    </a:bodyPr>
                    <a:lstStyle/>
                    <a:p>
                      <a:r>
                        <a:rPr sz="1688" b="0">
                          <a:solidFill>
                            <a:srgbClr val="30343A"/>
                          </a:solidFill>
                          <a:latin typeface="Carlito"/>
                          <a:ea typeface="Carlito"/>
                          <a:cs typeface="Carlito"/>
                        </a:rPr>
                        <a:t>Prioritise changes and agree compatibility and retirement impacts.</a:t>
                      </a:r>
                    </a:p>
                  </a:txBody>
                  <a:tcPr marL="133350" marR="133350" marT="95250" marB="76200" anchor="t">
                    <a:solidFill>
                      <a:srgbClr val="FFFFFF"/>
                    </a:solidFill>
                  </a:tcPr>
                </a:tc>
              </a:tr>
              <a:tr h="809625">
                <a:tc>
                  <a:txBody>
                    <a:bodyPr>
                      <a:noAutofit/>
                    </a:bodyPr>
                    <a:lstStyle/>
                    <a:p>
                      <a:r>
                        <a:rPr sz="1688" b="1">
                          <a:solidFill>
                            <a:srgbClr val="30343A"/>
                          </a:solidFill>
                          <a:latin typeface="Carlito"/>
                          <a:ea typeface="Carlito"/>
                          <a:cs typeface="Carlito"/>
                        </a:rPr>
                        <a:t>Identity, policy, security and auditability</a:t>
                      </a:r>
                    </a:p>
                  </a:txBody>
                  <a:tcPr marL="133350" marR="133350" marT="95250" marB="76200" anchor="t">
                    <a:solidFill>
                      <a:srgbClr val="F4F5F6"/>
                    </a:solidFill>
                  </a:tcPr>
                </a:tc>
                <a:tc>
                  <a:txBody>
                    <a:bodyPr>
                      <a:noAutofit/>
                    </a:bodyPr>
                    <a:lstStyle/>
                    <a:p>
                      <a:r>
                        <a:rPr sz="1688" b="0">
                          <a:solidFill>
                            <a:srgbClr val="30343A"/>
                          </a:solidFill>
                          <a:latin typeface="Carlito"/>
                          <a:ea typeface="Carlito"/>
                          <a:cs typeface="Carlito"/>
                        </a:rPr>
                        <a:t>Consistent controls and accountability</a:t>
                      </a:r>
                    </a:p>
                    <a:p>
                      <a:r>
                        <a:rPr sz="1688" b="0">
                          <a:solidFill>
                            <a:srgbClr val="30343A"/>
                          </a:solidFill>
                          <a:latin typeface="Carlito"/>
                          <a:ea typeface="Carlito"/>
                          <a:cs typeface="Carlito"/>
                        </a:rPr>
                        <a:t>Measure: control coverage and exceptions</a:t>
                      </a:r>
                    </a:p>
                  </a:txBody>
                  <a:tcPr marL="133350" marR="133350" marT="95250" marB="76200" anchor="t">
                    <a:solidFill>
                      <a:srgbClr val="F4F5F6"/>
                    </a:solidFill>
                  </a:tcPr>
                </a:tc>
                <a:tc>
                  <a:txBody>
                    <a:bodyPr>
                      <a:noAutofit/>
                    </a:bodyPr>
                    <a:lstStyle/>
                    <a:p>
                      <a:r>
                        <a:rPr sz="1688" b="0">
                          <a:solidFill>
                            <a:srgbClr val="30343A"/>
                          </a:solidFill>
                          <a:latin typeface="Carlito"/>
                          <a:ea typeface="Carlito"/>
                          <a:cs typeface="Carlito"/>
                        </a:rPr>
                        <a:t>Define entitlements and data-use requirements with security and data owners.</a:t>
                      </a:r>
                    </a:p>
                  </a:txBody>
                  <a:tcPr marL="133350" marR="133350" marT="95250" marB="76200" anchor="t">
                    <a:solidFill>
                      <a:srgbClr val="F4F5F6"/>
                    </a:solidFill>
                  </a:tcPr>
                </a:tc>
              </a:tr>
              <a:tr h="809625">
                <a:tc>
                  <a:txBody>
                    <a:bodyPr>
                      <a:noAutofit/>
                    </a:bodyPr>
                    <a:lstStyle/>
                    <a:p>
                      <a:r>
                        <a:rPr sz="1688" b="1">
                          <a:solidFill>
                            <a:srgbClr val="30343A"/>
                          </a:solidFill>
                          <a:latin typeface="Carlito"/>
                          <a:ea typeface="Carlito"/>
                          <a:cs typeface="Carlito"/>
                        </a:rPr>
                        <a:t>Runtime management and observability</a:t>
                      </a:r>
                    </a:p>
                  </a:txBody>
                  <a:tcPr marL="133350" marR="133350" marT="95250" marB="76200" anchor="t">
                    <a:solidFill>
                      <a:srgbClr val="FFFFFF"/>
                    </a:solidFill>
                  </a:tcPr>
                </a:tc>
                <a:tc>
                  <a:txBody>
                    <a:bodyPr>
                      <a:noAutofit/>
                    </a:bodyPr>
                    <a:lstStyle/>
                    <a:p>
                      <a:r>
                        <a:rPr sz="1688" b="0">
                          <a:solidFill>
                            <a:srgbClr val="30343A"/>
                          </a:solidFill>
                          <a:latin typeface="Carlito"/>
                          <a:ea typeface="Carlito"/>
                          <a:cs typeface="Carlito"/>
                        </a:rPr>
                        <a:t>Reliable service operation</a:t>
                      </a:r>
                    </a:p>
                    <a:p>
                      <a:r>
                        <a:rPr sz="1688" b="0">
                          <a:solidFill>
                            <a:srgbClr val="30343A"/>
                          </a:solidFill>
                          <a:latin typeface="Carlito"/>
                          <a:ea typeface="Carlito"/>
                          <a:cs typeface="Carlito"/>
                        </a:rPr>
                        <a:t>Measure: service-level attainment and incidents</a:t>
                      </a:r>
                    </a:p>
                  </a:txBody>
                  <a:tcPr marL="133350" marR="133350" marT="95250" marB="76200" anchor="t">
                    <a:solidFill>
                      <a:srgbClr val="FFFFFF"/>
                    </a:solidFill>
                  </a:tcPr>
                </a:tc>
                <a:tc>
                  <a:txBody>
                    <a:bodyPr>
                      <a:noAutofit/>
                    </a:bodyPr>
                    <a:lstStyle/>
                    <a:p>
                      <a:r>
                        <a:rPr sz="1688" b="0">
                          <a:solidFill>
                            <a:srgbClr val="30343A"/>
                          </a:solidFill>
                          <a:latin typeface="Carlito"/>
                          <a:ea typeface="Carlito"/>
                          <a:cs typeface="Carlito"/>
                        </a:rPr>
                        <a:t>Agree service expectations, business criticality and impact measures.</a:t>
                      </a:r>
                    </a:p>
                  </a:txBody>
                  <a:tcPr marL="133350" marR="133350" marT="95250" marB="76200" anchor="t">
                    <a:solidFill>
                      <a:srgbClr val="FFFFFF"/>
                    </a:solidFill>
                  </a:tcPr>
                </a:tc>
              </a:tr>
              <a:tr h="809625">
                <a:tc>
                  <a:txBody>
                    <a:bodyPr>
                      <a:noAutofit/>
                    </a:bodyPr>
                    <a:lstStyle/>
                    <a:p>
                      <a:r>
                        <a:rPr sz="1688" b="1">
                          <a:solidFill>
                            <a:srgbClr val="30343A"/>
                          </a:solidFill>
                          <a:latin typeface="Carlito"/>
                          <a:ea typeface="Carlito"/>
                          <a:cs typeface="Carlito"/>
                        </a:rPr>
                        <a:t>Commercial offering management, where applicable</a:t>
                      </a:r>
                    </a:p>
                  </a:txBody>
                  <a:tcPr marL="133350" marR="133350" marT="95250" marB="76200" anchor="t">
                    <a:solidFill>
                      <a:srgbClr val="F4F5F6"/>
                    </a:solidFill>
                  </a:tcPr>
                </a:tc>
                <a:tc>
                  <a:txBody>
                    <a:bodyPr>
                      <a:noAutofit/>
                    </a:bodyPr>
                    <a:lstStyle/>
                    <a:p>
                      <a:r>
                        <a:rPr sz="1688" b="0">
                          <a:solidFill>
                            <a:srgbClr val="30343A"/>
                          </a:solidFill>
                          <a:latin typeface="Carlito"/>
                          <a:ea typeface="Carlito"/>
                          <a:cs typeface="Carlito"/>
                        </a:rPr>
                        <a:t>External offering value</a:t>
                      </a:r>
                    </a:p>
                    <a:p>
                      <a:r>
                        <a:rPr sz="1688" b="0">
                          <a:solidFill>
                            <a:srgbClr val="30343A"/>
                          </a:solidFill>
                          <a:latin typeface="Carlito"/>
                          <a:ea typeface="Carlito"/>
                          <a:cs typeface="Carlito"/>
                        </a:rPr>
                        <a:t>Measure: usage and offering value</a:t>
                      </a:r>
                    </a:p>
                  </a:txBody>
                  <a:tcPr marL="133350" marR="133350" marT="95250" marB="76200" anchor="t">
                    <a:solidFill>
                      <a:srgbClr val="F4F5F6"/>
                    </a:solidFill>
                  </a:tcPr>
                </a:tc>
                <a:tc>
                  <a:txBody>
                    <a:bodyPr>
                      <a:noAutofit/>
                    </a:bodyPr>
                    <a:lstStyle/>
                    <a:p>
                      <a:r>
                        <a:rPr sz="1688" b="0">
                          <a:solidFill>
                            <a:srgbClr val="30343A"/>
                          </a:solidFill>
                          <a:latin typeface="Carlito"/>
                          <a:ea typeface="Carlito"/>
                          <a:cs typeface="Carlito"/>
                        </a:rPr>
                        <a:t>Own eligibility, packaging, commercial terms and value assessment.</a:t>
                      </a:r>
                    </a:p>
                  </a:txBody>
                  <a:tcPr marL="133350" marR="133350" marT="95250" marB="76200" anchor="t">
                    <a:solidFill>
                      <a:srgbClr val="F4F5F6"/>
                    </a:solidFill>
                  </a:tcPr>
                </a:tc>
              </a:tr>
            </a:tbl>
          </a:graphicData>
        </a:graphic>
      </p:graphicFrame>
      <p:sp>
        <p:nvSpPr>
          <p:cNvPr id="24" name="text">
            <a:extLst xmlns:a="http://schemas.openxmlformats.org/drawingml/2006/main">
              <a:ext uri="{FF2B5EF4-FFF2-40B4-BE49-F238E27FC236}">
                <a16:creationId xmlns:a16="http://schemas.microsoft.com/office/drawing/2014/main" id="{1CA9872C-EA08-4064-B98C-062FB5F19CCD}"/>
              </a:ext>
            </a:extLst>
          </p:cNvPr>
          <p:cNvSpPr>
            <a:spLocks xmlns:a="http://schemas.openxmlformats.org/drawingml/2006/main" noGrp="1"/>
          </p:cNvSpPr>
          <p:nvPr/>
        </p:nvSpPr>
        <p:spPr>
          <a:xfrm xmlns:a="http://schemas.openxmlformats.org/drawingml/2006/main">
            <a:off x="361950" y="7877175"/>
            <a:ext cx="1445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70757C"/>
                </a:solidFill>
                <a:latin typeface="Carlito"/>
                <a:ea typeface="Carlito"/>
                <a:cs typeface="Carlito"/>
              </a:defRPr>
            </a:pPr>
            <a:r>
              <a:rPr sz="1350" b="0">
                <a:solidFill>
                  <a:srgbClr val="70757C"/>
                </a:solidFill>
                <a:latin typeface="Carlito"/>
                <a:ea typeface="Carlito"/>
                <a:cs typeface="Carlito"/>
              </a:rPr>
              <a:t>Measures are proposed. Establish baselines and targets with accountable owners. Capability benefits overlap.</a:t>
            </a:r>
          </a:p>
        </p:txBody>
      </p:sp>
    </p:spTree>
    <p:extLst>
      <p:ext uri="{BB962C8B-B14F-4D97-AF65-F5344CB8AC3E}">
        <p14:creationId xmlns:p14="http://schemas.microsoft.com/office/powerpoint/2010/main" val="4428455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nav-Background">
            <a:extLst xmlns:a="http://schemas.openxmlformats.org/drawingml/2006/main">
              <a:ext uri="{FF2B5EF4-FFF2-40B4-BE49-F238E27FC236}">
                <a16:creationId xmlns:a16="http://schemas.microsoft.com/office/drawing/2014/main" id="{81FB9FA2-7398-4637-8DDE-AFC82C5477AB}"/>
              </a:ext>
            </a:extLst>
          </p:cNvPr>
          <p:cNvSpPr>
            <a:spLocks xmlns:a="http://schemas.openxmlformats.org/drawingml/2006/main" noGrp="1"/>
          </p:cNvSpPr>
          <p:nvPr/>
        </p:nvSpPr>
        <p:spPr>
          <a:xfrm xmlns:a="http://schemas.openxmlformats.org/drawingml/2006/main">
            <a:off x="2286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2" name="navigation-Background">
            <a:extLst xmlns:a="http://schemas.openxmlformats.org/drawingml/2006/main">
              <a:ext uri="{FF2B5EF4-FFF2-40B4-BE49-F238E27FC236}">
                <a16:creationId xmlns:a16="http://schemas.microsoft.com/office/drawing/2014/main" id="{ACD096F2-B4B3-47DC-8CE1-2824C1AB0742}"/>
              </a:ext>
            </a:extLst>
          </p:cNvPr>
          <p:cNvSpPr>
            <a:spLocks xmlns:a="http://schemas.openxmlformats.org/drawingml/2006/main" noGrp="1"/>
          </p:cNvSpPr>
          <p:nvPr/>
        </p:nvSpPr>
        <p:spPr>
          <a:xfrm xmlns:a="http://schemas.openxmlformats.org/drawingml/2006/main">
            <a:off x="2571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Background</a:t>
            </a:r>
          </a:p>
        </p:txBody>
      </p:sp>
      <p:sp>
        <p:nvSpPr>
          <p:cNvPr id="3" name="nav-Problem Statements">
            <a:extLst xmlns:a="http://schemas.openxmlformats.org/drawingml/2006/main">
              <a:ext uri="{FF2B5EF4-FFF2-40B4-BE49-F238E27FC236}">
                <a16:creationId xmlns:a16="http://schemas.microsoft.com/office/drawing/2014/main" id="{F56E6558-BD62-419D-B9EB-61E4274B0566}"/>
              </a:ext>
            </a:extLst>
          </p:cNvPr>
          <p:cNvSpPr>
            <a:spLocks xmlns:a="http://schemas.openxmlformats.org/drawingml/2006/main" noGrp="1"/>
          </p:cNvSpPr>
          <p:nvPr/>
        </p:nvSpPr>
        <p:spPr>
          <a:xfrm xmlns:a="http://schemas.openxmlformats.org/drawingml/2006/main">
            <a:off x="19050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4" name="navigation-Problem Statements">
            <a:extLst xmlns:a="http://schemas.openxmlformats.org/drawingml/2006/main">
              <a:ext uri="{FF2B5EF4-FFF2-40B4-BE49-F238E27FC236}">
                <a16:creationId xmlns:a16="http://schemas.microsoft.com/office/drawing/2014/main" id="{FC1536AD-4A0B-4406-AD2F-2B8BCDCD6BA9}"/>
              </a:ext>
            </a:extLst>
          </p:cNvPr>
          <p:cNvSpPr>
            <a:spLocks xmlns:a="http://schemas.openxmlformats.org/drawingml/2006/main" noGrp="1"/>
          </p:cNvSpPr>
          <p:nvPr/>
        </p:nvSpPr>
        <p:spPr>
          <a:xfrm xmlns:a="http://schemas.openxmlformats.org/drawingml/2006/main">
            <a:off x="19335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Problem Statements</a:t>
            </a:r>
          </a:p>
        </p:txBody>
      </p:sp>
      <p:sp>
        <p:nvSpPr>
          <p:cNvPr id="5" name="nav-Capability Context">
            <a:extLst xmlns:a="http://schemas.openxmlformats.org/drawingml/2006/main">
              <a:ext uri="{FF2B5EF4-FFF2-40B4-BE49-F238E27FC236}">
                <a16:creationId xmlns:a16="http://schemas.microsoft.com/office/drawing/2014/main" id="{59BF0922-242C-4D80-9290-37FC59378E06}"/>
              </a:ext>
            </a:extLst>
          </p:cNvPr>
          <p:cNvSpPr>
            <a:spLocks xmlns:a="http://schemas.openxmlformats.org/drawingml/2006/main" noGrp="1"/>
          </p:cNvSpPr>
          <p:nvPr/>
        </p:nvSpPr>
        <p:spPr>
          <a:xfrm xmlns:a="http://schemas.openxmlformats.org/drawingml/2006/main">
            <a:off x="35814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6" name="navigation-Capability Context">
            <a:extLst xmlns:a="http://schemas.openxmlformats.org/drawingml/2006/main">
              <a:ext uri="{FF2B5EF4-FFF2-40B4-BE49-F238E27FC236}">
                <a16:creationId xmlns:a16="http://schemas.microsoft.com/office/drawing/2014/main" id="{338CF3E2-0FFB-494E-84AC-CEECAC4C5ADB}"/>
              </a:ext>
            </a:extLst>
          </p:cNvPr>
          <p:cNvSpPr>
            <a:spLocks xmlns:a="http://schemas.openxmlformats.org/drawingml/2006/main" noGrp="1"/>
          </p:cNvSpPr>
          <p:nvPr/>
        </p:nvSpPr>
        <p:spPr>
          <a:xfrm xmlns:a="http://schemas.openxmlformats.org/drawingml/2006/main">
            <a:off x="36099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Capability Context</a:t>
            </a:r>
          </a:p>
        </p:txBody>
      </p:sp>
      <p:sp>
        <p:nvSpPr>
          <p:cNvPr id="7" name="nav-Artefact Content">
            <a:extLst xmlns:a="http://schemas.openxmlformats.org/drawingml/2006/main">
              <a:ext uri="{FF2B5EF4-FFF2-40B4-BE49-F238E27FC236}">
                <a16:creationId xmlns:a16="http://schemas.microsoft.com/office/drawing/2014/main" id="{83BEC8EA-B42D-4003-BCCF-D70FEF24BF09}"/>
              </a:ext>
            </a:extLst>
          </p:cNvPr>
          <p:cNvSpPr>
            <a:spLocks xmlns:a="http://schemas.openxmlformats.org/drawingml/2006/main" noGrp="1"/>
          </p:cNvSpPr>
          <p:nvPr/>
        </p:nvSpPr>
        <p:spPr>
          <a:xfrm xmlns:a="http://schemas.openxmlformats.org/drawingml/2006/main">
            <a:off x="5257800" y="171450"/>
            <a:ext cx="1600200" cy="381000"/>
          </a:xfrm>
          <a:prstGeom xmlns:a="http://schemas.openxmlformats.org/drawingml/2006/main" prst="roundRect">
            <a:avLst>
              <a:gd name="adj" fmla="val 17500"/>
            </a:avLst>
          </a:prstGeom>
          <a:solidFill xmlns:a="http://schemas.openxmlformats.org/drawingml/2006/main">
            <a:srgbClr val="BE1738"/>
          </a:solidFill>
          <a:ln xmlns:a="http://schemas.openxmlformats.org/drawingml/2006/main" w="11430">
            <a:solidFill>
              <a:srgbClr val="BE1738"/>
            </a:solidFill>
          </a:ln>
        </p:spPr>
      </p:sp>
      <p:sp>
        <p:nvSpPr>
          <p:cNvPr id="8" name="navigation-Artefact Content">
            <a:extLst xmlns:a="http://schemas.openxmlformats.org/drawingml/2006/main">
              <a:ext uri="{FF2B5EF4-FFF2-40B4-BE49-F238E27FC236}">
                <a16:creationId xmlns:a16="http://schemas.microsoft.com/office/drawing/2014/main" id="{FF97260C-A4B2-49EB-B558-F9210C05C558}"/>
              </a:ext>
            </a:extLst>
          </p:cNvPr>
          <p:cNvSpPr>
            <a:spLocks xmlns:a="http://schemas.openxmlformats.org/drawingml/2006/main" noGrp="1"/>
          </p:cNvSpPr>
          <p:nvPr/>
        </p:nvSpPr>
        <p:spPr>
          <a:xfrm xmlns:a="http://schemas.openxmlformats.org/drawingml/2006/main">
            <a:off x="52863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FFFFFF"/>
                </a:solidFill>
                <a:latin typeface="Carlito"/>
                <a:ea typeface="Carlito"/>
                <a:cs typeface="Carlito"/>
              </a:defRPr>
            </a:pPr>
            <a:r>
              <a:rPr sz="1313" b="0">
                <a:solidFill>
                  <a:srgbClr val="FFFFFF"/>
                </a:solidFill>
                <a:latin typeface="Carlito"/>
                <a:ea typeface="Carlito"/>
                <a:cs typeface="Carlito"/>
              </a:rPr>
              <a:t>Artefact Content</a:t>
            </a:r>
          </a:p>
        </p:txBody>
      </p:sp>
      <p:sp>
        <p:nvSpPr>
          <p:cNvPr id="9" name="nav-Roadmap">
            <a:extLst xmlns:a="http://schemas.openxmlformats.org/drawingml/2006/main">
              <a:ext uri="{FF2B5EF4-FFF2-40B4-BE49-F238E27FC236}">
                <a16:creationId xmlns:a16="http://schemas.microsoft.com/office/drawing/2014/main" id="{1B59BC71-9568-4C1E-94B7-4BB5AF9AB1C9}"/>
              </a:ext>
            </a:extLst>
          </p:cNvPr>
          <p:cNvSpPr>
            <a:spLocks xmlns:a="http://schemas.openxmlformats.org/drawingml/2006/main" noGrp="1"/>
          </p:cNvSpPr>
          <p:nvPr/>
        </p:nvSpPr>
        <p:spPr>
          <a:xfrm xmlns:a="http://schemas.openxmlformats.org/drawingml/2006/main">
            <a:off x="69342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0" name="navigation-Roadmap">
            <a:extLst xmlns:a="http://schemas.openxmlformats.org/drawingml/2006/main">
              <a:ext uri="{FF2B5EF4-FFF2-40B4-BE49-F238E27FC236}">
                <a16:creationId xmlns:a16="http://schemas.microsoft.com/office/drawing/2014/main" id="{48337C2B-673A-4A5D-8400-C7EF4E3B9F59}"/>
              </a:ext>
            </a:extLst>
          </p:cNvPr>
          <p:cNvSpPr>
            <a:spLocks xmlns:a="http://schemas.openxmlformats.org/drawingml/2006/main" noGrp="1"/>
          </p:cNvSpPr>
          <p:nvPr/>
        </p:nvSpPr>
        <p:spPr>
          <a:xfrm xmlns:a="http://schemas.openxmlformats.org/drawingml/2006/main">
            <a:off x="69627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Roadmap</a:t>
            </a:r>
          </a:p>
        </p:txBody>
      </p:sp>
      <p:sp>
        <p:nvSpPr>
          <p:cNvPr id="11" name="nav-Decision">
            <a:extLst xmlns:a="http://schemas.openxmlformats.org/drawingml/2006/main">
              <a:ext uri="{FF2B5EF4-FFF2-40B4-BE49-F238E27FC236}">
                <a16:creationId xmlns:a16="http://schemas.microsoft.com/office/drawing/2014/main" id="{5A64F22B-8889-4CC5-9792-0D0155D2E95B}"/>
              </a:ext>
            </a:extLst>
          </p:cNvPr>
          <p:cNvSpPr>
            <a:spLocks xmlns:a="http://schemas.openxmlformats.org/drawingml/2006/main" noGrp="1"/>
          </p:cNvSpPr>
          <p:nvPr/>
        </p:nvSpPr>
        <p:spPr>
          <a:xfrm xmlns:a="http://schemas.openxmlformats.org/drawingml/2006/main">
            <a:off x="86106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2" name="navigation-Decision">
            <a:extLst xmlns:a="http://schemas.openxmlformats.org/drawingml/2006/main">
              <a:ext uri="{FF2B5EF4-FFF2-40B4-BE49-F238E27FC236}">
                <a16:creationId xmlns:a16="http://schemas.microsoft.com/office/drawing/2014/main" id="{1072452B-F089-4E16-A25A-3761243CB057}"/>
              </a:ext>
            </a:extLst>
          </p:cNvPr>
          <p:cNvSpPr>
            <a:spLocks xmlns:a="http://schemas.openxmlformats.org/drawingml/2006/main" noGrp="1"/>
          </p:cNvSpPr>
          <p:nvPr/>
        </p:nvSpPr>
        <p:spPr>
          <a:xfrm xmlns:a="http://schemas.openxmlformats.org/drawingml/2006/main">
            <a:off x="86391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Decision</a:t>
            </a:r>
          </a:p>
        </p:txBody>
      </p:sp>
      <p:sp>
        <p:nvSpPr>
          <p:cNvPr id="13" name="nav-Appendix">
            <a:extLst xmlns:a="http://schemas.openxmlformats.org/drawingml/2006/main">
              <a:ext uri="{FF2B5EF4-FFF2-40B4-BE49-F238E27FC236}">
                <a16:creationId xmlns:a16="http://schemas.microsoft.com/office/drawing/2014/main" id="{5FE5BECC-EA16-4213-9C54-F6D726D212A4}"/>
              </a:ext>
            </a:extLst>
          </p:cNvPr>
          <p:cNvSpPr>
            <a:spLocks xmlns:a="http://schemas.openxmlformats.org/drawingml/2006/main" noGrp="1"/>
          </p:cNvSpPr>
          <p:nvPr/>
        </p:nvSpPr>
        <p:spPr>
          <a:xfrm xmlns:a="http://schemas.openxmlformats.org/drawingml/2006/main">
            <a:off x="102870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4" name="navigation-Appendix">
            <a:extLst xmlns:a="http://schemas.openxmlformats.org/drawingml/2006/main">
              <a:ext uri="{FF2B5EF4-FFF2-40B4-BE49-F238E27FC236}">
                <a16:creationId xmlns:a16="http://schemas.microsoft.com/office/drawing/2014/main" id="{6800B0D4-1D18-48C9-9386-6C1375125F7F}"/>
              </a:ext>
            </a:extLst>
          </p:cNvPr>
          <p:cNvSpPr>
            <a:spLocks xmlns:a="http://schemas.openxmlformats.org/drawingml/2006/main" noGrp="1"/>
          </p:cNvSpPr>
          <p:nvPr/>
        </p:nvSpPr>
        <p:spPr>
          <a:xfrm xmlns:a="http://schemas.openxmlformats.org/drawingml/2006/main">
            <a:off x="103155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Appendix</a:t>
            </a:r>
          </a:p>
        </p:txBody>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eac48cde4ecf4061"/>
          <a:stretch xmlns:a="http://schemas.openxmlformats.org/drawingml/2006/main"/>
        </p:blipFill>
        <p:spPr>
          <a:xfrm xmlns:a="http://schemas.openxmlformats.org/drawingml/2006/main">
            <a:off x="304800" y="737436"/>
            <a:ext cx="1057275" cy="1001629"/>
          </a:xfrm>
          <a:prstGeom xmlns:a="http://schemas.openxmlformats.org/drawingml/2006/main" prst="rect">
            <a:avLst/>
          </a:prstGeom>
        </p:spPr>
      </p:pic>
      <p:sp>
        <p:nvSpPr>
          <p:cNvPr id="16" name="title-outline">
            <a:extLst xmlns:a="http://schemas.openxmlformats.org/drawingml/2006/main">
              <a:ext uri="{FF2B5EF4-FFF2-40B4-BE49-F238E27FC236}">
                <a16:creationId xmlns:a16="http://schemas.microsoft.com/office/drawing/2014/main" id="{C357A3AD-4EA2-49E7-B284-249744F30D32}"/>
              </a:ext>
            </a:extLst>
          </p:cNvPr>
          <p:cNvSpPr>
            <a:spLocks xmlns:a="http://schemas.openxmlformats.org/drawingml/2006/main" noGrp="1"/>
          </p:cNvSpPr>
          <p:nvPr/>
        </p:nvSpPr>
        <p:spPr>
          <a:xfrm xmlns:a="http://schemas.openxmlformats.org/drawingml/2006/main">
            <a:off x="1657350" y="866775"/>
            <a:ext cx="10496550" cy="4857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8575">
            <a:solidFill>
              <a:srgbClr val="BE1738"/>
            </a:solidFill>
          </a:ln>
        </p:spPr>
      </p:sp>
      <p:sp>
        <p:nvSpPr>
          <p:cNvPr id="17" name="slide-title">
            <a:extLst xmlns:a="http://schemas.openxmlformats.org/drawingml/2006/main">
              <a:ext uri="{FF2B5EF4-FFF2-40B4-BE49-F238E27FC236}">
                <a16:creationId xmlns:a16="http://schemas.microsoft.com/office/drawing/2014/main" id="{D7988C2E-449E-41B2-8884-A80B9381F738}"/>
              </a:ext>
            </a:extLst>
          </p:cNvPr>
          <p:cNvSpPr>
            <a:spLocks xmlns:a="http://schemas.openxmlformats.org/drawingml/2006/main" noGrp="1"/>
          </p:cNvSpPr>
          <p:nvPr/>
        </p:nvSpPr>
        <p:spPr>
          <a:xfrm xmlns:a="http://schemas.openxmlformats.org/drawingml/2006/main">
            <a:off x="1933575" y="933450"/>
            <a:ext cx="994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1632"/>
                </a:solidFill>
                <a:latin typeface="Carlito"/>
                <a:ea typeface="Carlito"/>
                <a:cs typeface="Carlito"/>
              </a:defRPr>
            </a:pPr>
            <a:r>
              <a:rPr sz="2100" b="1">
                <a:solidFill>
                  <a:srgbClr val="A91632"/>
                </a:solidFill>
                <a:latin typeface="Carlito"/>
                <a:ea typeface="Carlito"/>
                <a:cs typeface="Carlito"/>
              </a:rPr>
              <a:t>ARCHITECTURE PRINCIPLES</a:t>
            </a:r>
          </a:p>
        </p:txBody>
      </p:sp>
      <p:sp>
        <p:nvSpPr>
          <p:cNvPr id="18" name="classification">
            <a:extLst xmlns:a="http://schemas.openxmlformats.org/drawingml/2006/main">
              <a:ext uri="{FF2B5EF4-FFF2-40B4-BE49-F238E27FC236}">
                <a16:creationId xmlns:a16="http://schemas.microsoft.com/office/drawing/2014/main" id="{F15AE264-6D64-4513-835C-C054724438B0}"/>
              </a:ext>
            </a:extLst>
          </p:cNvPr>
          <p:cNvSpPr>
            <a:spLocks xmlns:a="http://schemas.openxmlformats.org/drawingml/2006/main" noGrp="1"/>
          </p:cNvSpPr>
          <p:nvPr/>
        </p:nvSpPr>
        <p:spPr>
          <a:xfrm xmlns:a="http://schemas.openxmlformats.org/drawingml/2006/main">
            <a:off x="12001500" y="619125"/>
            <a:ext cx="2905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30343A"/>
                </a:solidFill>
                <a:latin typeface="Carlito"/>
                <a:ea typeface="Carlito"/>
                <a:cs typeface="Carlito"/>
              </a:defRPr>
            </a:pPr>
            <a:r>
              <a:rPr sz="1275" b="0">
                <a:solidFill>
                  <a:srgbClr val="30343A"/>
                </a:solidFill>
                <a:latin typeface="Carlito"/>
                <a:ea typeface="Carlito"/>
                <a:cs typeface="Carlito"/>
              </a:rPr>
              <a:t>RESTRICTED TO Euroclear</a:t>
            </a:r>
          </a:p>
        </p:txBody>
      </p:sp>
      <p:sp>
        <p:nvSpPr>
          <p:cNvPr id="19" name="footer-outline">
            <a:extLst xmlns:a="http://schemas.openxmlformats.org/drawingml/2006/main">
              <a:ext uri="{FF2B5EF4-FFF2-40B4-BE49-F238E27FC236}">
                <a16:creationId xmlns:a16="http://schemas.microsoft.com/office/drawing/2014/main" id="{8DA870DD-1002-4232-BC0C-CD1A09089685}"/>
              </a:ext>
            </a:extLst>
          </p:cNvPr>
          <p:cNvSpPr>
            <a:spLocks xmlns:a="http://schemas.openxmlformats.org/drawingml/2006/main" noGrp="1"/>
          </p:cNvSpPr>
          <p:nvPr/>
        </p:nvSpPr>
        <p:spPr>
          <a:xfrm xmlns:a="http://schemas.openxmlformats.org/drawingml/2006/main">
            <a:off x="171450" y="8143875"/>
            <a:ext cx="3009900" cy="2952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4288">
            <a:solidFill>
              <a:srgbClr val="70757C"/>
            </a:solidFill>
          </a:ln>
        </p:spPr>
      </p:sp>
      <p:sp>
        <p:nvSpPr>
          <p:cNvPr id="20" name="footer">
            <a:extLst xmlns:a="http://schemas.openxmlformats.org/drawingml/2006/main">
              <a:ext uri="{FF2B5EF4-FFF2-40B4-BE49-F238E27FC236}">
                <a16:creationId xmlns:a16="http://schemas.microsoft.com/office/drawing/2014/main" id="{9C141806-64B6-4908-BD87-119DD302534A}"/>
              </a:ext>
            </a:extLst>
          </p:cNvPr>
          <p:cNvSpPr>
            <a:spLocks xmlns:a="http://schemas.openxmlformats.org/drawingml/2006/main" noGrp="1"/>
          </p:cNvSpPr>
          <p:nvPr/>
        </p:nvSpPr>
        <p:spPr>
          <a:xfrm xmlns:a="http://schemas.openxmlformats.org/drawingml/2006/main">
            <a:off x="295275" y="8172450"/>
            <a:ext cx="2771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0343A"/>
                </a:solidFill>
                <a:latin typeface="Carlito"/>
                <a:ea typeface="Carlito"/>
                <a:cs typeface="Carlito"/>
              </a:defRPr>
            </a:pPr>
            <a:r>
              <a:rPr sz="1500" b="0">
                <a:solidFill>
                  <a:srgbClr val="30343A"/>
                </a:solidFill>
                <a:latin typeface="Carlito"/>
                <a:ea typeface="Carlito"/>
                <a:cs typeface="Carlito"/>
              </a:rPr>
              <a:t>API Target Architecture</a:t>
            </a:r>
          </a:p>
        </p:txBody>
      </p:sp>
      <p:sp>
        <p:nvSpPr>
          <p:cNvPr id="21" name="page-number">
            <a:extLst xmlns:a="http://schemas.openxmlformats.org/drawingml/2006/main">
              <a:ext uri="{FF2B5EF4-FFF2-40B4-BE49-F238E27FC236}">
                <a16:creationId xmlns:a16="http://schemas.microsoft.com/office/drawing/2014/main" id="{422E8E90-D3B7-423E-9FE7-BB41BB0AA769}"/>
              </a:ext>
            </a:extLst>
          </p:cNvPr>
          <p:cNvSpPr>
            <a:spLocks xmlns:a="http://schemas.openxmlformats.org/drawingml/2006/main" noGrp="1"/>
          </p:cNvSpPr>
          <p:nvPr/>
        </p:nvSpPr>
        <p:spPr>
          <a:xfrm xmlns:a="http://schemas.openxmlformats.org/drawingml/2006/main">
            <a:off x="14458950" y="8162925"/>
            <a:ext cx="4476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70757C"/>
                </a:solidFill>
                <a:latin typeface="Carlito"/>
                <a:ea typeface="Carlito"/>
                <a:cs typeface="Carlito"/>
              </a:defRPr>
            </a:pPr>
            <a:r>
              <a:rPr sz="1350" b="0">
                <a:solidFill>
                  <a:srgbClr val="70757C"/>
                </a:solidFill>
                <a:latin typeface="Carlito"/>
                <a:ea typeface="Carlito"/>
                <a:cs typeface="Carlito"/>
              </a:rPr>
              <a:t>6</a:t>
            </a:r>
          </a:p>
        </p:txBody>
      </p:sp>
      <p:sp>
        <p:nvSpPr>
          <p:cNvPr id="22" name="text">
            <a:extLst xmlns:a="http://schemas.openxmlformats.org/drawingml/2006/main">
              <a:ext uri="{FF2B5EF4-FFF2-40B4-BE49-F238E27FC236}">
                <a16:creationId xmlns:a16="http://schemas.microsoft.com/office/drawing/2014/main" id="{209B8553-D42B-4E2C-BCC4-6722B1FEA3C6}"/>
              </a:ext>
            </a:extLst>
          </p:cNvPr>
          <p:cNvSpPr>
            <a:spLocks xmlns:a="http://schemas.openxmlformats.org/drawingml/2006/main" noGrp="1"/>
          </p:cNvSpPr>
          <p:nvPr/>
        </p:nvSpPr>
        <p:spPr>
          <a:xfrm xmlns:a="http://schemas.openxmlformats.org/drawingml/2006/main">
            <a:off x="361950" y="1876425"/>
            <a:ext cx="1428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1632"/>
                </a:solidFill>
                <a:latin typeface="Carlito"/>
                <a:ea typeface="Carlito"/>
                <a:cs typeface="Carlito"/>
              </a:defRPr>
            </a:pPr>
            <a:r>
              <a:rPr sz="2100" b="1">
                <a:solidFill>
                  <a:srgbClr val="A91632"/>
                </a:solidFill>
                <a:latin typeface="Carlito"/>
                <a:ea typeface="Carlito"/>
                <a:cs typeface="Carlito"/>
              </a:rPr>
              <a:t>All four principles apply to external and internal APIs</a:t>
            </a:r>
          </a:p>
        </p:txBody>
      </p:sp>
      <p:sp>
        <p:nvSpPr>
          <p:cNvPr id="23" name="box">
            <a:extLst xmlns:a="http://schemas.openxmlformats.org/drawingml/2006/main">
              <a:ext uri="{FF2B5EF4-FFF2-40B4-BE49-F238E27FC236}">
                <a16:creationId xmlns:a16="http://schemas.microsoft.com/office/drawing/2014/main" id="{1EBA1995-AC5B-468C-A82F-C492DC80BFD8}"/>
              </a:ext>
            </a:extLst>
          </p:cNvPr>
          <p:cNvSpPr>
            <a:spLocks xmlns:a="http://schemas.openxmlformats.org/drawingml/2006/main" noGrp="1"/>
          </p:cNvSpPr>
          <p:nvPr/>
        </p:nvSpPr>
        <p:spPr>
          <a:xfrm xmlns:a="http://schemas.openxmlformats.org/drawingml/2006/main">
            <a:off x="342900" y="2419350"/>
            <a:ext cx="2971800" cy="1181100"/>
          </a:xfrm>
          <a:prstGeom xmlns:a="http://schemas.openxmlformats.org/drawingml/2006/main" prst="roundRect">
            <a:avLst>
              <a:gd name="adj" fmla="val 12903"/>
            </a:avLst>
          </a:prstGeom>
          <a:solidFill xmlns:a="http://schemas.openxmlformats.org/drawingml/2006/main">
            <a:srgbClr val="BE1738"/>
          </a:solidFill>
          <a:ln xmlns:a="http://schemas.openxmlformats.org/drawingml/2006/main" w="11430">
            <a:solidFill>
              <a:srgbClr val="BE1738"/>
            </a:solidFill>
          </a:ln>
        </p:spPr>
      </p:sp>
      <p:sp>
        <p:nvSpPr>
          <p:cNvPr id="24" name="text">
            <a:extLst xmlns:a="http://schemas.openxmlformats.org/drawingml/2006/main">
              <a:ext uri="{FF2B5EF4-FFF2-40B4-BE49-F238E27FC236}">
                <a16:creationId xmlns:a16="http://schemas.microsoft.com/office/drawing/2014/main" id="{E525F24E-9EC5-4C2A-8069-7597FAAE48D7}"/>
              </a:ext>
            </a:extLst>
          </p:cNvPr>
          <p:cNvSpPr>
            <a:spLocks xmlns:a="http://schemas.openxmlformats.org/drawingml/2006/main" noGrp="1"/>
          </p:cNvSpPr>
          <p:nvPr/>
        </p:nvSpPr>
        <p:spPr>
          <a:xfrm xmlns:a="http://schemas.openxmlformats.org/drawingml/2006/main">
            <a:off x="523875" y="2552700"/>
            <a:ext cx="26098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FFFFFF"/>
                </a:solidFill>
                <a:latin typeface="Carlito"/>
                <a:ea typeface="Carlito"/>
                <a:cs typeface="Carlito"/>
              </a:defRPr>
            </a:pPr>
            <a:r>
              <a:rPr sz="2100" b="1">
                <a:solidFill>
                  <a:srgbClr val="FFFFFF"/>
                </a:solidFill>
                <a:latin typeface="Carlito"/>
                <a:ea typeface="Carlito"/>
                <a:cs typeface="Carlito"/>
              </a:rPr>
              <a:t>1. Design for consumer outcomes</a:t>
            </a:r>
          </a:p>
        </p:txBody>
      </p:sp>
      <p:sp>
        <p:nvSpPr>
          <p:cNvPr id="25" name="box">
            <a:extLst xmlns:a="http://schemas.openxmlformats.org/drawingml/2006/main">
              <a:ext uri="{FF2B5EF4-FFF2-40B4-BE49-F238E27FC236}">
                <a16:creationId xmlns:a16="http://schemas.microsoft.com/office/drawing/2014/main" id="{F2BEB288-0711-4496-A6E8-3142D97BA2D6}"/>
              </a:ext>
            </a:extLst>
          </p:cNvPr>
          <p:cNvSpPr>
            <a:spLocks xmlns:a="http://schemas.openxmlformats.org/drawingml/2006/main" noGrp="1"/>
          </p:cNvSpPr>
          <p:nvPr/>
        </p:nvSpPr>
        <p:spPr>
          <a:xfrm xmlns:a="http://schemas.openxmlformats.org/drawingml/2006/main">
            <a:off x="3486150" y="2419350"/>
            <a:ext cx="11410950" cy="1181100"/>
          </a:xfrm>
          <a:prstGeom xmlns:a="http://schemas.openxmlformats.org/drawingml/2006/main" prst="roundRect">
            <a:avLst>
              <a:gd name="adj" fmla="val 7258"/>
            </a:avLst>
          </a:prstGeom>
          <a:solidFill xmlns:a="http://schemas.openxmlformats.org/drawingml/2006/main">
            <a:srgbClr val="FFFFFF"/>
          </a:solidFill>
          <a:ln xmlns:a="http://schemas.openxmlformats.org/drawingml/2006/main" w="11430">
            <a:solidFill>
              <a:srgbClr val="70757C"/>
            </a:solidFill>
          </a:ln>
        </p:spPr>
      </p:sp>
      <p:sp>
        <p:nvSpPr>
          <p:cNvPr id="26" name="text">
            <a:extLst xmlns:a="http://schemas.openxmlformats.org/drawingml/2006/main">
              <a:ext uri="{FF2B5EF4-FFF2-40B4-BE49-F238E27FC236}">
                <a16:creationId xmlns:a16="http://schemas.microsoft.com/office/drawing/2014/main" id="{AC3C9343-15E6-4EF0-B93A-CD75CDED7684}"/>
              </a:ext>
            </a:extLst>
          </p:cNvPr>
          <p:cNvSpPr>
            <a:spLocks xmlns:a="http://schemas.openxmlformats.org/drawingml/2006/main" noGrp="1"/>
          </p:cNvSpPr>
          <p:nvPr/>
        </p:nvSpPr>
        <p:spPr>
          <a:xfrm xmlns:a="http://schemas.openxmlformats.org/drawingml/2006/main">
            <a:off x="3676650" y="2543175"/>
            <a:ext cx="11029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30343A"/>
                </a:solidFill>
                <a:latin typeface="Carlito"/>
                <a:ea typeface="Carlito"/>
                <a:cs typeface="Carlito"/>
              </a:defRPr>
            </a:pPr>
            <a:r>
              <a:rPr sz="1875" b="0">
                <a:solidFill>
                  <a:srgbClr val="30343A"/>
                </a:solidFill>
                <a:latin typeface="Carlito"/>
                <a:ea typeface="Carlito"/>
                <a:cs typeface="Carlito"/>
              </a:rPr>
              <a:t>Validate needs and acceptance criteria before implementation. Assess relevant internal and external consumers and existing reusable capabilities.</a:t>
            </a:r>
          </a:p>
        </p:txBody>
      </p:sp>
      <p:sp>
        <p:nvSpPr>
          <p:cNvPr id="27" name="text">
            <a:extLst xmlns:a="http://schemas.openxmlformats.org/drawingml/2006/main">
              <a:ext uri="{FF2B5EF4-FFF2-40B4-BE49-F238E27FC236}">
                <a16:creationId xmlns:a16="http://schemas.microsoft.com/office/drawing/2014/main" id="{4BE17723-1F61-4009-8160-70D36EC58E1F}"/>
              </a:ext>
            </a:extLst>
          </p:cNvPr>
          <p:cNvSpPr>
            <a:spLocks xmlns:a="http://schemas.openxmlformats.org/drawingml/2006/main" noGrp="1"/>
          </p:cNvSpPr>
          <p:nvPr/>
        </p:nvSpPr>
        <p:spPr>
          <a:xfrm xmlns:a="http://schemas.openxmlformats.org/drawingml/2006/main">
            <a:off x="3676650" y="3181350"/>
            <a:ext cx="11029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70757C"/>
                </a:solidFill>
                <a:latin typeface="Carlito"/>
                <a:ea typeface="Carlito"/>
                <a:cs typeface="Carlito"/>
              </a:defRPr>
            </a:pPr>
            <a:r>
              <a:rPr sz="1650" b="0">
                <a:solidFill>
                  <a:srgbClr val="70757C"/>
                </a:solidFill>
                <a:latin typeface="Carlito"/>
                <a:ea typeface="Carlito"/>
                <a:cs typeface="Carlito"/>
              </a:rPr>
              <a:t>External: service and partner outcomes. Internal: application and domain outcomes.</a:t>
            </a:r>
          </a:p>
        </p:txBody>
      </p:sp>
      <p:sp>
        <p:nvSpPr>
          <p:cNvPr id="28" name="box">
            <a:extLst xmlns:a="http://schemas.openxmlformats.org/drawingml/2006/main">
              <a:ext uri="{FF2B5EF4-FFF2-40B4-BE49-F238E27FC236}">
                <a16:creationId xmlns:a16="http://schemas.microsoft.com/office/drawing/2014/main" id="{275C0005-A581-4F77-9723-B72C30C02603}"/>
              </a:ext>
            </a:extLst>
          </p:cNvPr>
          <p:cNvSpPr>
            <a:spLocks xmlns:a="http://schemas.openxmlformats.org/drawingml/2006/main" noGrp="1"/>
          </p:cNvSpPr>
          <p:nvPr/>
        </p:nvSpPr>
        <p:spPr>
          <a:xfrm xmlns:a="http://schemas.openxmlformats.org/drawingml/2006/main">
            <a:off x="342900" y="3743325"/>
            <a:ext cx="2971800" cy="1181100"/>
          </a:xfrm>
          <a:prstGeom xmlns:a="http://schemas.openxmlformats.org/drawingml/2006/main" prst="roundRect">
            <a:avLst>
              <a:gd name="adj" fmla="val 12903"/>
            </a:avLst>
          </a:prstGeom>
          <a:solidFill xmlns:a="http://schemas.openxmlformats.org/drawingml/2006/main">
            <a:srgbClr val="BE1738"/>
          </a:solidFill>
          <a:ln xmlns:a="http://schemas.openxmlformats.org/drawingml/2006/main" w="11430">
            <a:solidFill>
              <a:srgbClr val="BE1738"/>
            </a:solidFill>
          </a:ln>
        </p:spPr>
      </p:sp>
      <p:sp>
        <p:nvSpPr>
          <p:cNvPr id="29" name="text">
            <a:extLst xmlns:a="http://schemas.openxmlformats.org/drawingml/2006/main">
              <a:ext uri="{FF2B5EF4-FFF2-40B4-BE49-F238E27FC236}">
                <a16:creationId xmlns:a16="http://schemas.microsoft.com/office/drawing/2014/main" id="{C6C37A1C-2732-4BC5-A049-20DC8C357811}"/>
              </a:ext>
            </a:extLst>
          </p:cNvPr>
          <p:cNvSpPr>
            <a:spLocks xmlns:a="http://schemas.openxmlformats.org/drawingml/2006/main" noGrp="1"/>
          </p:cNvSpPr>
          <p:nvPr/>
        </p:nvSpPr>
        <p:spPr>
          <a:xfrm xmlns:a="http://schemas.openxmlformats.org/drawingml/2006/main">
            <a:off x="523875" y="3876675"/>
            <a:ext cx="26098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FFFFFF"/>
                </a:solidFill>
                <a:latin typeface="Carlito"/>
                <a:ea typeface="Carlito"/>
                <a:cs typeface="Carlito"/>
              </a:defRPr>
            </a:pPr>
            <a:r>
              <a:rPr sz="2100" b="1">
                <a:solidFill>
                  <a:srgbClr val="FFFFFF"/>
                </a:solidFill>
                <a:latin typeface="Carlito"/>
                <a:ea typeface="Carlito"/>
                <a:cs typeface="Carlito"/>
              </a:rPr>
              <a:t>2. Make APIs discoverable and reusable</a:t>
            </a:r>
          </a:p>
        </p:txBody>
      </p:sp>
      <p:sp>
        <p:nvSpPr>
          <p:cNvPr id="30" name="box">
            <a:extLst xmlns:a="http://schemas.openxmlformats.org/drawingml/2006/main">
              <a:ext uri="{FF2B5EF4-FFF2-40B4-BE49-F238E27FC236}">
                <a16:creationId xmlns:a16="http://schemas.microsoft.com/office/drawing/2014/main" id="{38D15E4D-88B0-4090-A26C-218C8992D905}"/>
              </a:ext>
            </a:extLst>
          </p:cNvPr>
          <p:cNvSpPr>
            <a:spLocks xmlns:a="http://schemas.openxmlformats.org/drawingml/2006/main" noGrp="1"/>
          </p:cNvSpPr>
          <p:nvPr/>
        </p:nvSpPr>
        <p:spPr>
          <a:xfrm xmlns:a="http://schemas.openxmlformats.org/drawingml/2006/main">
            <a:off x="3486150" y="3743325"/>
            <a:ext cx="11410950" cy="1181100"/>
          </a:xfrm>
          <a:prstGeom xmlns:a="http://schemas.openxmlformats.org/drawingml/2006/main" prst="roundRect">
            <a:avLst>
              <a:gd name="adj" fmla="val 7258"/>
            </a:avLst>
          </a:prstGeom>
          <a:solidFill xmlns:a="http://schemas.openxmlformats.org/drawingml/2006/main">
            <a:srgbClr val="FFFFFF"/>
          </a:solidFill>
          <a:ln xmlns:a="http://schemas.openxmlformats.org/drawingml/2006/main" w="11430">
            <a:solidFill>
              <a:srgbClr val="70757C"/>
            </a:solidFill>
          </a:ln>
        </p:spPr>
      </p:sp>
      <p:sp>
        <p:nvSpPr>
          <p:cNvPr id="31" name="text">
            <a:extLst xmlns:a="http://schemas.openxmlformats.org/drawingml/2006/main">
              <a:ext uri="{FF2B5EF4-FFF2-40B4-BE49-F238E27FC236}">
                <a16:creationId xmlns:a16="http://schemas.microsoft.com/office/drawing/2014/main" id="{80DD5D47-9740-428B-9E89-75B943EBF0F2}"/>
              </a:ext>
            </a:extLst>
          </p:cNvPr>
          <p:cNvSpPr>
            <a:spLocks xmlns:a="http://schemas.openxmlformats.org/drawingml/2006/main" noGrp="1"/>
          </p:cNvSpPr>
          <p:nvPr/>
        </p:nvSpPr>
        <p:spPr>
          <a:xfrm xmlns:a="http://schemas.openxmlformats.org/drawingml/2006/main">
            <a:off x="3676650" y="3867150"/>
            <a:ext cx="11029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30343A"/>
                </a:solidFill>
                <a:latin typeface="Carlito"/>
                <a:ea typeface="Carlito"/>
                <a:cs typeface="Carlito"/>
              </a:defRPr>
            </a:pPr>
            <a:r>
              <a:rPr sz="1875" b="0">
                <a:solidFill>
                  <a:srgbClr val="30343A"/>
                </a:solidFill>
                <a:latin typeface="Carlito"/>
                <a:ea typeface="Carlito"/>
                <a:cs typeface="Carlito"/>
              </a:rPr>
              <a:t>Publish clear contracts and documentation. Use governed data definitions and support discovery, testing and consistent onboarding.</a:t>
            </a:r>
          </a:p>
        </p:txBody>
      </p:sp>
      <p:sp>
        <p:nvSpPr>
          <p:cNvPr id="32" name="text">
            <a:extLst xmlns:a="http://schemas.openxmlformats.org/drawingml/2006/main">
              <a:ext uri="{FF2B5EF4-FFF2-40B4-BE49-F238E27FC236}">
                <a16:creationId xmlns:a16="http://schemas.microsoft.com/office/drawing/2014/main" id="{4D3F67D7-0B4F-40CF-97A4-484B60F253D1}"/>
              </a:ext>
            </a:extLst>
          </p:cNvPr>
          <p:cNvSpPr>
            <a:spLocks xmlns:a="http://schemas.openxmlformats.org/drawingml/2006/main" noGrp="1"/>
          </p:cNvSpPr>
          <p:nvPr/>
        </p:nvSpPr>
        <p:spPr>
          <a:xfrm xmlns:a="http://schemas.openxmlformats.org/drawingml/2006/main">
            <a:off x="3676650" y="4505325"/>
            <a:ext cx="11029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70757C"/>
                </a:solidFill>
                <a:latin typeface="Carlito"/>
                <a:ea typeface="Carlito"/>
                <a:cs typeface="Carlito"/>
              </a:defRPr>
            </a:pPr>
            <a:r>
              <a:rPr sz="1650" b="0">
                <a:solidFill>
                  <a:srgbClr val="70757C"/>
                </a:solidFill>
                <a:latin typeface="Carlito"/>
                <a:ea typeface="Carlito"/>
                <a:cs typeface="Carlito"/>
              </a:rPr>
              <a:t>External: authorised portal access and sandbox. Internal: catalogue discovery and reusable contracts.</a:t>
            </a:r>
          </a:p>
        </p:txBody>
      </p:sp>
      <p:sp>
        <p:nvSpPr>
          <p:cNvPr id="33" name="box">
            <a:extLst xmlns:a="http://schemas.openxmlformats.org/drawingml/2006/main">
              <a:ext uri="{FF2B5EF4-FFF2-40B4-BE49-F238E27FC236}">
                <a16:creationId xmlns:a16="http://schemas.microsoft.com/office/drawing/2014/main" id="{C0CE8C90-654F-4650-BCC0-19702E806ECA}"/>
              </a:ext>
            </a:extLst>
          </p:cNvPr>
          <p:cNvSpPr>
            <a:spLocks xmlns:a="http://schemas.openxmlformats.org/drawingml/2006/main" noGrp="1"/>
          </p:cNvSpPr>
          <p:nvPr/>
        </p:nvSpPr>
        <p:spPr>
          <a:xfrm xmlns:a="http://schemas.openxmlformats.org/drawingml/2006/main">
            <a:off x="342900" y="5067300"/>
            <a:ext cx="2971800" cy="1181100"/>
          </a:xfrm>
          <a:prstGeom xmlns:a="http://schemas.openxmlformats.org/drawingml/2006/main" prst="roundRect">
            <a:avLst>
              <a:gd name="adj" fmla="val 12903"/>
            </a:avLst>
          </a:prstGeom>
          <a:solidFill xmlns:a="http://schemas.openxmlformats.org/drawingml/2006/main">
            <a:srgbClr val="BE1738"/>
          </a:solidFill>
          <a:ln xmlns:a="http://schemas.openxmlformats.org/drawingml/2006/main" w="11430">
            <a:solidFill>
              <a:srgbClr val="BE1738"/>
            </a:solidFill>
          </a:ln>
        </p:spPr>
      </p:sp>
      <p:sp>
        <p:nvSpPr>
          <p:cNvPr id="34" name="text">
            <a:extLst xmlns:a="http://schemas.openxmlformats.org/drawingml/2006/main">
              <a:ext uri="{FF2B5EF4-FFF2-40B4-BE49-F238E27FC236}">
                <a16:creationId xmlns:a16="http://schemas.microsoft.com/office/drawing/2014/main" id="{563AE630-C30D-4012-B2B5-10372A3445C8}"/>
              </a:ext>
            </a:extLst>
          </p:cNvPr>
          <p:cNvSpPr>
            <a:spLocks xmlns:a="http://schemas.openxmlformats.org/drawingml/2006/main" noGrp="1"/>
          </p:cNvSpPr>
          <p:nvPr/>
        </p:nvSpPr>
        <p:spPr>
          <a:xfrm xmlns:a="http://schemas.openxmlformats.org/drawingml/2006/main">
            <a:off x="523875" y="5200650"/>
            <a:ext cx="26098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FFFFFF"/>
                </a:solidFill>
                <a:latin typeface="Carlito"/>
                <a:ea typeface="Carlito"/>
                <a:cs typeface="Carlito"/>
              </a:defRPr>
            </a:pPr>
            <a:r>
              <a:rPr sz="2100" b="1">
                <a:solidFill>
                  <a:srgbClr val="FFFFFF"/>
                </a:solidFill>
                <a:latin typeface="Carlito"/>
                <a:ea typeface="Carlito"/>
                <a:cs typeface="Carlito"/>
              </a:rPr>
              <a:t>3. Secure and accountable by design</a:t>
            </a:r>
          </a:p>
        </p:txBody>
      </p:sp>
      <p:sp>
        <p:nvSpPr>
          <p:cNvPr id="35" name="box">
            <a:extLst xmlns:a="http://schemas.openxmlformats.org/drawingml/2006/main">
              <a:ext uri="{FF2B5EF4-FFF2-40B4-BE49-F238E27FC236}">
                <a16:creationId xmlns:a16="http://schemas.microsoft.com/office/drawing/2014/main" id="{E582C7D3-A347-4D52-89E8-226F36351023}"/>
              </a:ext>
            </a:extLst>
          </p:cNvPr>
          <p:cNvSpPr>
            <a:spLocks xmlns:a="http://schemas.openxmlformats.org/drawingml/2006/main" noGrp="1"/>
          </p:cNvSpPr>
          <p:nvPr/>
        </p:nvSpPr>
        <p:spPr>
          <a:xfrm xmlns:a="http://schemas.openxmlformats.org/drawingml/2006/main">
            <a:off x="3486150" y="5067300"/>
            <a:ext cx="11410950" cy="1181100"/>
          </a:xfrm>
          <a:prstGeom xmlns:a="http://schemas.openxmlformats.org/drawingml/2006/main" prst="roundRect">
            <a:avLst>
              <a:gd name="adj" fmla="val 7258"/>
            </a:avLst>
          </a:prstGeom>
          <a:solidFill xmlns:a="http://schemas.openxmlformats.org/drawingml/2006/main">
            <a:srgbClr val="FFFFFF"/>
          </a:solidFill>
          <a:ln xmlns:a="http://schemas.openxmlformats.org/drawingml/2006/main" w="11430">
            <a:solidFill>
              <a:srgbClr val="70757C"/>
            </a:solidFill>
          </a:ln>
        </p:spPr>
      </p:sp>
      <p:sp>
        <p:nvSpPr>
          <p:cNvPr id="36" name="text">
            <a:extLst xmlns:a="http://schemas.openxmlformats.org/drawingml/2006/main">
              <a:ext uri="{FF2B5EF4-FFF2-40B4-BE49-F238E27FC236}">
                <a16:creationId xmlns:a16="http://schemas.microsoft.com/office/drawing/2014/main" id="{7E38B256-EE55-42FB-8DC0-34933183E926}"/>
              </a:ext>
            </a:extLst>
          </p:cNvPr>
          <p:cNvSpPr>
            <a:spLocks xmlns:a="http://schemas.openxmlformats.org/drawingml/2006/main" noGrp="1"/>
          </p:cNvSpPr>
          <p:nvPr/>
        </p:nvSpPr>
        <p:spPr>
          <a:xfrm xmlns:a="http://schemas.openxmlformats.org/drawingml/2006/main">
            <a:off x="3676650" y="5191125"/>
            <a:ext cx="11029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30343A"/>
                </a:solidFill>
                <a:latin typeface="Carlito"/>
                <a:ea typeface="Carlito"/>
                <a:cs typeface="Carlito"/>
              </a:defRPr>
            </a:pPr>
            <a:r>
              <a:rPr sz="1875" b="0">
                <a:solidFill>
                  <a:srgbClr val="30343A"/>
                </a:solidFill>
                <a:latin typeface="Carlito"/>
                <a:ea typeface="Carlito"/>
                <a:cs typeface="Carlito"/>
              </a:rPr>
              <a:t>Assign ownership and apply identity, authorization, data protection, auditability and resilience requirements appropriate to each API.</a:t>
            </a:r>
          </a:p>
        </p:txBody>
      </p:sp>
      <p:sp>
        <p:nvSpPr>
          <p:cNvPr id="37" name="text">
            <a:extLst xmlns:a="http://schemas.openxmlformats.org/drawingml/2006/main">
              <a:ext uri="{FF2B5EF4-FFF2-40B4-BE49-F238E27FC236}">
                <a16:creationId xmlns:a16="http://schemas.microsoft.com/office/drawing/2014/main" id="{13774156-B156-44A4-A712-066900C5EA6D}"/>
              </a:ext>
            </a:extLst>
          </p:cNvPr>
          <p:cNvSpPr>
            <a:spLocks xmlns:a="http://schemas.openxmlformats.org/drawingml/2006/main" noGrp="1"/>
          </p:cNvSpPr>
          <p:nvPr/>
        </p:nvSpPr>
        <p:spPr>
          <a:xfrm xmlns:a="http://schemas.openxmlformats.org/drawingml/2006/main">
            <a:off x="3676650" y="5829300"/>
            <a:ext cx="11029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70757C"/>
                </a:solidFill>
                <a:latin typeface="Carlito"/>
                <a:ea typeface="Carlito"/>
                <a:cs typeface="Carlito"/>
              </a:defRPr>
            </a:pPr>
            <a:r>
              <a:rPr sz="1650" b="0">
                <a:solidFill>
                  <a:srgbClr val="70757C"/>
                </a:solidFill>
                <a:latin typeface="Carlito"/>
                <a:ea typeface="Carlito"/>
                <a:cs typeface="Carlito"/>
              </a:rPr>
              <a:t>Common control objectives. CIAM/IDAM services and enforcement vary by identity and use case.</a:t>
            </a:r>
          </a:p>
        </p:txBody>
      </p:sp>
      <p:sp>
        <p:nvSpPr>
          <p:cNvPr id="38" name="box">
            <a:extLst xmlns:a="http://schemas.openxmlformats.org/drawingml/2006/main">
              <a:ext uri="{FF2B5EF4-FFF2-40B4-BE49-F238E27FC236}">
                <a16:creationId xmlns:a16="http://schemas.microsoft.com/office/drawing/2014/main" id="{7A8162DB-7AE1-406A-A589-AE0FFA500310}"/>
              </a:ext>
            </a:extLst>
          </p:cNvPr>
          <p:cNvSpPr>
            <a:spLocks xmlns:a="http://schemas.openxmlformats.org/drawingml/2006/main" noGrp="1"/>
          </p:cNvSpPr>
          <p:nvPr/>
        </p:nvSpPr>
        <p:spPr>
          <a:xfrm xmlns:a="http://schemas.openxmlformats.org/drawingml/2006/main">
            <a:off x="342900" y="6391275"/>
            <a:ext cx="2971800" cy="1181100"/>
          </a:xfrm>
          <a:prstGeom xmlns:a="http://schemas.openxmlformats.org/drawingml/2006/main" prst="roundRect">
            <a:avLst>
              <a:gd name="adj" fmla="val 12903"/>
            </a:avLst>
          </a:prstGeom>
          <a:solidFill xmlns:a="http://schemas.openxmlformats.org/drawingml/2006/main">
            <a:srgbClr val="BE1738"/>
          </a:solidFill>
          <a:ln xmlns:a="http://schemas.openxmlformats.org/drawingml/2006/main" w="11430">
            <a:solidFill>
              <a:srgbClr val="BE1738"/>
            </a:solidFill>
          </a:ln>
        </p:spPr>
      </p:sp>
      <p:sp>
        <p:nvSpPr>
          <p:cNvPr id="39" name="text">
            <a:extLst xmlns:a="http://schemas.openxmlformats.org/drawingml/2006/main">
              <a:ext uri="{FF2B5EF4-FFF2-40B4-BE49-F238E27FC236}">
                <a16:creationId xmlns:a16="http://schemas.microsoft.com/office/drawing/2014/main" id="{607EEF49-B611-4F0F-9F68-A9ADB0193053}"/>
              </a:ext>
            </a:extLst>
          </p:cNvPr>
          <p:cNvSpPr>
            <a:spLocks xmlns:a="http://schemas.openxmlformats.org/drawingml/2006/main" noGrp="1"/>
          </p:cNvSpPr>
          <p:nvPr/>
        </p:nvSpPr>
        <p:spPr>
          <a:xfrm xmlns:a="http://schemas.openxmlformats.org/drawingml/2006/main">
            <a:off x="523875" y="6524625"/>
            <a:ext cx="26098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FFFFFF"/>
                </a:solidFill>
                <a:latin typeface="Carlito"/>
                <a:ea typeface="Carlito"/>
                <a:cs typeface="Carlito"/>
              </a:defRPr>
            </a:pPr>
            <a:r>
              <a:rPr sz="2100" b="1">
                <a:solidFill>
                  <a:srgbClr val="FFFFFF"/>
                </a:solidFill>
                <a:latin typeface="Carlito"/>
                <a:ea typeface="Carlito"/>
                <a:cs typeface="Carlito"/>
              </a:rPr>
              <a:t>4. One governed API ecosystem</a:t>
            </a:r>
          </a:p>
        </p:txBody>
      </p:sp>
      <p:sp>
        <p:nvSpPr>
          <p:cNvPr id="40" name="box">
            <a:extLst xmlns:a="http://schemas.openxmlformats.org/drawingml/2006/main">
              <a:ext uri="{FF2B5EF4-FFF2-40B4-BE49-F238E27FC236}">
                <a16:creationId xmlns:a16="http://schemas.microsoft.com/office/drawing/2014/main" id="{11203AF5-73E6-4B49-BC07-2755BF80301B}"/>
              </a:ext>
            </a:extLst>
          </p:cNvPr>
          <p:cNvSpPr>
            <a:spLocks xmlns:a="http://schemas.openxmlformats.org/drawingml/2006/main" noGrp="1"/>
          </p:cNvSpPr>
          <p:nvPr/>
        </p:nvSpPr>
        <p:spPr>
          <a:xfrm xmlns:a="http://schemas.openxmlformats.org/drawingml/2006/main">
            <a:off x="3486150" y="6391275"/>
            <a:ext cx="11410950" cy="1181100"/>
          </a:xfrm>
          <a:prstGeom xmlns:a="http://schemas.openxmlformats.org/drawingml/2006/main" prst="roundRect">
            <a:avLst>
              <a:gd name="adj" fmla="val 7258"/>
            </a:avLst>
          </a:prstGeom>
          <a:solidFill xmlns:a="http://schemas.openxmlformats.org/drawingml/2006/main">
            <a:srgbClr val="FFFFFF"/>
          </a:solidFill>
          <a:ln xmlns:a="http://schemas.openxmlformats.org/drawingml/2006/main" w="11430">
            <a:solidFill>
              <a:srgbClr val="70757C"/>
            </a:solidFill>
          </a:ln>
        </p:spPr>
      </p:sp>
      <p:sp>
        <p:nvSpPr>
          <p:cNvPr id="41" name="text">
            <a:extLst xmlns:a="http://schemas.openxmlformats.org/drawingml/2006/main">
              <a:ext uri="{FF2B5EF4-FFF2-40B4-BE49-F238E27FC236}">
                <a16:creationId xmlns:a16="http://schemas.microsoft.com/office/drawing/2014/main" id="{6D4A3E1D-CFD2-485B-A2B7-728EF657F2DC}"/>
              </a:ext>
            </a:extLst>
          </p:cNvPr>
          <p:cNvSpPr>
            <a:spLocks xmlns:a="http://schemas.openxmlformats.org/drawingml/2006/main" noGrp="1"/>
          </p:cNvSpPr>
          <p:nvPr/>
        </p:nvSpPr>
        <p:spPr>
          <a:xfrm xmlns:a="http://schemas.openxmlformats.org/drawingml/2006/main">
            <a:off x="3676650" y="6515100"/>
            <a:ext cx="11029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30343A"/>
                </a:solidFill>
                <a:latin typeface="Carlito"/>
                <a:ea typeface="Carlito"/>
                <a:cs typeface="Carlito"/>
              </a:defRPr>
            </a:pPr>
            <a:r>
              <a:rPr sz="1875" b="0">
                <a:solidFill>
                  <a:srgbClr val="30343A"/>
                </a:solidFill>
                <a:latin typeface="Carlito"/>
                <a:ea typeface="Carlito"/>
                <a:cs typeface="Carlito"/>
              </a:rPr>
              <a:t>Use common standards and lifecycle practices, with domain accountability and shared platform services where appropriate.</a:t>
            </a:r>
          </a:p>
        </p:txBody>
      </p:sp>
      <p:sp>
        <p:nvSpPr>
          <p:cNvPr id="42" name="text">
            <a:extLst xmlns:a="http://schemas.openxmlformats.org/drawingml/2006/main">
              <a:ext uri="{FF2B5EF4-FFF2-40B4-BE49-F238E27FC236}">
                <a16:creationId xmlns:a16="http://schemas.microsoft.com/office/drawing/2014/main" id="{31FC2033-9F48-4DD2-AFCB-41E7B530CFAC}"/>
              </a:ext>
            </a:extLst>
          </p:cNvPr>
          <p:cNvSpPr>
            <a:spLocks xmlns:a="http://schemas.openxmlformats.org/drawingml/2006/main" noGrp="1"/>
          </p:cNvSpPr>
          <p:nvPr/>
        </p:nvSpPr>
        <p:spPr>
          <a:xfrm xmlns:a="http://schemas.openxmlformats.org/drawingml/2006/main">
            <a:off x="3676650" y="7153275"/>
            <a:ext cx="11029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70757C"/>
                </a:solidFill>
                <a:latin typeface="Carlito"/>
                <a:ea typeface="Carlito"/>
                <a:cs typeface="Carlito"/>
              </a:defRPr>
            </a:pPr>
            <a:r>
              <a:rPr sz="1650" b="0">
                <a:solidFill>
                  <a:srgbClr val="70757C"/>
                </a:solidFill>
                <a:latin typeface="Carlito"/>
                <a:ea typeface="Carlito"/>
                <a:cs typeface="Carlito"/>
              </a:rPr>
              <a:t>Common governance. Different exposure boundaries and commercial policies where applicable.</a:t>
            </a:r>
          </a:p>
        </p:txBody>
      </p:sp>
      <p:sp>
        <p:nvSpPr>
          <p:cNvPr id="43" name="text">
            <a:extLst xmlns:a="http://schemas.openxmlformats.org/drawingml/2006/main">
              <a:ext uri="{FF2B5EF4-FFF2-40B4-BE49-F238E27FC236}">
                <a16:creationId xmlns:a16="http://schemas.microsoft.com/office/drawing/2014/main" id="{8580976C-BD87-4904-9781-BFC908103CBA}"/>
              </a:ext>
            </a:extLst>
          </p:cNvPr>
          <p:cNvSpPr>
            <a:spLocks xmlns:a="http://schemas.openxmlformats.org/drawingml/2006/main" noGrp="1"/>
          </p:cNvSpPr>
          <p:nvPr/>
        </p:nvSpPr>
        <p:spPr>
          <a:xfrm xmlns:a="http://schemas.openxmlformats.org/drawingml/2006/main">
            <a:off x="361950" y="7829550"/>
            <a:ext cx="1445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70757C"/>
                </a:solidFill>
                <a:latin typeface="Carlito"/>
                <a:ea typeface="Carlito"/>
                <a:cs typeface="Carlito"/>
              </a:defRPr>
            </a:pPr>
            <a:r>
              <a:rPr sz="1350" b="0">
                <a:solidFill>
                  <a:srgbClr val="70757C"/>
                </a:solidFill>
                <a:latin typeface="Carlito"/>
                <a:ea typeface="Carlito"/>
                <a:cs typeface="Carlito"/>
              </a:rPr>
              <a:t>Reuse and contract-first design reduce bespoke coupling. Each API still has explicit dependencies and lifecycle obligations.</a:t>
            </a:r>
          </a:p>
        </p:txBody>
      </p:sp>
    </p:spTree>
    <p:extLst>
      <p:ext uri="{BB962C8B-B14F-4D97-AF65-F5344CB8AC3E}">
        <p14:creationId xmlns:p14="http://schemas.microsoft.com/office/powerpoint/2010/main" val="5543195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nav-Background">
            <a:extLst xmlns:a="http://schemas.openxmlformats.org/drawingml/2006/main">
              <a:ext uri="{FF2B5EF4-FFF2-40B4-BE49-F238E27FC236}">
                <a16:creationId xmlns:a16="http://schemas.microsoft.com/office/drawing/2014/main" id="{32C8932D-0842-4564-AA42-F4DB6933D50B}"/>
              </a:ext>
            </a:extLst>
          </p:cNvPr>
          <p:cNvSpPr>
            <a:spLocks xmlns:a="http://schemas.openxmlformats.org/drawingml/2006/main" noGrp="1"/>
          </p:cNvSpPr>
          <p:nvPr/>
        </p:nvSpPr>
        <p:spPr>
          <a:xfrm xmlns:a="http://schemas.openxmlformats.org/drawingml/2006/main">
            <a:off x="2286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2" name="navigation-Background">
            <a:extLst xmlns:a="http://schemas.openxmlformats.org/drawingml/2006/main">
              <a:ext uri="{FF2B5EF4-FFF2-40B4-BE49-F238E27FC236}">
                <a16:creationId xmlns:a16="http://schemas.microsoft.com/office/drawing/2014/main" id="{A9E9468F-FE0F-40E6-B7DA-494E788A7BB8}"/>
              </a:ext>
            </a:extLst>
          </p:cNvPr>
          <p:cNvSpPr>
            <a:spLocks xmlns:a="http://schemas.openxmlformats.org/drawingml/2006/main" noGrp="1"/>
          </p:cNvSpPr>
          <p:nvPr/>
        </p:nvSpPr>
        <p:spPr>
          <a:xfrm xmlns:a="http://schemas.openxmlformats.org/drawingml/2006/main">
            <a:off x="2571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Background</a:t>
            </a:r>
          </a:p>
        </p:txBody>
      </p:sp>
      <p:sp>
        <p:nvSpPr>
          <p:cNvPr id="3" name="nav-Problem Statements">
            <a:extLst xmlns:a="http://schemas.openxmlformats.org/drawingml/2006/main">
              <a:ext uri="{FF2B5EF4-FFF2-40B4-BE49-F238E27FC236}">
                <a16:creationId xmlns:a16="http://schemas.microsoft.com/office/drawing/2014/main" id="{A6FF8E7C-2543-40D2-9B67-FC95CB6BB032}"/>
              </a:ext>
            </a:extLst>
          </p:cNvPr>
          <p:cNvSpPr>
            <a:spLocks xmlns:a="http://schemas.openxmlformats.org/drawingml/2006/main" noGrp="1"/>
          </p:cNvSpPr>
          <p:nvPr/>
        </p:nvSpPr>
        <p:spPr>
          <a:xfrm xmlns:a="http://schemas.openxmlformats.org/drawingml/2006/main">
            <a:off x="19050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4" name="navigation-Problem Statements">
            <a:extLst xmlns:a="http://schemas.openxmlformats.org/drawingml/2006/main">
              <a:ext uri="{FF2B5EF4-FFF2-40B4-BE49-F238E27FC236}">
                <a16:creationId xmlns:a16="http://schemas.microsoft.com/office/drawing/2014/main" id="{527AC42D-7633-4462-BE7A-FEF095F65BC7}"/>
              </a:ext>
            </a:extLst>
          </p:cNvPr>
          <p:cNvSpPr>
            <a:spLocks xmlns:a="http://schemas.openxmlformats.org/drawingml/2006/main" noGrp="1"/>
          </p:cNvSpPr>
          <p:nvPr/>
        </p:nvSpPr>
        <p:spPr>
          <a:xfrm xmlns:a="http://schemas.openxmlformats.org/drawingml/2006/main">
            <a:off x="19335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Problem Statements</a:t>
            </a:r>
          </a:p>
        </p:txBody>
      </p:sp>
      <p:sp>
        <p:nvSpPr>
          <p:cNvPr id="5" name="nav-Capability Context">
            <a:extLst xmlns:a="http://schemas.openxmlformats.org/drawingml/2006/main">
              <a:ext uri="{FF2B5EF4-FFF2-40B4-BE49-F238E27FC236}">
                <a16:creationId xmlns:a16="http://schemas.microsoft.com/office/drawing/2014/main" id="{794B0F38-D603-4074-82A1-2C005049AD6B}"/>
              </a:ext>
            </a:extLst>
          </p:cNvPr>
          <p:cNvSpPr>
            <a:spLocks xmlns:a="http://schemas.openxmlformats.org/drawingml/2006/main" noGrp="1"/>
          </p:cNvSpPr>
          <p:nvPr/>
        </p:nvSpPr>
        <p:spPr>
          <a:xfrm xmlns:a="http://schemas.openxmlformats.org/drawingml/2006/main">
            <a:off x="35814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6" name="navigation-Capability Context">
            <a:extLst xmlns:a="http://schemas.openxmlformats.org/drawingml/2006/main">
              <a:ext uri="{FF2B5EF4-FFF2-40B4-BE49-F238E27FC236}">
                <a16:creationId xmlns:a16="http://schemas.microsoft.com/office/drawing/2014/main" id="{5EABCB03-B2CB-4A7D-97B1-57514AE48551}"/>
              </a:ext>
            </a:extLst>
          </p:cNvPr>
          <p:cNvSpPr>
            <a:spLocks xmlns:a="http://schemas.openxmlformats.org/drawingml/2006/main" noGrp="1"/>
          </p:cNvSpPr>
          <p:nvPr/>
        </p:nvSpPr>
        <p:spPr>
          <a:xfrm xmlns:a="http://schemas.openxmlformats.org/drawingml/2006/main">
            <a:off x="36099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Capability Context</a:t>
            </a:r>
          </a:p>
        </p:txBody>
      </p:sp>
      <p:sp>
        <p:nvSpPr>
          <p:cNvPr id="7" name="nav-Artefact Content">
            <a:extLst xmlns:a="http://schemas.openxmlformats.org/drawingml/2006/main">
              <a:ext uri="{FF2B5EF4-FFF2-40B4-BE49-F238E27FC236}">
                <a16:creationId xmlns:a16="http://schemas.microsoft.com/office/drawing/2014/main" id="{8218A953-1517-4ED1-8CA3-1F05F0A10009}"/>
              </a:ext>
            </a:extLst>
          </p:cNvPr>
          <p:cNvSpPr>
            <a:spLocks xmlns:a="http://schemas.openxmlformats.org/drawingml/2006/main" noGrp="1"/>
          </p:cNvSpPr>
          <p:nvPr/>
        </p:nvSpPr>
        <p:spPr>
          <a:xfrm xmlns:a="http://schemas.openxmlformats.org/drawingml/2006/main">
            <a:off x="5257800" y="171450"/>
            <a:ext cx="1600200" cy="381000"/>
          </a:xfrm>
          <a:prstGeom xmlns:a="http://schemas.openxmlformats.org/drawingml/2006/main" prst="roundRect">
            <a:avLst>
              <a:gd name="adj" fmla="val 17500"/>
            </a:avLst>
          </a:prstGeom>
          <a:solidFill xmlns:a="http://schemas.openxmlformats.org/drawingml/2006/main">
            <a:srgbClr val="BE1738"/>
          </a:solidFill>
          <a:ln xmlns:a="http://schemas.openxmlformats.org/drawingml/2006/main" w="11430">
            <a:solidFill>
              <a:srgbClr val="BE1738"/>
            </a:solidFill>
          </a:ln>
        </p:spPr>
      </p:sp>
      <p:sp>
        <p:nvSpPr>
          <p:cNvPr id="8" name="navigation-Artefact Content">
            <a:extLst xmlns:a="http://schemas.openxmlformats.org/drawingml/2006/main">
              <a:ext uri="{FF2B5EF4-FFF2-40B4-BE49-F238E27FC236}">
                <a16:creationId xmlns:a16="http://schemas.microsoft.com/office/drawing/2014/main" id="{A533094A-84E1-4914-8E80-61FE9AB165AD}"/>
              </a:ext>
            </a:extLst>
          </p:cNvPr>
          <p:cNvSpPr>
            <a:spLocks xmlns:a="http://schemas.openxmlformats.org/drawingml/2006/main" noGrp="1"/>
          </p:cNvSpPr>
          <p:nvPr/>
        </p:nvSpPr>
        <p:spPr>
          <a:xfrm xmlns:a="http://schemas.openxmlformats.org/drawingml/2006/main">
            <a:off x="52863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FFFFFF"/>
                </a:solidFill>
                <a:latin typeface="Carlito"/>
                <a:ea typeface="Carlito"/>
                <a:cs typeface="Carlito"/>
              </a:defRPr>
            </a:pPr>
            <a:r>
              <a:rPr sz="1313" b="0">
                <a:solidFill>
                  <a:srgbClr val="FFFFFF"/>
                </a:solidFill>
                <a:latin typeface="Carlito"/>
                <a:ea typeface="Carlito"/>
                <a:cs typeface="Carlito"/>
              </a:rPr>
              <a:t>Artefact Content</a:t>
            </a:r>
          </a:p>
        </p:txBody>
      </p:sp>
      <p:sp>
        <p:nvSpPr>
          <p:cNvPr id="9" name="nav-Roadmap">
            <a:extLst xmlns:a="http://schemas.openxmlformats.org/drawingml/2006/main">
              <a:ext uri="{FF2B5EF4-FFF2-40B4-BE49-F238E27FC236}">
                <a16:creationId xmlns:a16="http://schemas.microsoft.com/office/drawing/2014/main" id="{5EB0292E-2109-4B5E-953B-9BA0484DD1AF}"/>
              </a:ext>
            </a:extLst>
          </p:cNvPr>
          <p:cNvSpPr>
            <a:spLocks xmlns:a="http://schemas.openxmlformats.org/drawingml/2006/main" noGrp="1"/>
          </p:cNvSpPr>
          <p:nvPr/>
        </p:nvSpPr>
        <p:spPr>
          <a:xfrm xmlns:a="http://schemas.openxmlformats.org/drawingml/2006/main">
            <a:off x="69342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0" name="navigation-Roadmap">
            <a:extLst xmlns:a="http://schemas.openxmlformats.org/drawingml/2006/main">
              <a:ext uri="{FF2B5EF4-FFF2-40B4-BE49-F238E27FC236}">
                <a16:creationId xmlns:a16="http://schemas.microsoft.com/office/drawing/2014/main" id="{4ACFECEA-58D7-4602-8887-66BB984A34DC}"/>
              </a:ext>
            </a:extLst>
          </p:cNvPr>
          <p:cNvSpPr>
            <a:spLocks xmlns:a="http://schemas.openxmlformats.org/drawingml/2006/main" noGrp="1"/>
          </p:cNvSpPr>
          <p:nvPr/>
        </p:nvSpPr>
        <p:spPr>
          <a:xfrm xmlns:a="http://schemas.openxmlformats.org/drawingml/2006/main">
            <a:off x="69627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Roadmap</a:t>
            </a:r>
          </a:p>
        </p:txBody>
      </p:sp>
      <p:sp>
        <p:nvSpPr>
          <p:cNvPr id="11" name="nav-Decision">
            <a:extLst xmlns:a="http://schemas.openxmlformats.org/drawingml/2006/main">
              <a:ext uri="{FF2B5EF4-FFF2-40B4-BE49-F238E27FC236}">
                <a16:creationId xmlns:a16="http://schemas.microsoft.com/office/drawing/2014/main" id="{BC4FC4C7-D4F6-41DC-ADEE-D82850780628}"/>
              </a:ext>
            </a:extLst>
          </p:cNvPr>
          <p:cNvSpPr>
            <a:spLocks xmlns:a="http://schemas.openxmlformats.org/drawingml/2006/main" noGrp="1"/>
          </p:cNvSpPr>
          <p:nvPr/>
        </p:nvSpPr>
        <p:spPr>
          <a:xfrm xmlns:a="http://schemas.openxmlformats.org/drawingml/2006/main">
            <a:off x="86106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2" name="navigation-Decision">
            <a:extLst xmlns:a="http://schemas.openxmlformats.org/drawingml/2006/main">
              <a:ext uri="{FF2B5EF4-FFF2-40B4-BE49-F238E27FC236}">
                <a16:creationId xmlns:a16="http://schemas.microsoft.com/office/drawing/2014/main" id="{D7CD7137-7CBA-4C35-BEA8-7853253921F4}"/>
              </a:ext>
            </a:extLst>
          </p:cNvPr>
          <p:cNvSpPr>
            <a:spLocks xmlns:a="http://schemas.openxmlformats.org/drawingml/2006/main" noGrp="1"/>
          </p:cNvSpPr>
          <p:nvPr/>
        </p:nvSpPr>
        <p:spPr>
          <a:xfrm xmlns:a="http://schemas.openxmlformats.org/drawingml/2006/main">
            <a:off x="86391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Decision</a:t>
            </a:r>
          </a:p>
        </p:txBody>
      </p:sp>
      <p:sp>
        <p:nvSpPr>
          <p:cNvPr id="13" name="nav-Appendix">
            <a:extLst xmlns:a="http://schemas.openxmlformats.org/drawingml/2006/main">
              <a:ext uri="{FF2B5EF4-FFF2-40B4-BE49-F238E27FC236}">
                <a16:creationId xmlns:a16="http://schemas.microsoft.com/office/drawing/2014/main" id="{5138E511-0D29-4FF1-898C-C82090D2A2EA}"/>
              </a:ext>
            </a:extLst>
          </p:cNvPr>
          <p:cNvSpPr>
            <a:spLocks xmlns:a="http://schemas.openxmlformats.org/drawingml/2006/main" noGrp="1"/>
          </p:cNvSpPr>
          <p:nvPr/>
        </p:nvSpPr>
        <p:spPr>
          <a:xfrm xmlns:a="http://schemas.openxmlformats.org/drawingml/2006/main">
            <a:off x="102870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4" name="navigation-Appendix">
            <a:extLst xmlns:a="http://schemas.openxmlformats.org/drawingml/2006/main">
              <a:ext uri="{FF2B5EF4-FFF2-40B4-BE49-F238E27FC236}">
                <a16:creationId xmlns:a16="http://schemas.microsoft.com/office/drawing/2014/main" id="{1DB5FB4E-0001-47C9-B50B-FBFD42A43030}"/>
              </a:ext>
            </a:extLst>
          </p:cNvPr>
          <p:cNvSpPr>
            <a:spLocks xmlns:a="http://schemas.openxmlformats.org/drawingml/2006/main" noGrp="1"/>
          </p:cNvSpPr>
          <p:nvPr/>
        </p:nvSpPr>
        <p:spPr>
          <a:xfrm xmlns:a="http://schemas.openxmlformats.org/drawingml/2006/main">
            <a:off x="103155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Appendix</a:t>
            </a:r>
          </a:p>
        </p:txBody>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0432e404cf47401c"/>
          <a:stretch xmlns:a="http://schemas.openxmlformats.org/drawingml/2006/main"/>
        </p:blipFill>
        <p:spPr>
          <a:xfrm xmlns:a="http://schemas.openxmlformats.org/drawingml/2006/main">
            <a:off x="304800" y="737436"/>
            <a:ext cx="1057275" cy="1001629"/>
          </a:xfrm>
          <a:prstGeom xmlns:a="http://schemas.openxmlformats.org/drawingml/2006/main" prst="rect">
            <a:avLst/>
          </a:prstGeom>
        </p:spPr>
      </p:pic>
      <p:sp>
        <p:nvSpPr>
          <p:cNvPr id="16" name="title-outline">
            <a:extLst xmlns:a="http://schemas.openxmlformats.org/drawingml/2006/main">
              <a:ext uri="{FF2B5EF4-FFF2-40B4-BE49-F238E27FC236}">
                <a16:creationId xmlns:a16="http://schemas.microsoft.com/office/drawing/2014/main" id="{166B2692-CBC0-4519-9A63-9914657D318A}"/>
              </a:ext>
            </a:extLst>
          </p:cNvPr>
          <p:cNvSpPr>
            <a:spLocks xmlns:a="http://schemas.openxmlformats.org/drawingml/2006/main" noGrp="1"/>
          </p:cNvSpPr>
          <p:nvPr/>
        </p:nvSpPr>
        <p:spPr>
          <a:xfrm xmlns:a="http://schemas.openxmlformats.org/drawingml/2006/main">
            <a:off x="1657350" y="866775"/>
            <a:ext cx="10496550" cy="4857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8575">
            <a:solidFill>
              <a:srgbClr val="BE1738"/>
            </a:solidFill>
          </a:ln>
        </p:spPr>
      </p:sp>
      <p:sp>
        <p:nvSpPr>
          <p:cNvPr id="17" name="slide-title">
            <a:extLst xmlns:a="http://schemas.openxmlformats.org/drawingml/2006/main">
              <a:ext uri="{FF2B5EF4-FFF2-40B4-BE49-F238E27FC236}">
                <a16:creationId xmlns:a16="http://schemas.microsoft.com/office/drawing/2014/main" id="{9C12E768-05F3-4762-816B-39E55C168780}"/>
              </a:ext>
            </a:extLst>
          </p:cNvPr>
          <p:cNvSpPr>
            <a:spLocks xmlns:a="http://schemas.openxmlformats.org/drawingml/2006/main" noGrp="1"/>
          </p:cNvSpPr>
          <p:nvPr/>
        </p:nvSpPr>
        <p:spPr>
          <a:xfrm xmlns:a="http://schemas.openxmlformats.org/drawingml/2006/main">
            <a:off x="1933575" y="933450"/>
            <a:ext cx="994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1632"/>
                </a:solidFill>
                <a:latin typeface="Carlito"/>
                <a:ea typeface="Carlito"/>
                <a:cs typeface="Carlito"/>
              </a:defRPr>
            </a:pPr>
            <a:r>
              <a:rPr sz="2100" b="1">
                <a:solidFill>
                  <a:srgbClr val="A91632"/>
                </a:solidFill>
                <a:latin typeface="Carlito"/>
                <a:ea typeface="Carlito"/>
                <a:cs typeface="Carlito"/>
              </a:rPr>
              <a:t>API ARCHITECTURE OVERVIEW</a:t>
            </a:r>
          </a:p>
        </p:txBody>
      </p:sp>
      <p:sp>
        <p:nvSpPr>
          <p:cNvPr id="18" name="classification">
            <a:extLst xmlns:a="http://schemas.openxmlformats.org/drawingml/2006/main">
              <a:ext uri="{FF2B5EF4-FFF2-40B4-BE49-F238E27FC236}">
                <a16:creationId xmlns:a16="http://schemas.microsoft.com/office/drawing/2014/main" id="{91F4827F-D772-498E-8B63-2EF10E657A67}"/>
              </a:ext>
            </a:extLst>
          </p:cNvPr>
          <p:cNvSpPr>
            <a:spLocks xmlns:a="http://schemas.openxmlformats.org/drawingml/2006/main" noGrp="1"/>
          </p:cNvSpPr>
          <p:nvPr/>
        </p:nvSpPr>
        <p:spPr>
          <a:xfrm xmlns:a="http://schemas.openxmlformats.org/drawingml/2006/main">
            <a:off x="12001500" y="619125"/>
            <a:ext cx="2905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30343A"/>
                </a:solidFill>
                <a:latin typeface="Carlito"/>
                <a:ea typeface="Carlito"/>
                <a:cs typeface="Carlito"/>
              </a:defRPr>
            </a:pPr>
            <a:r>
              <a:rPr sz="1275" b="0">
                <a:solidFill>
                  <a:srgbClr val="30343A"/>
                </a:solidFill>
                <a:latin typeface="Carlito"/>
                <a:ea typeface="Carlito"/>
                <a:cs typeface="Carlito"/>
              </a:rPr>
              <a:t>RESTRICTED TO Euroclear</a:t>
            </a:r>
          </a:p>
        </p:txBody>
      </p:sp>
      <p:sp>
        <p:nvSpPr>
          <p:cNvPr id="19" name="footer-outline">
            <a:extLst xmlns:a="http://schemas.openxmlformats.org/drawingml/2006/main">
              <a:ext uri="{FF2B5EF4-FFF2-40B4-BE49-F238E27FC236}">
                <a16:creationId xmlns:a16="http://schemas.microsoft.com/office/drawing/2014/main" id="{347B1D26-86C0-4F97-B486-7DB6DC3F93D5}"/>
              </a:ext>
            </a:extLst>
          </p:cNvPr>
          <p:cNvSpPr>
            <a:spLocks xmlns:a="http://schemas.openxmlformats.org/drawingml/2006/main" noGrp="1"/>
          </p:cNvSpPr>
          <p:nvPr/>
        </p:nvSpPr>
        <p:spPr>
          <a:xfrm xmlns:a="http://schemas.openxmlformats.org/drawingml/2006/main">
            <a:off x="171450" y="8143875"/>
            <a:ext cx="3009900" cy="2952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4288">
            <a:solidFill>
              <a:srgbClr val="70757C"/>
            </a:solidFill>
          </a:ln>
        </p:spPr>
      </p:sp>
      <p:sp>
        <p:nvSpPr>
          <p:cNvPr id="20" name="footer">
            <a:extLst xmlns:a="http://schemas.openxmlformats.org/drawingml/2006/main">
              <a:ext uri="{FF2B5EF4-FFF2-40B4-BE49-F238E27FC236}">
                <a16:creationId xmlns:a16="http://schemas.microsoft.com/office/drawing/2014/main" id="{4F70C84C-F572-4E79-8C5F-EB57D4FE52F0}"/>
              </a:ext>
            </a:extLst>
          </p:cNvPr>
          <p:cNvSpPr>
            <a:spLocks xmlns:a="http://schemas.openxmlformats.org/drawingml/2006/main" noGrp="1"/>
          </p:cNvSpPr>
          <p:nvPr/>
        </p:nvSpPr>
        <p:spPr>
          <a:xfrm xmlns:a="http://schemas.openxmlformats.org/drawingml/2006/main">
            <a:off x="295275" y="8172450"/>
            <a:ext cx="2771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0343A"/>
                </a:solidFill>
                <a:latin typeface="Carlito"/>
                <a:ea typeface="Carlito"/>
                <a:cs typeface="Carlito"/>
              </a:defRPr>
            </a:pPr>
            <a:r>
              <a:rPr sz="1500" b="0">
                <a:solidFill>
                  <a:srgbClr val="30343A"/>
                </a:solidFill>
                <a:latin typeface="Carlito"/>
                <a:ea typeface="Carlito"/>
                <a:cs typeface="Carlito"/>
              </a:rPr>
              <a:t>API Target Architecture</a:t>
            </a:r>
          </a:p>
        </p:txBody>
      </p:sp>
      <p:sp>
        <p:nvSpPr>
          <p:cNvPr id="21" name="page-number">
            <a:extLst xmlns:a="http://schemas.openxmlformats.org/drawingml/2006/main">
              <a:ext uri="{FF2B5EF4-FFF2-40B4-BE49-F238E27FC236}">
                <a16:creationId xmlns:a16="http://schemas.microsoft.com/office/drawing/2014/main" id="{628F31AE-43E2-4075-BA0C-9EB8606196FB}"/>
              </a:ext>
            </a:extLst>
          </p:cNvPr>
          <p:cNvSpPr>
            <a:spLocks xmlns:a="http://schemas.openxmlformats.org/drawingml/2006/main" noGrp="1"/>
          </p:cNvSpPr>
          <p:nvPr/>
        </p:nvSpPr>
        <p:spPr>
          <a:xfrm xmlns:a="http://schemas.openxmlformats.org/drawingml/2006/main">
            <a:off x="14458950" y="8162925"/>
            <a:ext cx="4476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70757C"/>
                </a:solidFill>
                <a:latin typeface="Carlito"/>
                <a:ea typeface="Carlito"/>
                <a:cs typeface="Carlito"/>
              </a:defRPr>
            </a:pPr>
            <a:r>
              <a:rPr sz="1350" b="0">
                <a:solidFill>
                  <a:srgbClr val="70757C"/>
                </a:solidFill>
                <a:latin typeface="Carlito"/>
                <a:ea typeface="Carlito"/>
                <a:cs typeface="Carlito"/>
              </a:rPr>
              <a:t>7</a:t>
            </a:r>
          </a:p>
        </p:txBody>
      </p:sp>
      <p:sp>
        <p:nvSpPr>
          <p:cNvPr id="22" name="text">
            <a:extLst xmlns:a="http://schemas.openxmlformats.org/drawingml/2006/main">
              <a:ext uri="{FF2B5EF4-FFF2-40B4-BE49-F238E27FC236}">
                <a16:creationId xmlns:a16="http://schemas.microsoft.com/office/drawing/2014/main" id="{5F104C04-194D-40F3-8D9B-8118A299A042}"/>
              </a:ext>
            </a:extLst>
          </p:cNvPr>
          <p:cNvSpPr>
            <a:spLocks xmlns:a="http://schemas.openxmlformats.org/drawingml/2006/main" noGrp="1"/>
          </p:cNvSpPr>
          <p:nvPr/>
        </p:nvSpPr>
        <p:spPr>
          <a:xfrm xmlns:a="http://schemas.openxmlformats.org/drawingml/2006/main">
            <a:off x="361950" y="1847850"/>
            <a:ext cx="14458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1632"/>
                </a:solidFill>
                <a:latin typeface="Carlito"/>
                <a:ea typeface="Carlito"/>
                <a:cs typeface="Carlito"/>
              </a:defRPr>
            </a:pPr>
            <a:r>
              <a:rPr sz="2100" b="1">
                <a:solidFill>
                  <a:srgbClr val="A91632"/>
                </a:solidFill>
                <a:latin typeface="Carlito"/>
                <a:ea typeface="Carlito"/>
                <a:cs typeface="Carlito"/>
              </a:rPr>
              <a:t>External engagement and internal integration use a common API foundation</a:t>
            </a:r>
          </a:p>
        </p:txBody>
      </p:sp>
      <p:sp>
        <p:nvSpPr>
          <p:cNvPr id="23" name="External consumers">
            <a:extLst xmlns:a="http://schemas.openxmlformats.org/drawingml/2006/main">
              <a:ext uri="{FF2B5EF4-FFF2-40B4-BE49-F238E27FC236}">
                <a16:creationId xmlns:a16="http://schemas.microsoft.com/office/drawing/2014/main" id="{FF35C510-29D5-4FFD-B954-1AA04F23B68C}"/>
              </a:ext>
            </a:extLst>
          </p:cNvPr>
          <p:cNvSpPr>
            <a:spLocks xmlns:a="http://schemas.openxmlformats.org/drawingml/2006/main" noGrp="1"/>
          </p:cNvSpPr>
          <p:nvPr/>
        </p:nvSpPr>
        <p:spPr>
          <a:xfrm xmlns:a="http://schemas.openxmlformats.org/drawingml/2006/main">
            <a:off x="400050" y="2409825"/>
            <a:ext cx="4772025" cy="800100"/>
          </a:xfrm>
          <a:prstGeom xmlns:a="http://schemas.openxmlformats.org/drawingml/2006/main" prst="rect">
            <a:avLst/>
          </a:prstGeom>
          <a:solidFill xmlns:a="http://schemas.openxmlformats.org/drawingml/2006/main">
            <a:srgbClr val="F4F5F6"/>
          </a:solidFill>
          <a:ln xmlns:a="http://schemas.openxmlformats.org/drawingml/2006/main" w="19050">
            <a:solidFill>
              <a:srgbClr val="70757C"/>
            </a:solidFill>
          </a:ln>
        </p:spPr>
      </p:sp>
      <p:sp>
        <p:nvSpPr>
          <p:cNvPr id="24" name="text">
            <a:extLst xmlns:a="http://schemas.openxmlformats.org/drawingml/2006/main">
              <a:ext uri="{FF2B5EF4-FFF2-40B4-BE49-F238E27FC236}">
                <a16:creationId xmlns:a16="http://schemas.microsoft.com/office/drawing/2014/main" id="{9778FCA4-2940-40C3-99E4-59C6C5B63CA4}"/>
              </a:ext>
            </a:extLst>
          </p:cNvPr>
          <p:cNvSpPr>
            <a:spLocks xmlns:a="http://schemas.openxmlformats.org/drawingml/2006/main" noGrp="1"/>
          </p:cNvSpPr>
          <p:nvPr/>
        </p:nvSpPr>
        <p:spPr>
          <a:xfrm xmlns:a="http://schemas.openxmlformats.org/drawingml/2006/main">
            <a:off x="571500" y="2524125"/>
            <a:ext cx="442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1">
                <a:solidFill>
                  <a:srgbClr val="A91632"/>
                </a:solidFill>
                <a:latin typeface="Carlito"/>
                <a:ea typeface="Carlito"/>
                <a:cs typeface="Carlito"/>
              </a:defRPr>
            </a:pPr>
            <a:r>
              <a:rPr sz="1875" b="1">
                <a:solidFill>
                  <a:srgbClr val="A91632"/>
                </a:solidFill>
                <a:latin typeface="Carlito"/>
                <a:ea typeface="Carlito"/>
                <a:cs typeface="Carlito"/>
              </a:rPr>
              <a:t>External consumers</a:t>
            </a:r>
          </a:p>
        </p:txBody>
      </p:sp>
      <p:sp>
        <p:nvSpPr>
          <p:cNvPr id="25" name="text">
            <a:extLst xmlns:a="http://schemas.openxmlformats.org/drawingml/2006/main">
              <a:ext uri="{FF2B5EF4-FFF2-40B4-BE49-F238E27FC236}">
                <a16:creationId xmlns:a16="http://schemas.microsoft.com/office/drawing/2014/main" id="{4689FA2B-81DF-4A0A-A6EB-9433A8FDC8D9}"/>
              </a:ext>
            </a:extLst>
          </p:cNvPr>
          <p:cNvSpPr>
            <a:spLocks xmlns:a="http://schemas.openxmlformats.org/drawingml/2006/main" noGrp="1"/>
          </p:cNvSpPr>
          <p:nvPr/>
        </p:nvSpPr>
        <p:spPr>
          <a:xfrm xmlns:a="http://schemas.openxmlformats.org/drawingml/2006/main">
            <a:off x="571500" y="2876550"/>
            <a:ext cx="442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30343A"/>
                </a:solidFill>
                <a:latin typeface="Carlito"/>
                <a:ea typeface="Carlito"/>
                <a:cs typeface="Carlito"/>
              </a:defRPr>
            </a:pPr>
            <a:r>
              <a:rPr sz="1725" b="0">
                <a:solidFill>
                  <a:srgbClr val="30343A"/>
                </a:solidFill>
                <a:latin typeface="Carlito"/>
                <a:ea typeface="Carlito"/>
                <a:cs typeface="Carlito"/>
              </a:rPr>
              <a:t>Client and partner applications</a:t>
            </a:r>
          </a:p>
        </p:txBody>
      </p:sp>
      <p:sp>
        <p:nvSpPr>
          <p:cNvPr id="26" name="Internal consumers">
            <a:extLst xmlns:a="http://schemas.openxmlformats.org/drawingml/2006/main">
              <a:ext uri="{FF2B5EF4-FFF2-40B4-BE49-F238E27FC236}">
                <a16:creationId xmlns:a16="http://schemas.microsoft.com/office/drawing/2014/main" id="{BAE7C5B6-B169-4123-99AD-4DBE8782040E}"/>
              </a:ext>
            </a:extLst>
          </p:cNvPr>
          <p:cNvSpPr>
            <a:spLocks xmlns:a="http://schemas.openxmlformats.org/drawingml/2006/main" noGrp="1"/>
          </p:cNvSpPr>
          <p:nvPr/>
        </p:nvSpPr>
        <p:spPr>
          <a:xfrm xmlns:a="http://schemas.openxmlformats.org/drawingml/2006/main">
            <a:off x="6067425" y="2409825"/>
            <a:ext cx="4772025" cy="800100"/>
          </a:xfrm>
          <a:prstGeom xmlns:a="http://schemas.openxmlformats.org/drawingml/2006/main" prst="rect">
            <a:avLst/>
          </a:prstGeom>
          <a:solidFill xmlns:a="http://schemas.openxmlformats.org/drawingml/2006/main">
            <a:srgbClr val="F4F5F6"/>
          </a:solidFill>
          <a:ln xmlns:a="http://schemas.openxmlformats.org/drawingml/2006/main" w="19050">
            <a:solidFill>
              <a:srgbClr val="70757C"/>
            </a:solidFill>
          </a:ln>
        </p:spPr>
      </p:sp>
      <p:sp>
        <p:nvSpPr>
          <p:cNvPr id="27" name="text">
            <a:extLst xmlns:a="http://schemas.openxmlformats.org/drawingml/2006/main">
              <a:ext uri="{FF2B5EF4-FFF2-40B4-BE49-F238E27FC236}">
                <a16:creationId xmlns:a16="http://schemas.microsoft.com/office/drawing/2014/main" id="{F59D0E6B-DCFE-4AED-A1FA-C7127B6B3383}"/>
              </a:ext>
            </a:extLst>
          </p:cNvPr>
          <p:cNvSpPr>
            <a:spLocks xmlns:a="http://schemas.openxmlformats.org/drawingml/2006/main" noGrp="1"/>
          </p:cNvSpPr>
          <p:nvPr/>
        </p:nvSpPr>
        <p:spPr>
          <a:xfrm xmlns:a="http://schemas.openxmlformats.org/drawingml/2006/main">
            <a:off x="6238875" y="2524125"/>
            <a:ext cx="442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1">
                <a:solidFill>
                  <a:srgbClr val="A91632"/>
                </a:solidFill>
                <a:latin typeface="Carlito"/>
                <a:ea typeface="Carlito"/>
                <a:cs typeface="Carlito"/>
              </a:defRPr>
            </a:pPr>
            <a:r>
              <a:rPr sz="1875" b="1">
                <a:solidFill>
                  <a:srgbClr val="A91632"/>
                </a:solidFill>
                <a:latin typeface="Carlito"/>
                <a:ea typeface="Carlito"/>
                <a:cs typeface="Carlito"/>
              </a:rPr>
              <a:t>Internal consumers</a:t>
            </a:r>
          </a:p>
        </p:txBody>
      </p:sp>
      <p:sp>
        <p:nvSpPr>
          <p:cNvPr id="28" name="text">
            <a:extLst xmlns:a="http://schemas.openxmlformats.org/drawingml/2006/main">
              <a:ext uri="{FF2B5EF4-FFF2-40B4-BE49-F238E27FC236}">
                <a16:creationId xmlns:a16="http://schemas.microsoft.com/office/drawing/2014/main" id="{23274BF9-7E8B-440B-B108-1A7E916FDE59}"/>
              </a:ext>
            </a:extLst>
          </p:cNvPr>
          <p:cNvSpPr>
            <a:spLocks xmlns:a="http://schemas.openxmlformats.org/drawingml/2006/main" noGrp="1"/>
          </p:cNvSpPr>
          <p:nvPr/>
        </p:nvSpPr>
        <p:spPr>
          <a:xfrm xmlns:a="http://schemas.openxmlformats.org/drawingml/2006/main">
            <a:off x="6238875" y="2876550"/>
            <a:ext cx="442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30343A"/>
                </a:solidFill>
                <a:latin typeface="Carlito"/>
                <a:ea typeface="Carlito"/>
                <a:cs typeface="Carlito"/>
              </a:defRPr>
            </a:pPr>
            <a:r>
              <a:rPr sz="1725" b="0">
                <a:solidFill>
                  <a:srgbClr val="30343A"/>
                </a:solidFill>
                <a:latin typeface="Carlito"/>
                <a:ea typeface="Carlito"/>
                <a:cs typeface="Carlito"/>
              </a:rPr>
              <a:t>Euroclear channels and services</a:t>
            </a:r>
          </a:p>
        </p:txBody>
      </p:sp>
      <p:sp>
        <p:nvSpPr>
          <p:cNvPr id="29" name="External APIs">
            <a:extLst xmlns:a="http://schemas.openxmlformats.org/drawingml/2006/main">
              <a:ext uri="{FF2B5EF4-FFF2-40B4-BE49-F238E27FC236}">
                <a16:creationId xmlns:a16="http://schemas.microsoft.com/office/drawing/2014/main" id="{B703F92B-BCED-4E37-989A-58E978C02ACD}"/>
              </a:ext>
            </a:extLst>
          </p:cNvPr>
          <p:cNvSpPr>
            <a:spLocks xmlns:a="http://schemas.openxmlformats.org/drawingml/2006/main" noGrp="1"/>
          </p:cNvSpPr>
          <p:nvPr/>
        </p:nvSpPr>
        <p:spPr>
          <a:xfrm xmlns:a="http://schemas.openxmlformats.org/drawingml/2006/main">
            <a:off x="400050" y="3695700"/>
            <a:ext cx="4772025" cy="1104900"/>
          </a:xfrm>
          <a:prstGeom xmlns:a="http://schemas.openxmlformats.org/drawingml/2006/main" prst="rect">
            <a:avLst/>
          </a:prstGeom>
          <a:solidFill xmlns:a="http://schemas.openxmlformats.org/drawingml/2006/main">
            <a:srgbClr val="FAEEF1"/>
          </a:solidFill>
          <a:ln xmlns:a="http://schemas.openxmlformats.org/drawingml/2006/main" w="19050">
            <a:solidFill>
              <a:srgbClr val="BE1738"/>
            </a:solidFill>
          </a:ln>
        </p:spPr>
      </p:sp>
      <p:sp>
        <p:nvSpPr>
          <p:cNvPr id="30" name="text">
            <a:extLst xmlns:a="http://schemas.openxmlformats.org/drawingml/2006/main">
              <a:ext uri="{FF2B5EF4-FFF2-40B4-BE49-F238E27FC236}">
                <a16:creationId xmlns:a16="http://schemas.microsoft.com/office/drawing/2014/main" id="{1BC5FB7A-D7FD-4A30-8F9A-D4DA2441F73B}"/>
              </a:ext>
            </a:extLst>
          </p:cNvPr>
          <p:cNvSpPr>
            <a:spLocks xmlns:a="http://schemas.openxmlformats.org/drawingml/2006/main" noGrp="1"/>
          </p:cNvSpPr>
          <p:nvPr/>
        </p:nvSpPr>
        <p:spPr>
          <a:xfrm xmlns:a="http://schemas.openxmlformats.org/drawingml/2006/main">
            <a:off x="571500" y="3810000"/>
            <a:ext cx="442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b="1">
                <a:solidFill>
                  <a:srgbClr val="A91632"/>
                </a:solidFill>
                <a:latin typeface="Carlito"/>
                <a:ea typeface="Carlito"/>
                <a:cs typeface="Carlito"/>
              </a:defRPr>
            </a:pPr>
            <a:r>
              <a:rPr sz="1950" b="1">
                <a:solidFill>
                  <a:srgbClr val="A91632"/>
                </a:solidFill>
                <a:latin typeface="Carlito"/>
                <a:ea typeface="Carlito"/>
                <a:cs typeface="Carlito"/>
              </a:rPr>
              <a:t>External APIs</a:t>
            </a:r>
          </a:p>
        </p:txBody>
      </p:sp>
      <p:sp>
        <p:nvSpPr>
          <p:cNvPr id="31" name="text">
            <a:extLst xmlns:a="http://schemas.openxmlformats.org/drawingml/2006/main">
              <a:ext uri="{FF2B5EF4-FFF2-40B4-BE49-F238E27FC236}">
                <a16:creationId xmlns:a16="http://schemas.microsoft.com/office/drawing/2014/main" id="{A9FA4013-FE44-46C2-AE65-E6F4BAACEFE6}"/>
              </a:ext>
            </a:extLst>
          </p:cNvPr>
          <p:cNvSpPr>
            <a:spLocks xmlns:a="http://schemas.openxmlformats.org/drawingml/2006/main" noGrp="1"/>
          </p:cNvSpPr>
          <p:nvPr/>
        </p:nvSpPr>
        <p:spPr>
          <a:xfrm xmlns:a="http://schemas.openxmlformats.org/drawingml/2006/main">
            <a:off x="571500" y="4162425"/>
            <a:ext cx="44291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30343A"/>
                </a:solidFill>
                <a:latin typeface="Carlito"/>
                <a:ea typeface="Carlito"/>
                <a:cs typeface="Carlito"/>
              </a:defRPr>
            </a:pPr>
            <a:r>
              <a:rPr sz="1800" b="0">
                <a:solidFill>
                  <a:srgbClr val="30343A"/>
                </a:solidFill>
                <a:latin typeface="Carlito"/>
                <a:ea typeface="Carlito"/>
                <a:cs typeface="Carlito"/>
              </a:rPr>
              <a:t>Digital engagement channel</a:t>
            </a:r>
          </a:p>
          <a:p xmlns:a="http://schemas.openxmlformats.org/drawingml/2006/main">
            <a:pPr algn="ctr">
              <a:defRPr sz="1800" b="0">
                <a:solidFill>
                  <a:srgbClr val="30343A"/>
                </a:solidFill>
                <a:latin typeface="Carlito"/>
                <a:ea typeface="Carlito"/>
                <a:cs typeface="Carlito"/>
              </a:defRPr>
            </a:pPr>
            <a:r>
              <a:rPr sz="1800" b="0">
                <a:solidFill>
                  <a:srgbClr val="30343A"/>
                </a:solidFill>
                <a:latin typeface="Carlito"/>
                <a:ea typeface="Carlito"/>
                <a:cs typeface="Carlito"/>
              </a:rPr>
              <a:t>External exposure and consumer policies</a:t>
            </a:r>
          </a:p>
        </p:txBody>
      </p:sp>
      <p:sp>
        <p:nvSpPr>
          <p:cNvPr id="32" name="Internal APIs">
            <a:extLst xmlns:a="http://schemas.openxmlformats.org/drawingml/2006/main">
              <a:ext uri="{FF2B5EF4-FFF2-40B4-BE49-F238E27FC236}">
                <a16:creationId xmlns:a16="http://schemas.microsoft.com/office/drawing/2014/main" id="{E3A48131-EB1F-4B6B-A820-9E671D5B71B7}"/>
              </a:ext>
            </a:extLst>
          </p:cNvPr>
          <p:cNvSpPr>
            <a:spLocks xmlns:a="http://schemas.openxmlformats.org/drawingml/2006/main" noGrp="1"/>
          </p:cNvSpPr>
          <p:nvPr/>
        </p:nvSpPr>
        <p:spPr>
          <a:xfrm xmlns:a="http://schemas.openxmlformats.org/drawingml/2006/main">
            <a:off x="6067425" y="3695700"/>
            <a:ext cx="4772025" cy="1104900"/>
          </a:xfrm>
          <a:prstGeom xmlns:a="http://schemas.openxmlformats.org/drawingml/2006/main" prst="rect">
            <a:avLst/>
          </a:prstGeom>
          <a:solidFill xmlns:a="http://schemas.openxmlformats.org/drawingml/2006/main">
            <a:srgbClr val="E8F4F2"/>
          </a:solidFill>
          <a:ln xmlns:a="http://schemas.openxmlformats.org/drawingml/2006/main" w="19050">
            <a:solidFill>
              <a:srgbClr val="288C87"/>
            </a:solidFill>
          </a:ln>
        </p:spPr>
      </p:sp>
      <p:sp>
        <p:nvSpPr>
          <p:cNvPr id="33" name="text">
            <a:extLst xmlns:a="http://schemas.openxmlformats.org/drawingml/2006/main">
              <a:ext uri="{FF2B5EF4-FFF2-40B4-BE49-F238E27FC236}">
                <a16:creationId xmlns:a16="http://schemas.microsoft.com/office/drawing/2014/main" id="{4188657E-3AF6-4F85-9CC5-0805078952A6}"/>
              </a:ext>
            </a:extLst>
          </p:cNvPr>
          <p:cNvSpPr>
            <a:spLocks xmlns:a="http://schemas.openxmlformats.org/drawingml/2006/main" noGrp="1"/>
          </p:cNvSpPr>
          <p:nvPr/>
        </p:nvSpPr>
        <p:spPr>
          <a:xfrm xmlns:a="http://schemas.openxmlformats.org/drawingml/2006/main">
            <a:off x="6238875" y="3810000"/>
            <a:ext cx="442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b="1">
                <a:solidFill>
                  <a:srgbClr val="288C87"/>
                </a:solidFill>
                <a:latin typeface="Carlito"/>
                <a:ea typeface="Carlito"/>
                <a:cs typeface="Carlito"/>
              </a:defRPr>
            </a:pPr>
            <a:r>
              <a:rPr sz="1950" b="1">
                <a:solidFill>
                  <a:srgbClr val="288C87"/>
                </a:solidFill>
                <a:latin typeface="Carlito"/>
                <a:ea typeface="Carlito"/>
                <a:cs typeface="Carlito"/>
              </a:rPr>
              <a:t>Internal APIs</a:t>
            </a:r>
          </a:p>
        </p:txBody>
      </p:sp>
      <p:sp>
        <p:nvSpPr>
          <p:cNvPr id="34" name="text">
            <a:extLst xmlns:a="http://schemas.openxmlformats.org/drawingml/2006/main">
              <a:ext uri="{FF2B5EF4-FFF2-40B4-BE49-F238E27FC236}">
                <a16:creationId xmlns:a16="http://schemas.microsoft.com/office/drawing/2014/main" id="{90770351-55E1-4854-81C3-A7573D1A10F8}"/>
              </a:ext>
            </a:extLst>
          </p:cNvPr>
          <p:cNvSpPr>
            <a:spLocks xmlns:a="http://schemas.openxmlformats.org/drawingml/2006/main" noGrp="1"/>
          </p:cNvSpPr>
          <p:nvPr/>
        </p:nvSpPr>
        <p:spPr>
          <a:xfrm xmlns:a="http://schemas.openxmlformats.org/drawingml/2006/main">
            <a:off x="6238875" y="4162425"/>
            <a:ext cx="44291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30343A"/>
                </a:solidFill>
                <a:latin typeface="Carlito"/>
                <a:ea typeface="Carlito"/>
                <a:cs typeface="Carlito"/>
              </a:defRPr>
            </a:pPr>
            <a:r>
              <a:rPr sz="1800" b="0">
                <a:solidFill>
                  <a:srgbClr val="30343A"/>
                </a:solidFill>
                <a:latin typeface="Carlito"/>
                <a:ea typeface="Carlito"/>
                <a:cs typeface="Carlito"/>
              </a:rPr>
              <a:t>Enterprise integration mechanism</a:t>
            </a:r>
          </a:p>
          <a:p xmlns:a="http://schemas.openxmlformats.org/drawingml/2006/main">
            <a:pPr algn="ctr">
              <a:defRPr sz="1800" b="0">
                <a:solidFill>
                  <a:srgbClr val="30343A"/>
                </a:solidFill>
                <a:latin typeface="Carlito"/>
                <a:ea typeface="Carlito"/>
                <a:cs typeface="Carlito"/>
              </a:defRPr>
            </a:pPr>
            <a:r>
              <a:rPr sz="1800" b="0">
                <a:solidFill>
                  <a:srgbClr val="30343A"/>
                </a:solidFill>
                <a:latin typeface="Carlito"/>
                <a:ea typeface="Carlito"/>
                <a:cs typeface="Carlito"/>
              </a:rPr>
              <a:t>Service identity and internal access policies</a:t>
            </a:r>
          </a:p>
        </p:txBody>
      </p:sp>
      <p:cxnSp>
        <p:nvCxnSpPr>
          <p:cNvPr id="91" name=""/>
          <p:cNvCxnSpPr>
            <a:stCxn xmlns:a="http://schemas.openxmlformats.org/drawingml/2006/main" id="23" idx="2"/>
            <a:endCxn xmlns:a="http://schemas.openxmlformats.org/drawingml/2006/main" id="29" idx="0"/>
          </p:cNvCxnSpPr>
          <p:nvPr/>
        </p:nvCxnSpPr>
        <p:spPr>
          <a:xfrm xmlns:a="http://schemas.openxmlformats.org/drawingml/2006/main">
            <a:off x="2786063" y="3209925"/>
            <a:ext cx="0" cy="485775"/>
          </a:xfrm>
          <a:prstGeom xmlns:a="http://schemas.openxmlformats.org/drawingml/2006/main" prst="straightConnector1">
            <a:avLst/>
          </a:prstGeom>
          <a:ln xmlns:a="http://schemas.openxmlformats.org/drawingml/2006/main" w="23813">
            <a:solidFill>
              <a:srgbClr val="BE1738"/>
            </a:solidFill>
            <a:prstDash val="solid"/>
            <a:tailEnd type="triangle" w="sm" len="sm"/>
          </a:ln>
        </p:spPr>
      </p:cxnSp>
      <p:cxnSp>
        <p:nvCxnSpPr>
          <p:cNvPr id="92" name=""/>
          <p:cNvCxnSpPr>
            <a:stCxn xmlns:a="http://schemas.openxmlformats.org/drawingml/2006/main" id="26" idx="2"/>
            <a:endCxn xmlns:a="http://schemas.openxmlformats.org/drawingml/2006/main" id="32" idx="0"/>
          </p:cNvCxnSpPr>
          <p:nvPr/>
        </p:nvCxnSpPr>
        <p:spPr>
          <a:xfrm xmlns:a="http://schemas.openxmlformats.org/drawingml/2006/main">
            <a:off x="8453438" y="3209925"/>
            <a:ext cx="0" cy="485775"/>
          </a:xfrm>
          <a:prstGeom xmlns:a="http://schemas.openxmlformats.org/drawingml/2006/main" prst="straightConnector1">
            <a:avLst/>
          </a:prstGeom>
          <a:ln xmlns:a="http://schemas.openxmlformats.org/drawingml/2006/main" w="23813">
            <a:solidFill>
              <a:srgbClr val="288C87"/>
            </a:solidFill>
            <a:prstDash val="solid"/>
            <a:tailEnd type="triangle" w="sm" len="sm"/>
          </a:ln>
        </p:spPr>
      </p:cxnSp>
      <p:cxnSp>
        <p:nvCxnSpPr>
          <p:cNvPr id="93" name=""/>
          <p:cNvCxnSpPr>
            <a:stCxn xmlns:a="http://schemas.openxmlformats.org/drawingml/2006/main" id="29" idx="3"/>
            <a:endCxn xmlns:a="http://schemas.openxmlformats.org/drawingml/2006/main" id="32" idx="1"/>
          </p:cNvCxnSpPr>
          <p:nvPr/>
        </p:nvCxnSpPr>
        <p:spPr>
          <a:xfrm xmlns:a="http://schemas.openxmlformats.org/drawingml/2006/main">
            <a:off x="5172075" y="4248150"/>
            <a:ext cx="895350" cy="0"/>
          </a:xfrm>
          <a:prstGeom xmlns:a="http://schemas.openxmlformats.org/drawingml/2006/main" prst="straightConnector1">
            <a:avLst/>
          </a:prstGeom>
          <a:ln xmlns:a="http://schemas.openxmlformats.org/drawingml/2006/main" w="23813">
            <a:solidFill>
              <a:srgbClr val="70757C"/>
            </a:solidFill>
            <a:prstDash val="solid"/>
            <a:tailEnd type="triangle" w="sm" len="sm"/>
          </a:ln>
        </p:spPr>
      </p:cxnSp>
      <p:sp>
        <p:nvSpPr>
          <p:cNvPr id="38" name="text">
            <a:extLst xmlns:a="http://schemas.openxmlformats.org/drawingml/2006/main">
              <a:ext uri="{FF2B5EF4-FFF2-40B4-BE49-F238E27FC236}">
                <a16:creationId xmlns:a16="http://schemas.microsoft.com/office/drawing/2014/main" id="{5A3484B2-A91B-46C4-A019-75A9F94BA217}"/>
              </a:ext>
            </a:extLst>
          </p:cNvPr>
          <p:cNvSpPr>
            <a:spLocks xmlns:a="http://schemas.openxmlformats.org/drawingml/2006/main" noGrp="1"/>
          </p:cNvSpPr>
          <p:nvPr/>
        </p:nvSpPr>
        <p:spPr>
          <a:xfrm xmlns:a="http://schemas.openxmlformats.org/drawingml/2006/main">
            <a:off x="5229225" y="3848100"/>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30343A"/>
                </a:solidFill>
                <a:latin typeface="Carlito"/>
                <a:ea typeface="Carlito"/>
                <a:cs typeface="Carlito"/>
              </a:defRPr>
            </a:pPr>
            <a:r>
              <a:rPr sz="1350" b="1">
                <a:solidFill>
                  <a:srgbClr val="30343A"/>
                </a:solidFill>
                <a:latin typeface="Carlito"/>
                <a:ea typeface="Carlito"/>
                <a:cs typeface="Carlito"/>
              </a:rPr>
              <a:t>Reuse</a:t>
            </a:r>
          </a:p>
        </p:txBody>
      </p:sp>
      <p:sp>
        <p:nvSpPr>
          <p:cNvPr id="39" name="text">
            <a:extLst xmlns:a="http://schemas.openxmlformats.org/drawingml/2006/main">
              <a:ext uri="{FF2B5EF4-FFF2-40B4-BE49-F238E27FC236}">
                <a16:creationId xmlns:a16="http://schemas.microsoft.com/office/drawing/2014/main" id="{DE429474-79AE-414B-B0FE-C715F55CDFE9}"/>
              </a:ext>
            </a:extLst>
          </p:cNvPr>
          <p:cNvSpPr>
            <a:spLocks xmlns:a="http://schemas.openxmlformats.org/drawingml/2006/main" noGrp="1"/>
          </p:cNvSpPr>
          <p:nvPr/>
        </p:nvSpPr>
        <p:spPr>
          <a:xfrm xmlns:a="http://schemas.openxmlformats.org/drawingml/2006/main">
            <a:off x="5219700" y="4467225"/>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a:solidFill>
                  <a:srgbClr val="70757C"/>
                </a:solidFill>
                <a:latin typeface="Carlito"/>
                <a:ea typeface="Carlito"/>
                <a:cs typeface="Carlito"/>
              </a:defRPr>
            </a:pPr>
            <a:r>
              <a:rPr sz="1275" b="0">
                <a:solidFill>
                  <a:srgbClr val="70757C"/>
                </a:solidFill>
                <a:latin typeface="Carlito"/>
                <a:ea typeface="Carlito"/>
                <a:cs typeface="Carlito"/>
              </a:rPr>
              <a:t>as needed</a:t>
            </a:r>
          </a:p>
        </p:txBody>
      </p:sp>
      <p:sp>
        <p:nvSpPr>
          <p:cNvPr id="40" name="Domain services and business capabilities">
            <a:extLst xmlns:a="http://schemas.openxmlformats.org/drawingml/2006/main">
              <a:ext uri="{FF2B5EF4-FFF2-40B4-BE49-F238E27FC236}">
                <a16:creationId xmlns:a16="http://schemas.microsoft.com/office/drawing/2014/main" id="{8A2A7FA1-92A6-4565-807C-FD7CF1D75A1A}"/>
              </a:ext>
            </a:extLst>
          </p:cNvPr>
          <p:cNvSpPr>
            <a:spLocks xmlns:a="http://schemas.openxmlformats.org/drawingml/2006/main" noGrp="1"/>
          </p:cNvSpPr>
          <p:nvPr/>
        </p:nvSpPr>
        <p:spPr>
          <a:xfrm xmlns:a="http://schemas.openxmlformats.org/drawingml/2006/main">
            <a:off x="400050" y="5410200"/>
            <a:ext cx="104394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70757C"/>
            </a:solidFill>
          </a:ln>
        </p:spPr>
      </p:sp>
      <p:sp>
        <p:nvSpPr>
          <p:cNvPr id="41" name="text">
            <a:extLst xmlns:a="http://schemas.openxmlformats.org/drawingml/2006/main">
              <a:ext uri="{FF2B5EF4-FFF2-40B4-BE49-F238E27FC236}">
                <a16:creationId xmlns:a16="http://schemas.microsoft.com/office/drawing/2014/main" id="{7C03E8A5-4035-4586-BEE8-54B298D7C6FC}"/>
              </a:ext>
            </a:extLst>
          </p:cNvPr>
          <p:cNvSpPr>
            <a:spLocks xmlns:a="http://schemas.openxmlformats.org/drawingml/2006/main" noGrp="1"/>
          </p:cNvSpPr>
          <p:nvPr/>
        </p:nvSpPr>
        <p:spPr>
          <a:xfrm xmlns:a="http://schemas.openxmlformats.org/drawingml/2006/main">
            <a:off x="571500" y="55245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b="1">
                <a:solidFill>
                  <a:srgbClr val="A91632"/>
                </a:solidFill>
                <a:latin typeface="Carlito"/>
                <a:ea typeface="Carlito"/>
                <a:cs typeface="Carlito"/>
              </a:defRPr>
            </a:pPr>
            <a:r>
              <a:rPr sz="1950" b="1">
                <a:solidFill>
                  <a:srgbClr val="A91632"/>
                </a:solidFill>
                <a:latin typeface="Carlito"/>
                <a:ea typeface="Carlito"/>
                <a:cs typeface="Carlito"/>
              </a:rPr>
              <a:t>Domain services and business capabilities</a:t>
            </a:r>
          </a:p>
        </p:txBody>
      </p:sp>
      <p:sp>
        <p:nvSpPr>
          <p:cNvPr id="42" name="text">
            <a:extLst xmlns:a="http://schemas.openxmlformats.org/drawingml/2006/main">
              <a:ext uri="{FF2B5EF4-FFF2-40B4-BE49-F238E27FC236}">
                <a16:creationId xmlns:a16="http://schemas.microsoft.com/office/drawing/2014/main" id="{30F0B0BD-46B5-45C1-870C-97745F4084CD}"/>
              </a:ext>
            </a:extLst>
          </p:cNvPr>
          <p:cNvSpPr>
            <a:spLocks xmlns:a="http://schemas.openxmlformats.org/drawingml/2006/main" noGrp="1"/>
          </p:cNvSpPr>
          <p:nvPr/>
        </p:nvSpPr>
        <p:spPr>
          <a:xfrm xmlns:a="http://schemas.openxmlformats.org/drawingml/2006/main">
            <a:off x="571500" y="5876925"/>
            <a:ext cx="10096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30343A"/>
                </a:solidFill>
                <a:latin typeface="Carlito"/>
                <a:ea typeface="Carlito"/>
                <a:cs typeface="Carlito"/>
              </a:defRPr>
            </a:pPr>
            <a:r>
              <a:rPr sz="1800" b="0">
                <a:solidFill>
                  <a:srgbClr val="30343A"/>
                </a:solidFill>
                <a:latin typeface="Carlito"/>
                <a:ea typeface="Carlito"/>
                <a:cs typeface="Carlito"/>
              </a:rPr>
              <a:t>Domain-owned business logic and orchestration, with adapters where required</a:t>
            </a:r>
          </a:p>
        </p:txBody>
      </p:sp>
      <p:cxnSp>
        <p:nvCxnSpPr>
          <p:cNvPr id="99" name=""/>
          <p:cNvCxnSpPr>
            <a:stCxn xmlns:a="http://schemas.openxmlformats.org/drawingml/2006/main" id="29" idx="2"/>
            <a:endCxn xmlns:a="http://schemas.openxmlformats.org/drawingml/2006/main" id="40" idx="0"/>
          </p:cNvCxnSpPr>
          <p:nvPr/>
        </p:nvCxnSpPr>
        <p:spPr>
          <a:xfrm xmlns:a="http://schemas.openxmlformats.org/drawingml/2006/main">
            <a:off x="2786063" y="4800600"/>
            <a:ext cx="2833688" cy="609600"/>
          </a:xfrm>
          <a:prstGeom xmlns:a="http://schemas.openxmlformats.org/drawingml/2006/main" prst="bentConnector4">
            <a:avLst>
              <a:gd name="adj1" fmla="val 0"/>
              <a:gd name="adj2" fmla="val 50000"/>
            </a:avLst>
          </a:prstGeom>
          <a:ln xmlns:a="http://schemas.openxmlformats.org/drawingml/2006/main" w="23813">
            <a:solidFill>
              <a:srgbClr val="BE1738"/>
            </a:solidFill>
            <a:prstDash val="solid"/>
            <a:tailEnd type="triangle" w="sm" len="sm"/>
          </a:ln>
        </p:spPr>
      </p:cxnSp>
      <p:cxnSp>
        <p:nvCxnSpPr>
          <p:cNvPr id="100" name=""/>
          <p:cNvCxnSpPr>
            <a:stCxn xmlns:a="http://schemas.openxmlformats.org/drawingml/2006/main" id="32" idx="2"/>
            <a:endCxn xmlns:a="http://schemas.openxmlformats.org/drawingml/2006/main" id="40" idx="0"/>
          </p:cNvCxnSpPr>
          <p:nvPr/>
        </p:nvCxnSpPr>
        <p:spPr>
          <a:xfrm xmlns:a="http://schemas.openxmlformats.org/drawingml/2006/main" flipH="1">
            <a:off x="5619750" y="4800600"/>
            <a:ext cx="2833688" cy="609600"/>
          </a:xfrm>
          <a:prstGeom xmlns:a="http://schemas.openxmlformats.org/drawingml/2006/main" prst="bentConnector4">
            <a:avLst>
              <a:gd name="adj1" fmla="val 0"/>
              <a:gd name="adj2" fmla="val 50000"/>
            </a:avLst>
          </a:prstGeom>
          <a:ln xmlns:a="http://schemas.openxmlformats.org/drawingml/2006/main" w="23813">
            <a:solidFill>
              <a:srgbClr val="288C87"/>
            </a:solidFill>
            <a:prstDash val="solid"/>
            <a:tailEnd type="triangle" w="sm" len="sm"/>
          </a:ln>
        </p:spPr>
      </p:cxnSp>
      <p:sp>
        <p:nvSpPr>
          <p:cNvPr id="45" name="Core systems, data platforms and SaaS">
            <a:extLst xmlns:a="http://schemas.openxmlformats.org/drawingml/2006/main">
              <a:ext uri="{FF2B5EF4-FFF2-40B4-BE49-F238E27FC236}">
                <a16:creationId xmlns:a16="http://schemas.microsoft.com/office/drawing/2014/main" id="{26817D94-E209-43DA-A1A9-B0EE10342B35}"/>
              </a:ext>
            </a:extLst>
          </p:cNvPr>
          <p:cNvSpPr>
            <a:spLocks xmlns:a="http://schemas.openxmlformats.org/drawingml/2006/main" noGrp="1"/>
          </p:cNvSpPr>
          <p:nvPr/>
        </p:nvSpPr>
        <p:spPr>
          <a:xfrm xmlns:a="http://schemas.openxmlformats.org/drawingml/2006/main">
            <a:off x="400050" y="6800850"/>
            <a:ext cx="10439400" cy="781050"/>
          </a:xfrm>
          <a:prstGeom xmlns:a="http://schemas.openxmlformats.org/drawingml/2006/main" prst="rect">
            <a:avLst/>
          </a:prstGeom>
          <a:solidFill xmlns:a="http://schemas.openxmlformats.org/drawingml/2006/main">
            <a:srgbClr val="F4F5F6"/>
          </a:solidFill>
          <a:ln xmlns:a="http://schemas.openxmlformats.org/drawingml/2006/main" w="19050">
            <a:solidFill>
              <a:srgbClr val="70757C"/>
            </a:solidFill>
          </a:ln>
        </p:spPr>
      </p:sp>
      <p:sp>
        <p:nvSpPr>
          <p:cNvPr id="46" name="text">
            <a:extLst xmlns:a="http://schemas.openxmlformats.org/drawingml/2006/main">
              <a:ext uri="{FF2B5EF4-FFF2-40B4-BE49-F238E27FC236}">
                <a16:creationId xmlns:a16="http://schemas.microsoft.com/office/drawing/2014/main" id="{61A8AD77-585F-4A77-9B10-99122F67F93D}"/>
              </a:ext>
            </a:extLst>
          </p:cNvPr>
          <p:cNvSpPr>
            <a:spLocks xmlns:a="http://schemas.openxmlformats.org/drawingml/2006/main" noGrp="1"/>
          </p:cNvSpPr>
          <p:nvPr/>
        </p:nvSpPr>
        <p:spPr>
          <a:xfrm xmlns:a="http://schemas.openxmlformats.org/drawingml/2006/main">
            <a:off x="571500" y="691515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1">
                <a:solidFill>
                  <a:srgbClr val="A91632"/>
                </a:solidFill>
                <a:latin typeface="Carlito"/>
                <a:ea typeface="Carlito"/>
                <a:cs typeface="Carlito"/>
              </a:defRPr>
            </a:pPr>
            <a:r>
              <a:rPr sz="1875" b="1">
                <a:solidFill>
                  <a:srgbClr val="A91632"/>
                </a:solidFill>
                <a:latin typeface="Carlito"/>
                <a:ea typeface="Carlito"/>
                <a:cs typeface="Carlito"/>
              </a:rPr>
              <a:t>Core systems, data platforms and SaaS</a:t>
            </a:r>
          </a:p>
        </p:txBody>
      </p:sp>
      <p:sp>
        <p:nvSpPr>
          <p:cNvPr id="47" name="text">
            <a:extLst xmlns:a="http://schemas.openxmlformats.org/drawingml/2006/main">
              <a:ext uri="{FF2B5EF4-FFF2-40B4-BE49-F238E27FC236}">
                <a16:creationId xmlns:a16="http://schemas.microsoft.com/office/drawing/2014/main" id="{128003E4-3709-4472-BC34-1A9162F479B8}"/>
              </a:ext>
            </a:extLst>
          </p:cNvPr>
          <p:cNvSpPr>
            <a:spLocks xmlns:a="http://schemas.openxmlformats.org/drawingml/2006/main" noGrp="1"/>
          </p:cNvSpPr>
          <p:nvPr/>
        </p:nvSpPr>
        <p:spPr>
          <a:xfrm xmlns:a="http://schemas.openxmlformats.org/drawingml/2006/main">
            <a:off x="571500" y="7267575"/>
            <a:ext cx="1009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30343A"/>
                </a:solidFill>
                <a:latin typeface="Carlito"/>
                <a:ea typeface="Carlito"/>
                <a:cs typeface="Carlito"/>
              </a:defRPr>
            </a:pPr>
            <a:r>
              <a:rPr sz="1725" b="0">
                <a:solidFill>
                  <a:srgbClr val="30343A"/>
                </a:solidFill>
                <a:latin typeface="Carlito"/>
                <a:ea typeface="Carlito"/>
                <a:cs typeface="Carlito"/>
              </a:rPr>
              <a:t>Settlement, cash, collateral, corporate services and enterprise data</a:t>
            </a:r>
          </a:p>
        </p:txBody>
      </p:sp>
      <p:cxnSp>
        <p:nvCxnSpPr>
          <p:cNvPr id="104" name=""/>
          <p:cNvCxnSpPr>
            <a:stCxn xmlns:a="http://schemas.openxmlformats.org/drawingml/2006/main" id="40" idx="2"/>
            <a:endCxn xmlns:a="http://schemas.openxmlformats.org/drawingml/2006/main" id="45" idx="0"/>
          </p:cNvCxnSpPr>
          <p:nvPr/>
        </p:nvCxnSpPr>
        <p:spPr>
          <a:xfrm xmlns:a="http://schemas.openxmlformats.org/drawingml/2006/main">
            <a:off x="5619750" y="6267450"/>
            <a:ext cx="0" cy="533400"/>
          </a:xfrm>
          <a:prstGeom xmlns:a="http://schemas.openxmlformats.org/drawingml/2006/main" prst="straightConnector1">
            <a:avLst/>
          </a:prstGeom>
          <a:ln xmlns:a="http://schemas.openxmlformats.org/drawingml/2006/main" w="23813">
            <a:solidFill>
              <a:srgbClr val="70757C"/>
            </a:solidFill>
            <a:prstDash val="solid"/>
            <a:tailEnd type="triangle" w="sm" len="sm"/>
          </a:ln>
        </p:spPr>
      </p:cxnSp>
      <p:sp>
        <p:nvSpPr>
          <p:cNvPr id="49" name="box">
            <a:extLst xmlns:a="http://schemas.openxmlformats.org/drawingml/2006/main">
              <a:ext uri="{FF2B5EF4-FFF2-40B4-BE49-F238E27FC236}">
                <a16:creationId xmlns:a16="http://schemas.microsoft.com/office/drawing/2014/main" id="{C68A49C9-1161-44E1-9060-9CBA32D91D76}"/>
              </a:ext>
            </a:extLst>
          </p:cNvPr>
          <p:cNvSpPr>
            <a:spLocks xmlns:a="http://schemas.openxmlformats.org/drawingml/2006/main" noGrp="1"/>
          </p:cNvSpPr>
          <p:nvPr/>
        </p:nvSpPr>
        <p:spPr>
          <a:xfrm xmlns:a="http://schemas.openxmlformats.org/drawingml/2006/main">
            <a:off x="11334750" y="2409825"/>
            <a:ext cx="3562350" cy="5172075"/>
          </a:xfrm>
          <a:prstGeom xmlns:a="http://schemas.openxmlformats.org/drawingml/2006/main" prst="rect">
            <a:avLst/>
          </a:prstGeom>
          <a:solidFill xmlns:a="http://schemas.openxmlformats.org/drawingml/2006/main">
            <a:srgbClr val="F4F5F6"/>
          </a:solidFill>
          <a:ln xmlns:a="http://schemas.openxmlformats.org/drawingml/2006/main" w="14288">
            <a:solidFill>
              <a:srgbClr val="70757C"/>
            </a:solidFill>
          </a:ln>
        </p:spPr>
      </p:sp>
      <p:sp>
        <p:nvSpPr>
          <p:cNvPr id="50" name="text">
            <a:extLst xmlns:a="http://schemas.openxmlformats.org/drawingml/2006/main">
              <a:ext uri="{FF2B5EF4-FFF2-40B4-BE49-F238E27FC236}">
                <a16:creationId xmlns:a16="http://schemas.microsoft.com/office/drawing/2014/main" id="{02FA3F6C-436E-4744-95A8-00D2ECB272DA}"/>
              </a:ext>
            </a:extLst>
          </p:cNvPr>
          <p:cNvSpPr>
            <a:spLocks xmlns:a="http://schemas.openxmlformats.org/drawingml/2006/main" noGrp="1"/>
          </p:cNvSpPr>
          <p:nvPr/>
        </p:nvSpPr>
        <p:spPr>
          <a:xfrm xmlns:a="http://schemas.openxmlformats.org/drawingml/2006/main">
            <a:off x="11515725" y="2571750"/>
            <a:ext cx="320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75" b="1">
                <a:solidFill>
                  <a:srgbClr val="A91632"/>
                </a:solidFill>
                <a:latin typeface="Carlito"/>
                <a:ea typeface="Carlito"/>
                <a:cs typeface="Carlito"/>
              </a:defRPr>
            </a:pPr>
            <a:r>
              <a:rPr sz="2175" b="1">
                <a:solidFill>
                  <a:srgbClr val="A91632"/>
                </a:solidFill>
                <a:latin typeface="Carlito"/>
                <a:ea typeface="Carlito"/>
                <a:cs typeface="Carlito"/>
              </a:rPr>
              <a:t>Common API foundation</a:t>
            </a:r>
          </a:p>
        </p:txBody>
      </p:sp>
      <p:sp>
        <p:nvSpPr>
          <p:cNvPr id="51" name="text">
            <a:extLst xmlns:a="http://schemas.openxmlformats.org/drawingml/2006/main">
              <a:ext uri="{FF2B5EF4-FFF2-40B4-BE49-F238E27FC236}">
                <a16:creationId xmlns:a16="http://schemas.microsoft.com/office/drawing/2014/main" id="{887115E9-FEF3-4D91-B376-8E4805E7D6DE}"/>
              </a:ext>
            </a:extLst>
          </p:cNvPr>
          <p:cNvSpPr>
            <a:spLocks xmlns:a="http://schemas.openxmlformats.org/drawingml/2006/main" noGrp="1"/>
          </p:cNvSpPr>
          <p:nvPr/>
        </p:nvSpPr>
        <p:spPr>
          <a:xfrm xmlns:a="http://schemas.openxmlformats.org/drawingml/2006/main">
            <a:off x="11525250" y="3238500"/>
            <a:ext cx="31813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30343A"/>
                </a:solidFill>
                <a:latin typeface="Carlito"/>
                <a:ea typeface="Carlito"/>
                <a:cs typeface="Carlito"/>
              </a:defRPr>
            </a:pPr>
            <a:r>
              <a:rPr sz="1800" b="0">
                <a:solidFill>
                  <a:srgbClr val="30343A"/>
                </a:solidFill>
                <a:latin typeface="Carlito"/>
                <a:ea typeface="Carlito"/>
                <a:cs typeface="Carlito"/>
              </a:rPr>
              <a:t>Governance and ownership</a:t>
            </a:r>
          </a:p>
          <a:p xmlns:a="http://schemas.openxmlformats.org/drawingml/2006/main">
            <a:pPr algn="l">
              <a:lnSpc>
                <a:spcPct val="116000"/>
              </a:lnSpc>
              <a:buNone/>
              <a:defRPr sz="1800" b="0">
                <a:solidFill>
                  <a:srgbClr val="30343A"/>
                </a:solidFill>
                <a:latin typeface="Carlito"/>
                <a:ea typeface="Carlito"/>
                <a:cs typeface="Carlito"/>
              </a:defRPr>
            </a:pPr>
            <a:r>
              <a:rPr sz="1800" b="0">
                <a:solidFill>
                  <a:srgbClr val="30343A"/>
                </a:solidFill>
                <a:latin typeface="Carlito"/>
                <a:ea typeface="Carlito"/>
                <a:cs typeface="Carlito"/>
              </a:rPr>
              <a:t>Catalogue and portal</a:t>
            </a:r>
          </a:p>
          <a:p xmlns:a="http://schemas.openxmlformats.org/drawingml/2006/main">
            <a:pPr algn="l">
              <a:lnSpc>
                <a:spcPct val="116000"/>
              </a:lnSpc>
              <a:buNone/>
              <a:defRPr sz="1800" b="0">
                <a:solidFill>
                  <a:srgbClr val="30343A"/>
                </a:solidFill>
                <a:latin typeface="Carlito"/>
                <a:ea typeface="Carlito"/>
                <a:cs typeface="Carlito"/>
              </a:defRPr>
            </a:pPr>
            <a:r>
              <a:rPr sz="1800" b="0">
                <a:solidFill>
                  <a:srgbClr val="30343A"/>
                </a:solidFill>
                <a:latin typeface="Carlito"/>
                <a:ea typeface="Carlito"/>
                <a:cs typeface="Carlito"/>
              </a:rPr>
              <a:t>API design and lifecycle</a:t>
            </a:r>
          </a:p>
          <a:p xmlns:a="http://schemas.openxmlformats.org/drawingml/2006/main">
            <a:pPr algn="l">
              <a:lnSpc>
                <a:spcPct val="116000"/>
              </a:lnSpc>
              <a:buNone/>
              <a:defRPr sz="1800" b="0">
                <a:solidFill>
                  <a:srgbClr val="30343A"/>
                </a:solidFill>
                <a:latin typeface="Carlito"/>
                <a:ea typeface="Carlito"/>
                <a:cs typeface="Carlito"/>
              </a:defRPr>
            </a:pPr>
            <a:r>
              <a:rPr sz="1800" b="0">
                <a:solidFill>
                  <a:srgbClr val="30343A"/>
                </a:solidFill>
                <a:latin typeface="Carlito"/>
                <a:ea typeface="Carlito"/>
                <a:cs typeface="Carlito"/>
              </a:rPr>
              <a:t>Policy management</a:t>
            </a:r>
          </a:p>
          <a:p xmlns:a="http://schemas.openxmlformats.org/drawingml/2006/main">
            <a:pPr algn="l">
              <a:lnSpc>
                <a:spcPct val="116000"/>
              </a:lnSpc>
              <a:buNone/>
              <a:defRPr sz="1800" b="0">
                <a:solidFill>
                  <a:srgbClr val="30343A"/>
                </a:solidFill>
                <a:latin typeface="Carlito"/>
                <a:ea typeface="Carlito"/>
                <a:cs typeface="Carlito"/>
              </a:defRPr>
            </a:pPr>
            <a:r>
              <a:rPr sz="1800" b="0">
                <a:solidFill>
                  <a:srgbClr val="30343A"/>
                </a:solidFill>
                <a:latin typeface="Carlito"/>
                <a:ea typeface="Carlito"/>
                <a:cs typeface="Carlito"/>
              </a:rPr>
              <a:t>Monitoring and audit</a:t>
            </a:r>
          </a:p>
        </p:txBody>
      </p:sp>
      <p:sp>
        <p:nvSpPr>
          <p:cNvPr id="52" name="rule">
            <a:extLst xmlns:a="http://schemas.openxmlformats.org/drawingml/2006/main">
              <a:ext uri="{FF2B5EF4-FFF2-40B4-BE49-F238E27FC236}">
                <a16:creationId xmlns:a16="http://schemas.microsoft.com/office/drawing/2014/main" id="{33372C87-FF4B-46DC-AC82-02AF947E98D7}"/>
              </a:ext>
            </a:extLst>
          </p:cNvPr>
          <p:cNvSpPr>
            <a:spLocks xmlns:a="http://schemas.openxmlformats.org/drawingml/2006/main" noGrp="1"/>
          </p:cNvSpPr>
          <p:nvPr/>
        </p:nvSpPr>
        <p:spPr>
          <a:xfrm xmlns:a="http://schemas.openxmlformats.org/drawingml/2006/main">
            <a:off x="11525250" y="5095875"/>
            <a:ext cx="3181350" cy="0"/>
          </a:xfrm>
          <a:prstGeom xmlns:a="http://schemas.openxmlformats.org/drawingml/2006/main" prst="line">
            <a:avLst/>
          </a:prstGeom>
          <a:noFill xmlns:a="http://schemas.openxmlformats.org/drawingml/2006/main"/>
          <a:ln xmlns:a="http://schemas.openxmlformats.org/drawingml/2006/main" w="9525">
            <a:solidFill>
              <a:srgbClr val="A7ABB0"/>
            </a:solidFill>
          </a:ln>
        </p:spPr>
      </p:sp>
      <p:sp>
        <p:nvSpPr>
          <p:cNvPr id="53" name="text">
            <a:extLst xmlns:a="http://schemas.openxmlformats.org/drawingml/2006/main">
              <a:ext uri="{FF2B5EF4-FFF2-40B4-BE49-F238E27FC236}">
                <a16:creationId xmlns:a16="http://schemas.microsoft.com/office/drawing/2014/main" id="{E890489D-565D-41EE-9B7B-6E24636DA0F4}"/>
              </a:ext>
            </a:extLst>
          </p:cNvPr>
          <p:cNvSpPr>
            <a:spLocks xmlns:a="http://schemas.openxmlformats.org/drawingml/2006/main" noGrp="1"/>
          </p:cNvSpPr>
          <p:nvPr/>
        </p:nvSpPr>
        <p:spPr>
          <a:xfrm xmlns:a="http://schemas.openxmlformats.org/drawingml/2006/main">
            <a:off x="11525250" y="5276850"/>
            <a:ext cx="3181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30343A"/>
                </a:solidFill>
                <a:latin typeface="Carlito"/>
                <a:ea typeface="Carlito"/>
                <a:cs typeface="Carlito"/>
              </a:defRPr>
            </a:pPr>
            <a:r>
              <a:rPr sz="1875" b="1">
                <a:solidFill>
                  <a:srgbClr val="30343A"/>
                </a:solidFill>
                <a:latin typeface="Carlito"/>
                <a:ea typeface="Carlito"/>
                <a:cs typeface="Carlito"/>
              </a:rPr>
              <a:t>API Identity and Access Management</a:t>
            </a:r>
          </a:p>
        </p:txBody>
      </p:sp>
      <p:sp>
        <p:nvSpPr>
          <p:cNvPr id="54" name="text">
            <a:extLst xmlns:a="http://schemas.openxmlformats.org/drawingml/2006/main">
              <a:ext uri="{FF2B5EF4-FFF2-40B4-BE49-F238E27FC236}">
                <a16:creationId xmlns:a16="http://schemas.microsoft.com/office/drawing/2014/main" id="{0027BAE1-6695-4351-A5B6-E1C45A46B23C}"/>
              </a:ext>
            </a:extLst>
          </p:cNvPr>
          <p:cNvSpPr>
            <a:spLocks xmlns:a="http://schemas.openxmlformats.org/drawingml/2006/main" noGrp="1"/>
          </p:cNvSpPr>
          <p:nvPr/>
        </p:nvSpPr>
        <p:spPr>
          <a:xfrm xmlns:a="http://schemas.openxmlformats.org/drawingml/2006/main">
            <a:off x="11525250" y="596265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0343A"/>
                </a:solidFill>
                <a:latin typeface="Carlito"/>
                <a:ea typeface="Carlito"/>
                <a:cs typeface="Carlito"/>
              </a:defRPr>
            </a:pPr>
            <a:r>
              <a:rPr sz="1725" b="0">
                <a:solidFill>
                  <a:srgbClr val="30343A"/>
                </a:solidFill>
                <a:latin typeface="Carlito"/>
                <a:ea typeface="Carlito"/>
                <a:cs typeface="Carlito"/>
              </a:rPr>
              <a:t>Uses enterprise CIAM and/or IDAM services for the relevant identity and access needs.</a:t>
            </a:r>
          </a:p>
        </p:txBody>
      </p:sp>
      <p:sp>
        <p:nvSpPr>
          <p:cNvPr id="55" name="text">
            <a:extLst xmlns:a="http://schemas.openxmlformats.org/drawingml/2006/main">
              <a:ext uri="{FF2B5EF4-FFF2-40B4-BE49-F238E27FC236}">
                <a16:creationId xmlns:a16="http://schemas.microsoft.com/office/drawing/2014/main" id="{57FF9A1D-6BEB-4BFF-9FE6-80D78064085C}"/>
              </a:ext>
            </a:extLst>
          </p:cNvPr>
          <p:cNvSpPr>
            <a:spLocks xmlns:a="http://schemas.openxmlformats.org/drawingml/2006/main" noGrp="1"/>
          </p:cNvSpPr>
          <p:nvPr/>
        </p:nvSpPr>
        <p:spPr>
          <a:xfrm xmlns:a="http://schemas.openxmlformats.org/drawingml/2006/main">
            <a:off x="11525250" y="6924675"/>
            <a:ext cx="31813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88C87"/>
                </a:solidFill>
                <a:latin typeface="Carlito"/>
                <a:ea typeface="Carlito"/>
                <a:cs typeface="Carlito"/>
              </a:defRPr>
            </a:pPr>
            <a:r>
              <a:rPr sz="1650" b="1">
                <a:solidFill>
                  <a:srgbClr val="288C87"/>
                </a:solidFill>
                <a:latin typeface="Carlito"/>
                <a:ea typeface="Carlito"/>
                <a:cs typeface="Carlito"/>
              </a:rPr>
              <a:t>Shared management.</a:t>
            </a:r>
          </a:p>
          <a:p xmlns:a="http://schemas.openxmlformats.org/drawingml/2006/main">
            <a:pPr algn="l">
              <a:defRPr sz="1650" b="1">
                <a:solidFill>
                  <a:srgbClr val="288C87"/>
                </a:solidFill>
                <a:latin typeface="Carlito"/>
                <a:ea typeface="Carlito"/>
                <a:cs typeface="Carlito"/>
              </a:defRPr>
            </a:pPr>
            <a:r>
              <a:rPr sz="1650" b="1">
                <a:solidFill>
                  <a:srgbClr val="288C87"/>
                </a:solidFill>
                <a:latin typeface="Carlito"/>
                <a:ea typeface="Carlito"/>
                <a:cs typeface="Carlito"/>
              </a:rPr>
              <a:t>Enforcement at API boundaries.</a:t>
            </a:r>
          </a:p>
        </p:txBody>
      </p:sp>
      <p:sp>
        <p:nvSpPr>
          <p:cNvPr id="56" name="text">
            <a:extLst xmlns:a="http://schemas.openxmlformats.org/drawingml/2006/main">
              <a:ext uri="{FF2B5EF4-FFF2-40B4-BE49-F238E27FC236}">
                <a16:creationId xmlns:a16="http://schemas.microsoft.com/office/drawing/2014/main" id="{665586FE-1ED6-4050-8218-5F0EBFA3DA62}"/>
              </a:ext>
            </a:extLst>
          </p:cNvPr>
          <p:cNvSpPr>
            <a:spLocks xmlns:a="http://schemas.openxmlformats.org/drawingml/2006/main" noGrp="1"/>
          </p:cNvSpPr>
          <p:nvPr/>
        </p:nvSpPr>
        <p:spPr>
          <a:xfrm xmlns:a="http://schemas.openxmlformats.org/drawingml/2006/main">
            <a:off x="361950" y="7791450"/>
            <a:ext cx="1445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70757C"/>
                </a:solidFill>
                <a:latin typeface="Carlito"/>
                <a:ea typeface="Carlito"/>
                <a:cs typeface="Carlito"/>
              </a:defRPr>
            </a:pPr>
            <a:r>
              <a:rPr sz="1350" b="0">
                <a:solidFill>
                  <a:srgbClr val="70757C"/>
                </a:solidFill>
                <a:latin typeface="Carlito"/>
                <a:ea typeface="Carlito"/>
                <a:cs typeface="Carlito"/>
              </a:rPr>
              <a:t>Logical view. Third-party API consumption follows governed outbound access and provider due diligence. REST, GraphQL and gRPC follow the integration framework.</a:t>
            </a:r>
          </a:p>
        </p:txBody>
      </p:sp>
    </p:spTree>
    <p:extLst>
      <p:ext uri="{BB962C8B-B14F-4D97-AF65-F5344CB8AC3E}">
        <p14:creationId xmlns:p14="http://schemas.microsoft.com/office/powerpoint/2010/main" val="35316994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nav-Background">
            <a:extLst xmlns:a="http://schemas.openxmlformats.org/drawingml/2006/main">
              <a:ext uri="{FF2B5EF4-FFF2-40B4-BE49-F238E27FC236}">
                <a16:creationId xmlns:a16="http://schemas.microsoft.com/office/drawing/2014/main" id="{39EA48F9-3666-4418-8176-DA6B49ECA07F}"/>
              </a:ext>
            </a:extLst>
          </p:cNvPr>
          <p:cNvSpPr>
            <a:spLocks xmlns:a="http://schemas.openxmlformats.org/drawingml/2006/main" noGrp="1"/>
          </p:cNvSpPr>
          <p:nvPr/>
        </p:nvSpPr>
        <p:spPr>
          <a:xfrm xmlns:a="http://schemas.openxmlformats.org/drawingml/2006/main">
            <a:off x="2286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2" name="navigation-Background">
            <a:extLst xmlns:a="http://schemas.openxmlformats.org/drawingml/2006/main">
              <a:ext uri="{FF2B5EF4-FFF2-40B4-BE49-F238E27FC236}">
                <a16:creationId xmlns:a16="http://schemas.microsoft.com/office/drawing/2014/main" id="{8E2C8B72-FE57-4264-9174-37FA589BF7A1}"/>
              </a:ext>
            </a:extLst>
          </p:cNvPr>
          <p:cNvSpPr>
            <a:spLocks xmlns:a="http://schemas.openxmlformats.org/drawingml/2006/main" noGrp="1"/>
          </p:cNvSpPr>
          <p:nvPr/>
        </p:nvSpPr>
        <p:spPr>
          <a:xfrm xmlns:a="http://schemas.openxmlformats.org/drawingml/2006/main">
            <a:off x="2571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Background</a:t>
            </a:r>
          </a:p>
        </p:txBody>
      </p:sp>
      <p:sp>
        <p:nvSpPr>
          <p:cNvPr id="3" name="nav-Problem Statements">
            <a:extLst xmlns:a="http://schemas.openxmlformats.org/drawingml/2006/main">
              <a:ext uri="{FF2B5EF4-FFF2-40B4-BE49-F238E27FC236}">
                <a16:creationId xmlns:a16="http://schemas.microsoft.com/office/drawing/2014/main" id="{AB348FC7-984D-4D94-84FB-8341F539C5E3}"/>
              </a:ext>
            </a:extLst>
          </p:cNvPr>
          <p:cNvSpPr>
            <a:spLocks xmlns:a="http://schemas.openxmlformats.org/drawingml/2006/main" noGrp="1"/>
          </p:cNvSpPr>
          <p:nvPr/>
        </p:nvSpPr>
        <p:spPr>
          <a:xfrm xmlns:a="http://schemas.openxmlformats.org/drawingml/2006/main">
            <a:off x="19050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4" name="navigation-Problem Statements">
            <a:extLst xmlns:a="http://schemas.openxmlformats.org/drawingml/2006/main">
              <a:ext uri="{FF2B5EF4-FFF2-40B4-BE49-F238E27FC236}">
                <a16:creationId xmlns:a16="http://schemas.microsoft.com/office/drawing/2014/main" id="{F8DD5CA4-9755-45D1-9855-F23F00948E87}"/>
              </a:ext>
            </a:extLst>
          </p:cNvPr>
          <p:cNvSpPr>
            <a:spLocks xmlns:a="http://schemas.openxmlformats.org/drawingml/2006/main" noGrp="1"/>
          </p:cNvSpPr>
          <p:nvPr/>
        </p:nvSpPr>
        <p:spPr>
          <a:xfrm xmlns:a="http://schemas.openxmlformats.org/drawingml/2006/main">
            <a:off x="19335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Problem Statements</a:t>
            </a:r>
          </a:p>
        </p:txBody>
      </p:sp>
      <p:sp>
        <p:nvSpPr>
          <p:cNvPr id="5" name="nav-Capability Context">
            <a:extLst xmlns:a="http://schemas.openxmlformats.org/drawingml/2006/main">
              <a:ext uri="{FF2B5EF4-FFF2-40B4-BE49-F238E27FC236}">
                <a16:creationId xmlns:a16="http://schemas.microsoft.com/office/drawing/2014/main" id="{C2307525-E700-4BA6-936F-F6F4367B78B8}"/>
              </a:ext>
            </a:extLst>
          </p:cNvPr>
          <p:cNvSpPr>
            <a:spLocks xmlns:a="http://schemas.openxmlformats.org/drawingml/2006/main" noGrp="1"/>
          </p:cNvSpPr>
          <p:nvPr/>
        </p:nvSpPr>
        <p:spPr>
          <a:xfrm xmlns:a="http://schemas.openxmlformats.org/drawingml/2006/main">
            <a:off x="35814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6" name="navigation-Capability Context">
            <a:extLst xmlns:a="http://schemas.openxmlformats.org/drawingml/2006/main">
              <a:ext uri="{FF2B5EF4-FFF2-40B4-BE49-F238E27FC236}">
                <a16:creationId xmlns:a16="http://schemas.microsoft.com/office/drawing/2014/main" id="{5F9D74AA-9A47-444D-864F-853D8F20688F}"/>
              </a:ext>
            </a:extLst>
          </p:cNvPr>
          <p:cNvSpPr>
            <a:spLocks xmlns:a="http://schemas.openxmlformats.org/drawingml/2006/main" noGrp="1"/>
          </p:cNvSpPr>
          <p:nvPr/>
        </p:nvSpPr>
        <p:spPr>
          <a:xfrm xmlns:a="http://schemas.openxmlformats.org/drawingml/2006/main">
            <a:off x="36099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Capability Context</a:t>
            </a:r>
          </a:p>
        </p:txBody>
      </p:sp>
      <p:sp>
        <p:nvSpPr>
          <p:cNvPr id="7" name="nav-Artefact Content">
            <a:extLst xmlns:a="http://schemas.openxmlformats.org/drawingml/2006/main">
              <a:ext uri="{FF2B5EF4-FFF2-40B4-BE49-F238E27FC236}">
                <a16:creationId xmlns:a16="http://schemas.microsoft.com/office/drawing/2014/main" id="{E9028BE9-7799-4C01-9FC9-42DF6573AE74}"/>
              </a:ext>
            </a:extLst>
          </p:cNvPr>
          <p:cNvSpPr>
            <a:spLocks xmlns:a="http://schemas.openxmlformats.org/drawingml/2006/main" noGrp="1"/>
          </p:cNvSpPr>
          <p:nvPr/>
        </p:nvSpPr>
        <p:spPr>
          <a:xfrm xmlns:a="http://schemas.openxmlformats.org/drawingml/2006/main">
            <a:off x="5257800" y="171450"/>
            <a:ext cx="1600200" cy="381000"/>
          </a:xfrm>
          <a:prstGeom xmlns:a="http://schemas.openxmlformats.org/drawingml/2006/main" prst="roundRect">
            <a:avLst>
              <a:gd name="adj" fmla="val 17500"/>
            </a:avLst>
          </a:prstGeom>
          <a:solidFill xmlns:a="http://schemas.openxmlformats.org/drawingml/2006/main">
            <a:srgbClr val="BE1738"/>
          </a:solidFill>
          <a:ln xmlns:a="http://schemas.openxmlformats.org/drawingml/2006/main" w="11430">
            <a:solidFill>
              <a:srgbClr val="BE1738"/>
            </a:solidFill>
          </a:ln>
        </p:spPr>
      </p:sp>
      <p:sp>
        <p:nvSpPr>
          <p:cNvPr id="8" name="navigation-Artefact Content">
            <a:extLst xmlns:a="http://schemas.openxmlformats.org/drawingml/2006/main">
              <a:ext uri="{FF2B5EF4-FFF2-40B4-BE49-F238E27FC236}">
                <a16:creationId xmlns:a16="http://schemas.microsoft.com/office/drawing/2014/main" id="{2C2148DB-2AE0-4B7F-BFE2-2840E0ACC39C}"/>
              </a:ext>
            </a:extLst>
          </p:cNvPr>
          <p:cNvSpPr>
            <a:spLocks xmlns:a="http://schemas.openxmlformats.org/drawingml/2006/main" noGrp="1"/>
          </p:cNvSpPr>
          <p:nvPr/>
        </p:nvSpPr>
        <p:spPr>
          <a:xfrm xmlns:a="http://schemas.openxmlformats.org/drawingml/2006/main">
            <a:off x="52863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FFFFFF"/>
                </a:solidFill>
                <a:latin typeface="Carlito"/>
                <a:ea typeface="Carlito"/>
                <a:cs typeface="Carlito"/>
              </a:defRPr>
            </a:pPr>
            <a:r>
              <a:rPr sz="1313" b="0">
                <a:solidFill>
                  <a:srgbClr val="FFFFFF"/>
                </a:solidFill>
                <a:latin typeface="Carlito"/>
                <a:ea typeface="Carlito"/>
                <a:cs typeface="Carlito"/>
              </a:rPr>
              <a:t>Artefact Content</a:t>
            </a:r>
          </a:p>
        </p:txBody>
      </p:sp>
      <p:sp>
        <p:nvSpPr>
          <p:cNvPr id="9" name="nav-Roadmap">
            <a:extLst xmlns:a="http://schemas.openxmlformats.org/drawingml/2006/main">
              <a:ext uri="{FF2B5EF4-FFF2-40B4-BE49-F238E27FC236}">
                <a16:creationId xmlns:a16="http://schemas.microsoft.com/office/drawing/2014/main" id="{E3F173BB-57D4-43FB-8315-6EE2FE556881}"/>
              </a:ext>
            </a:extLst>
          </p:cNvPr>
          <p:cNvSpPr>
            <a:spLocks xmlns:a="http://schemas.openxmlformats.org/drawingml/2006/main" noGrp="1"/>
          </p:cNvSpPr>
          <p:nvPr/>
        </p:nvSpPr>
        <p:spPr>
          <a:xfrm xmlns:a="http://schemas.openxmlformats.org/drawingml/2006/main">
            <a:off x="69342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0" name="navigation-Roadmap">
            <a:extLst xmlns:a="http://schemas.openxmlformats.org/drawingml/2006/main">
              <a:ext uri="{FF2B5EF4-FFF2-40B4-BE49-F238E27FC236}">
                <a16:creationId xmlns:a16="http://schemas.microsoft.com/office/drawing/2014/main" id="{29AD513A-D92F-4AA2-BCB8-FB9A34A389AD}"/>
              </a:ext>
            </a:extLst>
          </p:cNvPr>
          <p:cNvSpPr>
            <a:spLocks xmlns:a="http://schemas.openxmlformats.org/drawingml/2006/main" noGrp="1"/>
          </p:cNvSpPr>
          <p:nvPr/>
        </p:nvSpPr>
        <p:spPr>
          <a:xfrm xmlns:a="http://schemas.openxmlformats.org/drawingml/2006/main">
            <a:off x="69627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Roadmap</a:t>
            </a:r>
          </a:p>
        </p:txBody>
      </p:sp>
      <p:sp>
        <p:nvSpPr>
          <p:cNvPr id="11" name="nav-Decision">
            <a:extLst xmlns:a="http://schemas.openxmlformats.org/drawingml/2006/main">
              <a:ext uri="{FF2B5EF4-FFF2-40B4-BE49-F238E27FC236}">
                <a16:creationId xmlns:a16="http://schemas.microsoft.com/office/drawing/2014/main" id="{E02F7AC3-5F99-4A24-B33B-23D4A8121EB0}"/>
              </a:ext>
            </a:extLst>
          </p:cNvPr>
          <p:cNvSpPr>
            <a:spLocks xmlns:a="http://schemas.openxmlformats.org/drawingml/2006/main" noGrp="1"/>
          </p:cNvSpPr>
          <p:nvPr/>
        </p:nvSpPr>
        <p:spPr>
          <a:xfrm xmlns:a="http://schemas.openxmlformats.org/drawingml/2006/main">
            <a:off x="86106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2" name="navigation-Decision">
            <a:extLst xmlns:a="http://schemas.openxmlformats.org/drawingml/2006/main">
              <a:ext uri="{FF2B5EF4-FFF2-40B4-BE49-F238E27FC236}">
                <a16:creationId xmlns:a16="http://schemas.microsoft.com/office/drawing/2014/main" id="{3FE77F79-3A4B-4412-8072-8D7A909C2269}"/>
              </a:ext>
            </a:extLst>
          </p:cNvPr>
          <p:cNvSpPr>
            <a:spLocks xmlns:a="http://schemas.openxmlformats.org/drawingml/2006/main" noGrp="1"/>
          </p:cNvSpPr>
          <p:nvPr/>
        </p:nvSpPr>
        <p:spPr>
          <a:xfrm xmlns:a="http://schemas.openxmlformats.org/drawingml/2006/main">
            <a:off x="86391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Decision</a:t>
            </a:r>
          </a:p>
        </p:txBody>
      </p:sp>
      <p:sp>
        <p:nvSpPr>
          <p:cNvPr id="13" name="nav-Appendix">
            <a:extLst xmlns:a="http://schemas.openxmlformats.org/drawingml/2006/main">
              <a:ext uri="{FF2B5EF4-FFF2-40B4-BE49-F238E27FC236}">
                <a16:creationId xmlns:a16="http://schemas.microsoft.com/office/drawing/2014/main" id="{D83BCB87-DC2C-4D9C-9B3F-16C87C3C8A28}"/>
              </a:ext>
            </a:extLst>
          </p:cNvPr>
          <p:cNvSpPr>
            <a:spLocks xmlns:a="http://schemas.openxmlformats.org/drawingml/2006/main" noGrp="1"/>
          </p:cNvSpPr>
          <p:nvPr/>
        </p:nvSpPr>
        <p:spPr>
          <a:xfrm xmlns:a="http://schemas.openxmlformats.org/drawingml/2006/main">
            <a:off x="102870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4" name="navigation-Appendix">
            <a:extLst xmlns:a="http://schemas.openxmlformats.org/drawingml/2006/main">
              <a:ext uri="{FF2B5EF4-FFF2-40B4-BE49-F238E27FC236}">
                <a16:creationId xmlns:a16="http://schemas.microsoft.com/office/drawing/2014/main" id="{CD45AA1F-3ACA-4293-812A-55AD82958969}"/>
              </a:ext>
            </a:extLst>
          </p:cNvPr>
          <p:cNvSpPr>
            <a:spLocks xmlns:a="http://schemas.openxmlformats.org/drawingml/2006/main" noGrp="1"/>
          </p:cNvSpPr>
          <p:nvPr/>
        </p:nvSpPr>
        <p:spPr>
          <a:xfrm xmlns:a="http://schemas.openxmlformats.org/drawingml/2006/main">
            <a:off x="103155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Appendix</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b695c4fe2f93499a"/>
          <a:stretch xmlns:a="http://schemas.openxmlformats.org/drawingml/2006/main"/>
        </p:blipFill>
        <p:spPr>
          <a:xfrm xmlns:a="http://schemas.openxmlformats.org/drawingml/2006/main">
            <a:off x="304800" y="737436"/>
            <a:ext cx="1057275" cy="1001629"/>
          </a:xfrm>
          <a:prstGeom xmlns:a="http://schemas.openxmlformats.org/drawingml/2006/main" prst="rect">
            <a:avLst/>
          </a:prstGeom>
        </p:spPr>
      </p:pic>
      <p:sp>
        <p:nvSpPr>
          <p:cNvPr id="16" name="title-outline">
            <a:extLst xmlns:a="http://schemas.openxmlformats.org/drawingml/2006/main">
              <a:ext uri="{FF2B5EF4-FFF2-40B4-BE49-F238E27FC236}">
                <a16:creationId xmlns:a16="http://schemas.microsoft.com/office/drawing/2014/main" id="{92B07E1A-1B2C-44CB-8630-65016BD475B3}"/>
              </a:ext>
            </a:extLst>
          </p:cNvPr>
          <p:cNvSpPr>
            <a:spLocks xmlns:a="http://schemas.openxmlformats.org/drawingml/2006/main" noGrp="1"/>
          </p:cNvSpPr>
          <p:nvPr/>
        </p:nvSpPr>
        <p:spPr>
          <a:xfrm xmlns:a="http://schemas.openxmlformats.org/drawingml/2006/main">
            <a:off x="1657350" y="866775"/>
            <a:ext cx="10496550" cy="4857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8575">
            <a:solidFill>
              <a:srgbClr val="BE1738"/>
            </a:solidFill>
          </a:ln>
        </p:spPr>
      </p:sp>
      <p:sp>
        <p:nvSpPr>
          <p:cNvPr id="17" name="slide-title">
            <a:extLst xmlns:a="http://schemas.openxmlformats.org/drawingml/2006/main">
              <a:ext uri="{FF2B5EF4-FFF2-40B4-BE49-F238E27FC236}">
                <a16:creationId xmlns:a16="http://schemas.microsoft.com/office/drawing/2014/main" id="{87CCAADC-AE94-4F83-A48B-661B4DD129D2}"/>
              </a:ext>
            </a:extLst>
          </p:cNvPr>
          <p:cNvSpPr>
            <a:spLocks xmlns:a="http://schemas.openxmlformats.org/drawingml/2006/main" noGrp="1"/>
          </p:cNvSpPr>
          <p:nvPr/>
        </p:nvSpPr>
        <p:spPr>
          <a:xfrm xmlns:a="http://schemas.openxmlformats.org/drawingml/2006/main">
            <a:off x="1933575" y="933450"/>
            <a:ext cx="994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1632"/>
                </a:solidFill>
                <a:latin typeface="Carlito"/>
                <a:ea typeface="Carlito"/>
                <a:cs typeface="Carlito"/>
              </a:defRPr>
            </a:pPr>
            <a:r>
              <a:rPr sz="2100" b="1">
                <a:solidFill>
                  <a:srgbClr val="A91632"/>
                </a:solidFill>
                <a:latin typeface="Carlito"/>
                <a:ea typeface="Carlito"/>
                <a:cs typeface="Carlito"/>
              </a:rPr>
              <a:t>API LIFECYCLE AND ACCOUNTABILITY</a:t>
            </a:r>
          </a:p>
        </p:txBody>
      </p:sp>
      <p:sp>
        <p:nvSpPr>
          <p:cNvPr id="18" name="classification">
            <a:extLst xmlns:a="http://schemas.openxmlformats.org/drawingml/2006/main">
              <a:ext uri="{FF2B5EF4-FFF2-40B4-BE49-F238E27FC236}">
                <a16:creationId xmlns:a16="http://schemas.microsoft.com/office/drawing/2014/main" id="{E620B386-59A5-483E-8986-38ABF0A7F512}"/>
              </a:ext>
            </a:extLst>
          </p:cNvPr>
          <p:cNvSpPr>
            <a:spLocks xmlns:a="http://schemas.openxmlformats.org/drawingml/2006/main" noGrp="1"/>
          </p:cNvSpPr>
          <p:nvPr/>
        </p:nvSpPr>
        <p:spPr>
          <a:xfrm xmlns:a="http://schemas.openxmlformats.org/drawingml/2006/main">
            <a:off x="12001500" y="619125"/>
            <a:ext cx="2905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30343A"/>
                </a:solidFill>
                <a:latin typeface="Carlito"/>
                <a:ea typeface="Carlito"/>
                <a:cs typeface="Carlito"/>
              </a:defRPr>
            </a:pPr>
            <a:r>
              <a:rPr sz="1275" b="0">
                <a:solidFill>
                  <a:srgbClr val="30343A"/>
                </a:solidFill>
                <a:latin typeface="Carlito"/>
                <a:ea typeface="Carlito"/>
                <a:cs typeface="Carlito"/>
              </a:rPr>
              <a:t>RESTRICTED TO Euroclear</a:t>
            </a:r>
          </a:p>
        </p:txBody>
      </p:sp>
      <p:sp>
        <p:nvSpPr>
          <p:cNvPr id="19" name="footer-outline">
            <a:extLst xmlns:a="http://schemas.openxmlformats.org/drawingml/2006/main">
              <a:ext uri="{FF2B5EF4-FFF2-40B4-BE49-F238E27FC236}">
                <a16:creationId xmlns:a16="http://schemas.microsoft.com/office/drawing/2014/main" id="{EAB8BC5A-E378-4777-A281-A043AB442419}"/>
              </a:ext>
            </a:extLst>
          </p:cNvPr>
          <p:cNvSpPr>
            <a:spLocks xmlns:a="http://schemas.openxmlformats.org/drawingml/2006/main" noGrp="1"/>
          </p:cNvSpPr>
          <p:nvPr/>
        </p:nvSpPr>
        <p:spPr>
          <a:xfrm xmlns:a="http://schemas.openxmlformats.org/drawingml/2006/main">
            <a:off x="171450" y="8143875"/>
            <a:ext cx="3009900" cy="2952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4288">
            <a:solidFill>
              <a:srgbClr val="70757C"/>
            </a:solidFill>
          </a:ln>
        </p:spPr>
      </p:sp>
      <p:sp>
        <p:nvSpPr>
          <p:cNvPr id="20" name="footer">
            <a:extLst xmlns:a="http://schemas.openxmlformats.org/drawingml/2006/main">
              <a:ext uri="{FF2B5EF4-FFF2-40B4-BE49-F238E27FC236}">
                <a16:creationId xmlns:a16="http://schemas.microsoft.com/office/drawing/2014/main" id="{D52955DC-3F6A-4B8E-9335-7D6721792368}"/>
              </a:ext>
            </a:extLst>
          </p:cNvPr>
          <p:cNvSpPr>
            <a:spLocks xmlns:a="http://schemas.openxmlformats.org/drawingml/2006/main" noGrp="1"/>
          </p:cNvSpPr>
          <p:nvPr/>
        </p:nvSpPr>
        <p:spPr>
          <a:xfrm xmlns:a="http://schemas.openxmlformats.org/drawingml/2006/main">
            <a:off x="295275" y="8172450"/>
            <a:ext cx="2771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0343A"/>
                </a:solidFill>
                <a:latin typeface="Carlito"/>
                <a:ea typeface="Carlito"/>
                <a:cs typeface="Carlito"/>
              </a:defRPr>
            </a:pPr>
            <a:r>
              <a:rPr sz="1500" b="0">
                <a:solidFill>
                  <a:srgbClr val="30343A"/>
                </a:solidFill>
                <a:latin typeface="Carlito"/>
                <a:ea typeface="Carlito"/>
                <a:cs typeface="Carlito"/>
              </a:rPr>
              <a:t>API Target Architecture</a:t>
            </a:r>
          </a:p>
        </p:txBody>
      </p:sp>
      <p:sp>
        <p:nvSpPr>
          <p:cNvPr id="21" name="page-number">
            <a:extLst xmlns:a="http://schemas.openxmlformats.org/drawingml/2006/main">
              <a:ext uri="{FF2B5EF4-FFF2-40B4-BE49-F238E27FC236}">
                <a16:creationId xmlns:a16="http://schemas.microsoft.com/office/drawing/2014/main" id="{FCE61E75-34A4-48B2-9B81-0850EDE0E7E0}"/>
              </a:ext>
            </a:extLst>
          </p:cNvPr>
          <p:cNvSpPr>
            <a:spLocks xmlns:a="http://schemas.openxmlformats.org/drawingml/2006/main" noGrp="1"/>
          </p:cNvSpPr>
          <p:nvPr/>
        </p:nvSpPr>
        <p:spPr>
          <a:xfrm xmlns:a="http://schemas.openxmlformats.org/drawingml/2006/main">
            <a:off x="14458950" y="8162925"/>
            <a:ext cx="4476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70757C"/>
                </a:solidFill>
                <a:latin typeface="Carlito"/>
                <a:ea typeface="Carlito"/>
                <a:cs typeface="Carlito"/>
              </a:defRPr>
            </a:pPr>
            <a:r>
              <a:rPr sz="1350" b="0">
                <a:solidFill>
                  <a:srgbClr val="70757C"/>
                </a:solidFill>
                <a:latin typeface="Carlito"/>
                <a:ea typeface="Carlito"/>
                <a:cs typeface="Carlito"/>
              </a:rPr>
              <a:t>8</a:t>
            </a:r>
          </a:p>
        </p:txBody>
      </p:sp>
      <p:sp>
        <p:nvSpPr>
          <p:cNvPr id="22" name="text">
            <a:extLst xmlns:a="http://schemas.openxmlformats.org/drawingml/2006/main">
              <a:ext uri="{FF2B5EF4-FFF2-40B4-BE49-F238E27FC236}">
                <a16:creationId xmlns:a16="http://schemas.microsoft.com/office/drawing/2014/main" id="{B025C806-DC71-438C-A7B3-097B7084CC70}"/>
              </a:ext>
            </a:extLst>
          </p:cNvPr>
          <p:cNvSpPr>
            <a:spLocks xmlns:a="http://schemas.openxmlformats.org/drawingml/2006/main" noGrp="1"/>
          </p:cNvSpPr>
          <p:nvPr/>
        </p:nvSpPr>
        <p:spPr>
          <a:xfrm xmlns:a="http://schemas.openxmlformats.org/drawingml/2006/main">
            <a:off x="361950" y="1866900"/>
            <a:ext cx="14458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1632"/>
                </a:solidFill>
                <a:latin typeface="Carlito"/>
                <a:ea typeface="Carlito"/>
                <a:cs typeface="Carlito"/>
              </a:defRPr>
            </a:pPr>
            <a:r>
              <a:rPr sz="2100" b="1">
                <a:solidFill>
                  <a:srgbClr val="A91632"/>
                </a:solidFill>
                <a:latin typeface="Carlito"/>
                <a:ea typeface="Carlito"/>
                <a:cs typeface="Carlito"/>
              </a:rPr>
              <a:t>Consumer requirements and reuse decisions precede implementation</a:t>
            </a:r>
          </a:p>
        </p:txBody>
      </p:sp>
      <p:graphicFrame>
        <p:nvGraphicFramePr>
          <p:cNvPr id="47" name=""/>
          <p:cNvGraphicFramePr/>
          <p:nvPr/>
        </p:nvGraphicFramePr>
        <p:xfrm>
          <a:off xmlns:a="http://schemas.openxmlformats.org/drawingml/2006/main" x="342900" y="2381250"/>
          <a:ext xmlns:a="http://schemas.openxmlformats.org/drawingml/2006/main" cx="14554200" cy="5495925"/>
        </p:xfrm>
        <a:graphic xmlns:a="http://schemas.openxmlformats.org/drawingml/2006/main">
          <a:graphicData uri="http://schemas.openxmlformats.org/drawingml/2006/table">
            <a:tbl>
              <a:tblPr firstRow="0" bandRow="0"/>
              <a:tblGrid>
                <a:gridCol w="3095625"/>
                <a:gridCol w="6134100"/>
                <a:gridCol w="5324475"/>
              </a:tblGrid>
              <a:tr h="438150">
                <a:tc>
                  <a:txBody>
                    <a:bodyPr>
                      <a:noAutofit/>
                    </a:bodyPr>
                    <a:lstStyle/>
                    <a:p>
                      <a:r>
                        <a:rPr sz="1800" b="1">
                          <a:solidFill>
                            <a:srgbClr val="FFFFFF"/>
                          </a:solidFill>
                          <a:latin typeface="Carlito"/>
                          <a:ea typeface="Carlito"/>
                          <a:cs typeface="Carlito"/>
                        </a:rPr>
                        <a:t>Lifecycle stage</a:t>
                      </a:r>
                    </a:p>
                  </a:txBody>
                  <a:tcPr marL="133350" marR="133350" marT="95250" marB="76200" anchor="t">
                    <a:solidFill>
                      <a:srgbClr val="BE1738"/>
                    </a:solidFill>
                  </a:tcPr>
                </a:tc>
                <a:tc>
                  <a:txBody>
                    <a:bodyPr>
                      <a:noAutofit/>
                    </a:bodyPr>
                    <a:lstStyle/>
                    <a:p>
                      <a:r>
                        <a:rPr sz="1800" b="1">
                          <a:solidFill>
                            <a:srgbClr val="FFFFFF"/>
                          </a:solidFill>
                          <a:latin typeface="Carlito"/>
                          <a:ea typeface="Carlito"/>
                          <a:cs typeface="Carlito"/>
                        </a:rPr>
                        <a:t>Required output</a:t>
                      </a:r>
                    </a:p>
                  </a:txBody>
                  <a:tcPr marL="133350" marR="133350" marT="95250" marB="76200" anchor="t">
                    <a:solidFill>
                      <a:srgbClr val="BE1738"/>
                    </a:solidFill>
                  </a:tcPr>
                </a:tc>
                <a:tc>
                  <a:txBody>
                    <a:bodyPr>
                      <a:noAutofit/>
                    </a:bodyPr>
                    <a:lstStyle/>
                    <a:p>
                      <a:r>
                        <a:rPr sz="1800" b="1">
                          <a:solidFill>
                            <a:srgbClr val="FFFFFF"/>
                          </a:solidFill>
                          <a:latin typeface="Carlito"/>
                          <a:ea typeface="Carlito"/>
                          <a:cs typeface="Carlito"/>
                        </a:rPr>
                        <a:t>Accountable participation</a:t>
                      </a:r>
                    </a:p>
                  </a:txBody>
                  <a:tcPr marL="133350" marR="133350" marT="95250" marB="76200" anchor="t">
                    <a:solidFill>
                      <a:srgbClr val="BE1738"/>
                    </a:solidFill>
                  </a:tcPr>
                </a:tc>
              </a:tr>
              <a:tr h="695325">
                <a:tc>
                  <a:txBody>
                    <a:bodyPr>
                      <a:noAutofit/>
                    </a:bodyPr>
                    <a:lstStyle/>
                    <a:p>
                      <a:r>
                        <a:rPr sz="1688" b="1">
                          <a:solidFill>
                            <a:srgbClr val="30343A"/>
                          </a:solidFill>
                          <a:latin typeface="Carlito"/>
                          <a:ea typeface="Carlito"/>
                          <a:cs typeface="Carlito"/>
                        </a:rPr>
                        <a:t>1. Understand demand</a:t>
                      </a:r>
                    </a:p>
                  </a:txBody>
                  <a:tcPr marL="133350" marR="133350" marT="95250" marB="76200" anchor="t">
                    <a:solidFill>
                      <a:srgbClr val="FFFFFF"/>
                    </a:solidFill>
                  </a:tcPr>
                </a:tc>
                <a:tc>
                  <a:txBody>
                    <a:bodyPr>
                      <a:noAutofit/>
                    </a:bodyPr>
                    <a:lstStyle/>
                    <a:p>
                      <a:r>
                        <a:rPr sz="1688" b="0">
                          <a:solidFill>
                            <a:srgbClr val="30343A"/>
                          </a:solidFill>
                          <a:latin typeface="Carlito"/>
                          <a:ea typeface="Carlito"/>
                          <a:cs typeface="Carlito"/>
                        </a:rPr>
                        <a:t>Named consumers, business outcomes and acceptance criteria</a:t>
                      </a:r>
                    </a:p>
                  </a:txBody>
                  <a:tcPr marL="133350" marR="133350" marT="95250" marB="76200" anchor="t">
                    <a:solidFill>
                      <a:srgbClr val="FFFFFF"/>
                    </a:solidFill>
                  </a:tcPr>
                </a:tc>
                <a:tc>
                  <a:txBody>
                    <a:bodyPr>
                      <a:noAutofit/>
                    </a:bodyPr>
                    <a:lstStyle/>
                    <a:p>
                      <a:r>
                        <a:rPr sz="1688" b="0">
                          <a:solidFill>
                            <a:srgbClr val="30343A"/>
                          </a:solidFill>
                          <a:latin typeface="Carlito"/>
                          <a:ea typeface="Carlito"/>
                          <a:cs typeface="Carlito"/>
                        </a:rPr>
                        <a:t>Business / product and domain owner, with consumer representatives</a:t>
                      </a:r>
                    </a:p>
                  </a:txBody>
                  <a:tcPr marL="133350" marR="133350" marT="95250" marB="76200" anchor="t">
                    <a:solidFill>
                      <a:srgbClr val="FFFFFF"/>
                    </a:solidFill>
                  </a:tcPr>
                </a:tc>
              </a:tr>
              <a:tr h="695325">
                <a:tc>
                  <a:txBody>
                    <a:bodyPr>
                      <a:noAutofit/>
                    </a:bodyPr>
                    <a:lstStyle/>
                    <a:p>
                      <a:r>
                        <a:rPr sz="1688" b="1">
                          <a:solidFill>
                            <a:srgbClr val="30343A"/>
                          </a:solidFill>
                          <a:latin typeface="Carlito"/>
                          <a:ea typeface="Carlito"/>
                          <a:cs typeface="Carlito"/>
                        </a:rPr>
                        <a:t>2. Discover and assess reuse</a:t>
                      </a:r>
                    </a:p>
                  </a:txBody>
                  <a:tcPr marL="133350" marR="133350" marT="95250" marB="76200" anchor="t">
                    <a:solidFill>
                      <a:srgbClr val="F4F5F6"/>
                    </a:solidFill>
                  </a:tcPr>
                </a:tc>
                <a:tc>
                  <a:txBody>
                    <a:bodyPr>
                      <a:noAutofit/>
                    </a:bodyPr>
                    <a:lstStyle/>
                    <a:p>
                      <a:r>
                        <a:rPr sz="1688" b="0">
                          <a:solidFill>
                            <a:srgbClr val="30343A"/>
                          </a:solidFill>
                          <a:latin typeface="Carlito"/>
                          <a:ea typeface="Carlito"/>
                          <a:cs typeface="Carlito"/>
                        </a:rPr>
                        <a:t>Assessment of existing APIs, capabilities and integration patterns</a:t>
                      </a:r>
                    </a:p>
                  </a:txBody>
                  <a:tcPr marL="133350" marR="133350" marT="95250" marB="76200" anchor="t">
                    <a:solidFill>
                      <a:srgbClr val="F4F5F6"/>
                    </a:solidFill>
                  </a:tcPr>
                </a:tc>
                <a:tc>
                  <a:txBody>
                    <a:bodyPr>
                      <a:noAutofit/>
                    </a:bodyPr>
                    <a:lstStyle/>
                    <a:p>
                      <a:r>
                        <a:rPr sz="1688" b="0">
                          <a:solidFill>
                            <a:srgbClr val="30343A"/>
                          </a:solidFill>
                          <a:latin typeface="Carlito"/>
                          <a:ea typeface="Carlito"/>
                          <a:cs typeface="Carlito"/>
                        </a:rPr>
                        <a:t>Domain owner, API delivery team and architecture</a:t>
                      </a:r>
                    </a:p>
                  </a:txBody>
                  <a:tcPr marL="133350" marR="133350" marT="95250" marB="76200" anchor="t">
                    <a:solidFill>
                      <a:srgbClr val="F4F5F6"/>
                    </a:solidFill>
                  </a:tcPr>
                </a:tc>
              </a:tr>
              <a:tr h="742950">
                <a:tc>
                  <a:txBody>
                    <a:bodyPr>
                      <a:noAutofit/>
                    </a:bodyPr>
                    <a:lstStyle/>
                    <a:p>
                      <a:r>
                        <a:rPr sz="1688" b="1">
                          <a:solidFill>
                            <a:srgbClr val="30343A"/>
                          </a:solidFill>
                          <a:latin typeface="Carlito"/>
                          <a:ea typeface="Carlito"/>
                          <a:cs typeface="Carlito"/>
                        </a:rPr>
                        <a:t>3. Design and validate</a:t>
                      </a:r>
                    </a:p>
                  </a:txBody>
                  <a:tcPr marL="133350" marR="133350" marT="95250" marB="76200" anchor="t">
                    <a:solidFill>
                      <a:srgbClr val="FFFFFF"/>
                    </a:solidFill>
                  </a:tcPr>
                </a:tc>
                <a:tc>
                  <a:txBody>
                    <a:bodyPr>
                      <a:noAutofit/>
                    </a:bodyPr>
                    <a:lstStyle/>
                    <a:p>
                      <a:r>
                        <a:rPr sz="1688" b="0">
                          <a:solidFill>
                            <a:srgbClr val="30343A"/>
                          </a:solidFill>
                          <a:latin typeface="Carlito"/>
                          <a:ea typeface="Carlito"/>
                          <a:cs typeface="Carlito"/>
                        </a:rPr>
                        <a:t>Agreed API contract, data definitions, access model and service requirements</a:t>
                      </a:r>
                    </a:p>
                  </a:txBody>
                  <a:tcPr marL="133350" marR="133350" marT="95250" marB="76200" anchor="t">
                    <a:solidFill>
                      <a:srgbClr val="FFFFFF"/>
                    </a:solidFill>
                  </a:tcPr>
                </a:tc>
                <a:tc>
                  <a:txBody>
                    <a:bodyPr>
                      <a:noAutofit/>
                    </a:bodyPr>
                    <a:lstStyle/>
                    <a:p>
                      <a:r>
                        <a:rPr sz="1688" b="0">
                          <a:solidFill>
                            <a:srgbClr val="30343A"/>
                          </a:solidFill>
                          <a:latin typeface="Carlito"/>
                          <a:ea typeface="Carlito"/>
                          <a:cs typeface="Carlito"/>
                        </a:rPr>
                        <a:t>API delivery team with consumers, domain, data and security owners</a:t>
                      </a:r>
                    </a:p>
                  </a:txBody>
                  <a:tcPr marL="133350" marR="133350" marT="95250" marB="76200" anchor="t">
                    <a:solidFill>
                      <a:srgbClr val="FFFFFF"/>
                    </a:solidFill>
                  </a:tcPr>
                </a:tc>
              </a:tr>
              <a:tr h="695325">
                <a:tc>
                  <a:txBody>
                    <a:bodyPr>
                      <a:noAutofit/>
                    </a:bodyPr>
                    <a:lstStyle/>
                    <a:p>
                      <a:r>
                        <a:rPr sz="1688" b="1">
                          <a:solidFill>
                            <a:srgbClr val="30343A"/>
                          </a:solidFill>
                          <a:latin typeface="Carlito"/>
                          <a:ea typeface="Carlito"/>
                          <a:cs typeface="Carlito"/>
                        </a:rPr>
                        <a:t>4. Build and test</a:t>
                      </a:r>
                    </a:p>
                  </a:txBody>
                  <a:tcPr marL="133350" marR="133350" marT="95250" marB="76200" anchor="t">
                    <a:solidFill>
                      <a:srgbClr val="F4F5F6"/>
                    </a:solidFill>
                  </a:tcPr>
                </a:tc>
                <a:tc>
                  <a:txBody>
                    <a:bodyPr>
                      <a:noAutofit/>
                    </a:bodyPr>
                    <a:lstStyle/>
                    <a:p>
                      <a:r>
                        <a:rPr sz="1688" b="0">
                          <a:solidFill>
                            <a:srgbClr val="30343A"/>
                          </a:solidFill>
                          <a:latin typeface="Carlito"/>
                          <a:ea typeface="Carlito"/>
                          <a:cs typeface="Carlito"/>
                        </a:rPr>
                        <a:t>Verified implementation, contract checks and operational readiness</a:t>
                      </a:r>
                    </a:p>
                  </a:txBody>
                  <a:tcPr marL="133350" marR="133350" marT="95250" marB="76200" anchor="t">
                    <a:solidFill>
                      <a:srgbClr val="F4F5F6"/>
                    </a:solidFill>
                  </a:tcPr>
                </a:tc>
                <a:tc>
                  <a:txBody>
                    <a:bodyPr>
                      <a:noAutofit/>
                    </a:bodyPr>
                    <a:lstStyle/>
                    <a:p>
                      <a:r>
                        <a:rPr sz="1688" b="0">
                          <a:solidFill>
                            <a:srgbClr val="30343A"/>
                          </a:solidFill>
                          <a:latin typeface="Carlito"/>
                          <a:ea typeface="Carlito"/>
                          <a:cs typeface="Carlito"/>
                        </a:rPr>
                        <a:t>API delivery and platform teams, with applicable control owners</a:t>
                      </a:r>
                    </a:p>
                  </a:txBody>
                  <a:tcPr marL="133350" marR="133350" marT="95250" marB="76200" anchor="t">
                    <a:solidFill>
                      <a:srgbClr val="F4F5F6"/>
                    </a:solidFill>
                  </a:tcPr>
                </a:tc>
              </a:tr>
              <a:tr h="742950">
                <a:tc>
                  <a:txBody>
                    <a:bodyPr>
                      <a:noAutofit/>
                    </a:bodyPr>
                    <a:lstStyle/>
                    <a:p>
                      <a:r>
                        <a:rPr sz="1688" b="1">
                          <a:solidFill>
                            <a:srgbClr val="30343A"/>
                          </a:solidFill>
                          <a:latin typeface="Carlito"/>
                          <a:ea typeface="Carlito"/>
                          <a:cs typeface="Carlito"/>
                        </a:rPr>
                        <a:t>5. Publish and onboard</a:t>
                      </a:r>
                    </a:p>
                  </a:txBody>
                  <a:tcPr marL="133350" marR="133350" marT="95250" marB="76200" anchor="t">
                    <a:solidFill>
                      <a:srgbClr val="FFFFFF"/>
                    </a:solidFill>
                  </a:tcPr>
                </a:tc>
                <a:tc>
                  <a:txBody>
                    <a:bodyPr>
                      <a:noAutofit/>
                    </a:bodyPr>
                    <a:lstStyle/>
                    <a:p>
                      <a:r>
                        <a:rPr sz="1688" b="0">
                          <a:solidFill>
                            <a:srgbClr val="30343A"/>
                          </a:solidFill>
                          <a:latin typeface="Carlito"/>
                          <a:ea typeface="Carlito"/>
                          <a:cs typeface="Carlito"/>
                        </a:rPr>
                        <a:t>Catalogue entry, documentation, access and support arrangements</a:t>
                      </a:r>
                    </a:p>
                  </a:txBody>
                  <a:tcPr marL="133350" marR="133350" marT="95250" marB="76200" anchor="t">
                    <a:solidFill>
                      <a:srgbClr val="FFFFFF"/>
                    </a:solidFill>
                  </a:tcPr>
                </a:tc>
                <a:tc>
                  <a:txBody>
                    <a:bodyPr>
                      <a:noAutofit/>
                    </a:bodyPr>
                    <a:lstStyle/>
                    <a:p>
                      <a:r>
                        <a:rPr sz="1688" b="0">
                          <a:solidFill>
                            <a:srgbClr val="30343A"/>
                          </a:solidFill>
                          <a:latin typeface="Carlito"/>
                          <a:ea typeface="Carlito"/>
                          <a:cs typeface="Carlito"/>
                        </a:rPr>
                        <a:t>API owner and platform team, with consumer / partner participation</a:t>
                      </a:r>
                    </a:p>
                  </a:txBody>
                  <a:tcPr marL="133350" marR="133350" marT="95250" marB="76200" anchor="t">
                    <a:solidFill>
                      <a:srgbClr val="FFFFFF"/>
                    </a:solidFill>
                  </a:tcPr>
                </a:tc>
              </a:tr>
              <a:tr h="742950">
                <a:tc>
                  <a:txBody>
                    <a:bodyPr>
                      <a:noAutofit/>
                    </a:bodyPr>
                    <a:lstStyle/>
                    <a:p>
                      <a:r>
                        <a:rPr sz="1688" b="1">
                          <a:solidFill>
                            <a:srgbClr val="30343A"/>
                          </a:solidFill>
                          <a:latin typeface="Carlito"/>
                          <a:ea typeface="Carlito"/>
                          <a:cs typeface="Carlito"/>
                        </a:rPr>
                        <a:t>6. Operate and improve</a:t>
                      </a:r>
                    </a:p>
                  </a:txBody>
                  <a:tcPr marL="133350" marR="133350" marT="95250" marB="76200" anchor="t">
                    <a:solidFill>
                      <a:srgbClr val="F4F5F6"/>
                    </a:solidFill>
                  </a:tcPr>
                </a:tc>
                <a:tc>
                  <a:txBody>
                    <a:bodyPr>
                      <a:noAutofit/>
                    </a:bodyPr>
                    <a:lstStyle/>
                    <a:p>
                      <a:r>
                        <a:rPr sz="1688" b="0">
                          <a:solidFill>
                            <a:srgbClr val="30343A"/>
                          </a:solidFill>
                          <a:latin typeface="Carlito"/>
                          <a:ea typeface="Carlito"/>
                          <a:cs typeface="Carlito"/>
                        </a:rPr>
                        <a:t>Service monitoring, usage evidence, feedback and prioritised improvements</a:t>
                      </a:r>
                    </a:p>
                  </a:txBody>
                  <a:tcPr marL="133350" marR="133350" marT="95250" marB="76200" anchor="t">
                    <a:solidFill>
                      <a:srgbClr val="F4F5F6"/>
                    </a:solidFill>
                  </a:tcPr>
                </a:tc>
                <a:tc>
                  <a:txBody>
                    <a:bodyPr>
                      <a:noAutofit/>
                    </a:bodyPr>
                    <a:lstStyle/>
                    <a:p>
                      <a:r>
                        <a:rPr sz="1688" b="0">
                          <a:solidFill>
                            <a:srgbClr val="30343A"/>
                          </a:solidFill>
                          <a:latin typeface="Carlito"/>
                          <a:ea typeface="Carlito"/>
                          <a:cs typeface="Carlito"/>
                        </a:rPr>
                        <a:t>API owner and operations, with business / product owner</a:t>
                      </a:r>
                    </a:p>
                  </a:txBody>
                  <a:tcPr marL="133350" marR="133350" marT="95250" marB="76200" anchor="t">
                    <a:solidFill>
                      <a:srgbClr val="F4F5F6"/>
                    </a:solidFill>
                  </a:tcPr>
                </a:tc>
              </a:tr>
              <a:tr h="742950">
                <a:tc>
                  <a:txBody>
                    <a:bodyPr>
                      <a:noAutofit/>
                    </a:bodyPr>
                    <a:lstStyle/>
                    <a:p>
                      <a:r>
                        <a:rPr sz="1688" b="1">
                          <a:solidFill>
                            <a:srgbClr val="30343A"/>
                          </a:solidFill>
                          <a:latin typeface="Carlito"/>
                          <a:ea typeface="Carlito"/>
                          <a:cs typeface="Carlito"/>
                        </a:rPr>
                        <a:t>7. Evolve and retire</a:t>
                      </a:r>
                    </a:p>
                  </a:txBody>
                  <a:tcPr marL="133350" marR="133350" marT="95250" marB="76200" anchor="t">
                    <a:solidFill>
                      <a:srgbClr val="FFFFFF"/>
                    </a:solidFill>
                  </a:tcPr>
                </a:tc>
                <a:tc>
                  <a:txBody>
                    <a:bodyPr>
                      <a:noAutofit/>
                    </a:bodyPr>
                    <a:lstStyle/>
                    <a:p>
                      <a:r>
                        <a:rPr sz="1688" b="0">
                          <a:solidFill>
                            <a:srgbClr val="30343A"/>
                          </a:solidFill>
                          <a:latin typeface="Carlito"/>
                          <a:ea typeface="Carlito"/>
                          <a:cs typeface="Carlito"/>
                        </a:rPr>
                        <a:t>Compatibility decisions and an agreed consumer transition plan</a:t>
                      </a:r>
                    </a:p>
                  </a:txBody>
                  <a:tcPr marL="133350" marR="133350" marT="95250" marB="76200" anchor="t">
                    <a:solidFill>
                      <a:srgbClr val="FFFFFF"/>
                    </a:solidFill>
                  </a:tcPr>
                </a:tc>
                <a:tc>
                  <a:txBody>
                    <a:bodyPr>
                      <a:noAutofit/>
                    </a:bodyPr>
                    <a:lstStyle/>
                    <a:p>
                      <a:r>
                        <a:rPr sz="1688" b="0">
                          <a:solidFill>
                            <a:srgbClr val="30343A"/>
                          </a:solidFill>
                          <a:latin typeface="Carlito"/>
                          <a:ea typeface="Carlito"/>
                          <a:cs typeface="Carlito"/>
                        </a:rPr>
                        <a:t>API owner, business / product owner and affected consumers</a:t>
                      </a:r>
                    </a:p>
                  </a:txBody>
                  <a:tcPr marL="133350" marR="133350" marT="95250" marB="76200" anchor="t">
                    <a:solidFill>
                      <a:srgbClr val="FFFFFF"/>
                    </a:solidFill>
                  </a:tcPr>
                </a:tc>
              </a:tr>
            </a:tbl>
          </a:graphicData>
        </a:graphic>
      </p:graphicFrame>
      <p:sp>
        <p:nvSpPr>
          <p:cNvPr id="24" name="text">
            <a:extLst xmlns:a="http://schemas.openxmlformats.org/drawingml/2006/main">
              <a:ext uri="{FF2B5EF4-FFF2-40B4-BE49-F238E27FC236}">
                <a16:creationId xmlns:a16="http://schemas.microsoft.com/office/drawing/2014/main" id="{41B79CE1-FE86-4AAB-B8A0-0C997202201A}"/>
              </a:ext>
            </a:extLst>
          </p:cNvPr>
          <p:cNvSpPr>
            <a:spLocks xmlns:a="http://schemas.openxmlformats.org/drawingml/2006/main" noGrp="1"/>
          </p:cNvSpPr>
          <p:nvPr/>
        </p:nvSpPr>
        <p:spPr>
          <a:xfrm xmlns:a="http://schemas.openxmlformats.org/drawingml/2006/main">
            <a:off x="361950" y="7924800"/>
            <a:ext cx="1445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70757C"/>
                </a:solidFill>
                <a:latin typeface="Carlito"/>
                <a:ea typeface="Carlito"/>
                <a:cs typeface="Carlito"/>
              </a:defRPr>
            </a:pPr>
            <a:r>
              <a:rPr sz="1350" b="0">
                <a:solidFill>
                  <a:srgbClr val="70757C"/>
                </a:solidFill>
                <a:latin typeface="Carlito"/>
                <a:ea typeface="Carlito"/>
                <a:cs typeface="Carlito"/>
              </a:rPr>
              <a:t>Apply the lifecycle to both roles. Revalidate requirements and affected consumers when an API changes.</a:t>
            </a:r>
          </a:p>
        </p:txBody>
      </p:sp>
    </p:spTree>
    <p:extLst>
      <p:ext uri="{BB962C8B-B14F-4D97-AF65-F5344CB8AC3E}">
        <p14:creationId xmlns:p14="http://schemas.microsoft.com/office/powerpoint/2010/main" val="140304269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nav-Background">
            <a:extLst xmlns:a="http://schemas.openxmlformats.org/drawingml/2006/main">
              <a:ext uri="{FF2B5EF4-FFF2-40B4-BE49-F238E27FC236}">
                <a16:creationId xmlns:a16="http://schemas.microsoft.com/office/drawing/2014/main" id="{80BDB331-4274-47F3-A6E5-3A28FDC6D860}"/>
              </a:ext>
            </a:extLst>
          </p:cNvPr>
          <p:cNvSpPr>
            <a:spLocks xmlns:a="http://schemas.openxmlformats.org/drawingml/2006/main" noGrp="1"/>
          </p:cNvSpPr>
          <p:nvPr/>
        </p:nvSpPr>
        <p:spPr>
          <a:xfrm xmlns:a="http://schemas.openxmlformats.org/drawingml/2006/main">
            <a:off x="2286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2" name="navigation-Background">
            <a:extLst xmlns:a="http://schemas.openxmlformats.org/drawingml/2006/main">
              <a:ext uri="{FF2B5EF4-FFF2-40B4-BE49-F238E27FC236}">
                <a16:creationId xmlns:a16="http://schemas.microsoft.com/office/drawing/2014/main" id="{F23AC163-B60D-407A-9673-FCCCB0B1F085}"/>
              </a:ext>
            </a:extLst>
          </p:cNvPr>
          <p:cNvSpPr>
            <a:spLocks xmlns:a="http://schemas.openxmlformats.org/drawingml/2006/main" noGrp="1"/>
          </p:cNvSpPr>
          <p:nvPr/>
        </p:nvSpPr>
        <p:spPr>
          <a:xfrm xmlns:a="http://schemas.openxmlformats.org/drawingml/2006/main">
            <a:off x="2571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Background</a:t>
            </a:r>
          </a:p>
        </p:txBody>
      </p:sp>
      <p:sp>
        <p:nvSpPr>
          <p:cNvPr id="3" name="nav-Problem Statements">
            <a:extLst xmlns:a="http://schemas.openxmlformats.org/drawingml/2006/main">
              <a:ext uri="{FF2B5EF4-FFF2-40B4-BE49-F238E27FC236}">
                <a16:creationId xmlns:a16="http://schemas.microsoft.com/office/drawing/2014/main" id="{EF1B2DF7-EC4C-4D65-B454-ABB4DDFD17B6}"/>
              </a:ext>
            </a:extLst>
          </p:cNvPr>
          <p:cNvSpPr>
            <a:spLocks xmlns:a="http://schemas.openxmlformats.org/drawingml/2006/main" noGrp="1"/>
          </p:cNvSpPr>
          <p:nvPr/>
        </p:nvSpPr>
        <p:spPr>
          <a:xfrm xmlns:a="http://schemas.openxmlformats.org/drawingml/2006/main">
            <a:off x="19050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4" name="navigation-Problem Statements">
            <a:extLst xmlns:a="http://schemas.openxmlformats.org/drawingml/2006/main">
              <a:ext uri="{FF2B5EF4-FFF2-40B4-BE49-F238E27FC236}">
                <a16:creationId xmlns:a16="http://schemas.microsoft.com/office/drawing/2014/main" id="{5EB312D0-0159-425A-9065-5D868BD3AD74}"/>
              </a:ext>
            </a:extLst>
          </p:cNvPr>
          <p:cNvSpPr>
            <a:spLocks xmlns:a="http://schemas.openxmlformats.org/drawingml/2006/main" noGrp="1"/>
          </p:cNvSpPr>
          <p:nvPr/>
        </p:nvSpPr>
        <p:spPr>
          <a:xfrm xmlns:a="http://schemas.openxmlformats.org/drawingml/2006/main">
            <a:off x="19335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Problem Statements</a:t>
            </a:r>
          </a:p>
        </p:txBody>
      </p:sp>
      <p:sp>
        <p:nvSpPr>
          <p:cNvPr id="5" name="nav-Capability Context">
            <a:extLst xmlns:a="http://schemas.openxmlformats.org/drawingml/2006/main">
              <a:ext uri="{FF2B5EF4-FFF2-40B4-BE49-F238E27FC236}">
                <a16:creationId xmlns:a16="http://schemas.microsoft.com/office/drawing/2014/main" id="{495D8535-4204-422E-8D94-08354A66CA06}"/>
              </a:ext>
            </a:extLst>
          </p:cNvPr>
          <p:cNvSpPr>
            <a:spLocks xmlns:a="http://schemas.openxmlformats.org/drawingml/2006/main" noGrp="1"/>
          </p:cNvSpPr>
          <p:nvPr/>
        </p:nvSpPr>
        <p:spPr>
          <a:xfrm xmlns:a="http://schemas.openxmlformats.org/drawingml/2006/main">
            <a:off x="35814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6" name="navigation-Capability Context">
            <a:extLst xmlns:a="http://schemas.openxmlformats.org/drawingml/2006/main">
              <a:ext uri="{FF2B5EF4-FFF2-40B4-BE49-F238E27FC236}">
                <a16:creationId xmlns:a16="http://schemas.microsoft.com/office/drawing/2014/main" id="{26332C63-2CFF-4B31-9BC8-6C1575BF1A86}"/>
              </a:ext>
            </a:extLst>
          </p:cNvPr>
          <p:cNvSpPr>
            <a:spLocks xmlns:a="http://schemas.openxmlformats.org/drawingml/2006/main" noGrp="1"/>
          </p:cNvSpPr>
          <p:nvPr/>
        </p:nvSpPr>
        <p:spPr>
          <a:xfrm xmlns:a="http://schemas.openxmlformats.org/drawingml/2006/main">
            <a:off x="36099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Capability Context</a:t>
            </a:r>
          </a:p>
        </p:txBody>
      </p:sp>
      <p:sp>
        <p:nvSpPr>
          <p:cNvPr id="7" name="nav-Artefact Content">
            <a:extLst xmlns:a="http://schemas.openxmlformats.org/drawingml/2006/main">
              <a:ext uri="{FF2B5EF4-FFF2-40B4-BE49-F238E27FC236}">
                <a16:creationId xmlns:a16="http://schemas.microsoft.com/office/drawing/2014/main" id="{79EBDA8D-C71C-4463-B54C-B8F5C89A1267}"/>
              </a:ext>
            </a:extLst>
          </p:cNvPr>
          <p:cNvSpPr>
            <a:spLocks xmlns:a="http://schemas.openxmlformats.org/drawingml/2006/main" noGrp="1"/>
          </p:cNvSpPr>
          <p:nvPr/>
        </p:nvSpPr>
        <p:spPr>
          <a:xfrm xmlns:a="http://schemas.openxmlformats.org/drawingml/2006/main">
            <a:off x="52578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8" name="navigation-Artefact Content">
            <a:extLst xmlns:a="http://schemas.openxmlformats.org/drawingml/2006/main">
              <a:ext uri="{FF2B5EF4-FFF2-40B4-BE49-F238E27FC236}">
                <a16:creationId xmlns:a16="http://schemas.microsoft.com/office/drawing/2014/main" id="{291CBB35-93F6-4F84-9A35-0A76C6D02E9F}"/>
              </a:ext>
            </a:extLst>
          </p:cNvPr>
          <p:cNvSpPr>
            <a:spLocks xmlns:a="http://schemas.openxmlformats.org/drawingml/2006/main" noGrp="1"/>
          </p:cNvSpPr>
          <p:nvPr/>
        </p:nvSpPr>
        <p:spPr>
          <a:xfrm xmlns:a="http://schemas.openxmlformats.org/drawingml/2006/main">
            <a:off x="52863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Artefact Content</a:t>
            </a:r>
          </a:p>
        </p:txBody>
      </p:sp>
      <p:sp>
        <p:nvSpPr>
          <p:cNvPr id="9" name="nav-Roadmap">
            <a:extLst xmlns:a="http://schemas.openxmlformats.org/drawingml/2006/main">
              <a:ext uri="{FF2B5EF4-FFF2-40B4-BE49-F238E27FC236}">
                <a16:creationId xmlns:a16="http://schemas.microsoft.com/office/drawing/2014/main" id="{D3B773C4-F56D-483D-AAA5-4C112D0DC4A0}"/>
              </a:ext>
            </a:extLst>
          </p:cNvPr>
          <p:cNvSpPr>
            <a:spLocks xmlns:a="http://schemas.openxmlformats.org/drawingml/2006/main" noGrp="1"/>
          </p:cNvSpPr>
          <p:nvPr/>
        </p:nvSpPr>
        <p:spPr>
          <a:xfrm xmlns:a="http://schemas.openxmlformats.org/drawingml/2006/main">
            <a:off x="6934200" y="171450"/>
            <a:ext cx="1600200" cy="381000"/>
          </a:xfrm>
          <a:prstGeom xmlns:a="http://schemas.openxmlformats.org/drawingml/2006/main" prst="roundRect">
            <a:avLst>
              <a:gd name="adj" fmla="val 17500"/>
            </a:avLst>
          </a:prstGeom>
          <a:solidFill xmlns:a="http://schemas.openxmlformats.org/drawingml/2006/main">
            <a:srgbClr val="BE1738"/>
          </a:solidFill>
          <a:ln xmlns:a="http://schemas.openxmlformats.org/drawingml/2006/main" w="11430">
            <a:solidFill>
              <a:srgbClr val="BE1738"/>
            </a:solidFill>
          </a:ln>
        </p:spPr>
      </p:sp>
      <p:sp>
        <p:nvSpPr>
          <p:cNvPr id="10" name="navigation-Roadmap">
            <a:extLst xmlns:a="http://schemas.openxmlformats.org/drawingml/2006/main">
              <a:ext uri="{FF2B5EF4-FFF2-40B4-BE49-F238E27FC236}">
                <a16:creationId xmlns:a16="http://schemas.microsoft.com/office/drawing/2014/main" id="{59AC2BCC-D26B-477A-B669-D9CAB48443F0}"/>
              </a:ext>
            </a:extLst>
          </p:cNvPr>
          <p:cNvSpPr>
            <a:spLocks xmlns:a="http://schemas.openxmlformats.org/drawingml/2006/main" noGrp="1"/>
          </p:cNvSpPr>
          <p:nvPr/>
        </p:nvSpPr>
        <p:spPr>
          <a:xfrm xmlns:a="http://schemas.openxmlformats.org/drawingml/2006/main">
            <a:off x="69627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FFFFFF"/>
                </a:solidFill>
                <a:latin typeface="Carlito"/>
                <a:ea typeface="Carlito"/>
                <a:cs typeface="Carlito"/>
              </a:defRPr>
            </a:pPr>
            <a:r>
              <a:rPr sz="1313" b="0">
                <a:solidFill>
                  <a:srgbClr val="FFFFFF"/>
                </a:solidFill>
                <a:latin typeface="Carlito"/>
                <a:ea typeface="Carlito"/>
                <a:cs typeface="Carlito"/>
              </a:rPr>
              <a:t>Roadmap</a:t>
            </a:r>
          </a:p>
        </p:txBody>
      </p:sp>
      <p:sp>
        <p:nvSpPr>
          <p:cNvPr id="11" name="nav-Decision">
            <a:extLst xmlns:a="http://schemas.openxmlformats.org/drawingml/2006/main">
              <a:ext uri="{FF2B5EF4-FFF2-40B4-BE49-F238E27FC236}">
                <a16:creationId xmlns:a16="http://schemas.microsoft.com/office/drawing/2014/main" id="{BF4CF1DE-3332-4309-A0F4-FFDE03001EBD}"/>
              </a:ext>
            </a:extLst>
          </p:cNvPr>
          <p:cNvSpPr>
            <a:spLocks xmlns:a="http://schemas.openxmlformats.org/drawingml/2006/main" noGrp="1"/>
          </p:cNvSpPr>
          <p:nvPr/>
        </p:nvSpPr>
        <p:spPr>
          <a:xfrm xmlns:a="http://schemas.openxmlformats.org/drawingml/2006/main">
            <a:off x="86106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2" name="navigation-Decision">
            <a:extLst xmlns:a="http://schemas.openxmlformats.org/drawingml/2006/main">
              <a:ext uri="{FF2B5EF4-FFF2-40B4-BE49-F238E27FC236}">
                <a16:creationId xmlns:a16="http://schemas.microsoft.com/office/drawing/2014/main" id="{D9CADDE4-39D7-490A-BDFF-F81DBF1AD3D1}"/>
              </a:ext>
            </a:extLst>
          </p:cNvPr>
          <p:cNvSpPr>
            <a:spLocks xmlns:a="http://schemas.openxmlformats.org/drawingml/2006/main" noGrp="1"/>
          </p:cNvSpPr>
          <p:nvPr/>
        </p:nvSpPr>
        <p:spPr>
          <a:xfrm xmlns:a="http://schemas.openxmlformats.org/drawingml/2006/main">
            <a:off x="86391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Decision</a:t>
            </a:r>
          </a:p>
        </p:txBody>
      </p:sp>
      <p:sp>
        <p:nvSpPr>
          <p:cNvPr id="13" name="nav-Appendix">
            <a:extLst xmlns:a="http://schemas.openxmlformats.org/drawingml/2006/main">
              <a:ext uri="{FF2B5EF4-FFF2-40B4-BE49-F238E27FC236}">
                <a16:creationId xmlns:a16="http://schemas.microsoft.com/office/drawing/2014/main" id="{8FB70D5E-7C1E-46A8-8B1F-E85A60893172}"/>
              </a:ext>
            </a:extLst>
          </p:cNvPr>
          <p:cNvSpPr>
            <a:spLocks xmlns:a="http://schemas.openxmlformats.org/drawingml/2006/main" noGrp="1"/>
          </p:cNvSpPr>
          <p:nvPr/>
        </p:nvSpPr>
        <p:spPr>
          <a:xfrm xmlns:a="http://schemas.openxmlformats.org/drawingml/2006/main">
            <a:off x="102870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4" name="navigation-Appendix">
            <a:extLst xmlns:a="http://schemas.openxmlformats.org/drawingml/2006/main">
              <a:ext uri="{FF2B5EF4-FFF2-40B4-BE49-F238E27FC236}">
                <a16:creationId xmlns:a16="http://schemas.microsoft.com/office/drawing/2014/main" id="{9AF6A042-4748-4182-B023-F3FAC050643C}"/>
              </a:ext>
            </a:extLst>
          </p:cNvPr>
          <p:cNvSpPr>
            <a:spLocks xmlns:a="http://schemas.openxmlformats.org/drawingml/2006/main" noGrp="1"/>
          </p:cNvSpPr>
          <p:nvPr/>
        </p:nvSpPr>
        <p:spPr>
          <a:xfrm xmlns:a="http://schemas.openxmlformats.org/drawingml/2006/main">
            <a:off x="103155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Appendix</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c9eb2156764e4bca"/>
          <a:stretch xmlns:a="http://schemas.openxmlformats.org/drawingml/2006/main"/>
        </p:blipFill>
        <p:spPr>
          <a:xfrm xmlns:a="http://schemas.openxmlformats.org/drawingml/2006/main">
            <a:off x="304800" y="737436"/>
            <a:ext cx="1057275" cy="1001629"/>
          </a:xfrm>
          <a:prstGeom xmlns:a="http://schemas.openxmlformats.org/drawingml/2006/main" prst="rect">
            <a:avLst/>
          </a:prstGeom>
        </p:spPr>
      </p:pic>
      <p:sp>
        <p:nvSpPr>
          <p:cNvPr id="16" name="title-outline">
            <a:extLst xmlns:a="http://schemas.openxmlformats.org/drawingml/2006/main">
              <a:ext uri="{FF2B5EF4-FFF2-40B4-BE49-F238E27FC236}">
                <a16:creationId xmlns:a16="http://schemas.microsoft.com/office/drawing/2014/main" id="{4AF04ABC-2178-48E6-985C-BA5854BD807C}"/>
              </a:ext>
            </a:extLst>
          </p:cNvPr>
          <p:cNvSpPr>
            <a:spLocks xmlns:a="http://schemas.openxmlformats.org/drawingml/2006/main" noGrp="1"/>
          </p:cNvSpPr>
          <p:nvPr/>
        </p:nvSpPr>
        <p:spPr>
          <a:xfrm xmlns:a="http://schemas.openxmlformats.org/drawingml/2006/main">
            <a:off x="1657350" y="866775"/>
            <a:ext cx="10496550" cy="4857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8575">
            <a:solidFill>
              <a:srgbClr val="BE1738"/>
            </a:solidFill>
          </a:ln>
        </p:spPr>
      </p:sp>
      <p:sp>
        <p:nvSpPr>
          <p:cNvPr id="17" name="slide-title">
            <a:extLst xmlns:a="http://schemas.openxmlformats.org/drawingml/2006/main">
              <a:ext uri="{FF2B5EF4-FFF2-40B4-BE49-F238E27FC236}">
                <a16:creationId xmlns:a16="http://schemas.microsoft.com/office/drawing/2014/main" id="{89E8BD6F-E54F-435E-B8E6-B9E654CC2A2E}"/>
              </a:ext>
            </a:extLst>
          </p:cNvPr>
          <p:cNvSpPr>
            <a:spLocks xmlns:a="http://schemas.openxmlformats.org/drawingml/2006/main" noGrp="1"/>
          </p:cNvSpPr>
          <p:nvPr/>
        </p:nvSpPr>
        <p:spPr>
          <a:xfrm xmlns:a="http://schemas.openxmlformats.org/drawingml/2006/main">
            <a:off x="1933575" y="933450"/>
            <a:ext cx="994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1632"/>
                </a:solidFill>
                <a:latin typeface="Carlito"/>
                <a:ea typeface="Carlito"/>
                <a:cs typeface="Carlito"/>
              </a:defRPr>
            </a:pPr>
            <a:r>
              <a:rPr sz="2100" b="1">
                <a:solidFill>
                  <a:srgbClr val="A91632"/>
                </a:solidFill>
                <a:latin typeface="Carlito"/>
                <a:ea typeface="Carlito"/>
                <a:cs typeface="Carlito"/>
              </a:rPr>
              <a:t>ROADMAP</a:t>
            </a:r>
          </a:p>
        </p:txBody>
      </p:sp>
      <p:sp>
        <p:nvSpPr>
          <p:cNvPr id="18" name="classification">
            <a:extLst xmlns:a="http://schemas.openxmlformats.org/drawingml/2006/main">
              <a:ext uri="{FF2B5EF4-FFF2-40B4-BE49-F238E27FC236}">
                <a16:creationId xmlns:a16="http://schemas.microsoft.com/office/drawing/2014/main" id="{D6DB7E5D-C50C-44D7-864C-F9EC70B71623}"/>
              </a:ext>
            </a:extLst>
          </p:cNvPr>
          <p:cNvSpPr>
            <a:spLocks xmlns:a="http://schemas.openxmlformats.org/drawingml/2006/main" noGrp="1"/>
          </p:cNvSpPr>
          <p:nvPr/>
        </p:nvSpPr>
        <p:spPr>
          <a:xfrm xmlns:a="http://schemas.openxmlformats.org/drawingml/2006/main">
            <a:off x="12001500" y="619125"/>
            <a:ext cx="2905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30343A"/>
                </a:solidFill>
                <a:latin typeface="Carlito"/>
                <a:ea typeface="Carlito"/>
                <a:cs typeface="Carlito"/>
              </a:defRPr>
            </a:pPr>
            <a:r>
              <a:rPr sz="1275" b="0">
                <a:solidFill>
                  <a:srgbClr val="30343A"/>
                </a:solidFill>
                <a:latin typeface="Carlito"/>
                <a:ea typeface="Carlito"/>
                <a:cs typeface="Carlito"/>
              </a:rPr>
              <a:t>RESTRICTED TO Euroclear</a:t>
            </a:r>
          </a:p>
        </p:txBody>
      </p:sp>
      <p:sp>
        <p:nvSpPr>
          <p:cNvPr id="19" name="footer-outline">
            <a:extLst xmlns:a="http://schemas.openxmlformats.org/drawingml/2006/main">
              <a:ext uri="{FF2B5EF4-FFF2-40B4-BE49-F238E27FC236}">
                <a16:creationId xmlns:a16="http://schemas.microsoft.com/office/drawing/2014/main" id="{3210D693-B99C-40B8-B79D-F624338896F2}"/>
              </a:ext>
            </a:extLst>
          </p:cNvPr>
          <p:cNvSpPr>
            <a:spLocks xmlns:a="http://schemas.openxmlformats.org/drawingml/2006/main" noGrp="1"/>
          </p:cNvSpPr>
          <p:nvPr/>
        </p:nvSpPr>
        <p:spPr>
          <a:xfrm xmlns:a="http://schemas.openxmlformats.org/drawingml/2006/main">
            <a:off x="171450" y="8143875"/>
            <a:ext cx="3009900" cy="2952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4288">
            <a:solidFill>
              <a:srgbClr val="70757C"/>
            </a:solidFill>
          </a:ln>
        </p:spPr>
      </p:sp>
      <p:sp>
        <p:nvSpPr>
          <p:cNvPr id="20" name="footer">
            <a:extLst xmlns:a="http://schemas.openxmlformats.org/drawingml/2006/main">
              <a:ext uri="{FF2B5EF4-FFF2-40B4-BE49-F238E27FC236}">
                <a16:creationId xmlns:a16="http://schemas.microsoft.com/office/drawing/2014/main" id="{E3B9383E-0C42-455F-9B8A-349C14C09F67}"/>
              </a:ext>
            </a:extLst>
          </p:cNvPr>
          <p:cNvSpPr>
            <a:spLocks xmlns:a="http://schemas.openxmlformats.org/drawingml/2006/main" noGrp="1"/>
          </p:cNvSpPr>
          <p:nvPr/>
        </p:nvSpPr>
        <p:spPr>
          <a:xfrm xmlns:a="http://schemas.openxmlformats.org/drawingml/2006/main">
            <a:off x="295275" y="8172450"/>
            <a:ext cx="2771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0343A"/>
                </a:solidFill>
                <a:latin typeface="Carlito"/>
                <a:ea typeface="Carlito"/>
                <a:cs typeface="Carlito"/>
              </a:defRPr>
            </a:pPr>
            <a:r>
              <a:rPr sz="1500" b="0">
                <a:solidFill>
                  <a:srgbClr val="30343A"/>
                </a:solidFill>
                <a:latin typeface="Carlito"/>
                <a:ea typeface="Carlito"/>
                <a:cs typeface="Carlito"/>
              </a:rPr>
              <a:t>API Target Architecture</a:t>
            </a:r>
          </a:p>
        </p:txBody>
      </p:sp>
      <p:sp>
        <p:nvSpPr>
          <p:cNvPr id="21" name="page-number">
            <a:extLst xmlns:a="http://schemas.openxmlformats.org/drawingml/2006/main">
              <a:ext uri="{FF2B5EF4-FFF2-40B4-BE49-F238E27FC236}">
                <a16:creationId xmlns:a16="http://schemas.microsoft.com/office/drawing/2014/main" id="{CFBAED18-2680-47F2-9065-AB4030822D9B}"/>
              </a:ext>
            </a:extLst>
          </p:cNvPr>
          <p:cNvSpPr>
            <a:spLocks xmlns:a="http://schemas.openxmlformats.org/drawingml/2006/main" noGrp="1"/>
          </p:cNvSpPr>
          <p:nvPr/>
        </p:nvSpPr>
        <p:spPr>
          <a:xfrm xmlns:a="http://schemas.openxmlformats.org/drawingml/2006/main">
            <a:off x="14458950" y="8162925"/>
            <a:ext cx="4476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70757C"/>
                </a:solidFill>
                <a:latin typeface="Carlito"/>
                <a:ea typeface="Carlito"/>
                <a:cs typeface="Carlito"/>
              </a:defRPr>
            </a:pPr>
            <a:r>
              <a:rPr sz="1350" b="0">
                <a:solidFill>
                  <a:srgbClr val="70757C"/>
                </a:solidFill>
                <a:latin typeface="Carlito"/>
                <a:ea typeface="Carlito"/>
                <a:cs typeface="Carlito"/>
              </a:rPr>
              <a:t>9</a:t>
            </a:r>
          </a:p>
        </p:txBody>
      </p:sp>
      <p:sp>
        <p:nvSpPr>
          <p:cNvPr id="22" name="text">
            <a:extLst xmlns:a="http://schemas.openxmlformats.org/drawingml/2006/main">
              <a:ext uri="{FF2B5EF4-FFF2-40B4-BE49-F238E27FC236}">
                <a16:creationId xmlns:a16="http://schemas.microsoft.com/office/drawing/2014/main" id="{A3831CE7-737D-46A7-B081-F4781EC9DFB9}"/>
              </a:ext>
            </a:extLst>
          </p:cNvPr>
          <p:cNvSpPr>
            <a:spLocks xmlns:a="http://schemas.openxmlformats.org/drawingml/2006/main" noGrp="1"/>
          </p:cNvSpPr>
          <p:nvPr/>
        </p:nvSpPr>
        <p:spPr>
          <a:xfrm xmlns:a="http://schemas.openxmlformats.org/drawingml/2006/main">
            <a:off x="361950" y="1885950"/>
            <a:ext cx="14439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A91632"/>
                </a:solidFill>
                <a:latin typeface="Carlito"/>
                <a:ea typeface="Carlito"/>
                <a:cs typeface="Carlito"/>
              </a:defRPr>
            </a:pPr>
            <a:r>
              <a:rPr sz="2175" b="1">
                <a:solidFill>
                  <a:srgbClr val="A91632"/>
                </a:solidFill>
                <a:latin typeface="Carlito"/>
                <a:ea typeface="Carlito"/>
                <a:cs typeface="Carlito"/>
              </a:rPr>
              <a:t>Foundation first, followed by scale and use-case-led extensions</a:t>
            </a:r>
          </a:p>
        </p:txBody>
      </p:sp>
      <p:graphicFrame>
        <p:nvGraphicFramePr>
          <p:cNvPr id="48" name=""/>
          <p:cNvGraphicFramePr/>
          <p:nvPr/>
        </p:nvGraphicFramePr>
        <p:xfrm>
          <a:off xmlns:a="http://schemas.openxmlformats.org/drawingml/2006/main" x="342900" y="2428875"/>
          <a:ext xmlns:a="http://schemas.openxmlformats.org/drawingml/2006/main" cx="14554200" cy="4572000"/>
        </p:xfrm>
        <a:graphic xmlns:a="http://schemas.openxmlformats.org/drawingml/2006/main">
          <a:graphicData uri="http://schemas.openxmlformats.org/drawingml/2006/table">
            <a:tbl>
              <a:tblPr firstRow="0" bandRow="0"/>
              <a:tblGrid>
                <a:gridCol w="2857500"/>
                <a:gridCol w="6381750"/>
                <a:gridCol w="5314950"/>
              </a:tblGrid>
              <a:tr h="457200">
                <a:tc>
                  <a:txBody>
                    <a:bodyPr>
                      <a:noAutofit/>
                    </a:bodyPr>
                    <a:lstStyle/>
                    <a:p>
                      <a:r>
                        <a:rPr sz="1800" b="1">
                          <a:solidFill>
                            <a:srgbClr val="FFFFFF"/>
                          </a:solidFill>
                          <a:latin typeface="Carlito"/>
                          <a:ea typeface="Carlito"/>
                          <a:cs typeface="Carlito"/>
                        </a:rPr>
                        <a:t>Phase</a:t>
                      </a:r>
                    </a:p>
                  </a:txBody>
                  <a:tcPr marL="133350" marR="133350" marT="95250" marB="76200" anchor="t">
                    <a:solidFill>
                      <a:srgbClr val="BE1738"/>
                    </a:solidFill>
                  </a:tcPr>
                </a:tc>
                <a:tc>
                  <a:txBody>
                    <a:bodyPr>
                      <a:noAutofit/>
                    </a:bodyPr>
                    <a:lstStyle/>
                    <a:p>
                      <a:r>
                        <a:rPr sz="1800" b="1">
                          <a:solidFill>
                            <a:srgbClr val="FFFFFF"/>
                          </a:solidFill>
                          <a:latin typeface="Carlito"/>
                          <a:ea typeface="Carlito"/>
                          <a:cs typeface="Carlito"/>
                        </a:rPr>
                        <a:t>Capability priorities</a:t>
                      </a:r>
                    </a:p>
                  </a:txBody>
                  <a:tcPr marL="133350" marR="133350" marT="95250" marB="76200" anchor="t">
                    <a:solidFill>
                      <a:srgbClr val="BE1738"/>
                    </a:solidFill>
                  </a:tcPr>
                </a:tc>
                <a:tc>
                  <a:txBody>
                    <a:bodyPr>
                      <a:noAutofit/>
                    </a:bodyPr>
                    <a:lstStyle/>
                    <a:p>
                      <a:r>
                        <a:rPr sz="1800" b="1">
                          <a:solidFill>
                            <a:srgbClr val="FFFFFF"/>
                          </a:solidFill>
                          <a:latin typeface="Carlito"/>
                          <a:ea typeface="Carlito"/>
                          <a:cs typeface="Carlito"/>
                        </a:rPr>
                        <a:t>Exit evidence and accountable lead</a:t>
                      </a:r>
                    </a:p>
                  </a:txBody>
                  <a:tcPr marL="133350" marR="133350" marT="95250" marB="76200" anchor="t">
                    <a:solidFill>
                      <a:srgbClr val="BE1738"/>
                    </a:solidFill>
                  </a:tcPr>
                </a:tc>
              </a:tr>
              <a:tr h="1371600">
                <a:tc>
                  <a:txBody>
                    <a:bodyPr>
                      <a:noAutofit/>
                    </a:bodyPr>
                    <a:lstStyle/>
                    <a:p>
                      <a:r>
                        <a:rPr sz="1688" b="1">
                          <a:solidFill>
                            <a:srgbClr val="30343A"/>
                          </a:solidFill>
                          <a:latin typeface="Carlito"/>
                          <a:ea typeface="Carlito"/>
                          <a:cs typeface="Carlito"/>
                        </a:rPr>
                        <a:t>1. Foundation</a:t>
                      </a:r>
                    </a:p>
                    <a:p>
                      <a:r>
                        <a:rPr sz="1688" b="1">
                          <a:solidFill>
                            <a:srgbClr val="30343A"/>
                          </a:solidFill>
                          <a:latin typeface="Carlito"/>
                          <a:ea typeface="Carlito"/>
                          <a:cs typeface="Carlito"/>
                        </a:rPr>
                        <a:t>Essential for adoption</a:t>
                      </a:r>
                    </a:p>
                  </a:txBody>
                  <a:tcPr marL="133350" marR="133350" marT="95250" marB="76200" anchor="t">
                    <a:solidFill>
                      <a:srgbClr val="FFFFFF"/>
                    </a:solidFill>
                  </a:tcPr>
                </a:tc>
                <a:tc>
                  <a:txBody>
                    <a:bodyPr>
                      <a:noAutofit/>
                    </a:bodyPr>
                    <a:lstStyle/>
                    <a:p>
                      <a:r>
                        <a:rPr sz="1688" b="0">
                          <a:solidFill>
                            <a:srgbClr val="30343A"/>
                          </a:solidFill>
                          <a:latin typeface="Carlito"/>
                          <a:ea typeface="Carlito"/>
                          <a:cs typeface="Carlito"/>
                        </a:rPr>
                        <a:t>Ownership and API inventory</a:t>
                      </a:r>
                    </a:p>
                    <a:p>
                      <a:r>
                        <a:rPr sz="1688" b="0">
                          <a:solidFill>
                            <a:srgbClr val="30343A"/>
                          </a:solidFill>
                          <a:latin typeface="Carlito"/>
                          <a:ea typeface="Carlito"/>
                          <a:cs typeface="Carlito"/>
                        </a:rPr>
                        <a:t>Consumer needs, reuse and contract design</a:t>
                      </a:r>
                    </a:p>
                    <a:p>
                      <a:r>
                        <a:rPr sz="1688" b="0">
                          <a:solidFill>
                            <a:srgbClr val="30343A"/>
                          </a:solidFill>
                          <a:latin typeface="Carlito"/>
                          <a:ea typeface="Carlito"/>
                          <a:cs typeface="Carlito"/>
                        </a:rPr>
                        <a:t>Minimum identity, security and lifecycle controls</a:t>
                      </a:r>
                    </a:p>
                    <a:p>
                      <a:r>
                        <a:rPr sz="1688" b="0">
                          <a:solidFill>
                            <a:srgbClr val="30343A"/>
                          </a:solidFill>
                          <a:latin typeface="Carlito"/>
                          <a:ea typeface="Carlito"/>
                          <a:cs typeface="Carlito"/>
                        </a:rPr>
                        <a:t>Testing, monitoring and support</a:t>
                      </a:r>
                    </a:p>
                  </a:txBody>
                  <a:tcPr marL="133350" marR="133350" marT="95250" marB="76200" anchor="t">
                    <a:solidFill>
                      <a:srgbClr val="FFFFFF"/>
                    </a:solidFill>
                  </a:tcPr>
                </a:tc>
                <a:tc>
                  <a:txBody>
                    <a:bodyPr>
                      <a:noAutofit/>
                    </a:bodyPr>
                    <a:lstStyle/>
                    <a:p>
                      <a:r>
                        <a:rPr sz="1688" b="0">
                          <a:solidFill>
                            <a:srgbClr val="30343A"/>
                          </a:solidFill>
                          <a:latin typeface="Carlito"/>
                          <a:ea typeface="Carlito"/>
                          <a:cs typeface="Carlito"/>
                        </a:rPr>
                        <a:t>Selected APIs meet the minimum requirements.</a:t>
                      </a:r>
                    </a:p>
                    <a:p>
                      <a:r>
                        <a:rPr sz="1688" b="0">
                          <a:solidFill>
                            <a:srgbClr val="30343A"/>
                          </a:solidFill>
                          <a:latin typeface="Carlito"/>
                          <a:ea typeface="Carlito"/>
                          <a:cs typeface="Carlito"/>
                        </a:rPr>
                        <a:t>Lead: domain / API owners with platform, IAM, security and governance teams.</a:t>
                      </a:r>
                    </a:p>
                  </a:txBody>
                  <a:tcPr marL="133350" marR="133350" marT="95250" marB="76200" anchor="t">
                    <a:solidFill>
                      <a:srgbClr val="FFFFFF"/>
                    </a:solidFill>
                  </a:tcPr>
                </a:tc>
              </a:tr>
              <a:tr h="1371600">
                <a:tc>
                  <a:txBody>
                    <a:bodyPr>
                      <a:noAutofit/>
                    </a:bodyPr>
                    <a:lstStyle/>
                    <a:p>
                      <a:r>
                        <a:rPr sz="1688" b="1">
                          <a:solidFill>
                            <a:srgbClr val="30343A"/>
                          </a:solidFill>
                          <a:latin typeface="Carlito"/>
                          <a:ea typeface="Carlito"/>
                          <a:cs typeface="Carlito"/>
                        </a:rPr>
                        <a:t>2. Scale and adoption</a:t>
                      </a:r>
                    </a:p>
                    <a:p>
                      <a:r>
                        <a:rPr sz="1688" b="1">
                          <a:solidFill>
                            <a:srgbClr val="30343A"/>
                          </a:solidFill>
                          <a:latin typeface="Carlito"/>
                          <a:ea typeface="Carlito"/>
                          <a:cs typeface="Carlito"/>
                        </a:rPr>
                        <a:t>Strategic delivery improvement</a:t>
                      </a:r>
                    </a:p>
                  </a:txBody>
                  <a:tcPr marL="133350" marR="133350" marT="95250" marB="76200" anchor="t">
                    <a:solidFill>
                      <a:srgbClr val="F4F5F6"/>
                    </a:solidFill>
                  </a:tcPr>
                </a:tc>
                <a:tc>
                  <a:txBody>
                    <a:bodyPr>
                      <a:noAutofit/>
                    </a:bodyPr>
                    <a:lstStyle/>
                    <a:p>
                      <a:r>
                        <a:rPr sz="1688" b="0">
                          <a:solidFill>
                            <a:srgbClr val="30343A"/>
                          </a:solidFill>
                          <a:latin typeface="Carlito"/>
                          <a:ea typeface="Carlito"/>
                          <a:cs typeface="Carlito"/>
                        </a:rPr>
                        <a:t>Self-service catalogue, portal and sandbox</a:t>
                      </a:r>
                    </a:p>
                    <a:p>
                      <a:r>
                        <a:rPr sz="1688" b="0">
                          <a:solidFill>
                            <a:srgbClr val="30343A"/>
                          </a:solidFill>
                          <a:latin typeface="Carlito"/>
                          <a:ea typeface="Carlito"/>
                          <a:cs typeface="Carlito"/>
                        </a:rPr>
                        <a:t>Automated checks and repeatable delivery patterns</a:t>
                      </a:r>
                    </a:p>
                    <a:p>
                      <a:r>
                        <a:rPr sz="1688" b="0">
                          <a:solidFill>
                            <a:srgbClr val="30343A"/>
                          </a:solidFill>
                          <a:latin typeface="Carlito"/>
                          <a:ea typeface="Carlito"/>
                          <a:cs typeface="Carlito"/>
                        </a:rPr>
                        <a:t>Dependency visibility and reuse measurement</a:t>
                      </a:r>
                    </a:p>
                    <a:p>
                      <a:r>
                        <a:rPr sz="1688" b="0">
                          <a:solidFill>
                            <a:srgbClr val="30343A"/>
                          </a:solidFill>
                          <a:latin typeface="Carlito"/>
                          <a:ea typeface="Carlito"/>
                          <a:cs typeface="Carlito"/>
                        </a:rPr>
                        <a:t>Onboarding and service performance measurement</a:t>
                      </a:r>
                    </a:p>
                  </a:txBody>
                  <a:tcPr marL="133350" marR="133350" marT="95250" marB="76200" anchor="t">
                    <a:solidFill>
                      <a:srgbClr val="F4F5F6"/>
                    </a:solidFill>
                  </a:tcPr>
                </a:tc>
                <a:tc>
                  <a:txBody>
                    <a:bodyPr>
                      <a:noAutofit/>
                    </a:bodyPr>
                    <a:lstStyle/>
                    <a:p>
                      <a:r>
                        <a:rPr sz="1688" b="0">
                          <a:solidFill>
                            <a:srgbClr val="30343A"/>
                          </a:solidFill>
                          <a:latin typeface="Carlito"/>
                          <a:ea typeface="Carlito"/>
                          <a:cs typeface="Carlito"/>
                        </a:rPr>
                        <a:t>Repeatable delivery with measured improvements.</a:t>
                      </a:r>
                    </a:p>
                    <a:p>
                      <a:r>
                        <a:rPr sz="1688" b="0">
                          <a:solidFill>
                            <a:srgbClr val="30343A"/>
                          </a:solidFill>
                          <a:latin typeface="Carlito"/>
                          <a:ea typeface="Carlito"/>
                          <a:cs typeface="Carlito"/>
                        </a:rPr>
                        <a:t>Lead: platform and domain / product owners.</a:t>
                      </a:r>
                    </a:p>
                  </a:txBody>
                  <a:tcPr marL="133350" marR="133350" marT="95250" marB="76200" anchor="t">
                    <a:solidFill>
                      <a:srgbClr val="F4F5F6"/>
                    </a:solidFill>
                  </a:tcPr>
                </a:tc>
              </a:tr>
              <a:tr h="1371600">
                <a:tc>
                  <a:txBody>
                    <a:bodyPr>
                      <a:noAutofit/>
                    </a:bodyPr>
                    <a:lstStyle/>
                    <a:p>
                      <a:r>
                        <a:rPr sz="1688" b="1">
                          <a:solidFill>
                            <a:srgbClr val="30343A"/>
                          </a:solidFill>
                          <a:latin typeface="Carlito"/>
                          <a:ea typeface="Carlito"/>
                          <a:cs typeface="Carlito"/>
                        </a:rPr>
                        <a:t>3. Strategic extensions</a:t>
                      </a:r>
                    </a:p>
                    <a:p>
                      <a:r>
                        <a:rPr sz="1688" b="1">
                          <a:solidFill>
                            <a:srgbClr val="30343A"/>
                          </a:solidFill>
                          <a:latin typeface="Carlito"/>
                          <a:ea typeface="Carlito"/>
                          <a:cs typeface="Carlito"/>
                        </a:rPr>
                        <a:t>Demand-led growth</a:t>
                      </a:r>
                    </a:p>
                  </a:txBody>
                  <a:tcPr marL="133350" marR="133350" marT="95250" marB="76200" anchor="t">
                    <a:solidFill>
                      <a:srgbClr val="FFFFFF"/>
                    </a:solidFill>
                  </a:tcPr>
                </a:tc>
                <a:tc>
                  <a:txBody>
                    <a:bodyPr>
                      <a:noAutofit/>
                    </a:bodyPr>
                    <a:lstStyle/>
                    <a:p>
                      <a:r>
                        <a:rPr sz="1688" b="0">
                          <a:solidFill>
                            <a:srgbClr val="30343A"/>
                          </a:solidFill>
                          <a:latin typeface="Carlito"/>
                          <a:ea typeface="Carlito"/>
                          <a:cs typeface="Carlito"/>
                        </a:rPr>
                        <a:t>Commercial external offerings where justified</a:t>
                      </a:r>
                    </a:p>
                    <a:p>
                      <a:r>
                        <a:rPr sz="1688" b="0">
                          <a:solidFill>
                            <a:srgbClr val="30343A"/>
                          </a:solidFill>
                          <a:latin typeface="Carlito"/>
                          <a:ea typeface="Carlito"/>
                          <a:cs typeface="Carlito"/>
                        </a:rPr>
                        <a:t>Wider ecosystem and partner enablement</a:t>
                      </a:r>
                    </a:p>
                    <a:p>
                      <a:r>
                        <a:rPr sz="1688" b="0">
                          <a:solidFill>
                            <a:srgbClr val="30343A"/>
                          </a:solidFill>
                          <a:latin typeface="Carlito"/>
                          <a:ea typeface="Carlito"/>
                          <a:cs typeface="Carlito"/>
                        </a:rPr>
                        <a:t>AI-agent and MCP capabilities for validated use cases</a:t>
                      </a:r>
                    </a:p>
                  </a:txBody>
                  <a:tcPr marL="133350" marR="133350" marT="95250" marB="76200" anchor="t">
                    <a:solidFill>
                      <a:srgbClr val="FFFFFF"/>
                    </a:solidFill>
                  </a:tcPr>
                </a:tc>
                <a:tc>
                  <a:txBody>
                    <a:bodyPr>
                      <a:noAutofit/>
                    </a:bodyPr>
                    <a:lstStyle/>
                    <a:p>
                      <a:r>
                        <a:rPr sz="1688" b="0">
                          <a:solidFill>
                            <a:srgbClr val="30343A"/>
                          </a:solidFill>
                          <a:latin typeface="Carlito"/>
                          <a:ea typeface="Carlito"/>
                          <a:cs typeface="Carlito"/>
                        </a:rPr>
                        <a:t>Validated use cases with value measures and controls.</a:t>
                      </a:r>
                    </a:p>
                    <a:p>
                      <a:r>
                        <a:rPr sz="1688" b="0">
                          <a:solidFill>
                            <a:srgbClr val="30343A"/>
                          </a:solidFill>
                          <a:latin typeface="Carlito"/>
                          <a:ea typeface="Carlito"/>
                          <a:cs typeface="Carlito"/>
                        </a:rPr>
                        <a:t>Lead: business / product sponsors with technology and risk owners.</a:t>
                      </a:r>
                    </a:p>
                  </a:txBody>
                  <a:tcPr marL="133350" marR="133350" marT="95250" marB="76200" anchor="t">
                    <a:solidFill>
                      <a:srgbClr val="FFFFFF"/>
                    </a:solidFill>
                  </a:tcPr>
                </a:tc>
              </a:tr>
            </a:tbl>
          </a:graphicData>
        </a:graphic>
      </p:graphicFrame>
      <p:sp>
        <p:nvSpPr>
          <p:cNvPr id="24" name="box">
            <a:extLst xmlns:a="http://schemas.openxmlformats.org/drawingml/2006/main">
              <a:ext uri="{FF2B5EF4-FFF2-40B4-BE49-F238E27FC236}">
                <a16:creationId xmlns:a16="http://schemas.microsoft.com/office/drawing/2014/main" id="{B7565B0A-C3DB-47A3-8EE4-FDCF822A1B82}"/>
              </a:ext>
            </a:extLst>
          </p:cNvPr>
          <p:cNvSpPr>
            <a:spLocks xmlns:a="http://schemas.openxmlformats.org/drawingml/2006/main" noGrp="1"/>
          </p:cNvSpPr>
          <p:nvPr/>
        </p:nvSpPr>
        <p:spPr>
          <a:xfrm xmlns:a="http://schemas.openxmlformats.org/drawingml/2006/main">
            <a:off x="342900" y="7191375"/>
            <a:ext cx="14554200" cy="723900"/>
          </a:xfrm>
          <a:prstGeom xmlns:a="http://schemas.openxmlformats.org/drawingml/2006/main" prst="rect">
            <a:avLst/>
          </a:prstGeom>
          <a:solidFill xmlns:a="http://schemas.openxmlformats.org/drawingml/2006/main">
            <a:srgbClr val="FAEEF1"/>
          </a:solidFill>
          <a:ln xmlns:a="http://schemas.openxmlformats.org/drawingml/2006/main" w="9525">
            <a:solidFill>
              <a:srgbClr val="BE1738"/>
            </a:solidFill>
          </a:ln>
        </p:spPr>
      </p:sp>
      <p:sp>
        <p:nvSpPr>
          <p:cNvPr id="25" name="text">
            <a:extLst xmlns:a="http://schemas.openxmlformats.org/drawingml/2006/main">
              <a:ext uri="{FF2B5EF4-FFF2-40B4-BE49-F238E27FC236}">
                <a16:creationId xmlns:a16="http://schemas.microsoft.com/office/drawing/2014/main" id="{30683544-B992-4CF6-A981-2CAF9ADF48C0}"/>
              </a:ext>
            </a:extLst>
          </p:cNvPr>
          <p:cNvSpPr>
            <a:spLocks xmlns:a="http://schemas.openxmlformats.org/drawingml/2006/main" noGrp="1"/>
          </p:cNvSpPr>
          <p:nvPr/>
        </p:nvSpPr>
        <p:spPr>
          <a:xfrm xmlns:a="http://schemas.openxmlformats.org/drawingml/2006/main">
            <a:off x="514350" y="7324725"/>
            <a:ext cx="142113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0343A"/>
                </a:solidFill>
                <a:latin typeface="Carlito"/>
                <a:ea typeface="Carlito"/>
                <a:cs typeface="Carlito"/>
              </a:defRPr>
            </a:pPr>
            <a:r>
              <a:rPr sz="1725" b="0">
                <a:solidFill>
                  <a:srgbClr val="30343A"/>
                </a:solidFill>
                <a:latin typeface="Carlito"/>
                <a:ea typeface="Carlito"/>
                <a:cs typeface="Carlito"/>
              </a:rPr>
              <a:t>On approval: confirm owners and current coverage, select the initial adoption scope, establish baselines, and agree dates and dependencies. Active agent use cases require their controls in the relevant foundation.</a:t>
            </a:r>
          </a:p>
        </p:txBody>
      </p:sp>
    </p:spTree>
    <p:extLst>
      <p:ext uri="{BB962C8B-B14F-4D97-AF65-F5344CB8AC3E}">
        <p14:creationId xmlns:p14="http://schemas.microsoft.com/office/powerpoint/2010/main" val="35417207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nav-Background">
            <a:extLst xmlns:a="http://schemas.openxmlformats.org/drawingml/2006/main">
              <a:ext uri="{FF2B5EF4-FFF2-40B4-BE49-F238E27FC236}">
                <a16:creationId xmlns:a16="http://schemas.microsoft.com/office/drawing/2014/main" id="{D62594BC-1B09-45C9-AB83-C39A1BD353D7}"/>
              </a:ext>
            </a:extLst>
          </p:cNvPr>
          <p:cNvSpPr>
            <a:spLocks xmlns:a="http://schemas.openxmlformats.org/drawingml/2006/main" noGrp="1"/>
          </p:cNvSpPr>
          <p:nvPr/>
        </p:nvSpPr>
        <p:spPr>
          <a:xfrm xmlns:a="http://schemas.openxmlformats.org/drawingml/2006/main">
            <a:off x="2286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2" name="navigation-Background">
            <a:extLst xmlns:a="http://schemas.openxmlformats.org/drawingml/2006/main">
              <a:ext uri="{FF2B5EF4-FFF2-40B4-BE49-F238E27FC236}">
                <a16:creationId xmlns:a16="http://schemas.microsoft.com/office/drawing/2014/main" id="{DE8A6239-6F7F-44CC-85F3-C64EC7ACB7D4}"/>
              </a:ext>
            </a:extLst>
          </p:cNvPr>
          <p:cNvSpPr>
            <a:spLocks xmlns:a="http://schemas.openxmlformats.org/drawingml/2006/main" noGrp="1"/>
          </p:cNvSpPr>
          <p:nvPr/>
        </p:nvSpPr>
        <p:spPr>
          <a:xfrm xmlns:a="http://schemas.openxmlformats.org/drawingml/2006/main">
            <a:off x="2571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Background</a:t>
            </a:r>
          </a:p>
        </p:txBody>
      </p:sp>
      <p:sp>
        <p:nvSpPr>
          <p:cNvPr id="3" name="nav-Problem Statements">
            <a:extLst xmlns:a="http://schemas.openxmlformats.org/drawingml/2006/main">
              <a:ext uri="{FF2B5EF4-FFF2-40B4-BE49-F238E27FC236}">
                <a16:creationId xmlns:a16="http://schemas.microsoft.com/office/drawing/2014/main" id="{A31667FA-E7F1-4938-B708-374D1AC7B6E6}"/>
              </a:ext>
            </a:extLst>
          </p:cNvPr>
          <p:cNvSpPr>
            <a:spLocks xmlns:a="http://schemas.openxmlformats.org/drawingml/2006/main" noGrp="1"/>
          </p:cNvSpPr>
          <p:nvPr/>
        </p:nvSpPr>
        <p:spPr>
          <a:xfrm xmlns:a="http://schemas.openxmlformats.org/drawingml/2006/main">
            <a:off x="19050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4" name="navigation-Problem Statements">
            <a:extLst xmlns:a="http://schemas.openxmlformats.org/drawingml/2006/main">
              <a:ext uri="{FF2B5EF4-FFF2-40B4-BE49-F238E27FC236}">
                <a16:creationId xmlns:a16="http://schemas.microsoft.com/office/drawing/2014/main" id="{D93A2200-59CD-4D35-9809-5353C94A8CF6}"/>
              </a:ext>
            </a:extLst>
          </p:cNvPr>
          <p:cNvSpPr>
            <a:spLocks xmlns:a="http://schemas.openxmlformats.org/drawingml/2006/main" noGrp="1"/>
          </p:cNvSpPr>
          <p:nvPr/>
        </p:nvSpPr>
        <p:spPr>
          <a:xfrm xmlns:a="http://schemas.openxmlformats.org/drawingml/2006/main">
            <a:off x="19335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Problem Statements</a:t>
            </a:r>
          </a:p>
        </p:txBody>
      </p:sp>
      <p:sp>
        <p:nvSpPr>
          <p:cNvPr id="5" name="nav-Capability Context">
            <a:extLst xmlns:a="http://schemas.openxmlformats.org/drawingml/2006/main">
              <a:ext uri="{FF2B5EF4-FFF2-40B4-BE49-F238E27FC236}">
                <a16:creationId xmlns:a16="http://schemas.microsoft.com/office/drawing/2014/main" id="{1ECAA707-2143-4188-9FDC-39620E8E48B5}"/>
              </a:ext>
            </a:extLst>
          </p:cNvPr>
          <p:cNvSpPr>
            <a:spLocks xmlns:a="http://schemas.openxmlformats.org/drawingml/2006/main" noGrp="1"/>
          </p:cNvSpPr>
          <p:nvPr/>
        </p:nvSpPr>
        <p:spPr>
          <a:xfrm xmlns:a="http://schemas.openxmlformats.org/drawingml/2006/main">
            <a:off x="35814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6" name="navigation-Capability Context">
            <a:extLst xmlns:a="http://schemas.openxmlformats.org/drawingml/2006/main">
              <a:ext uri="{FF2B5EF4-FFF2-40B4-BE49-F238E27FC236}">
                <a16:creationId xmlns:a16="http://schemas.microsoft.com/office/drawing/2014/main" id="{7256494D-8B2A-417C-8B6C-A07E3805BCC8}"/>
              </a:ext>
            </a:extLst>
          </p:cNvPr>
          <p:cNvSpPr>
            <a:spLocks xmlns:a="http://schemas.openxmlformats.org/drawingml/2006/main" noGrp="1"/>
          </p:cNvSpPr>
          <p:nvPr/>
        </p:nvSpPr>
        <p:spPr>
          <a:xfrm xmlns:a="http://schemas.openxmlformats.org/drawingml/2006/main">
            <a:off x="36099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Capability Context</a:t>
            </a:r>
          </a:p>
        </p:txBody>
      </p:sp>
      <p:sp>
        <p:nvSpPr>
          <p:cNvPr id="7" name="nav-Artefact Content">
            <a:extLst xmlns:a="http://schemas.openxmlformats.org/drawingml/2006/main">
              <a:ext uri="{FF2B5EF4-FFF2-40B4-BE49-F238E27FC236}">
                <a16:creationId xmlns:a16="http://schemas.microsoft.com/office/drawing/2014/main" id="{FDDB3218-F2E6-4686-B9C1-096B07B1B766}"/>
              </a:ext>
            </a:extLst>
          </p:cNvPr>
          <p:cNvSpPr>
            <a:spLocks xmlns:a="http://schemas.openxmlformats.org/drawingml/2006/main" noGrp="1"/>
          </p:cNvSpPr>
          <p:nvPr/>
        </p:nvSpPr>
        <p:spPr>
          <a:xfrm xmlns:a="http://schemas.openxmlformats.org/drawingml/2006/main">
            <a:off x="52578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8" name="navigation-Artefact Content">
            <a:extLst xmlns:a="http://schemas.openxmlformats.org/drawingml/2006/main">
              <a:ext uri="{FF2B5EF4-FFF2-40B4-BE49-F238E27FC236}">
                <a16:creationId xmlns:a16="http://schemas.microsoft.com/office/drawing/2014/main" id="{A534CA9C-A463-471D-A53D-FFADA695FC24}"/>
              </a:ext>
            </a:extLst>
          </p:cNvPr>
          <p:cNvSpPr>
            <a:spLocks xmlns:a="http://schemas.openxmlformats.org/drawingml/2006/main" noGrp="1"/>
          </p:cNvSpPr>
          <p:nvPr/>
        </p:nvSpPr>
        <p:spPr>
          <a:xfrm xmlns:a="http://schemas.openxmlformats.org/drawingml/2006/main">
            <a:off x="52863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Artefact Content</a:t>
            </a:r>
          </a:p>
        </p:txBody>
      </p:sp>
      <p:sp>
        <p:nvSpPr>
          <p:cNvPr id="9" name="nav-Roadmap">
            <a:extLst xmlns:a="http://schemas.openxmlformats.org/drawingml/2006/main">
              <a:ext uri="{FF2B5EF4-FFF2-40B4-BE49-F238E27FC236}">
                <a16:creationId xmlns:a16="http://schemas.microsoft.com/office/drawing/2014/main" id="{62FFD0BA-5E15-4E37-858A-08A0F5893D46}"/>
              </a:ext>
            </a:extLst>
          </p:cNvPr>
          <p:cNvSpPr>
            <a:spLocks xmlns:a="http://schemas.openxmlformats.org/drawingml/2006/main" noGrp="1"/>
          </p:cNvSpPr>
          <p:nvPr/>
        </p:nvSpPr>
        <p:spPr>
          <a:xfrm xmlns:a="http://schemas.openxmlformats.org/drawingml/2006/main">
            <a:off x="69342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0" name="navigation-Roadmap">
            <a:extLst xmlns:a="http://schemas.openxmlformats.org/drawingml/2006/main">
              <a:ext uri="{FF2B5EF4-FFF2-40B4-BE49-F238E27FC236}">
                <a16:creationId xmlns:a16="http://schemas.microsoft.com/office/drawing/2014/main" id="{BF35EFD1-35C0-4B47-8E61-212E1999BDEB}"/>
              </a:ext>
            </a:extLst>
          </p:cNvPr>
          <p:cNvSpPr>
            <a:spLocks xmlns:a="http://schemas.openxmlformats.org/drawingml/2006/main" noGrp="1"/>
          </p:cNvSpPr>
          <p:nvPr/>
        </p:nvSpPr>
        <p:spPr>
          <a:xfrm xmlns:a="http://schemas.openxmlformats.org/drawingml/2006/main">
            <a:off x="69627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Roadmap</a:t>
            </a:r>
          </a:p>
        </p:txBody>
      </p:sp>
      <p:sp>
        <p:nvSpPr>
          <p:cNvPr id="11" name="nav-Decision">
            <a:extLst xmlns:a="http://schemas.openxmlformats.org/drawingml/2006/main">
              <a:ext uri="{FF2B5EF4-FFF2-40B4-BE49-F238E27FC236}">
                <a16:creationId xmlns:a16="http://schemas.microsoft.com/office/drawing/2014/main" id="{5C55EA54-0A91-40B1-B74D-FD518DD0F7AA}"/>
              </a:ext>
            </a:extLst>
          </p:cNvPr>
          <p:cNvSpPr>
            <a:spLocks xmlns:a="http://schemas.openxmlformats.org/drawingml/2006/main" noGrp="1"/>
          </p:cNvSpPr>
          <p:nvPr/>
        </p:nvSpPr>
        <p:spPr>
          <a:xfrm xmlns:a="http://schemas.openxmlformats.org/drawingml/2006/main">
            <a:off x="8610600" y="171450"/>
            <a:ext cx="1600200" cy="381000"/>
          </a:xfrm>
          <a:prstGeom xmlns:a="http://schemas.openxmlformats.org/drawingml/2006/main" prst="roundRect">
            <a:avLst>
              <a:gd name="adj" fmla="val 17500"/>
            </a:avLst>
          </a:prstGeom>
          <a:solidFill xmlns:a="http://schemas.openxmlformats.org/drawingml/2006/main">
            <a:srgbClr val="BE1738"/>
          </a:solidFill>
          <a:ln xmlns:a="http://schemas.openxmlformats.org/drawingml/2006/main" w="11430">
            <a:solidFill>
              <a:srgbClr val="BE1738"/>
            </a:solidFill>
          </a:ln>
        </p:spPr>
      </p:sp>
      <p:sp>
        <p:nvSpPr>
          <p:cNvPr id="12" name="navigation-Decision">
            <a:extLst xmlns:a="http://schemas.openxmlformats.org/drawingml/2006/main">
              <a:ext uri="{FF2B5EF4-FFF2-40B4-BE49-F238E27FC236}">
                <a16:creationId xmlns:a16="http://schemas.microsoft.com/office/drawing/2014/main" id="{0C21357C-45D0-43E3-8E6C-7763AB7A5E2D}"/>
              </a:ext>
            </a:extLst>
          </p:cNvPr>
          <p:cNvSpPr>
            <a:spLocks xmlns:a="http://schemas.openxmlformats.org/drawingml/2006/main" noGrp="1"/>
          </p:cNvSpPr>
          <p:nvPr/>
        </p:nvSpPr>
        <p:spPr>
          <a:xfrm xmlns:a="http://schemas.openxmlformats.org/drawingml/2006/main">
            <a:off x="86391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FFFFFF"/>
                </a:solidFill>
                <a:latin typeface="Carlito"/>
                <a:ea typeface="Carlito"/>
                <a:cs typeface="Carlito"/>
              </a:defRPr>
            </a:pPr>
            <a:r>
              <a:rPr sz="1313" b="0">
                <a:solidFill>
                  <a:srgbClr val="FFFFFF"/>
                </a:solidFill>
                <a:latin typeface="Carlito"/>
                <a:ea typeface="Carlito"/>
                <a:cs typeface="Carlito"/>
              </a:rPr>
              <a:t>Decision</a:t>
            </a:r>
          </a:p>
        </p:txBody>
      </p:sp>
      <p:sp>
        <p:nvSpPr>
          <p:cNvPr id="13" name="nav-Appendix">
            <a:extLst xmlns:a="http://schemas.openxmlformats.org/drawingml/2006/main">
              <a:ext uri="{FF2B5EF4-FFF2-40B4-BE49-F238E27FC236}">
                <a16:creationId xmlns:a16="http://schemas.microsoft.com/office/drawing/2014/main" id="{A94E3132-79EA-4242-BD0C-3F5130C406DB}"/>
              </a:ext>
            </a:extLst>
          </p:cNvPr>
          <p:cNvSpPr>
            <a:spLocks xmlns:a="http://schemas.openxmlformats.org/drawingml/2006/main" noGrp="1"/>
          </p:cNvSpPr>
          <p:nvPr/>
        </p:nvSpPr>
        <p:spPr>
          <a:xfrm xmlns:a="http://schemas.openxmlformats.org/drawingml/2006/main">
            <a:off x="102870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4" name="navigation-Appendix">
            <a:extLst xmlns:a="http://schemas.openxmlformats.org/drawingml/2006/main">
              <a:ext uri="{FF2B5EF4-FFF2-40B4-BE49-F238E27FC236}">
                <a16:creationId xmlns:a16="http://schemas.microsoft.com/office/drawing/2014/main" id="{AB74EE1F-BF52-49AF-898A-4037CFEA37CE}"/>
              </a:ext>
            </a:extLst>
          </p:cNvPr>
          <p:cNvSpPr>
            <a:spLocks xmlns:a="http://schemas.openxmlformats.org/drawingml/2006/main" noGrp="1"/>
          </p:cNvSpPr>
          <p:nvPr/>
        </p:nvSpPr>
        <p:spPr>
          <a:xfrm xmlns:a="http://schemas.openxmlformats.org/drawingml/2006/main">
            <a:off x="103155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Appendix</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84fe005a09144c55"/>
          <a:stretch xmlns:a="http://schemas.openxmlformats.org/drawingml/2006/main"/>
        </p:blipFill>
        <p:spPr>
          <a:xfrm xmlns:a="http://schemas.openxmlformats.org/drawingml/2006/main">
            <a:off x="304800" y="737436"/>
            <a:ext cx="1057275" cy="1001629"/>
          </a:xfrm>
          <a:prstGeom xmlns:a="http://schemas.openxmlformats.org/drawingml/2006/main" prst="rect">
            <a:avLst/>
          </a:prstGeom>
        </p:spPr>
      </p:pic>
      <p:sp>
        <p:nvSpPr>
          <p:cNvPr id="16" name="title-outline">
            <a:extLst xmlns:a="http://schemas.openxmlformats.org/drawingml/2006/main">
              <a:ext uri="{FF2B5EF4-FFF2-40B4-BE49-F238E27FC236}">
                <a16:creationId xmlns:a16="http://schemas.microsoft.com/office/drawing/2014/main" id="{58416CD0-4A6C-49C3-9889-07D210D49A72}"/>
              </a:ext>
            </a:extLst>
          </p:cNvPr>
          <p:cNvSpPr>
            <a:spLocks xmlns:a="http://schemas.openxmlformats.org/drawingml/2006/main" noGrp="1"/>
          </p:cNvSpPr>
          <p:nvPr/>
        </p:nvSpPr>
        <p:spPr>
          <a:xfrm xmlns:a="http://schemas.openxmlformats.org/drawingml/2006/main">
            <a:off x="1657350" y="866775"/>
            <a:ext cx="10496550" cy="4857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8575">
            <a:solidFill>
              <a:srgbClr val="BE1738"/>
            </a:solidFill>
          </a:ln>
        </p:spPr>
      </p:sp>
      <p:sp>
        <p:nvSpPr>
          <p:cNvPr id="17" name="slide-title">
            <a:extLst xmlns:a="http://schemas.openxmlformats.org/drawingml/2006/main">
              <a:ext uri="{FF2B5EF4-FFF2-40B4-BE49-F238E27FC236}">
                <a16:creationId xmlns:a16="http://schemas.microsoft.com/office/drawing/2014/main" id="{8EDA0BA2-F632-4558-85D1-0A67BA4B459E}"/>
              </a:ext>
            </a:extLst>
          </p:cNvPr>
          <p:cNvSpPr>
            <a:spLocks xmlns:a="http://schemas.openxmlformats.org/drawingml/2006/main" noGrp="1"/>
          </p:cNvSpPr>
          <p:nvPr/>
        </p:nvSpPr>
        <p:spPr>
          <a:xfrm xmlns:a="http://schemas.openxmlformats.org/drawingml/2006/main">
            <a:off x="1933575" y="933450"/>
            <a:ext cx="994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1632"/>
                </a:solidFill>
                <a:latin typeface="Carlito"/>
                <a:ea typeface="Carlito"/>
                <a:cs typeface="Carlito"/>
              </a:defRPr>
            </a:pPr>
            <a:r>
              <a:rPr sz="2100" b="1">
                <a:solidFill>
                  <a:srgbClr val="A91632"/>
                </a:solidFill>
                <a:latin typeface="Carlito"/>
                <a:ea typeface="Carlito"/>
                <a:cs typeface="Carlito"/>
              </a:rPr>
              <a:t>DECISION AND ARCHITECTURE ALIGNMENT</a:t>
            </a:r>
          </a:p>
        </p:txBody>
      </p:sp>
      <p:sp>
        <p:nvSpPr>
          <p:cNvPr id="18" name="classification">
            <a:extLst xmlns:a="http://schemas.openxmlformats.org/drawingml/2006/main">
              <a:ext uri="{FF2B5EF4-FFF2-40B4-BE49-F238E27FC236}">
                <a16:creationId xmlns:a16="http://schemas.microsoft.com/office/drawing/2014/main" id="{2A9E37FC-D2E1-4798-A898-937C8E84799F}"/>
              </a:ext>
            </a:extLst>
          </p:cNvPr>
          <p:cNvSpPr>
            <a:spLocks xmlns:a="http://schemas.openxmlformats.org/drawingml/2006/main" noGrp="1"/>
          </p:cNvSpPr>
          <p:nvPr/>
        </p:nvSpPr>
        <p:spPr>
          <a:xfrm xmlns:a="http://schemas.openxmlformats.org/drawingml/2006/main">
            <a:off x="12001500" y="619125"/>
            <a:ext cx="2905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30343A"/>
                </a:solidFill>
                <a:latin typeface="Carlito"/>
                <a:ea typeface="Carlito"/>
                <a:cs typeface="Carlito"/>
              </a:defRPr>
            </a:pPr>
            <a:r>
              <a:rPr sz="1275" b="0">
                <a:solidFill>
                  <a:srgbClr val="30343A"/>
                </a:solidFill>
                <a:latin typeface="Carlito"/>
                <a:ea typeface="Carlito"/>
                <a:cs typeface="Carlito"/>
              </a:rPr>
              <a:t>RESTRICTED TO Euroclear</a:t>
            </a:r>
          </a:p>
        </p:txBody>
      </p:sp>
      <p:sp>
        <p:nvSpPr>
          <p:cNvPr id="19" name="footer-outline">
            <a:extLst xmlns:a="http://schemas.openxmlformats.org/drawingml/2006/main">
              <a:ext uri="{FF2B5EF4-FFF2-40B4-BE49-F238E27FC236}">
                <a16:creationId xmlns:a16="http://schemas.microsoft.com/office/drawing/2014/main" id="{E3B54CF6-D80C-444D-97B0-CF3D2FB0C880}"/>
              </a:ext>
            </a:extLst>
          </p:cNvPr>
          <p:cNvSpPr>
            <a:spLocks xmlns:a="http://schemas.openxmlformats.org/drawingml/2006/main" noGrp="1"/>
          </p:cNvSpPr>
          <p:nvPr/>
        </p:nvSpPr>
        <p:spPr>
          <a:xfrm xmlns:a="http://schemas.openxmlformats.org/drawingml/2006/main">
            <a:off x="171450" y="8143875"/>
            <a:ext cx="3009900" cy="2952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4288">
            <a:solidFill>
              <a:srgbClr val="70757C"/>
            </a:solidFill>
          </a:ln>
        </p:spPr>
      </p:sp>
      <p:sp>
        <p:nvSpPr>
          <p:cNvPr id="20" name="footer">
            <a:extLst xmlns:a="http://schemas.openxmlformats.org/drawingml/2006/main">
              <a:ext uri="{FF2B5EF4-FFF2-40B4-BE49-F238E27FC236}">
                <a16:creationId xmlns:a16="http://schemas.microsoft.com/office/drawing/2014/main" id="{335BC5FB-B4E0-43E8-8F5D-D8C598DA88C9}"/>
              </a:ext>
            </a:extLst>
          </p:cNvPr>
          <p:cNvSpPr>
            <a:spLocks xmlns:a="http://schemas.openxmlformats.org/drawingml/2006/main" noGrp="1"/>
          </p:cNvSpPr>
          <p:nvPr/>
        </p:nvSpPr>
        <p:spPr>
          <a:xfrm xmlns:a="http://schemas.openxmlformats.org/drawingml/2006/main">
            <a:off x="295275" y="8172450"/>
            <a:ext cx="2771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0343A"/>
                </a:solidFill>
                <a:latin typeface="Carlito"/>
                <a:ea typeface="Carlito"/>
                <a:cs typeface="Carlito"/>
              </a:defRPr>
            </a:pPr>
            <a:r>
              <a:rPr sz="1500" b="0">
                <a:solidFill>
                  <a:srgbClr val="30343A"/>
                </a:solidFill>
                <a:latin typeface="Carlito"/>
                <a:ea typeface="Carlito"/>
                <a:cs typeface="Carlito"/>
              </a:rPr>
              <a:t>API Target Architecture</a:t>
            </a:r>
          </a:p>
        </p:txBody>
      </p:sp>
      <p:sp>
        <p:nvSpPr>
          <p:cNvPr id="21" name="page-number">
            <a:extLst xmlns:a="http://schemas.openxmlformats.org/drawingml/2006/main">
              <a:ext uri="{FF2B5EF4-FFF2-40B4-BE49-F238E27FC236}">
                <a16:creationId xmlns:a16="http://schemas.microsoft.com/office/drawing/2014/main" id="{131E7FA4-CEC1-4DD2-BB86-2EDE50346845}"/>
              </a:ext>
            </a:extLst>
          </p:cNvPr>
          <p:cNvSpPr>
            <a:spLocks xmlns:a="http://schemas.openxmlformats.org/drawingml/2006/main" noGrp="1"/>
          </p:cNvSpPr>
          <p:nvPr/>
        </p:nvSpPr>
        <p:spPr>
          <a:xfrm xmlns:a="http://schemas.openxmlformats.org/drawingml/2006/main">
            <a:off x="14458950" y="8162925"/>
            <a:ext cx="4476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70757C"/>
                </a:solidFill>
                <a:latin typeface="Carlito"/>
                <a:ea typeface="Carlito"/>
                <a:cs typeface="Carlito"/>
              </a:defRPr>
            </a:pPr>
            <a:r>
              <a:rPr sz="1350" b="0">
                <a:solidFill>
                  <a:srgbClr val="70757C"/>
                </a:solidFill>
                <a:latin typeface="Carlito"/>
                <a:ea typeface="Carlito"/>
                <a:cs typeface="Carlito"/>
              </a:rPr>
              <a:t>10</a:t>
            </a:r>
          </a:p>
        </p:txBody>
      </p:sp>
      <p:sp>
        <p:nvSpPr>
          <p:cNvPr id="22" name="section-band">
            <a:extLst xmlns:a="http://schemas.openxmlformats.org/drawingml/2006/main">
              <a:ext uri="{FF2B5EF4-FFF2-40B4-BE49-F238E27FC236}">
                <a16:creationId xmlns:a16="http://schemas.microsoft.com/office/drawing/2014/main" id="{220F460D-46AA-4062-B588-1DEEDC2F3027}"/>
              </a:ext>
            </a:extLst>
          </p:cNvPr>
          <p:cNvSpPr>
            <a:spLocks xmlns:a="http://schemas.openxmlformats.org/drawingml/2006/main" noGrp="1"/>
          </p:cNvSpPr>
          <p:nvPr/>
        </p:nvSpPr>
        <p:spPr>
          <a:xfrm xmlns:a="http://schemas.openxmlformats.org/drawingml/2006/main">
            <a:off x="342900" y="1943100"/>
            <a:ext cx="6029325" cy="304800"/>
          </a:xfrm>
          <a:prstGeom xmlns:a="http://schemas.openxmlformats.org/drawingml/2006/main" prst="rect">
            <a:avLst/>
          </a:prstGeom>
          <a:solidFill xmlns:a="http://schemas.openxmlformats.org/drawingml/2006/main">
            <a:srgbClr val="BE1738"/>
          </a:solidFill>
          <a:ln xmlns:a="http://schemas.openxmlformats.org/drawingml/2006/main" w="11430">
            <a:solidFill>
              <a:srgbClr val="BE1738"/>
            </a:solidFill>
          </a:ln>
        </p:spPr>
      </p:sp>
      <p:sp>
        <p:nvSpPr>
          <p:cNvPr id="23" name="text">
            <a:extLst xmlns:a="http://schemas.openxmlformats.org/drawingml/2006/main">
              <a:ext uri="{FF2B5EF4-FFF2-40B4-BE49-F238E27FC236}">
                <a16:creationId xmlns:a16="http://schemas.microsoft.com/office/drawing/2014/main" id="{3AF346C8-629D-4A05-ACE6-84ED7789BC46}"/>
              </a:ext>
            </a:extLst>
          </p:cNvPr>
          <p:cNvSpPr>
            <a:spLocks xmlns:a="http://schemas.openxmlformats.org/drawingml/2006/main" noGrp="1"/>
          </p:cNvSpPr>
          <p:nvPr/>
        </p:nvSpPr>
        <p:spPr>
          <a:xfrm xmlns:a="http://schemas.openxmlformats.org/drawingml/2006/main">
            <a:off x="457200" y="1981200"/>
            <a:ext cx="5800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FFF"/>
                </a:solidFill>
                <a:latin typeface="Carlito"/>
                <a:ea typeface="Carlito"/>
                <a:cs typeface="Carlito"/>
              </a:defRPr>
            </a:pPr>
            <a:r>
              <a:rPr sz="1800" b="1">
                <a:solidFill>
                  <a:srgbClr val="FFFFFF"/>
                </a:solidFill>
                <a:latin typeface="Carlito"/>
                <a:ea typeface="Carlito"/>
                <a:cs typeface="Carlito"/>
              </a:rPr>
              <a:t>Decision requested from the AB</a:t>
            </a:r>
          </a:p>
        </p:txBody>
      </p:sp>
      <p:sp>
        <p:nvSpPr>
          <p:cNvPr id="24" name="bullets">
            <a:extLst xmlns:a="http://schemas.openxmlformats.org/drawingml/2006/main">
              <a:ext uri="{FF2B5EF4-FFF2-40B4-BE49-F238E27FC236}">
                <a16:creationId xmlns:a16="http://schemas.microsoft.com/office/drawing/2014/main" id="{3B550B15-B615-42C7-80EF-3DACF64F02DD}"/>
              </a:ext>
            </a:extLst>
          </p:cNvPr>
          <p:cNvSpPr>
            <a:spLocks xmlns:a="http://schemas.openxmlformats.org/drawingml/2006/main" noGrp="1"/>
          </p:cNvSpPr>
          <p:nvPr/>
        </p:nvSpPr>
        <p:spPr>
          <a:xfrm xmlns:a="http://schemas.openxmlformats.org/drawingml/2006/main">
            <a:off x="466725" y="2400300"/>
            <a:ext cx="14287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900"/>
              </a:spcAft>
              <a:buChar char="•"/>
              <a:defRPr sz="1875" b="0">
                <a:solidFill>
                  <a:srgbClr val="30343A"/>
                </a:solidFill>
                <a:latin typeface="Carlito"/>
                <a:ea typeface="Carlito"/>
                <a:cs typeface="Carlito"/>
              </a:defRPr>
            </a:pPr>
            <a:r>
              <a:t>Endorse external APIs as a digital engagement channel and internal APIs as an enterprise integration mechanism.</a:t>
            </a:r>
          </a:p>
          <a:p xmlns:a="http://schemas.openxmlformats.org/drawingml/2006/main">
            <a:pPr marL="228600" indent="-114300" algn="l">
              <a:spcAft>
                <a:spcPts val="900"/>
              </a:spcAft>
              <a:buChar char="•"/>
              <a:defRPr sz="1875" b="0">
                <a:solidFill>
                  <a:srgbClr val="30343A"/>
                </a:solidFill>
                <a:latin typeface="Carlito"/>
                <a:ea typeface="Carlito"/>
                <a:cs typeface="Carlito"/>
              </a:defRPr>
            </a:pPr>
            <a:r>
              <a:t>Approve common minimum requirements, domain accountability and shared-service responsibilities for new APIs and material changes.</a:t>
            </a:r>
          </a:p>
          <a:p xmlns:a="http://schemas.openxmlformats.org/drawingml/2006/main">
            <a:pPr marL="228600" indent="-114300" algn="l">
              <a:spcAft>
                <a:spcPts val="900"/>
              </a:spcAft>
              <a:buChar char="•"/>
              <a:defRPr sz="1875" b="0">
                <a:solidFill>
                  <a:srgbClr val="30343A"/>
                </a:solidFill>
                <a:latin typeface="Carlito"/>
                <a:ea typeface="Carlito"/>
                <a:cs typeface="Carlito"/>
              </a:defRPr>
            </a:pPr>
            <a:r>
              <a:t>Endorse phased adoption, transition and exception arrangements, and the corresponding updates to integration standards.</a:t>
            </a:r>
          </a:p>
        </p:txBody>
      </p:sp>
      <p:sp>
        <p:nvSpPr>
          <p:cNvPr id="25" name="section-band">
            <a:extLst xmlns:a="http://schemas.openxmlformats.org/drawingml/2006/main">
              <a:ext uri="{FF2B5EF4-FFF2-40B4-BE49-F238E27FC236}">
                <a16:creationId xmlns:a16="http://schemas.microsoft.com/office/drawing/2014/main" id="{5DA2BF45-C3DA-4B26-BEEA-2EEA63B8CA7E}"/>
              </a:ext>
            </a:extLst>
          </p:cNvPr>
          <p:cNvSpPr>
            <a:spLocks xmlns:a="http://schemas.openxmlformats.org/drawingml/2006/main" noGrp="1"/>
          </p:cNvSpPr>
          <p:nvPr/>
        </p:nvSpPr>
        <p:spPr>
          <a:xfrm xmlns:a="http://schemas.openxmlformats.org/drawingml/2006/main">
            <a:off x="342900" y="4029075"/>
            <a:ext cx="6029325" cy="304800"/>
          </a:xfrm>
          <a:prstGeom xmlns:a="http://schemas.openxmlformats.org/drawingml/2006/main" prst="rect">
            <a:avLst/>
          </a:prstGeom>
          <a:solidFill xmlns:a="http://schemas.openxmlformats.org/drawingml/2006/main">
            <a:srgbClr val="BE1738"/>
          </a:solidFill>
          <a:ln xmlns:a="http://schemas.openxmlformats.org/drawingml/2006/main" w="11430">
            <a:solidFill>
              <a:srgbClr val="BE1738"/>
            </a:solidFill>
          </a:ln>
        </p:spPr>
      </p:sp>
      <p:sp>
        <p:nvSpPr>
          <p:cNvPr id="26" name="text">
            <a:extLst xmlns:a="http://schemas.openxmlformats.org/drawingml/2006/main">
              <a:ext uri="{FF2B5EF4-FFF2-40B4-BE49-F238E27FC236}">
                <a16:creationId xmlns:a16="http://schemas.microsoft.com/office/drawing/2014/main" id="{0CABE881-AF12-478C-8232-B9C53521566F}"/>
              </a:ext>
            </a:extLst>
          </p:cNvPr>
          <p:cNvSpPr>
            <a:spLocks xmlns:a="http://schemas.openxmlformats.org/drawingml/2006/main" noGrp="1"/>
          </p:cNvSpPr>
          <p:nvPr/>
        </p:nvSpPr>
        <p:spPr>
          <a:xfrm xmlns:a="http://schemas.openxmlformats.org/drawingml/2006/main">
            <a:off x="457200" y="4067175"/>
            <a:ext cx="5800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FFF"/>
                </a:solidFill>
                <a:latin typeface="Carlito"/>
                <a:ea typeface="Carlito"/>
                <a:cs typeface="Carlito"/>
              </a:defRPr>
            </a:pPr>
            <a:r>
              <a:rPr sz="1800" b="1">
                <a:solidFill>
                  <a:srgbClr val="FFFFFF"/>
                </a:solidFill>
                <a:latin typeface="Carlito"/>
                <a:ea typeface="Carlito"/>
                <a:cs typeface="Carlito"/>
              </a:rPr>
              <a:t>How a solution demonstrates alignment</a:t>
            </a:r>
          </a:p>
        </p:txBody>
      </p:sp>
      <p:graphicFrame>
        <p:nvGraphicFramePr>
          <p:cNvPr id="56" name=""/>
          <p:cNvGraphicFramePr/>
          <p:nvPr/>
        </p:nvGraphicFramePr>
        <p:xfrm>
          <a:off xmlns:a="http://schemas.openxmlformats.org/drawingml/2006/main" x="342900" y="4457700"/>
          <a:ext xmlns:a="http://schemas.openxmlformats.org/drawingml/2006/main" cx="14554200" cy="2895600"/>
        </p:xfrm>
        <a:graphic xmlns:a="http://schemas.openxmlformats.org/drawingml/2006/main">
          <a:graphicData uri="http://schemas.openxmlformats.org/drawingml/2006/table">
            <a:tbl>
              <a:tblPr firstRow="0" bandRow="0"/>
              <a:tblGrid>
                <a:gridCol w="3333750"/>
                <a:gridCol w="11220450"/>
              </a:tblGrid>
              <a:tr h="419100">
                <a:tc>
                  <a:txBody>
                    <a:bodyPr>
                      <a:noAutofit/>
                    </a:bodyPr>
                    <a:lstStyle/>
                    <a:p>
                      <a:r>
                        <a:rPr sz="1800" b="1">
                          <a:solidFill>
                            <a:srgbClr val="FFFFFF"/>
                          </a:solidFill>
                          <a:latin typeface="Carlito"/>
                          <a:ea typeface="Carlito"/>
                          <a:cs typeface="Carlito"/>
                        </a:rPr>
                        <a:t>Alignment area</a:t>
                      </a:r>
                    </a:p>
                  </a:txBody>
                  <a:tcPr marL="133350" marR="133350" marT="95250" marB="76200" anchor="t">
                    <a:solidFill>
                      <a:srgbClr val="BE1738"/>
                    </a:solidFill>
                  </a:tcPr>
                </a:tc>
                <a:tc>
                  <a:txBody>
                    <a:bodyPr>
                      <a:noAutofit/>
                    </a:bodyPr>
                    <a:lstStyle/>
                    <a:p>
                      <a:r>
                        <a:rPr sz="1800" b="1">
                          <a:solidFill>
                            <a:srgbClr val="FFFFFF"/>
                          </a:solidFill>
                          <a:latin typeface="Carlito"/>
                          <a:ea typeface="Carlito"/>
                          <a:cs typeface="Carlito"/>
                        </a:rPr>
                        <a:t>Evidence expected</a:t>
                      </a:r>
                    </a:p>
                  </a:txBody>
                  <a:tcPr marL="133350" marR="133350" marT="95250" marB="76200" anchor="t">
                    <a:solidFill>
                      <a:srgbClr val="BE1738"/>
                    </a:solidFill>
                  </a:tcPr>
                </a:tc>
              </a:tr>
              <a:tr h="590550">
                <a:tc>
                  <a:txBody>
                    <a:bodyPr>
                      <a:noAutofit/>
                    </a:bodyPr>
                    <a:lstStyle/>
                    <a:p>
                      <a:r>
                        <a:rPr sz="1725" b="1">
                          <a:solidFill>
                            <a:srgbClr val="30343A"/>
                          </a:solidFill>
                          <a:latin typeface="Carlito"/>
                          <a:ea typeface="Carlito"/>
                          <a:cs typeface="Carlito"/>
                        </a:rPr>
                        <a:t>Purpose and ownership</a:t>
                      </a:r>
                    </a:p>
                  </a:txBody>
                  <a:tcPr marL="133350" marR="133350" marT="95250" marB="76200" anchor="t">
                    <a:solidFill>
                      <a:srgbClr val="FFFFFF"/>
                    </a:solidFill>
                  </a:tcPr>
                </a:tc>
                <a:tc>
                  <a:txBody>
                    <a:bodyPr>
                      <a:noAutofit/>
                    </a:bodyPr>
                    <a:lstStyle/>
                    <a:p>
                      <a:r>
                        <a:rPr sz="1725" b="0">
                          <a:solidFill>
                            <a:srgbClr val="30343A"/>
                          </a:solidFill>
                          <a:latin typeface="Carlito"/>
                          <a:ea typeface="Carlito"/>
                          <a:cs typeface="Carlito"/>
                        </a:rPr>
                        <a:t>Identified consumers, validated requirements and named business / domain and technical owners.</a:t>
                      </a:r>
                    </a:p>
                  </a:txBody>
                  <a:tcPr marL="133350" marR="133350" marT="95250" marB="76200" anchor="t">
                    <a:solidFill>
                      <a:srgbClr val="FFFFFF"/>
                    </a:solidFill>
                  </a:tcPr>
                </a:tc>
              </a:tr>
              <a:tr h="590550">
                <a:tc>
                  <a:txBody>
                    <a:bodyPr>
                      <a:noAutofit/>
                    </a:bodyPr>
                    <a:lstStyle/>
                    <a:p>
                      <a:r>
                        <a:rPr sz="1725" b="1">
                          <a:solidFill>
                            <a:srgbClr val="30343A"/>
                          </a:solidFill>
                          <a:latin typeface="Carlito"/>
                          <a:ea typeface="Carlito"/>
                          <a:cs typeface="Carlito"/>
                        </a:rPr>
                        <a:t>Reuse and contract</a:t>
                      </a:r>
                    </a:p>
                  </a:txBody>
                  <a:tcPr marL="133350" marR="133350" marT="95250" marB="76200" anchor="t">
                    <a:solidFill>
                      <a:srgbClr val="F4F5F6"/>
                    </a:solidFill>
                  </a:tcPr>
                </a:tc>
                <a:tc>
                  <a:txBody>
                    <a:bodyPr>
                      <a:noAutofit/>
                    </a:bodyPr>
                    <a:lstStyle/>
                    <a:p>
                      <a:r>
                        <a:rPr sz="1725" b="0">
                          <a:solidFill>
                            <a:srgbClr val="30343A"/>
                          </a:solidFill>
                          <a:latin typeface="Carlito"/>
                          <a:ea typeface="Carlito"/>
                          <a:cs typeface="Carlito"/>
                        </a:rPr>
                        <a:t>A documented reuse assessment and an agreed, discoverable API contract.</a:t>
                      </a:r>
                    </a:p>
                  </a:txBody>
                  <a:tcPr marL="133350" marR="133350" marT="95250" marB="76200" anchor="t">
                    <a:solidFill>
                      <a:srgbClr val="F4F5F6"/>
                    </a:solidFill>
                  </a:tcPr>
                </a:tc>
              </a:tr>
              <a:tr h="647700">
                <a:tc>
                  <a:txBody>
                    <a:bodyPr>
                      <a:noAutofit/>
                    </a:bodyPr>
                    <a:lstStyle/>
                    <a:p>
                      <a:r>
                        <a:rPr sz="1725" b="1">
                          <a:solidFill>
                            <a:srgbClr val="30343A"/>
                          </a:solidFill>
                          <a:latin typeface="Carlito"/>
                          <a:ea typeface="Carlito"/>
                          <a:cs typeface="Carlito"/>
                        </a:rPr>
                        <a:t>Controls and operation</a:t>
                      </a:r>
                    </a:p>
                  </a:txBody>
                  <a:tcPr marL="133350" marR="133350" marT="95250" marB="76200" anchor="t">
                    <a:solidFill>
                      <a:srgbClr val="FFFFFF"/>
                    </a:solidFill>
                  </a:tcPr>
                </a:tc>
                <a:tc>
                  <a:txBody>
                    <a:bodyPr>
                      <a:noAutofit/>
                    </a:bodyPr>
                    <a:lstStyle/>
                    <a:p>
                      <a:r>
                        <a:rPr sz="1725" b="0">
                          <a:solidFill>
                            <a:srgbClr val="30343A"/>
                          </a:solidFill>
                          <a:latin typeface="Carlito"/>
                          <a:ea typeface="Carlito"/>
                          <a:cs typeface="Carlito"/>
                        </a:rPr>
                        <a:t>Appropriate access and data controls, testing, monitoring, service expectations and support responsibilities.</a:t>
                      </a:r>
                    </a:p>
                  </a:txBody>
                  <a:tcPr marL="133350" marR="133350" marT="95250" marB="76200" anchor="t">
                    <a:solidFill>
                      <a:srgbClr val="FFFFFF"/>
                    </a:solidFill>
                  </a:tcPr>
                </a:tc>
              </a:tr>
              <a:tr h="647700">
                <a:tc>
                  <a:txBody>
                    <a:bodyPr>
                      <a:noAutofit/>
                    </a:bodyPr>
                    <a:lstStyle/>
                    <a:p>
                      <a:r>
                        <a:rPr sz="1725" b="1">
                          <a:solidFill>
                            <a:srgbClr val="30343A"/>
                          </a:solidFill>
                          <a:latin typeface="Carlito"/>
                          <a:ea typeface="Carlito"/>
                          <a:cs typeface="Carlito"/>
                        </a:rPr>
                        <a:t>Lifecycle and exceptions</a:t>
                      </a:r>
                    </a:p>
                  </a:txBody>
                  <a:tcPr marL="133350" marR="133350" marT="95250" marB="76200" anchor="t">
                    <a:solidFill>
                      <a:srgbClr val="F4F5F6"/>
                    </a:solidFill>
                  </a:tcPr>
                </a:tc>
                <a:tc>
                  <a:txBody>
                    <a:bodyPr>
                      <a:noAutofit/>
                    </a:bodyPr>
                    <a:lstStyle/>
                    <a:p>
                      <a:r>
                        <a:rPr sz="1725" b="0">
                          <a:solidFill>
                            <a:srgbClr val="30343A"/>
                          </a:solidFill>
                          <a:latin typeface="Carlito"/>
                          <a:ea typeface="Carlito"/>
                          <a:cs typeface="Carlito"/>
                        </a:rPr>
                        <a:t>Documentation, versioning, consumer transition and retirement arrangements. Recorded exceptions where needed.</a:t>
                      </a:r>
                    </a:p>
                  </a:txBody>
                  <a:tcPr marL="133350" marR="133350" marT="95250" marB="76200" anchor="t">
                    <a:solidFill>
                      <a:srgbClr val="F4F5F6"/>
                    </a:solidFill>
                  </a:tcPr>
                </a:tc>
              </a:tr>
            </a:tbl>
          </a:graphicData>
        </a:graphic>
      </p:graphicFrame>
      <p:sp>
        <p:nvSpPr>
          <p:cNvPr id="28" name="box">
            <a:extLst xmlns:a="http://schemas.openxmlformats.org/drawingml/2006/main">
              <a:ext uri="{FF2B5EF4-FFF2-40B4-BE49-F238E27FC236}">
                <a16:creationId xmlns:a16="http://schemas.microsoft.com/office/drawing/2014/main" id="{97D5CE5C-63A4-41D1-ABF1-7A21C9055BE4}"/>
              </a:ext>
            </a:extLst>
          </p:cNvPr>
          <p:cNvSpPr>
            <a:spLocks xmlns:a="http://schemas.openxmlformats.org/drawingml/2006/main" noGrp="1"/>
          </p:cNvSpPr>
          <p:nvPr/>
        </p:nvSpPr>
        <p:spPr>
          <a:xfrm xmlns:a="http://schemas.openxmlformats.org/drawingml/2006/main">
            <a:off x="342900" y="7496175"/>
            <a:ext cx="14554200" cy="447675"/>
          </a:xfrm>
          <a:prstGeom xmlns:a="http://schemas.openxmlformats.org/drawingml/2006/main" prst="rect">
            <a:avLst/>
          </a:prstGeom>
          <a:solidFill xmlns:a="http://schemas.openxmlformats.org/drawingml/2006/main">
            <a:srgbClr val="FAEEF1"/>
          </a:solidFill>
          <a:ln xmlns:a="http://schemas.openxmlformats.org/drawingml/2006/main" w="9525">
            <a:solidFill>
              <a:srgbClr val="BE1738"/>
            </a:solidFill>
          </a:ln>
        </p:spPr>
      </p:sp>
      <p:sp>
        <p:nvSpPr>
          <p:cNvPr id="29" name="text">
            <a:extLst xmlns:a="http://schemas.openxmlformats.org/drawingml/2006/main">
              <a:ext uri="{FF2B5EF4-FFF2-40B4-BE49-F238E27FC236}">
                <a16:creationId xmlns:a16="http://schemas.microsoft.com/office/drawing/2014/main" id="{AD253EF5-7151-46C9-9D78-FD0635F53B42}"/>
              </a:ext>
            </a:extLst>
          </p:cNvPr>
          <p:cNvSpPr>
            <a:spLocks xmlns:a="http://schemas.openxmlformats.org/drawingml/2006/main" noGrp="1"/>
          </p:cNvSpPr>
          <p:nvPr/>
        </p:nvSpPr>
        <p:spPr>
          <a:xfrm xmlns:a="http://schemas.openxmlformats.org/drawingml/2006/main">
            <a:off x="476250" y="7600950"/>
            <a:ext cx="1428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0343A"/>
                </a:solidFill>
                <a:latin typeface="Carlito"/>
                <a:ea typeface="Carlito"/>
                <a:cs typeface="Carlito"/>
              </a:defRPr>
            </a:pPr>
            <a:r>
              <a:rPr sz="1500" b="0">
                <a:solidFill>
                  <a:srgbClr val="30343A"/>
                </a:solidFill>
                <a:latin typeface="Carlito"/>
                <a:ea typeface="Carlito"/>
                <a:cs typeface="Carlito"/>
              </a:rPr>
              <a:t>Approval covers architectural direction and adoption. Investment, platform selection and delivery commitments follow their applicable approval processes.</a:t>
            </a:r>
          </a:p>
        </p:txBody>
      </p:sp>
    </p:spTree>
    <p:extLst>
      <p:ext uri="{BB962C8B-B14F-4D97-AF65-F5344CB8AC3E}">
        <p14:creationId xmlns:p14="http://schemas.microsoft.com/office/powerpoint/2010/main" val="72109103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nav-Background">
            <a:extLst xmlns:a="http://schemas.openxmlformats.org/drawingml/2006/main">
              <a:ext uri="{FF2B5EF4-FFF2-40B4-BE49-F238E27FC236}">
                <a16:creationId xmlns:a16="http://schemas.microsoft.com/office/drawing/2014/main" id="{5483FABC-DA4D-4C7A-BB73-18CF36B67B8D}"/>
              </a:ext>
            </a:extLst>
          </p:cNvPr>
          <p:cNvSpPr>
            <a:spLocks xmlns:a="http://schemas.openxmlformats.org/drawingml/2006/main" noGrp="1"/>
          </p:cNvSpPr>
          <p:nvPr/>
        </p:nvSpPr>
        <p:spPr>
          <a:xfrm xmlns:a="http://schemas.openxmlformats.org/drawingml/2006/main">
            <a:off x="2286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2" name="navigation-Background">
            <a:extLst xmlns:a="http://schemas.openxmlformats.org/drawingml/2006/main">
              <a:ext uri="{FF2B5EF4-FFF2-40B4-BE49-F238E27FC236}">
                <a16:creationId xmlns:a16="http://schemas.microsoft.com/office/drawing/2014/main" id="{2D81B7BF-6AAA-44B2-B5F6-203803F2DEAF}"/>
              </a:ext>
            </a:extLst>
          </p:cNvPr>
          <p:cNvSpPr>
            <a:spLocks xmlns:a="http://schemas.openxmlformats.org/drawingml/2006/main" noGrp="1"/>
          </p:cNvSpPr>
          <p:nvPr/>
        </p:nvSpPr>
        <p:spPr>
          <a:xfrm xmlns:a="http://schemas.openxmlformats.org/drawingml/2006/main">
            <a:off x="2571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Background</a:t>
            </a:r>
          </a:p>
        </p:txBody>
      </p:sp>
      <p:sp>
        <p:nvSpPr>
          <p:cNvPr id="3" name="nav-Problem Statements">
            <a:extLst xmlns:a="http://schemas.openxmlformats.org/drawingml/2006/main">
              <a:ext uri="{FF2B5EF4-FFF2-40B4-BE49-F238E27FC236}">
                <a16:creationId xmlns:a16="http://schemas.microsoft.com/office/drawing/2014/main" id="{1B66321E-1CA2-4E99-886A-5C0A59C9D35F}"/>
              </a:ext>
            </a:extLst>
          </p:cNvPr>
          <p:cNvSpPr>
            <a:spLocks xmlns:a="http://schemas.openxmlformats.org/drawingml/2006/main" noGrp="1"/>
          </p:cNvSpPr>
          <p:nvPr/>
        </p:nvSpPr>
        <p:spPr>
          <a:xfrm xmlns:a="http://schemas.openxmlformats.org/drawingml/2006/main">
            <a:off x="19050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4" name="navigation-Problem Statements">
            <a:extLst xmlns:a="http://schemas.openxmlformats.org/drawingml/2006/main">
              <a:ext uri="{FF2B5EF4-FFF2-40B4-BE49-F238E27FC236}">
                <a16:creationId xmlns:a16="http://schemas.microsoft.com/office/drawing/2014/main" id="{8C3D7ABE-FF6E-4B03-B34F-820F0A4EC0B2}"/>
              </a:ext>
            </a:extLst>
          </p:cNvPr>
          <p:cNvSpPr>
            <a:spLocks xmlns:a="http://schemas.openxmlformats.org/drawingml/2006/main" noGrp="1"/>
          </p:cNvSpPr>
          <p:nvPr/>
        </p:nvSpPr>
        <p:spPr>
          <a:xfrm xmlns:a="http://schemas.openxmlformats.org/drawingml/2006/main">
            <a:off x="19335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Problem Statements</a:t>
            </a:r>
          </a:p>
        </p:txBody>
      </p:sp>
      <p:sp>
        <p:nvSpPr>
          <p:cNvPr id="5" name="nav-Capability Context">
            <a:extLst xmlns:a="http://schemas.openxmlformats.org/drawingml/2006/main">
              <a:ext uri="{FF2B5EF4-FFF2-40B4-BE49-F238E27FC236}">
                <a16:creationId xmlns:a16="http://schemas.microsoft.com/office/drawing/2014/main" id="{977BAA24-C2F8-4A55-8890-C7872CBB07C3}"/>
              </a:ext>
            </a:extLst>
          </p:cNvPr>
          <p:cNvSpPr>
            <a:spLocks xmlns:a="http://schemas.openxmlformats.org/drawingml/2006/main" noGrp="1"/>
          </p:cNvSpPr>
          <p:nvPr/>
        </p:nvSpPr>
        <p:spPr>
          <a:xfrm xmlns:a="http://schemas.openxmlformats.org/drawingml/2006/main">
            <a:off x="35814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6" name="navigation-Capability Context">
            <a:extLst xmlns:a="http://schemas.openxmlformats.org/drawingml/2006/main">
              <a:ext uri="{FF2B5EF4-FFF2-40B4-BE49-F238E27FC236}">
                <a16:creationId xmlns:a16="http://schemas.microsoft.com/office/drawing/2014/main" id="{8B60B6E9-D311-417E-A949-91898D65868E}"/>
              </a:ext>
            </a:extLst>
          </p:cNvPr>
          <p:cNvSpPr>
            <a:spLocks xmlns:a="http://schemas.openxmlformats.org/drawingml/2006/main" noGrp="1"/>
          </p:cNvSpPr>
          <p:nvPr/>
        </p:nvSpPr>
        <p:spPr>
          <a:xfrm xmlns:a="http://schemas.openxmlformats.org/drawingml/2006/main">
            <a:off x="36099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Capability Context</a:t>
            </a:r>
          </a:p>
        </p:txBody>
      </p:sp>
      <p:sp>
        <p:nvSpPr>
          <p:cNvPr id="7" name="nav-Artefact Content">
            <a:extLst xmlns:a="http://schemas.openxmlformats.org/drawingml/2006/main">
              <a:ext uri="{FF2B5EF4-FFF2-40B4-BE49-F238E27FC236}">
                <a16:creationId xmlns:a16="http://schemas.microsoft.com/office/drawing/2014/main" id="{84AD6031-E4D2-408C-B6BF-6AD21924E962}"/>
              </a:ext>
            </a:extLst>
          </p:cNvPr>
          <p:cNvSpPr>
            <a:spLocks xmlns:a="http://schemas.openxmlformats.org/drawingml/2006/main" noGrp="1"/>
          </p:cNvSpPr>
          <p:nvPr/>
        </p:nvSpPr>
        <p:spPr>
          <a:xfrm xmlns:a="http://schemas.openxmlformats.org/drawingml/2006/main">
            <a:off x="52578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8" name="navigation-Artefact Content">
            <a:extLst xmlns:a="http://schemas.openxmlformats.org/drawingml/2006/main">
              <a:ext uri="{FF2B5EF4-FFF2-40B4-BE49-F238E27FC236}">
                <a16:creationId xmlns:a16="http://schemas.microsoft.com/office/drawing/2014/main" id="{4EBAD496-279F-40E3-8E7E-DFD8EA33A919}"/>
              </a:ext>
            </a:extLst>
          </p:cNvPr>
          <p:cNvSpPr>
            <a:spLocks xmlns:a="http://schemas.openxmlformats.org/drawingml/2006/main" noGrp="1"/>
          </p:cNvSpPr>
          <p:nvPr/>
        </p:nvSpPr>
        <p:spPr>
          <a:xfrm xmlns:a="http://schemas.openxmlformats.org/drawingml/2006/main">
            <a:off x="52863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Artefact Content</a:t>
            </a:r>
          </a:p>
        </p:txBody>
      </p:sp>
      <p:sp>
        <p:nvSpPr>
          <p:cNvPr id="9" name="nav-Roadmap">
            <a:extLst xmlns:a="http://schemas.openxmlformats.org/drawingml/2006/main">
              <a:ext uri="{FF2B5EF4-FFF2-40B4-BE49-F238E27FC236}">
                <a16:creationId xmlns:a16="http://schemas.microsoft.com/office/drawing/2014/main" id="{22B2F187-AE56-4FD5-BCBA-1E60B1E1E859}"/>
              </a:ext>
            </a:extLst>
          </p:cNvPr>
          <p:cNvSpPr>
            <a:spLocks xmlns:a="http://schemas.openxmlformats.org/drawingml/2006/main" noGrp="1"/>
          </p:cNvSpPr>
          <p:nvPr/>
        </p:nvSpPr>
        <p:spPr>
          <a:xfrm xmlns:a="http://schemas.openxmlformats.org/drawingml/2006/main">
            <a:off x="69342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0" name="navigation-Roadmap">
            <a:extLst xmlns:a="http://schemas.openxmlformats.org/drawingml/2006/main">
              <a:ext uri="{FF2B5EF4-FFF2-40B4-BE49-F238E27FC236}">
                <a16:creationId xmlns:a16="http://schemas.microsoft.com/office/drawing/2014/main" id="{CB6E7D6C-16B1-440C-B56B-6C5BDBE7FCB3}"/>
              </a:ext>
            </a:extLst>
          </p:cNvPr>
          <p:cNvSpPr>
            <a:spLocks xmlns:a="http://schemas.openxmlformats.org/drawingml/2006/main" noGrp="1"/>
          </p:cNvSpPr>
          <p:nvPr/>
        </p:nvSpPr>
        <p:spPr>
          <a:xfrm xmlns:a="http://schemas.openxmlformats.org/drawingml/2006/main">
            <a:off x="69627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Roadmap</a:t>
            </a:r>
          </a:p>
        </p:txBody>
      </p:sp>
      <p:sp>
        <p:nvSpPr>
          <p:cNvPr id="11" name="nav-Decision">
            <a:extLst xmlns:a="http://schemas.openxmlformats.org/drawingml/2006/main">
              <a:ext uri="{FF2B5EF4-FFF2-40B4-BE49-F238E27FC236}">
                <a16:creationId xmlns:a16="http://schemas.microsoft.com/office/drawing/2014/main" id="{28DE9363-37F6-463B-8A55-46795D1DFA0C}"/>
              </a:ext>
            </a:extLst>
          </p:cNvPr>
          <p:cNvSpPr>
            <a:spLocks xmlns:a="http://schemas.openxmlformats.org/drawingml/2006/main" noGrp="1"/>
          </p:cNvSpPr>
          <p:nvPr/>
        </p:nvSpPr>
        <p:spPr>
          <a:xfrm xmlns:a="http://schemas.openxmlformats.org/drawingml/2006/main">
            <a:off x="86106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2" name="navigation-Decision">
            <a:extLst xmlns:a="http://schemas.openxmlformats.org/drawingml/2006/main">
              <a:ext uri="{FF2B5EF4-FFF2-40B4-BE49-F238E27FC236}">
                <a16:creationId xmlns:a16="http://schemas.microsoft.com/office/drawing/2014/main" id="{3883E81C-122C-4DBF-97F4-FDCEA92A853E}"/>
              </a:ext>
            </a:extLst>
          </p:cNvPr>
          <p:cNvSpPr>
            <a:spLocks xmlns:a="http://schemas.openxmlformats.org/drawingml/2006/main" noGrp="1"/>
          </p:cNvSpPr>
          <p:nvPr/>
        </p:nvSpPr>
        <p:spPr>
          <a:xfrm xmlns:a="http://schemas.openxmlformats.org/drawingml/2006/main">
            <a:off x="86391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Decision</a:t>
            </a:r>
          </a:p>
        </p:txBody>
      </p:sp>
      <p:sp>
        <p:nvSpPr>
          <p:cNvPr id="13" name="nav-Appendix">
            <a:extLst xmlns:a="http://schemas.openxmlformats.org/drawingml/2006/main">
              <a:ext uri="{FF2B5EF4-FFF2-40B4-BE49-F238E27FC236}">
                <a16:creationId xmlns:a16="http://schemas.microsoft.com/office/drawing/2014/main" id="{712CB259-C02F-482D-A6A0-5E203DE1AD19}"/>
              </a:ext>
            </a:extLst>
          </p:cNvPr>
          <p:cNvSpPr>
            <a:spLocks xmlns:a="http://schemas.openxmlformats.org/drawingml/2006/main" noGrp="1"/>
          </p:cNvSpPr>
          <p:nvPr/>
        </p:nvSpPr>
        <p:spPr>
          <a:xfrm xmlns:a="http://schemas.openxmlformats.org/drawingml/2006/main">
            <a:off x="10287000" y="171450"/>
            <a:ext cx="1600200" cy="381000"/>
          </a:xfrm>
          <a:prstGeom xmlns:a="http://schemas.openxmlformats.org/drawingml/2006/main" prst="roundRect">
            <a:avLst>
              <a:gd name="adj" fmla="val 17500"/>
            </a:avLst>
          </a:prstGeom>
          <a:solidFill xmlns:a="http://schemas.openxmlformats.org/drawingml/2006/main">
            <a:srgbClr val="BE1738"/>
          </a:solidFill>
          <a:ln xmlns:a="http://schemas.openxmlformats.org/drawingml/2006/main" w="11430">
            <a:solidFill>
              <a:srgbClr val="BE1738"/>
            </a:solidFill>
          </a:ln>
        </p:spPr>
      </p:sp>
      <p:sp>
        <p:nvSpPr>
          <p:cNvPr id="14" name="navigation-Appendix">
            <a:extLst xmlns:a="http://schemas.openxmlformats.org/drawingml/2006/main">
              <a:ext uri="{FF2B5EF4-FFF2-40B4-BE49-F238E27FC236}">
                <a16:creationId xmlns:a16="http://schemas.microsoft.com/office/drawing/2014/main" id="{30D82331-5505-4963-BE6F-CC1E2A4F7F69}"/>
              </a:ext>
            </a:extLst>
          </p:cNvPr>
          <p:cNvSpPr>
            <a:spLocks xmlns:a="http://schemas.openxmlformats.org/drawingml/2006/main" noGrp="1"/>
          </p:cNvSpPr>
          <p:nvPr/>
        </p:nvSpPr>
        <p:spPr>
          <a:xfrm xmlns:a="http://schemas.openxmlformats.org/drawingml/2006/main">
            <a:off x="103155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FFFFFF"/>
                </a:solidFill>
                <a:latin typeface="Carlito"/>
                <a:ea typeface="Carlito"/>
                <a:cs typeface="Carlito"/>
              </a:defRPr>
            </a:pPr>
            <a:r>
              <a:rPr sz="1313" b="0">
                <a:solidFill>
                  <a:srgbClr val="FFFFFF"/>
                </a:solidFill>
                <a:latin typeface="Carlito"/>
                <a:ea typeface="Carlito"/>
                <a:cs typeface="Carlito"/>
              </a:rPr>
              <a:t>Appendix</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4aa37d453e7b4771"/>
          <a:stretch xmlns:a="http://schemas.openxmlformats.org/drawingml/2006/main"/>
        </p:blipFill>
        <p:spPr>
          <a:xfrm xmlns:a="http://schemas.openxmlformats.org/drawingml/2006/main">
            <a:off x="304800" y="737436"/>
            <a:ext cx="1057275" cy="1001629"/>
          </a:xfrm>
          <a:prstGeom xmlns:a="http://schemas.openxmlformats.org/drawingml/2006/main" prst="rect">
            <a:avLst/>
          </a:prstGeom>
        </p:spPr>
      </p:pic>
      <p:sp>
        <p:nvSpPr>
          <p:cNvPr id="16" name="title-outline">
            <a:extLst xmlns:a="http://schemas.openxmlformats.org/drawingml/2006/main">
              <a:ext uri="{FF2B5EF4-FFF2-40B4-BE49-F238E27FC236}">
                <a16:creationId xmlns:a16="http://schemas.microsoft.com/office/drawing/2014/main" id="{0F1ECFCE-9632-4030-B1B0-7A98B045C185}"/>
              </a:ext>
            </a:extLst>
          </p:cNvPr>
          <p:cNvSpPr>
            <a:spLocks xmlns:a="http://schemas.openxmlformats.org/drawingml/2006/main" noGrp="1"/>
          </p:cNvSpPr>
          <p:nvPr/>
        </p:nvSpPr>
        <p:spPr>
          <a:xfrm xmlns:a="http://schemas.openxmlformats.org/drawingml/2006/main">
            <a:off x="1657350" y="866775"/>
            <a:ext cx="10496550" cy="4857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8575">
            <a:solidFill>
              <a:srgbClr val="BE1738"/>
            </a:solidFill>
          </a:ln>
        </p:spPr>
      </p:sp>
      <p:sp>
        <p:nvSpPr>
          <p:cNvPr id="17" name="slide-title">
            <a:extLst xmlns:a="http://schemas.openxmlformats.org/drawingml/2006/main">
              <a:ext uri="{FF2B5EF4-FFF2-40B4-BE49-F238E27FC236}">
                <a16:creationId xmlns:a16="http://schemas.microsoft.com/office/drawing/2014/main" id="{3982AD5C-CED6-44A1-B152-609FC965091C}"/>
              </a:ext>
            </a:extLst>
          </p:cNvPr>
          <p:cNvSpPr>
            <a:spLocks xmlns:a="http://schemas.openxmlformats.org/drawingml/2006/main" noGrp="1"/>
          </p:cNvSpPr>
          <p:nvPr/>
        </p:nvSpPr>
        <p:spPr>
          <a:xfrm xmlns:a="http://schemas.openxmlformats.org/drawingml/2006/main">
            <a:off x="1933575" y="933450"/>
            <a:ext cx="994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1632"/>
                </a:solidFill>
                <a:latin typeface="Carlito"/>
                <a:ea typeface="Carlito"/>
                <a:cs typeface="Carlito"/>
              </a:defRPr>
            </a:pPr>
            <a:r>
              <a:rPr sz="2100" b="1">
                <a:solidFill>
                  <a:srgbClr val="A91632"/>
                </a:solidFill>
                <a:latin typeface="Carlito"/>
                <a:ea typeface="Carlito"/>
                <a:cs typeface="Carlito"/>
              </a:rPr>
              <a:t>CAPABILITY APPLICABILITY</a:t>
            </a:r>
          </a:p>
        </p:txBody>
      </p:sp>
      <p:sp>
        <p:nvSpPr>
          <p:cNvPr id="18" name="classification">
            <a:extLst xmlns:a="http://schemas.openxmlformats.org/drawingml/2006/main">
              <a:ext uri="{FF2B5EF4-FFF2-40B4-BE49-F238E27FC236}">
                <a16:creationId xmlns:a16="http://schemas.microsoft.com/office/drawing/2014/main" id="{77AC119D-7518-4F23-9773-8B462ED0DB96}"/>
              </a:ext>
            </a:extLst>
          </p:cNvPr>
          <p:cNvSpPr>
            <a:spLocks xmlns:a="http://schemas.openxmlformats.org/drawingml/2006/main" noGrp="1"/>
          </p:cNvSpPr>
          <p:nvPr/>
        </p:nvSpPr>
        <p:spPr>
          <a:xfrm xmlns:a="http://schemas.openxmlformats.org/drawingml/2006/main">
            <a:off x="12001500" y="619125"/>
            <a:ext cx="2905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30343A"/>
                </a:solidFill>
                <a:latin typeface="Carlito"/>
                <a:ea typeface="Carlito"/>
                <a:cs typeface="Carlito"/>
              </a:defRPr>
            </a:pPr>
            <a:r>
              <a:rPr sz="1275" b="0">
                <a:solidFill>
                  <a:srgbClr val="30343A"/>
                </a:solidFill>
                <a:latin typeface="Carlito"/>
                <a:ea typeface="Carlito"/>
                <a:cs typeface="Carlito"/>
              </a:rPr>
              <a:t>RESTRICTED TO Euroclear</a:t>
            </a:r>
          </a:p>
        </p:txBody>
      </p:sp>
      <p:sp>
        <p:nvSpPr>
          <p:cNvPr id="19" name="footer-outline">
            <a:extLst xmlns:a="http://schemas.openxmlformats.org/drawingml/2006/main">
              <a:ext uri="{FF2B5EF4-FFF2-40B4-BE49-F238E27FC236}">
                <a16:creationId xmlns:a16="http://schemas.microsoft.com/office/drawing/2014/main" id="{211B3611-7A03-4E42-A844-016A088FA729}"/>
              </a:ext>
            </a:extLst>
          </p:cNvPr>
          <p:cNvSpPr>
            <a:spLocks xmlns:a="http://schemas.openxmlformats.org/drawingml/2006/main" noGrp="1"/>
          </p:cNvSpPr>
          <p:nvPr/>
        </p:nvSpPr>
        <p:spPr>
          <a:xfrm xmlns:a="http://schemas.openxmlformats.org/drawingml/2006/main">
            <a:off x="171450" y="8143875"/>
            <a:ext cx="3009900" cy="2952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4288">
            <a:solidFill>
              <a:srgbClr val="70757C"/>
            </a:solidFill>
          </a:ln>
        </p:spPr>
      </p:sp>
      <p:sp>
        <p:nvSpPr>
          <p:cNvPr id="20" name="footer">
            <a:extLst xmlns:a="http://schemas.openxmlformats.org/drawingml/2006/main">
              <a:ext uri="{FF2B5EF4-FFF2-40B4-BE49-F238E27FC236}">
                <a16:creationId xmlns:a16="http://schemas.microsoft.com/office/drawing/2014/main" id="{19954AE0-FD4F-4720-9228-077E61B6E199}"/>
              </a:ext>
            </a:extLst>
          </p:cNvPr>
          <p:cNvSpPr>
            <a:spLocks xmlns:a="http://schemas.openxmlformats.org/drawingml/2006/main" noGrp="1"/>
          </p:cNvSpPr>
          <p:nvPr/>
        </p:nvSpPr>
        <p:spPr>
          <a:xfrm xmlns:a="http://schemas.openxmlformats.org/drawingml/2006/main">
            <a:off x="295275" y="8172450"/>
            <a:ext cx="2771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0343A"/>
                </a:solidFill>
                <a:latin typeface="Carlito"/>
                <a:ea typeface="Carlito"/>
                <a:cs typeface="Carlito"/>
              </a:defRPr>
            </a:pPr>
            <a:r>
              <a:rPr sz="1500" b="0">
                <a:solidFill>
                  <a:srgbClr val="30343A"/>
                </a:solidFill>
                <a:latin typeface="Carlito"/>
                <a:ea typeface="Carlito"/>
                <a:cs typeface="Carlito"/>
              </a:rPr>
              <a:t>API Target Architecture</a:t>
            </a:r>
          </a:p>
        </p:txBody>
      </p:sp>
      <p:sp>
        <p:nvSpPr>
          <p:cNvPr id="21" name="page-number">
            <a:extLst xmlns:a="http://schemas.openxmlformats.org/drawingml/2006/main">
              <a:ext uri="{FF2B5EF4-FFF2-40B4-BE49-F238E27FC236}">
                <a16:creationId xmlns:a16="http://schemas.microsoft.com/office/drawing/2014/main" id="{BCEA2E28-D7DD-4DC1-8BC9-13418C3ED399}"/>
              </a:ext>
            </a:extLst>
          </p:cNvPr>
          <p:cNvSpPr>
            <a:spLocks xmlns:a="http://schemas.openxmlformats.org/drawingml/2006/main" noGrp="1"/>
          </p:cNvSpPr>
          <p:nvPr/>
        </p:nvSpPr>
        <p:spPr>
          <a:xfrm xmlns:a="http://schemas.openxmlformats.org/drawingml/2006/main">
            <a:off x="14458950" y="8162925"/>
            <a:ext cx="4476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70757C"/>
                </a:solidFill>
                <a:latin typeface="Carlito"/>
                <a:ea typeface="Carlito"/>
                <a:cs typeface="Carlito"/>
              </a:defRPr>
            </a:pPr>
            <a:r>
              <a:rPr sz="1350" b="0">
                <a:solidFill>
                  <a:srgbClr val="70757C"/>
                </a:solidFill>
                <a:latin typeface="Carlito"/>
                <a:ea typeface="Carlito"/>
                <a:cs typeface="Carlito"/>
              </a:rPr>
              <a:t>11</a:t>
            </a:r>
          </a:p>
        </p:txBody>
      </p:sp>
      <p:sp>
        <p:nvSpPr>
          <p:cNvPr id="22" name="text">
            <a:extLst xmlns:a="http://schemas.openxmlformats.org/drawingml/2006/main">
              <a:ext uri="{FF2B5EF4-FFF2-40B4-BE49-F238E27FC236}">
                <a16:creationId xmlns:a16="http://schemas.microsoft.com/office/drawing/2014/main" id="{07E8C8FD-C27E-4B35-A655-EC9B544B3A2D}"/>
              </a:ext>
            </a:extLst>
          </p:cNvPr>
          <p:cNvSpPr>
            <a:spLocks xmlns:a="http://schemas.openxmlformats.org/drawingml/2006/main" noGrp="1"/>
          </p:cNvSpPr>
          <p:nvPr/>
        </p:nvSpPr>
        <p:spPr>
          <a:xfrm xmlns:a="http://schemas.openxmlformats.org/drawingml/2006/main">
            <a:off x="361950" y="1866900"/>
            <a:ext cx="14458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1632"/>
                </a:solidFill>
                <a:latin typeface="Carlito"/>
                <a:ea typeface="Carlito"/>
                <a:cs typeface="Carlito"/>
              </a:defRPr>
            </a:pPr>
            <a:r>
              <a:rPr sz="2100" b="1">
                <a:solidFill>
                  <a:srgbClr val="A91632"/>
                </a:solidFill>
                <a:latin typeface="Carlito"/>
                <a:ea typeface="Carlito"/>
                <a:cs typeface="Carlito"/>
              </a:rPr>
              <a:t>Common requirements have different external and internal applications</a:t>
            </a:r>
          </a:p>
        </p:txBody>
      </p:sp>
      <p:graphicFrame>
        <p:nvGraphicFramePr>
          <p:cNvPr id="47" name=""/>
          <p:cNvGraphicFramePr/>
          <p:nvPr/>
        </p:nvGraphicFramePr>
        <p:xfrm>
          <a:off xmlns:a="http://schemas.openxmlformats.org/drawingml/2006/main" x="342900" y="2400300"/>
          <a:ext xmlns:a="http://schemas.openxmlformats.org/drawingml/2006/main" cx="14554200" cy="5086350"/>
        </p:xfrm>
        <a:graphic xmlns:a="http://schemas.openxmlformats.org/drawingml/2006/main">
          <a:graphicData uri="http://schemas.openxmlformats.org/drawingml/2006/table">
            <a:tbl>
              <a:tblPr firstRow="0" bandRow="0"/>
              <a:tblGrid>
                <a:gridCol w="2333625"/>
                <a:gridCol w="3762375"/>
                <a:gridCol w="4229100"/>
                <a:gridCol w="4229100"/>
              </a:tblGrid>
              <a:tr h="428625">
                <a:tc>
                  <a:txBody>
                    <a:bodyPr>
                      <a:noAutofit/>
                    </a:bodyPr>
                    <a:lstStyle/>
                    <a:p>
                      <a:r>
                        <a:rPr sz="1725" b="1">
                          <a:solidFill>
                            <a:srgbClr val="FFFFFF"/>
                          </a:solidFill>
                          <a:latin typeface="Carlito"/>
                          <a:ea typeface="Carlito"/>
                          <a:cs typeface="Carlito"/>
                        </a:rPr>
                        <a:t>Capability</a:t>
                      </a:r>
                    </a:p>
                  </a:txBody>
                  <a:tcPr marL="133350" marR="133350" marT="95250" marB="76200" anchor="t">
                    <a:solidFill>
                      <a:srgbClr val="BE1738"/>
                    </a:solidFill>
                  </a:tcPr>
                </a:tc>
                <a:tc>
                  <a:txBody>
                    <a:bodyPr>
                      <a:noAutofit/>
                    </a:bodyPr>
                    <a:lstStyle/>
                    <a:p>
                      <a:r>
                        <a:rPr sz="1725" b="1">
                          <a:solidFill>
                            <a:srgbClr val="FFFFFF"/>
                          </a:solidFill>
                          <a:latin typeface="Carlito"/>
                          <a:ea typeface="Carlito"/>
                          <a:cs typeface="Carlito"/>
                        </a:rPr>
                        <a:t>Common requirement</a:t>
                      </a:r>
                    </a:p>
                  </a:txBody>
                  <a:tcPr marL="133350" marR="133350" marT="95250" marB="76200" anchor="t">
                    <a:solidFill>
                      <a:srgbClr val="BE1738"/>
                    </a:solidFill>
                  </a:tcPr>
                </a:tc>
                <a:tc>
                  <a:txBody>
                    <a:bodyPr>
                      <a:noAutofit/>
                    </a:bodyPr>
                    <a:lstStyle/>
                    <a:p>
                      <a:r>
                        <a:rPr sz="1725" b="1">
                          <a:solidFill>
                            <a:srgbClr val="FFFFFF"/>
                          </a:solidFill>
                          <a:latin typeface="Carlito"/>
                          <a:ea typeface="Carlito"/>
                          <a:cs typeface="Carlito"/>
                        </a:rPr>
                        <a:t>External API application</a:t>
                      </a:r>
                    </a:p>
                  </a:txBody>
                  <a:tcPr marL="133350" marR="133350" marT="95250" marB="76200" anchor="t">
                    <a:solidFill>
                      <a:srgbClr val="BE1738"/>
                    </a:solidFill>
                  </a:tcPr>
                </a:tc>
                <a:tc>
                  <a:txBody>
                    <a:bodyPr>
                      <a:noAutofit/>
                    </a:bodyPr>
                    <a:lstStyle/>
                    <a:p>
                      <a:r>
                        <a:rPr sz="1725" b="1">
                          <a:solidFill>
                            <a:srgbClr val="FFFFFF"/>
                          </a:solidFill>
                          <a:latin typeface="Carlito"/>
                          <a:ea typeface="Carlito"/>
                          <a:cs typeface="Carlito"/>
                        </a:rPr>
                        <a:t>Internal API application</a:t>
                      </a:r>
                    </a:p>
                  </a:txBody>
                  <a:tcPr marL="133350" marR="133350" marT="95250" marB="76200" anchor="t">
                    <a:solidFill>
                      <a:srgbClr val="BE1738"/>
                    </a:solidFill>
                  </a:tcPr>
                </a:tc>
              </a:tr>
              <a:tr h="714375">
                <a:tc>
                  <a:txBody>
                    <a:bodyPr>
                      <a:noAutofit/>
                    </a:bodyPr>
                    <a:lstStyle/>
                    <a:p>
                      <a:r>
                        <a:rPr sz="1650" b="1">
                          <a:solidFill>
                            <a:srgbClr val="30343A"/>
                          </a:solidFill>
                          <a:latin typeface="Carlito"/>
                          <a:ea typeface="Carlito"/>
                          <a:cs typeface="Carlito"/>
                        </a:rPr>
                        <a:t>Consumer design</a:t>
                      </a:r>
                    </a:p>
                  </a:txBody>
                  <a:tcPr marL="133350" marR="133350" marT="95250" marB="76200" anchor="t">
                    <a:solidFill>
                      <a:srgbClr val="FFFFFF"/>
                    </a:solidFill>
                  </a:tcPr>
                </a:tc>
                <a:tc>
                  <a:txBody>
                    <a:bodyPr>
                      <a:noAutofit/>
                    </a:bodyPr>
                    <a:lstStyle/>
                    <a:p>
                      <a:r>
                        <a:rPr sz="1650" b="0">
                          <a:solidFill>
                            <a:srgbClr val="30343A"/>
                          </a:solidFill>
                          <a:latin typeface="Carlito"/>
                          <a:ea typeface="Carlito"/>
                          <a:cs typeface="Carlito"/>
                        </a:rPr>
                        <a:t>Validated needs, contracts and reuse assessment</a:t>
                      </a:r>
                    </a:p>
                  </a:txBody>
                  <a:tcPr marL="133350" marR="133350" marT="95250" marB="76200" anchor="t">
                    <a:solidFill>
                      <a:srgbClr val="FFFFFF"/>
                    </a:solidFill>
                  </a:tcPr>
                </a:tc>
                <a:tc>
                  <a:txBody>
                    <a:bodyPr>
                      <a:noAutofit/>
                    </a:bodyPr>
                    <a:lstStyle/>
                    <a:p>
                      <a:r>
                        <a:rPr sz="1650" b="0">
                          <a:solidFill>
                            <a:srgbClr val="30343A"/>
                          </a:solidFill>
                          <a:latin typeface="Carlito"/>
                          <a:ea typeface="Carlito"/>
                          <a:cs typeface="Carlito"/>
                        </a:rPr>
                        <a:t>Client / partner journeys and business service expectations</a:t>
                      </a:r>
                    </a:p>
                  </a:txBody>
                  <a:tcPr marL="133350" marR="133350" marT="95250" marB="76200" anchor="t">
                    <a:solidFill>
                      <a:srgbClr val="FFFFFF"/>
                    </a:solidFill>
                  </a:tcPr>
                </a:tc>
                <a:tc>
                  <a:txBody>
                    <a:bodyPr>
                      <a:noAutofit/>
                    </a:bodyPr>
                    <a:lstStyle/>
                    <a:p>
                      <a:r>
                        <a:rPr sz="1650" b="0">
                          <a:solidFill>
                            <a:srgbClr val="30343A"/>
                          </a:solidFill>
                          <a:latin typeface="Carlito"/>
                          <a:ea typeface="Carlito"/>
                          <a:cs typeface="Carlito"/>
                        </a:rPr>
                        <a:t>Application and domain needs, service dependencies and reuse</a:t>
                      </a:r>
                    </a:p>
                  </a:txBody>
                  <a:tcPr marL="133350" marR="133350" marT="95250" marB="76200" anchor="t">
                    <a:solidFill>
                      <a:srgbClr val="FFFFFF"/>
                    </a:solidFill>
                  </a:tcPr>
                </a:tc>
              </a:tr>
              <a:tr h="762000">
                <a:tc>
                  <a:txBody>
                    <a:bodyPr>
                      <a:noAutofit/>
                    </a:bodyPr>
                    <a:lstStyle/>
                    <a:p>
                      <a:r>
                        <a:rPr sz="1650" b="1">
                          <a:solidFill>
                            <a:srgbClr val="30343A"/>
                          </a:solidFill>
                          <a:latin typeface="Carlito"/>
                          <a:ea typeface="Carlito"/>
                          <a:cs typeface="Carlito"/>
                        </a:rPr>
                        <a:t>Discovery and onboarding</a:t>
                      </a:r>
                    </a:p>
                  </a:txBody>
                  <a:tcPr marL="133350" marR="133350" marT="95250" marB="76200" anchor="t">
                    <a:solidFill>
                      <a:srgbClr val="F4F5F6"/>
                    </a:solidFill>
                  </a:tcPr>
                </a:tc>
                <a:tc>
                  <a:txBody>
                    <a:bodyPr>
                      <a:noAutofit/>
                    </a:bodyPr>
                    <a:lstStyle/>
                    <a:p>
                      <a:r>
                        <a:rPr sz="1650" b="0">
                          <a:solidFill>
                            <a:srgbClr val="30343A"/>
                          </a:solidFill>
                          <a:latin typeface="Carlito"/>
                          <a:ea typeface="Carlito"/>
                          <a:cs typeface="Carlito"/>
                        </a:rPr>
                        <a:t>Documentation, discoverability and controlled access</a:t>
                      </a:r>
                    </a:p>
                  </a:txBody>
                  <a:tcPr marL="133350" marR="133350" marT="95250" marB="76200" anchor="t">
                    <a:solidFill>
                      <a:srgbClr val="F4F5F6"/>
                    </a:solidFill>
                  </a:tcPr>
                </a:tc>
                <a:tc>
                  <a:txBody>
                    <a:bodyPr>
                      <a:noAutofit/>
                    </a:bodyPr>
                    <a:lstStyle/>
                    <a:p>
                      <a:r>
                        <a:rPr sz="1650" b="0">
                          <a:solidFill>
                            <a:srgbClr val="30343A"/>
                          </a:solidFill>
                          <a:latin typeface="Carlito"/>
                          <a:ea typeface="Carlito"/>
                          <a:cs typeface="Carlito"/>
                        </a:rPr>
                        <a:t>Authorised portal, sandbox and partner onboarding</a:t>
                      </a:r>
                    </a:p>
                  </a:txBody>
                  <a:tcPr marL="133350" marR="133350" marT="95250" marB="76200" anchor="t">
                    <a:solidFill>
                      <a:srgbClr val="F4F5F6"/>
                    </a:solidFill>
                  </a:tcPr>
                </a:tc>
                <a:tc>
                  <a:txBody>
                    <a:bodyPr>
                      <a:noAutofit/>
                    </a:bodyPr>
                    <a:lstStyle/>
                    <a:p>
                      <a:r>
                        <a:rPr sz="1650" b="0">
                          <a:solidFill>
                            <a:srgbClr val="30343A"/>
                          </a:solidFill>
                          <a:latin typeface="Carlito"/>
                          <a:ea typeface="Carlito"/>
                          <a:cs typeface="Carlito"/>
                        </a:rPr>
                        <a:t>Internal catalogue, service registration and developer access</a:t>
                      </a:r>
                    </a:p>
                  </a:txBody>
                  <a:tcPr marL="133350" marR="133350" marT="95250" marB="76200" anchor="t">
                    <a:solidFill>
                      <a:srgbClr val="F4F5F6"/>
                    </a:solidFill>
                  </a:tcPr>
                </a:tc>
              </a:tr>
              <a:tr h="952500">
                <a:tc>
                  <a:txBody>
                    <a:bodyPr>
                      <a:noAutofit/>
                    </a:bodyPr>
                    <a:lstStyle/>
                    <a:p>
                      <a:r>
                        <a:rPr sz="1650" b="1">
                          <a:solidFill>
                            <a:srgbClr val="30343A"/>
                          </a:solidFill>
                          <a:latin typeface="Carlito"/>
                          <a:ea typeface="Carlito"/>
                          <a:cs typeface="Carlito"/>
                        </a:rPr>
                        <a:t>Identity and access</a:t>
                      </a:r>
                    </a:p>
                  </a:txBody>
                  <a:tcPr marL="133350" marR="133350" marT="95250" marB="76200" anchor="t">
                    <a:solidFill>
                      <a:srgbClr val="FFFFFF"/>
                    </a:solidFill>
                  </a:tcPr>
                </a:tc>
                <a:tc>
                  <a:txBody>
                    <a:bodyPr>
                      <a:noAutofit/>
                    </a:bodyPr>
                    <a:lstStyle/>
                    <a:p>
                      <a:r>
                        <a:rPr sz="1650" b="0">
                          <a:solidFill>
                            <a:srgbClr val="30343A"/>
                          </a:solidFill>
                          <a:latin typeface="Carlito"/>
                          <a:ea typeface="Carlito"/>
                          <a:cs typeface="Carlito"/>
                        </a:rPr>
                        <a:t>Authentication, authorization and credential lifecycle</a:t>
                      </a:r>
                    </a:p>
                  </a:txBody>
                  <a:tcPr marL="133350" marR="133350" marT="95250" marB="76200" anchor="t">
                    <a:solidFill>
                      <a:srgbClr val="FFFFFF"/>
                    </a:solidFill>
                  </a:tcPr>
                </a:tc>
                <a:tc>
                  <a:txBody>
                    <a:bodyPr>
                      <a:noAutofit/>
                    </a:bodyPr>
                    <a:lstStyle/>
                    <a:p>
                      <a:r>
                        <a:rPr sz="1650" b="0">
                          <a:solidFill>
                            <a:srgbClr val="30343A"/>
                          </a:solidFill>
                          <a:latin typeface="Carlito"/>
                          <a:ea typeface="Carlito"/>
                          <a:cs typeface="Carlito"/>
                        </a:rPr>
                        <a:t>External consumer federation and entitlements through relevant CIAM/IDAM services</a:t>
                      </a:r>
                    </a:p>
                  </a:txBody>
                  <a:tcPr marL="133350" marR="133350" marT="95250" marB="76200" anchor="t">
                    <a:solidFill>
                      <a:srgbClr val="FFFFFF"/>
                    </a:solidFill>
                  </a:tcPr>
                </a:tc>
                <a:tc>
                  <a:txBody>
                    <a:bodyPr>
                      <a:noAutofit/>
                    </a:bodyPr>
                    <a:lstStyle/>
                    <a:p>
                      <a:r>
                        <a:rPr sz="1650" b="0">
                          <a:solidFill>
                            <a:srgbClr val="30343A"/>
                          </a:solidFill>
                          <a:latin typeface="Carlito"/>
                          <a:ea typeface="Carlito"/>
                          <a:cs typeface="Carlito"/>
                        </a:rPr>
                        <a:t>Workload / service identity and access through relevant enterprise IDAM services</a:t>
                      </a:r>
                    </a:p>
                  </a:txBody>
                  <a:tcPr marL="133350" marR="133350" marT="95250" marB="76200" anchor="t">
                    <a:solidFill>
                      <a:srgbClr val="FFFFFF"/>
                    </a:solidFill>
                  </a:tcPr>
                </a:tc>
              </a:tr>
              <a:tr h="742950">
                <a:tc>
                  <a:txBody>
                    <a:bodyPr>
                      <a:noAutofit/>
                    </a:bodyPr>
                    <a:lstStyle/>
                    <a:p>
                      <a:r>
                        <a:rPr sz="1650" b="1">
                          <a:solidFill>
                            <a:srgbClr val="30343A"/>
                          </a:solidFill>
                          <a:latin typeface="Carlito"/>
                          <a:ea typeface="Carlito"/>
                          <a:cs typeface="Carlito"/>
                        </a:rPr>
                        <a:t>Lifecycle and operation</a:t>
                      </a:r>
                    </a:p>
                  </a:txBody>
                  <a:tcPr marL="133350" marR="133350" marT="95250" marB="76200" anchor="t">
                    <a:solidFill>
                      <a:srgbClr val="F4F5F6"/>
                    </a:solidFill>
                  </a:tcPr>
                </a:tc>
                <a:tc>
                  <a:txBody>
                    <a:bodyPr>
                      <a:noAutofit/>
                    </a:bodyPr>
                    <a:lstStyle/>
                    <a:p>
                      <a:r>
                        <a:rPr sz="1650" b="0">
                          <a:solidFill>
                            <a:srgbClr val="30343A"/>
                          </a:solidFill>
                          <a:latin typeface="Carlito"/>
                          <a:ea typeface="Carlito"/>
                          <a:cs typeface="Carlito"/>
                        </a:rPr>
                        <a:t>Versioning, testing, monitoring, support and retirement</a:t>
                      </a:r>
                    </a:p>
                  </a:txBody>
                  <a:tcPr marL="133350" marR="133350" marT="95250" marB="76200" anchor="t">
                    <a:solidFill>
                      <a:srgbClr val="F4F5F6"/>
                    </a:solidFill>
                  </a:tcPr>
                </a:tc>
                <a:tc>
                  <a:txBody>
                    <a:bodyPr>
                      <a:noAutofit/>
                    </a:bodyPr>
                    <a:lstStyle/>
                    <a:p>
                      <a:r>
                        <a:rPr sz="1650" b="0">
                          <a:solidFill>
                            <a:srgbClr val="30343A"/>
                          </a:solidFill>
                          <a:latin typeface="Carlito"/>
                          <a:ea typeface="Carlito"/>
                          <a:cs typeface="Carlito"/>
                        </a:rPr>
                        <a:t>External service commitments and consumer change communication</a:t>
                      </a:r>
                    </a:p>
                  </a:txBody>
                  <a:tcPr marL="133350" marR="133350" marT="95250" marB="76200" anchor="t">
                    <a:solidFill>
                      <a:srgbClr val="F4F5F6"/>
                    </a:solidFill>
                  </a:tcPr>
                </a:tc>
                <a:tc>
                  <a:txBody>
                    <a:bodyPr>
                      <a:noAutofit/>
                    </a:bodyPr>
                    <a:lstStyle/>
                    <a:p>
                      <a:r>
                        <a:rPr sz="1650" b="0">
                          <a:solidFill>
                            <a:srgbClr val="30343A"/>
                          </a:solidFill>
                          <a:latin typeface="Carlito"/>
                          <a:ea typeface="Carlito"/>
                          <a:cs typeface="Carlito"/>
                        </a:rPr>
                        <a:t>Dependency management, compatibility and coordinated internal change</a:t>
                      </a:r>
                    </a:p>
                  </a:txBody>
                  <a:tcPr marL="133350" marR="133350" marT="95250" marB="76200" anchor="t">
                    <a:solidFill>
                      <a:srgbClr val="F4F5F6"/>
                    </a:solidFill>
                  </a:tcPr>
                </a:tc>
              </a:tr>
              <a:tr h="742950">
                <a:tc>
                  <a:txBody>
                    <a:bodyPr>
                      <a:noAutofit/>
                    </a:bodyPr>
                    <a:lstStyle/>
                    <a:p>
                      <a:r>
                        <a:rPr sz="1650" b="1">
                          <a:solidFill>
                            <a:srgbClr val="30343A"/>
                          </a:solidFill>
                          <a:latin typeface="Carlito"/>
                          <a:ea typeface="Carlito"/>
                          <a:cs typeface="Carlito"/>
                        </a:rPr>
                        <a:t>Policy and governance</a:t>
                      </a:r>
                    </a:p>
                  </a:txBody>
                  <a:tcPr marL="133350" marR="133350" marT="95250" marB="76200" anchor="t">
                    <a:solidFill>
                      <a:srgbClr val="FFFFFF"/>
                    </a:solidFill>
                  </a:tcPr>
                </a:tc>
                <a:tc>
                  <a:txBody>
                    <a:bodyPr>
                      <a:noAutofit/>
                    </a:bodyPr>
                    <a:lstStyle/>
                    <a:p>
                      <a:r>
                        <a:rPr sz="1650" b="0">
                          <a:solidFill>
                            <a:srgbClr val="30343A"/>
                          </a:solidFill>
                          <a:latin typeface="Carlito"/>
                          <a:ea typeface="Carlito"/>
                          <a:cs typeface="Carlito"/>
                        </a:rPr>
                        <a:t>Ownership, security, data controls, auditability and exceptions</a:t>
                      </a:r>
                    </a:p>
                  </a:txBody>
                  <a:tcPr marL="133350" marR="133350" marT="95250" marB="76200" anchor="t">
                    <a:solidFill>
                      <a:srgbClr val="FFFFFF"/>
                    </a:solidFill>
                  </a:tcPr>
                </a:tc>
                <a:tc>
                  <a:txBody>
                    <a:bodyPr>
                      <a:noAutofit/>
                    </a:bodyPr>
                    <a:lstStyle/>
                    <a:p>
                      <a:r>
                        <a:rPr sz="1650" b="0">
                          <a:solidFill>
                            <a:srgbClr val="30343A"/>
                          </a:solidFill>
                          <a:latin typeface="Carlito"/>
                          <a:ea typeface="Carlito"/>
                          <a:cs typeface="Carlito"/>
                        </a:rPr>
                        <a:t>External exposure, consumer eligibility and contractual controls</a:t>
                      </a:r>
                    </a:p>
                  </a:txBody>
                  <a:tcPr marL="133350" marR="133350" marT="95250" marB="76200" anchor="t">
                    <a:solidFill>
                      <a:srgbClr val="FFFFFF"/>
                    </a:solidFill>
                  </a:tcPr>
                </a:tc>
                <a:tc>
                  <a:txBody>
                    <a:bodyPr>
                      <a:noAutofit/>
                    </a:bodyPr>
                    <a:lstStyle/>
                    <a:p>
                      <a:r>
                        <a:rPr sz="1650" b="0">
                          <a:solidFill>
                            <a:srgbClr val="30343A"/>
                          </a:solidFill>
                          <a:latin typeface="Carlito"/>
                          <a:ea typeface="Carlito"/>
                          <a:cs typeface="Carlito"/>
                        </a:rPr>
                        <a:t>Internal trust boundaries, service policies and domain responsibilities</a:t>
                      </a:r>
                    </a:p>
                  </a:txBody>
                  <a:tcPr marL="133350" marR="133350" marT="95250" marB="76200" anchor="t">
                    <a:solidFill>
                      <a:srgbClr val="FFFFFF"/>
                    </a:solidFill>
                  </a:tcPr>
                </a:tc>
              </a:tr>
              <a:tr h="742950">
                <a:tc>
                  <a:txBody>
                    <a:bodyPr>
                      <a:noAutofit/>
                    </a:bodyPr>
                    <a:lstStyle/>
                    <a:p>
                      <a:r>
                        <a:rPr sz="1650" b="1">
                          <a:solidFill>
                            <a:srgbClr val="30343A"/>
                          </a:solidFill>
                          <a:latin typeface="Carlito"/>
                          <a:ea typeface="Carlito"/>
                          <a:cs typeface="Carlito"/>
                        </a:rPr>
                        <a:t>Commercial management</a:t>
                      </a:r>
                    </a:p>
                  </a:txBody>
                  <a:tcPr marL="133350" marR="133350" marT="95250" marB="76200" anchor="t">
                    <a:solidFill>
                      <a:srgbClr val="F4F5F6"/>
                    </a:solidFill>
                  </a:tcPr>
                </a:tc>
                <a:tc>
                  <a:txBody>
                    <a:bodyPr>
                      <a:noAutofit/>
                    </a:bodyPr>
                    <a:lstStyle/>
                    <a:p>
                      <a:r>
                        <a:rPr sz="1650" b="0">
                          <a:solidFill>
                            <a:srgbClr val="30343A"/>
                          </a:solidFill>
                          <a:latin typeface="Carlito"/>
                          <a:ea typeface="Carlito"/>
                          <a:cs typeface="Carlito"/>
                        </a:rPr>
                        <a:t>Apply when a commercial offering requires it</a:t>
                      </a:r>
                    </a:p>
                  </a:txBody>
                  <a:tcPr marL="133350" marR="133350" marT="95250" marB="76200" anchor="t">
                    <a:solidFill>
                      <a:srgbClr val="F4F5F6"/>
                    </a:solidFill>
                  </a:tcPr>
                </a:tc>
                <a:tc>
                  <a:txBody>
                    <a:bodyPr>
                      <a:noAutofit/>
                    </a:bodyPr>
                    <a:lstStyle/>
                    <a:p>
                      <a:r>
                        <a:rPr sz="1650" b="0">
                          <a:solidFill>
                            <a:srgbClr val="30343A"/>
                          </a:solidFill>
                          <a:latin typeface="Carlito"/>
                          <a:ea typeface="Carlito"/>
                          <a:cs typeface="Carlito"/>
                        </a:rPr>
                        <a:t>Packaging, subscriptions, pricing and billing where justified</a:t>
                      </a:r>
                    </a:p>
                  </a:txBody>
                  <a:tcPr marL="133350" marR="133350" marT="95250" marB="76200" anchor="t">
                    <a:solidFill>
                      <a:srgbClr val="F4F5F6"/>
                    </a:solidFill>
                  </a:tcPr>
                </a:tc>
                <a:tc>
                  <a:txBody>
                    <a:bodyPr>
                      <a:noAutofit/>
                    </a:bodyPr>
                    <a:lstStyle/>
                    <a:p>
                      <a:r>
                        <a:rPr sz="1650" b="0">
                          <a:solidFill>
                            <a:srgbClr val="30343A"/>
                          </a:solidFill>
                          <a:latin typeface="Carlito"/>
                          <a:ea typeface="Carlito"/>
                          <a:cs typeface="Carlito"/>
                        </a:rPr>
                        <a:t>Cost visibility and allocation where useful to internal management</a:t>
                      </a:r>
                    </a:p>
                  </a:txBody>
                  <a:tcPr marL="133350" marR="133350" marT="95250" marB="76200" anchor="t">
                    <a:solidFill>
                      <a:srgbClr val="F4F5F6"/>
                    </a:solidFill>
                  </a:tcPr>
                </a:tc>
              </a:tr>
            </a:tbl>
          </a:graphicData>
        </a:graphic>
      </p:graphicFrame>
      <p:sp>
        <p:nvSpPr>
          <p:cNvPr id="24" name="text">
            <a:extLst xmlns:a="http://schemas.openxmlformats.org/drawingml/2006/main">
              <a:ext uri="{FF2B5EF4-FFF2-40B4-BE49-F238E27FC236}">
                <a16:creationId xmlns:a16="http://schemas.microsoft.com/office/drawing/2014/main" id="{87865A79-1C25-45ED-A95C-7EA1A2312B3A}"/>
              </a:ext>
            </a:extLst>
          </p:cNvPr>
          <p:cNvSpPr>
            <a:spLocks xmlns:a="http://schemas.openxmlformats.org/drawingml/2006/main" noGrp="1"/>
          </p:cNvSpPr>
          <p:nvPr/>
        </p:nvSpPr>
        <p:spPr>
          <a:xfrm xmlns:a="http://schemas.openxmlformats.org/drawingml/2006/main">
            <a:off x="361950" y="7762875"/>
            <a:ext cx="1445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70757C"/>
                </a:solidFill>
                <a:latin typeface="Carlito"/>
                <a:ea typeface="Carlito"/>
                <a:cs typeface="Carlito"/>
              </a:defRPr>
            </a:pPr>
            <a:r>
              <a:rPr sz="1350" b="0">
                <a:solidFill>
                  <a:srgbClr val="70757C"/>
                </a:solidFill>
                <a:latin typeface="Carlito"/>
                <a:ea typeface="Carlito"/>
                <a:cs typeface="Carlito"/>
              </a:rPr>
              <a:t>External/internal audience and provider/consumer role are separate dimensions. Third-party API consumption has its own provider, access and dependency requirements.</a:t>
            </a:r>
          </a:p>
        </p:txBody>
      </p:sp>
    </p:spTree>
    <p:extLst>
      <p:ext uri="{BB962C8B-B14F-4D97-AF65-F5344CB8AC3E}">
        <p14:creationId xmlns:p14="http://schemas.microsoft.com/office/powerpoint/2010/main" val="124221437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nav-Background">
            <a:extLst xmlns:a="http://schemas.openxmlformats.org/drawingml/2006/main">
              <a:ext uri="{FF2B5EF4-FFF2-40B4-BE49-F238E27FC236}">
                <a16:creationId xmlns:a16="http://schemas.microsoft.com/office/drawing/2014/main" id="{F1FC8D27-F6E9-45A4-91EF-43B0D6558586}"/>
              </a:ext>
            </a:extLst>
          </p:cNvPr>
          <p:cNvSpPr>
            <a:spLocks xmlns:a="http://schemas.openxmlformats.org/drawingml/2006/main" noGrp="1"/>
          </p:cNvSpPr>
          <p:nvPr/>
        </p:nvSpPr>
        <p:spPr>
          <a:xfrm xmlns:a="http://schemas.openxmlformats.org/drawingml/2006/main">
            <a:off x="2286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2" name="navigation-Background">
            <a:extLst xmlns:a="http://schemas.openxmlformats.org/drawingml/2006/main">
              <a:ext uri="{FF2B5EF4-FFF2-40B4-BE49-F238E27FC236}">
                <a16:creationId xmlns:a16="http://schemas.microsoft.com/office/drawing/2014/main" id="{2957CF44-6FE4-4B57-8759-B0B2AA8F4AD9}"/>
              </a:ext>
            </a:extLst>
          </p:cNvPr>
          <p:cNvSpPr>
            <a:spLocks xmlns:a="http://schemas.openxmlformats.org/drawingml/2006/main" noGrp="1"/>
          </p:cNvSpPr>
          <p:nvPr/>
        </p:nvSpPr>
        <p:spPr>
          <a:xfrm xmlns:a="http://schemas.openxmlformats.org/drawingml/2006/main">
            <a:off x="2571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Background</a:t>
            </a:r>
          </a:p>
        </p:txBody>
      </p:sp>
      <p:sp>
        <p:nvSpPr>
          <p:cNvPr id="3" name="nav-Problem Statements">
            <a:extLst xmlns:a="http://schemas.openxmlformats.org/drawingml/2006/main">
              <a:ext uri="{FF2B5EF4-FFF2-40B4-BE49-F238E27FC236}">
                <a16:creationId xmlns:a16="http://schemas.microsoft.com/office/drawing/2014/main" id="{910D5026-1895-470E-813B-3B5F3543A4F9}"/>
              </a:ext>
            </a:extLst>
          </p:cNvPr>
          <p:cNvSpPr>
            <a:spLocks xmlns:a="http://schemas.openxmlformats.org/drawingml/2006/main" noGrp="1"/>
          </p:cNvSpPr>
          <p:nvPr/>
        </p:nvSpPr>
        <p:spPr>
          <a:xfrm xmlns:a="http://schemas.openxmlformats.org/drawingml/2006/main">
            <a:off x="19050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4" name="navigation-Problem Statements">
            <a:extLst xmlns:a="http://schemas.openxmlformats.org/drawingml/2006/main">
              <a:ext uri="{FF2B5EF4-FFF2-40B4-BE49-F238E27FC236}">
                <a16:creationId xmlns:a16="http://schemas.microsoft.com/office/drawing/2014/main" id="{66E686DB-A3EE-4D45-B276-106756228D7F}"/>
              </a:ext>
            </a:extLst>
          </p:cNvPr>
          <p:cNvSpPr>
            <a:spLocks xmlns:a="http://schemas.openxmlformats.org/drawingml/2006/main" noGrp="1"/>
          </p:cNvSpPr>
          <p:nvPr/>
        </p:nvSpPr>
        <p:spPr>
          <a:xfrm xmlns:a="http://schemas.openxmlformats.org/drawingml/2006/main">
            <a:off x="19335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Problem Statements</a:t>
            </a:r>
          </a:p>
        </p:txBody>
      </p:sp>
      <p:sp>
        <p:nvSpPr>
          <p:cNvPr id="5" name="nav-Capability Context">
            <a:extLst xmlns:a="http://schemas.openxmlformats.org/drawingml/2006/main">
              <a:ext uri="{FF2B5EF4-FFF2-40B4-BE49-F238E27FC236}">
                <a16:creationId xmlns:a16="http://schemas.microsoft.com/office/drawing/2014/main" id="{C1B7210F-A9EC-4378-8601-8DC1C128D6A5}"/>
              </a:ext>
            </a:extLst>
          </p:cNvPr>
          <p:cNvSpPr>
            <a:spLocks xmlns:a="http://schemas.openxmlformats.org/drawingml/2006/main" noGrp="1"/>
          </p:cNvSpPr>
          <p:nvPr/>
        </p:nvSpPr>
        <p:spPr>
          <a:xfrm xmlns:a="http://schemas.openxmlformats.org/drawingml/2006/main">
            <a:off x="35814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6" name="navigation-Capability Context">
            <a:extLst xmlns:a="http://schemas.openxmlformats.org/drawingml/2006/main">
              <a:ext uri="{FF2B5EF4-FFF2-40B4-BE49-F238E27FC236}">
                <a16:creationId xmlns:a16="http://schemas.microsoft.com/office/drawing/2014/main" id="{7C24FDD3-CE0C-4D40-A598-65DBD00E859A}"/>
              </a:ext>
            </a:extLst>
          </p:cNvPr>
          <p:cNvSpPr>
            <a:spLocks xmlns:a="http://schemas.openxmlformats.org/drawingml/2006/main" noGrp="1"/>
          </p:cNvSpPr>
          <p:nvPr/>
        </p:nvSpPr>
        <p:spPr>
          <a:xfrm xmlns:a="http://schemas.openxmlformats.org/drawingml/2006/main">
            <a:off x="36099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Capability Context</a:t>
            </a:r>
          </a:p>
        </p:txBody>
      </p:sp>
      <p:sp>
        <p:nvSpPr>
          <p:cNvPr id="7" name="nav-Artefact Content">
            <a:extLst xmlns:a="http://schemas.openxmlformats.org/drawingml/2006/main">
              <a:ext uri="{FF2B5EF4-FFF2-40B4-BE49-F238E27FC236}">
                <a16:creationId xmlns:a16="http://schemas.microsoft.com/office/drawing/2014/main" id="{54257CDB-34D2-40AF-ABEE-6252ED7BAD3D}"/>
              </a:ext>
            </a:extLst>
          </p:cNvPr>
          <p:cNvSpPr>
            <a:spLocks xmlns:a="http://schemas.openxmlformats.org/drawingml/2006/main" noGrp="1"/>
          </p:cNvSpPr>
          <p:nvPr/>
        </p:nvSpPr>
        <p:spPr>
          <a:xfrm xmlns:a="http://schemas.openxmlformats.org/drawingml/2006/main">
            <a:off x="52578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8" name="navigation-Artefact Content">
            <a:extLst xmlns:a="http://schemas.openxmlformats.org/drawingml/2006/main">
              <a:ext uri="{FF2B5EF4-FFF2-40B4-BE49-F238E27FC236}">
                <a16:creationId xmlns:a16="http://schemas.microsoft.com/office/drawing/2014/main" id="{7BD6DB66-AA8B-4C3A-8976-EF72C6CB1FB5}"/>
              </a:ext>
            </a:extLst>
          </p:cNvPr>
          <p:cNvSpPr>
            <a:spLocks xmlns:a="http://schemas.openxmlformats.org/drawingml/2006/main" noGrp="1"/>
          </p:cNvSpPr>
          <p:nvPr/>
        </p:nvSpPr>
        <p:spPr>
          <a:xfrm xmlns:a="http://schemas.openxmlformats.org/drawingml/2006/main">
            <a:off x="52863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Artefact Content</a:t>
            </a:r>
          </a:p>
        </p:txBody>
      </p:sp>
      <p:sp>
        <p:nvSpPr>
          <p:cNvPr id="9" name="nav-Roadmap">
            <a:extLst xmlns:a="http://schemas.openxmlformats.org/drawingml/2006/main">
              <a:ext uri="{FF2B5EF4-FFF2-40B4-BE49-F238E27FC236}">
                <a16:creationId xmlns:a16="http://schemas.microsoft.com/office/drawing/2014/main" id="{B0298074-6BD1-4815-AF27-9443E400A7C4}"/>
              </a:ext>
            </a:extLst>
          </p:cNvPr>
          <p:cNvSpPr>
            <a:spLocks xmlns:a="http://schemas.openxmlformats.org/drawingml/2006/main" noGrp="1"/>
          </p:cNvSpPr>
          <p:nvPr/>
        </p:nvSpPr>
        <p:spPr>
          <a:xfrm xmlns:a="http://schemas.openxmlformats.org/drawingml/2006/main">
            <a:off x="69342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0" name="navigation-Roadmap">
            <a:extLst xmlns:a="http://schemas.openxmlformats.org/drawingml/2006/main">
              <a:ext uri="{FF2B5EF4-FFF2-40B4-BE49-F238E27FC236}">
                <a16:creationId xmlns:a16="http://schemas.microsoft.com/office/drawing/2014/main" id="{62598776-8DFD-43D2-9A6F-D09719711D28}"/>
              </a:ext>
            </a:extLst>
          </p:cNvPr>
          <p:cNvSpPr>
            <a:spLocks xmlns:a="http://schemas.openxmlformats.org/drawingml/2006/main" noGrp="1"/>
          </p:cNvSpPr>
          <p:nvPr/>
        </p:nvSpPr>
        <p:spPr>
          <a:xfrm xmlns:a="http://schemas.openxmlformats.org/drawingml/2006/main">
            <a:off x="69627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Roadmap</a:t>
            </a:r>
          </a:p>
        </p:txBody>
      </p:sp>
      <p:sp>
        <p:nvSpPr>
          <p:cNvPr id="11" name="nav-Decision">
            <a:extLst xmlns:a="http://schemas.openxmlformats.org/drawingml/2006/main">
              <a:ext uri="{FF2B5EF4-FFF2-40B4-BE49-F238E27FC236}">
                <a16:creationId xmlns:a16="http://schemas.microsoft.com/office/drawing/2014/main" id="{531C8594-3A3A-4CC3-9EFF-357E393AF2D7}"/>
              </a:ext>
            </a:extLst>
          </p:cNvPr>
          <p:cNvSpPr>
            <a:spLocks xmlns:a="http://schemas.openxmlformats.org/drawingml/2006/main" noGrp="1"/>
          </p:cNvSpPr>
          <p:nvPr/>
        </p:nvSpPr>
        <p:spPr>
          <a:xfrm xmlns:a="http://schemas.openxmlformats.org/drawingml/2006/main">
            <a:off x="86106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2" name="navigation-Decision">
            <a:extLst xmlns:a="http://schemas.openxmlformats.org/drawingml/2006/main">
              <a:ext uri="{FF2B5EF4-FFF2-40B4-BE49-F238E27FC236}">
                <a16:creationId xmlns:a16="http://schemas.microsoft.com/office/drawing/2014/main" id="{DF6C3129-271F-4DD3-B550-42A860C673D6}"/>
              </a:ext>
            </a:extLst>
          </p:cNvPr>
          <p:cNvSpPr>
            <a:spLocks xmlns:a="http://schemas.openxmlformats.org/drawingml/2006/main" noGrp="1"/>
          </p:cNvSpPr>
          <p:nvPr/>
        </p:nvSpPr>
        <p:spPr>
          <a:xfrm xmlns:a="http://schemas.openxmlformats.org/drawingml/2006/main">
            <a:off x="86391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Decision</a:t>
            </a:r>
          </a:p>
        </p:txBody>
      </p:sp>
      <p:sp>
        <p:nvSpPr>
          <p:cNvPr id="13" name="nav-Appendix">
            <a:extLst xmlns:a="http://schemas.openxmlformats.org/drawingml/2006/main">
              <a:ext uri="{FF2B5EF4-FFF2-40B4-BE49-F238E27FC236}">
                <a16:creationId xmlns:a16="http://schemas.microsoft.com/office/drawing/2014/main" id="{24ADD5C4-DB4B-4B93-A9A0-0CF54C738B79}"/>
              </a:ext>
            </a:extLst>
          </p:cNvPr>
          <p:cNvSpPr>
            <a:spLocks xmlns:a="http://schemas.openxmlformats.org/drawingml/2006/main" noGrp="1"/>
          </p:cNvSpPr>
          <p:nvPr/>
        </p:nvSpPr>
        <p:spPr>
          <a:xfrm xmlns:a="http://schemas.openxmlformats.org/drawingml/2006/main">
            <a:off x="10287000" y="171450"/>
            <a:ext cx="1600200" cy="381000"/>
          </a:xfrm>
          <a:prstGeom xmlns:a="http://schemas.openxmlformats.org/drawingml/2006/main" prst="roundRect">
            <a:avLst>
              <a:gd name="adj" fmla="val 17500"/>
            </a:avLst>
          </a:prstGeom>
          <a:solidFill xmlns:a="http://schemas.openxmlformats.org/drawingml/2006/main">
            <a:srgbClr val="BE1738"/>
          </a:solidFill>
          <a:ln xmlns:a="http://schemas.openxmlformats.org/drawingml/2006/main" w="11430">
            <a:solidFill>
              <a:srgbClr val="BE1738"/>
            </a:solidFill>
          </a:ln>
        </p:spPr>
      </p:sp>
      <p:sp>
        <p:nvSpPr>
          <p:cNvPr id="14" name="navigation-Appendix">
            <a:extLst xmlns:a="http://schemas.openxmlformats.org/drawingml/2006/main">
              <a:ext uri="{FF2B5EF4-FFF2-40B4-BE49-F238E27FC236}">
                <a16:creationId xmlns:a16="http://schemas.microsoft.com/office/drawing/2014/main" id="{CE18748D-0529-4628-8FE9-4E01D70BE5CE}"/>
              </a:ext>
            </a:extLst>
          </p:cNvPr>
          <p:cNvSpPr>
            <a:spLocks xmlns:a="http://schemas.openxmlformats.org/drawingml/2006/main" noGrp="1"/>
          </p:cNvSpPr>
          <p:nvPr/>
        </p:nvSpPr>
        <p:spPr>
          <a:xfrm xmlns:a="http://schemas.openxmlformats.org/drawingml/2006/main">
            <a:off x="103155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FFFFFF"/>
                </a:solidFill>
                <a:latin typeface="Carlito"/>
                <a:ea typeface="Carlito"/>
                <a:cs typeface="Carlito"/>
              </a:defRPr>
            </a:pPr>
            <a:r>
              <a:rPr sz="1313" b="0">
                <a:solidFill>
                  <a:srgbClr val="FFFFFF"/>
                </a:solidFill>
                <a:latin typeface="Carlito"/>
                <a:ea typeface="Carlito"/>
                <a:cs typeface="Carlito"/>
              </a:rPr>
              <a:t>Appendix</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73c3befeb73d490c"/>
          <a:stretch xmlns:a="http://schemas.openxmlformats.org/drawingml/2006/main"/>
        </p:blipFill>
        <p:spPr>
          <a:xfrm xmlns:a="http://schemas.openxmlformats.org/drawingml/2006/main">
            <a:off x="304800" y="737436"/>
            <a:ext cx="1057275" cy="1001629"/>
          </a:xfrm>
          <a:prstGeom xmlns:a="http://schemas.openxmlformats.org/drawingml/2006/main" prst="rect">
            <a:avLst/>
          </a:prstGeom>
        </p:spPr>
      </p:pic>
      <p:sp>
        <p:nvSpPr>
          <p:cNvPr id="16" name="title-outline">
            <a:extLst xmlns:a="http://schemas.openxmlformats.org/drawingml/2006/main">
              <a:ext uri="{FF2B5EF4-FFF2-40B4-BE49-F238E27FC236}">
                <a16:creationId xmlns:a16="http://schemas.microsoft.com/office/drawing/2014/main" id="{162B6A06-BC4A-405B-A1FF-040CE2911575}"/>
              </a:ext>
            </a:extLst>
          </p:cNvPr>
          <p:cNvSpPr>
            <a:spLocks xmlns:a="http://schemas.openxmlformats.org/drawingml/2006/main" noGrp="1"/>
          </p:cNvSpPr>
          <p:nvPr/>
        </p:nvSpPr>
        <p:spPr>
          <a:xfrm xmlns:a="http://schemas.openxmlformats.org/drawingml/2006/main">
            <a:off x="1657350" y="866775"/>
            <a:ext cx="10496550" cy="4857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8575">
            <a:solidFill>
              <a:srgbClr val="BE1738"/>
            </a:solidFill>
          </a:ln>
        </p:spPr>
      </p:sp>
      <p:sp>
        <p:nvSpPr>
          <p:cNvPr id="17" name="slide-title">
            <a:extLst xmlns:a="http://schemas.openxmlformats.org/drawingml/2006/main">
              <a:ext uri="{FF2B5EF4-FFF2-40B4-BE49-F238E27FC236}">
                <a16:creationId xmlns:a16="http://schemas.microsoft.com/office/drawing/2014/main" id="{C9BD7A34-0D8A-4934-84E1-C8BFD37387B4}"/>
              </a:ext>
            </a:extLst>
          </p:cNvPr>
          <p:cNvSpPr>
            <a:spLocks xmlns:a="http://schemas.openxmlformats.org/drawingml/2006/main" noGrp="1"/>
          </p:cNvSpPr>
          <p:nvPr/>
        </p:nvSpPr>
        <p:spPr>
          <a:xfrm xmlns:a="http://schemas.openxmlformats.org/drawingml/2006/main">
            <a:off x="1933575" y="933450"/>
            <a:ext cx="994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1632"/>
                </a:solidFill>
                <a:latin typeface="Carlito"/>
                <a:ea typeface="Carlito"/>
                <a:cs typeface="Carlito"/>
              </a:defRPr>
            </a:pPr>
            <a:r>
              <a:rPr sz="2100" b="1">
                <a:solidFill>
                  <a:srgbClr val="A91632"/>
                </a:solidFill>
                <a:latin typeface="Carlito"/>
                <a:ea typeface="Carlito"/>
                <a:cs typeface="Carlito"/>
              </a:rPr>
              <a:t>CAPABILITY MAP – DISCOVERY AND IDENTITY</a:t>
            </a:r>
          </a:p>
        </p:txBody>
      </p:sp>
      <p:sp>
        <p:nvSpPr>
          <p:cNvPr id="18" name="classification">
            <a:extLst xmlns:a="http://schemas.openxmlformats.org/drawingml/2006/main">
              <a:ext uri="{FF2B5EF4-FFF2-40B4-BE49-F238E27FC236}">
                <a16:creationId xmlns:a16="http://schemas.microsoft.com/office/drawing/2014/main" id="{F82A1094-58AA-4C14-95EC-CA9678711A48}"/>
              </a:ext>
            </a:extLst>
          </p:cNvPr>
          <p:cNvSpPr>
            <a:spLocks xmlns:a="http://schemas.openxmlformats.org/drawingml/2006/main" noGrp="1"/>
          </p:cNvSpPr>
          <p:nvPr/>
        </p:nvSpPr>
        <p:spPr>
          <a:xfrm xmlns:a="http://schemas.openxmlformats.org/drawingml/2006/main">
            <a:off x="12001500" y="619125"/>
            <a:ext cx="2905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30343A"/>
                </a:solidFill>
                <a:latin typeface="Carlito"/>
                <a:ea typeface="Carlito"/>
                <a:cs typeface="Carlito"/>
              </a:defRPr>
            </a:pPr>
            <a:r>
              <a:rPr sz="1275" b="0">
                <a:solidFill>
                  <a:srgbClr val="30343A"/>
                </a:solidFill>
                <a:latin typeface="Carlito"/>
                <a:ea typeface="Carlito"/>
                <a:cs typeface="Carlito"/>
              </a:rPr>
              <a:t>RESTRICTED TO Euroclear</a:t>
            </a:r>
          </a:p>
        </p:txBody>
      </p:sp>
      <p:sp>
        <p:nvSpPr>
          <p:cNvPr id="19" name="footer-outline">
            <a:extLst xmlns:a="http://schemas.openxmlformats.org/drawingml/2006/main">
              <a:ext uri="{FF2B5EF4-FFF2-40B4-BE49-F238E27FC236}">
                <a16:creationId xmlns:a16="http://schemas.microsoft.com/office/drawing/2014/main" id="{FF9A0401-0A9D-4A4D-873C-D6583DB0DF35}"/>
              </a:ext>
            </a:extLst>
          </p:cNvPr>
          <p:cNvSpPr>
            <a:spLocks xmlns:a="http://schemas.openxmlformats.org/drawingml/2006/main" noGrp="1"/>
          </p:cNvSpPr>
          <p:nvPr/>
        </p:nvSpPr>
        <p:spPr>
          <a:xfrm xmlns:a="http://schemas.openxmlformats.org/drawingml/2006/main">
            <a:off x="171450" y="8143875"/>
            <a:ext cx="3009900" cy="2952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4288">
            <a:solidFill>
              <a:srgbClr val="70757C"/>
            </a:solidFill>
          </a:ln>
        </p:spPr>
      </p:sp>
      <p:sp>
        <p:nvSpPr>
          <p:cNvPr id="20" name="footer">
            <a:extLst xmlns:a="http://schemas.openxmlformats.org/drawingml/2006/main">
              <a:ext uri="{FF2B5EF4-FFF2-40B4-BE49-F238E27FC236}">
                <a16:creationId xmlns:a16="http://schemas.microsoft.com/office/drawing/2014/main" id="{144E7669-A380-4559-B914-A737F428E6E8}"/>
              </a:ext>
            </a:extLst>
          </p:cNvPr>
          <p:cNvSpPr>
            <a:spLocks xmlns:a="http://schemas.openxmlformats.org/drawingml/2006/main" noGrp="1"/>
          </p:cNvSpPr>
          <p:nvPr/>
        </p:nvSpPr>
        <p:spPr>
          <a:xfrm xmlns:a="http://schemas.openxmlformats.org/drawingml/2006/main">
            <a:off x="295275" y="8172450"/>
            <a:ext cx="2771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0343A"/>
                </a:solidFill>
                <a:latin typeface="Carlito"/>
                <a:ea typeface="Carlito"/>
                <a:cs typeface="Carlito"/>
              </a:defRPr>
            </a:pPr>
            <a:r>
              <a:rPr sz="1500" b="0">
                <a:solidFill>
                  <a:srgbClr val="30343A"/>
                </a:solidFill>
                <a:latin typeface="Carlito"/>
                <a:ea typeface="Carlito"/>
                <a:cs typeface="Carlito"/>
              </a:rPr>
              <a:t>API Target Architecture</a:t>
            </a:r>
          </a:p>
        </p:txBody>
      </p:sp>
      <p:sp>
        <p:nvSpPr>
          <p:cNvPr id="21" name="page-number">
            <a:extLst xmlns:a="http://schemas.openxmlformats.org/drawingml/2006/main">
              <a:ext uri="{FF2B5EF4-FFF2-40B4-BE49-F238E27FC236}">
                <a16:creationId xmlns:a16="http://schemas.microsoft.com/office/drawing/2014/main" id="{9C469631-A7D6-4653-9ED8-499B58F0BB00}"/>
              </a:ext>
            </a:extLst>
          </p:cNvPr>
          <p:cNvSpPr>
            <a:spLocks xmlns:a="http://schemas.openxmlformats.org/drawingml/2006/main" noGrp="1"/>
          </p:cNvSpPr>
          <p:nvPr/>
        </p:nvSpPr>
        <p:spPr>
          <a:xfrm xmlns:a="http://schemas.openxmlformats.org/drawingml/2006/main">
            <a:off x="14458950" y="8162925"/>
            <a:ext cx="4476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70757C"/>
                </a:solidFill>
                <a:latin typeface="Carlito"/>
                <a:ea typeface="Carlito"/>
                <a:cs typeface="Carlito"/>
              </a:defRPr>
            </a:pPr>
            <a:r>
              <a:rPr sz="1350" b="0">
                <a:solidFill>
                  <a:srgbClr val="70757C"/>
                </a:solidFill>
                <a:latin typeface="Carlito"/>
                <a:ea typeface="Carlito"/>
                <a:cs typeface="Carlito"/>
              </a:rPr>
              <a:t>12</a:t>
            </a:r>
          </a:p>
        </p:txBody>
      </p:sp>
      <p:sp>
        <p:nvSpPr>
          <p:cNvPr id="22" name="text">
            <a:extLst xmlns:a="http://schemas.openxmlformats.org/drawingml/2006/main">
              <a:ext uri="{FF2B5EF4-FFF2-40B4-BE49-F238E27FC236}">
                <a16:creationId xmlns:a16="http://schemas.microsoft.com/office/drawing/2014/main" id="{AB660E5F-D86E-4C6C-8E0E-01F94E1F78B2}"/>
              </a:ext>
            </a:extLst>
          </p:cNvPr>
          <p:cNvSpPr>
            <a:spLocks xmlns:a="http://schemas.openxmlformats.org/drawingml/2006/main" noGrp="1"/>
          </p:cNvSpPr>
          <p:nvPr/>
        </p:nvSpPr>
        <p:spPr>
          <a:xfrm xmlns:a="http://schemas.openxmlformats.org/drawingml/2006/main">
            <a:off x="361950" y="1790700"/>
            <a:ext cx="1447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0343A"/>
                </a:solidFill>
                <a:latin typeface="Carlito"/>
                <a:ea typeface="Carlito"/>
                <a:cs typeface="Carlito"/>
              </a:defRPr>
            </a:pPr>
            <a:r>
              <a:rPr sz="1500" b="0">
                <a:solidFill>
                  <a:srgbClr val="30343A"/>
                </a:solidFill>
                <a:latin typeface="Carlito"/>
                <a:ea typeface="Carlito"/>
                <a:cs typeface="Carlito"/>
              </a:rPr>
              <a:t>Role: P = Euroclear provides APIs, C = Euroclear consumes APIs, B = both</a:t>
            </a:r>
          </a:p>
        </p:txBody>
      </p:sp>
      <p:sp>
        <p:nvSpPr>
          <p:cNvPr id="23" name="text">
            <a:extLst xmlns:a="http://schemas.openxmlformats.org/drawingml/2006/main">
              <a:ext uri="{FF2B5EF4-FFF2-40B4-BE49-F238E27FC236}">
                <a16:creationId xmlns:a16="http://schemas.microsoft.com/office/drawing/2014/main" id="{D72EE4E9-2087-4C01-B744-583FC963691B}"/>
              </a:ext>
            </a:extLst>
          </p:cNvPr>
          <p:cNvSpPr>
            <a:spLocks xmlns:a="http://schemas.openxmlformats.org/drawingml/2006/main" noGrp="1"/>
          </p:cNvSpPr>
          <p:nvPr/>
        </p:nvSpPr>
        <p:spPr>
          <a:xfrm xmlns:a="http://schemas.openxmlformats.org/drawingml/2006/main">
            <a:off x="361950" y="2095500"/>
            <a:ext cx="1447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0343A"/>
                </a:solidFill>
                <a:latin typeface="Carlito"/>
                <a:ea typeface="Carlito"/>
                <a:cs typeface="Carlito"/>
              </a:defRPr>
            </a:pPr>
            <a:r>
              <a:rPr sz="1500" b="0">
                <a:solidFill>
                  <a:srgbClr val="30343A"/>
                </a:solidFill>
                <a:latin typeface="Carlito"/>
                <a:ea typeface="Carlito"/>
                <a:cs typeface="Carlito"/>
              </a:rPr>
              <a:t>Reported state: E = established, W = work in progress, Y = yet to start</a:t>
            </a:r>
          </a:p>
        </p:txBody>
      </p:sp>
      <p:sp>
        <p:nvSpPr>
          <p:cNvPr id="24" name="text">
            <a:extLst xmlns:a="http://schemas.openxmlformats.org/drawingml/2006/main">
              <a:ext uri="{FF2B5EF4-FFF2-40B4-BE49-F238E27FC236}">
                <a16:creationId xmlns:a16="http://schemas.microsoft.com/office/drawing/2014/main" id="{3356571B-521E-48AB-8C3B-DBF1ACB59DC7}"/>
              </a:ext>
            </a:extLst>
          </p:cNvPr>
          <p:cNvSpPr>
            <a:spLocks xmlns:a="http://schemas.openxmlformats.org/drawingml/2006/main" noGrp="1"/>
          </p:cNvSpPr>
          <p:nvPr/>
        </p:nvSpPr>
        <p:spPr>
          <a:xfrm xmlns:a="http://schemas.openxmlformats.org/drawingml/2006/main">
            <a:off x="342900" y="2562225"/>
            <a:ext cx="710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1632"/>
                </a:solidFill>
                <a:latin typeface="Carlito"/>
                <a:ea typeface="Carlito"/>
                <a:cs typeface="Carlito"/>
              </a:defRPr>
            </a:pPr>
            <a:r>
              <a:rPr sz="2100" b="1">
                <a:solidFill>
                  <a:srgbClr val="A91632"/>
                </a:solidFill>
                <a:latin typeface="Carlito"/>
                <a:ea typeface="Carlito"/>
                <a:cs typeface="Carlito"/>
              </a:rPr>
              <a:t>API Portal</a:t>
            </a:r>
          </a:p>
        </p:txBody>
      </p:sp>
      <p:graphicFrame>
        <p:nvGraphicFramePr>
          <p:cNvPr id="54" name=""/>
          <p:cNvGraphicFramePr/>
          <p:nvPr/>
        </p:nvGraphicFramePr>
        <p:xfrm>
          <a:off xmlns:a="http://schemas.openxmlformats.org/drawingml/2006/main" x="342900" y="2971800"/>
          <a:ext xmlns:a="http://schemas.openxmlformats.org/drawingml/2006/main" cx="7105650" cy="4852988"/>
        </p:xfrm>
        <a:graphic xmlns:a="http://schemas.openxmlformats.org/drawingml/2006/main">
          <a:graphicData uri="http://schemas.openxmlformats.org/drawingml/2006/table">
            <a:tbl>
              <a:tblPr firstRow="0" bandRow="0"/>
              <a:tblGrid>
                <a:gridCol w="5562600"/>
                <a:gridCol w="685800"/>
                <a:gridCol w="857250"/>
              </a:tblGrid>
              <a:tr h="352425">
                <a:tc>
                  <a:txBody>
                    <a:bodyPr>
                      <a:noAutofit/>
                    </a:bodyPr>
                    <a:lstStyle/>
                    <a:p>
                      <a:r>
                        <a:rPr sz="1425" b="1">
                          <a:solidFill>
                            <a:srgbClr val="FFFFFF"/>
                          </a:solidFill>
                          <a:latin typeface="Carlito"/>
                          <a:ea typeface="Carlito"/>
                          <a:cs typeface="Carlito"/>
                        </a:rPr>
                        <a:t>Capability</a:t>
                      </a:r>
                    </a:p>
                  </a:txBody>
                  <a:tcPr marL="95250" marR="95250" marT="28575" marB="28575" anchor="t">
                    <a:solidFill>
                      <a:srgbClr val="BE1738"/>
                    </a:solidFill>
                  </a:tcPr>
                </a:tc>
                <a:tc>
                  <a:txBody>
                    <a:bodyPr>
                      <a:noAutofit/>
                    </a:bodyPr>
                    <a:lstStyle/>
                    <a:p>
                      <a:r>
                        <a:rPr sz="1425" b="1">
                          <a:solidFill>
                            <a:srgbClr val="FFFFFF"/>
                          </a:solidFill>
                          <a:latin typeface="Carlito"/>
                          <a:ea typeface="Carlito"/>
                          <a:cs typeface="Carlito"/>
                        </a:rPr>
                        <a:t>Role</a:t>
                      </a:r>
                    </a:p>
                  </a:txBody>
                  <a:tcPr marL="95250" marR="95250" marT="28575" marB="28575" anchor="t">
                    <a:solidFill>
                      <a:srgbClr val="BE1738"/>
                    </a:solidFill>
                  </a:tcPr>
                </a:tc>
                <a:tc>
                  <a:txBody>
                    <a:bodyPr>
                      <a:noAutofit/>
                    </a:bodyPr>
                    <a:lstStyle/>
                    <a:p>
                      <a:r>
                        <a:rPr sz="1425" b="1">
                          <a:solidFill>
                            <a:srgbClr val="FFFFFF"/>
                          </a:solidFill>
                          <a:latin typeface="Carlito"/>
                          <a:ea typeface="Carlito"/>
                          <a:cs typeface="Carlito"/>
                        </a:rPr>
                        <a:t>State</a:t>
                      </a:r>
                    </a:p>
                  </a:txBody>
                  <a:tcPr marL="95250" marR="95250" marT="28575" marB="28575" anchor="t">
                    <a:solidFill>
                      <a:srgbClr val="BE1738"/>
                    </a:solidFill>
                  </a:tcPr>
                </a:tc>
              </a:tr>
              <a:tr h="300038">
                <a:tc>
                  <a:txBody>
                    <a:bodyPr>
                      <a:noAutofit/>
                    </a:bodyPr>
                    <a:lstStyle/>
                    <a:p>
                      <a:r>
                        <a:rPr sz="1463" b="0">
                          <a:solidFill>
                            <a:srgbClr val="30343A"/>
                          </a:solidFill>
                          <a:latin typeface="Carlito"/>
                          <a:ea typeface="Carlito"/>
                          <a:cs typeface="Carlito"/>
                        </a:rPr>
                        <a:t>Interactive documentation</a:t>
                      </a:r>
                    </a:p>
                  </a:txBody>
                  <a:tcPr marL="95250" marR="95250" marT="28575" marB="28575" anchor="t">
                    <a:solidFill>
                      <a:srgbClr val="FFFFFF"/>
                    </a:solidFill>
                  </a:tcPr>
                </a:tc>
                <a:tc>
                  <a:txBody>
                    <a:bodyPr>
                      <a:noAutofit/>
                    </a:bodyPr>
                    <a:lstStyle/>
                    <a:p>
                      <a:pPr algn="ctr"/>
                      <a:r>
                        <a:rPr sz="1463" b="0">
                          <a:solidFill>
                            <a:srgbClr val="70757C"/>
                          </a:solidFill>
                          <a:latin typeface="Carlito"/>
                          <a:ea typeface="Carlito"/>
                          <a:cs typeface="Carlito"/>
                        </a:rPr>
                        <a:t>P</a:t>
                      </a:r>
                    </a:p>
                  </a:txBody>
                  <a:tcPr marL="95250" marR="95250" marT="28575" marB="28575" anchor="ctr">
                    <a:solidFill>
                      <a:srgbClr val="FFFFFF"/>
                    </a:solidFill>
                  </a:tcPr>
                </a:tc>
                <a:tc>
                  <a:txBody>
                    <a:bodyPr>
                      <a:noAutofit/>
                    </a:bodyPr>
                    <a:lstStyle/>
                    <a:p>
                      <a:pPr algn="ctr"/>
                      <a:r>
                        <a:rPr sz="1463" b="1">
                          <a:solidFill>
                            <a:srgbClr val="946125"/>
                          </a:solidFill>
                          <a:latin typeface="Carlito"/>
                          <a:ea typeface="Carlito"/>
                          <a:cs typeface="Carlito"/>
                        </a:rPr>
                        <a:t>W</a:t>
                      </a:r>
                    </a:p>
                  </a:txBody>
                  <a:tcPr marL="95250" marR="95250" marT="28575" marB="28575" anchor="ctr">
                    <a:solidFill>
                      <a:srgbClr val="FFF0DC"/>
                    </a:solidFill>
                  </a:tcPr>
                </a:tc>
              </a:tr>
              <a:tr h="300038">
                <a:tc>
                  <a:txBody>
                    <a:bodyPr>
                      <a:noAutofit/>
                    </a:bodyPr>
                    <a:lstStyle/>
                    <a:p>
                      <a:r>
                        <a:rPr sz="1463" b="0">
                          <a:solidFill>
                            <a:srgbClr val="30343A"/>
                          </a:solidFill>
                          <a:latin typeface="Carlito"/>
                          <a:ea typeface="Carlito"/>
                          <a:cs typeface="Carlito"/>
                        </a:rPr>
                        <a:t>API catalogue and discovery</a:t>
                      </a:r>
                    </a:p>
                  </a:txBody>
                  <a:tcPr marL="95250" marR="95250" marT="28575" marB="28575" anchor="t">
                    <a:solidFill>
                      <a:srgbClr val="F4F5F6"/>
                    </a:solidFill>
                  </a:tcPr>
                </a:tc>
                <a:tc>
                  <a:txBody>
                    <a:bodyPr>
                      <a:noAutofit/>
                    </a:bodyPr>
                    <a:lstStyle/>
                    <a:p>
                      <a:pPr algn="ctr"/>
                      <a:r>
                        <a:rPr sz="1463" b="0">
                          <a:solidFill>
                            <a:srgbClr val="70757C"/>
                          </a:solidFill>
                          <a:latin typeface="Carlito"/>
                          <a:ea typeface="Carlito"/>
                          <a:cs typeface="Carlito"/>
                        </a:rPr>
                        <a:t>B</a:t>
                      </a:r>
                    </a:p>
                  </a:txBody>
                  <a:tcPr marL="95250" marR="95250" marT="28575" marB="28575" anchor="ctr">
                    <a:solidFill>
                      <a:srgbClr val="F4F5F6"/>
                    </a:solidFill>
                  </a:tcPr>
                </a:tc>
                <a:tc>
                  <a:txBody>
                    <a:bodyPr>
                      <a:noAutofit/>
                    </a:bodyPr>
                    <a:lstStyle/>
                    <a:p>
                      <a:pPr algn="ctr"/>
                      <a:r>
                        <a:rPr sz="1463" b="1">
                          <a:solidFill>
                            <a:srgbClr val="946125"/>
                          </a:solidFill>
                          <a:latin typeface="Carlito"/>
                          <a:ea typeface="Carlito"/>
                          <a:cs typeface="Carlito"/>
                        </a:rPr>
                        <a:t>W</a:t>
                      </a:r>
                    </a:p>
                  </a:txBody>
                  <a:tcPr marL="95250" marR="95250" marT="28575" marB="28575" anchor="ctr">
                    <a:solidFill>
                      <a:srgbClr val="FFF0DC"/>
                    </a:solidFill>
                  </a:tcPr>
                </a:tc>
              </a:tr>
              <a:tr h="300038">
                <a:tc>
                  <a:txBody>
                    <a:bodyPr>
                      <a:noAutofit/>
                    </a:bodyPr>
                    <a:lstStyle/>
                    <a:p>
                      <a:r>
                        <a:rPr sz="1463" b="0">
                          <a:solidFill>
                            <a:srgbClr val="30343A"/>
                          </a:solidFill>
                          <a:latin typeface="Carlito"/>
                          <a:ea typeface="Carlito"/>
                          <a:cs typeface="Carlito"/>
                        </a:rPr>
                        <a:t>Developer / partner onboarding and self-registration</a:t>
                      </a:r>
                    </a:p>
                  </a:txBody>
                  <a:tcPr marL="95250" marR="95250" marT="28575" marB="28575" anchor="t">
                    <a:solidFill>
                      <a:srgbClr val="FFFFFF"/>
                    </a:solidFill>
                  </a:tcPr>
                </a:tc>
                <a:tc>
                  <a:txBody>
                    <a:bodyPr>
                      <a:noAutofit/>
                    </a:bodyPr>
                    <a:lstStyle/>
                    <a:p>
                      <a:pPr algn="ctr"/>
                      <a:r>
                        <a:rPr sz="1463" b="0">
                          <a:solidFill>
                            <a:srgbClr val="70757C"/>
                          </a:solidFill>
                          <a:latin typeface="Carlito"/>
                          <a:ea typeface="Carlito"/>
                          <a:cs typeface="Carlito"/>
                        </a:rPr>
                        <a:t>B</a:t>
                      </a:r>
                    </a:p>
                  </a:txBody>
                  <a:tcPr marL="95250" marR="95250" marT="28575" marB="28575" anchor="ctr">
                    <a:solidFill>
                      <a:srgbClr val="FFFFFF"/>
                    </a:solidFill>
                  </a:tcPr>
                </a:tc>
                <a:tc>
                  <a:txBody>
                    <a:bodyPr>
                      <a:noAutofit/>
                    </a:bodyPr>
                    <a:lstStyle/>
                    <a:p>
                      <a:pPr algn="ctr"/>
                      <a:r>
                        <a:rPr sz="1463" b="1">
                          <a:solidFill>
                            <a:srgbClr val="70757C"/>
                          </a:solidFill>
                          <a:latin typeface="Carlito"/>
                          <a:ea typeface="Carlito"/>
                          <a:cs typeface="Carlito"/>
                        </a:rPr>
                        <a:t>Y</a:t>
                      </a:r>
                    </a:p>
                  </a:txBody>
                  <a:tcPr marL="95250" marR="95250" marT="28575" marB="28575" anchor="ctr">
                    <a:solidFill>
                      <a:srgbClr val="FFFFFF"/>
                    </a:solidFill>
                  </a:tcPr>
                </a:tc>
              </a:tr>
              <a:tr h="300038">
                <a:tc>
                  <a:txBody>
                    <a:bodyPr>
                      <a:noAutofit/>
                    </a:bodyPr>
                    <a:lstStyle/>
                    <a:p>
                      <a:r>
                        <a:rPr sz="1463" b="0">
                          <a:solidFill>
                            <a:srgbClr val="30343A"/>
                          </a:solidFill>
                          <a:latin typeface="Carlito"/>
                          <a:ea typeface="Carlito"/>
                          <a:cs typeface="Carlito"/>
                        </a:rPr>
                        <a:t>Third-party API discovery, vetting and subscriptions</a:t>
                      </a:r>
                    </a:p>
                  </a:txBody>
                  <a:tcPr marL="95250" marR="95250" marT="28575" marB="28575" anchor="t">
                    <a:solidFill>
                      <a:srgbClr val="F4F5F6"/>
                    </a:solidFill>
                  </a:tcPr>
                </a:tc>
                <a:tc>
                  <a:txBody>
                    <a:bodyPr>
                      <a:noAutofit/>
                    </a:bodyPr>
                    <a:lstStyle/>
                    <a:p>
                      <a:pPr algn="ctr"/>
                      <a:r>
                        <a:rPr sz="1463" b="0">
                          <a:solidFill>
                            <a:srgbClr val="70757C"/>
                          </a:solidFill>
                          <a:latin typeface="Carlito"/>
                          <a:ea typeface="Carlito"/>
                          <a:cs typeface="Carlito"/>
                        </a:rPr>
                        <a:t>C</a:t>
                      </a:r>
                    </a:p>
                  </a:txBody>
                  <a:tcPr marL="95250" marR="95250" marT="28575" marB="28575" anchor="ctr">
                    <a:solidFill>
                      <a:srgbClr val="F4F5F6"/>
                    </a:solidFill>
                  </a:tcPr>
                </a:tc>
                <a:tc>
                  <a:txBody>
                    <a:bodyPr>
                      <a:noAutofit/>
                    </a:bodyPr>
                    <a:lstStyle/>
                    <a:p>
                      <a:pPr algn="ctr"/>
                      <a:r>
                        <a:rPr sz="1463" b="1">
                          <a:solidFill>
                            <a:srgbClr val="70757C"/>
                          </a:solidFill>
                          <a:latin typeface="Carlito"/>
                          <a:ea typeface="Carlito"/>
                          <a:cs typeface="Carlito"/>
                        </a:rPr>
                        <a:t>Y</a:t>
                      </a:r>
                    </a:p>
                  </a:txBody>
                  <a:tcPr marL="95250" marR="95250" marT="28575" marB="28575" anchor="ctr">
                    <a:solidFill>
                      <a:srgbClr val="FFFFFF"/>
                    </a:solidFill>
                  </a:tcPr>
                </a:tc>
              </a:tr>
              <a:tr h="300038">
                <a:tc>
                  <a:txBody>
                    <a:bodyPr>
                      <a:noAutofit/>
                    </a:bodyPr>
                    <a:lstStyle/>
                    <a:p>
                      <a:r>
                        <a:rPr sz="1463" b="0">
                          <a:solidFill>
                            <a:srgbClr val="30343A"/>
                          </a:solidFill>
                          <a:latin typeface="Carlito"/>
                          <a:ea typeface="Carlito"/>
                          <a:cs typeface="Carlito"/>
                        </a:rPr>
                        <a:t>Partner / third-party relationship lifecycle</a:t>
                      </a:r>
                    </a:p>
                  </a:txBody>
                  <a:tcPr marL="95250" marR="95250" marT="28575" marB="28575" anchor="t">
                    <a:solidFill>
                      <a:srgbClr val="FFFFFF"/>
                    </a:solidFill>
                  </a:tcPr>
                </a:tc>
                <a:tc>
                  <a:txBody>
                    <a:bodyPr>
                      <a:noAutofit/>
                    </a:bodyPr>
                    <a:lstStyle/>
                    <a:p>
                      <a:pPr algn="ctr"/>
                      <a:r>
                        <a:rPr sz="1463" b="0">
                          <a:solidFill>
                            <a:srgbClr val="70757C"/>
                          </a:solidFill>
                          <a:latin typeface="Carlito"/>
                          <a:ea typeface="Carlito"/>
                          <a:cs typeface="Carlito"/>
                        </a:rPr>
                        <a:t>C</a:t>
                      </a:r>
                    </a:p>
                  </a:txBody>
                  <a:tcPr marL="95250" marR="95250" marT="28575" marB="28575" anchor="ctr">
                    <a:solidFill>
                      <a:srgbClr val="FFFFFF"/>
                    </a:solidFill>
                  </a:tcPr>
                </a:tc>
                <a:tc>
                  <a:txBody>
                    <a:bodyPr>
                      <a:noAutofit/>
                    </a:bodyPr>
                    <a:lstStyle/>
                    <a:p>
                      <a:pPr algn="ctr"/>
                      <a:r>
                        <a:rPr sz="1463" b="1">
                          <a:solidFill>
                            <a:srgbClr val="946125"/>
                          </a:solidFill>
                          <a:latin typeface="Carlito"/>
                          <a:ea typeface="Carlito"/>
                          <a:cs typeface="Carlito"/>
                        </a:rPr>
                        <a:t>W</a:t>
                      </a:r>
                    </a:p>
                  </a:txBody>
                  <a:tcPr marL="95250" marR="95250" marT="28575" marB="28575" anchor="ctr">
                    <a:solidFill>
                      <a:srgbClr val="FFF0DC"/>
                    </a:solidFill>
                  </a:tcPr>
                </a:tc>
              </a:tr>
              <a:tr h="300038">
                <a:tc>
                  <a:txBody>
                    <a:bodyPr>
                      <a:noAutofit/>
                    </a:bodyPr>
                    <a:lstStyle/>
                    <a:p>
                      <a:r>
                        <a:rPr sz="1463" b="0">
                          <a:solidFill>
                            <a:srgbClr val="30343A"/>
                          </a:solidFill>
                          <a:latin typeface="Carlito"/>
                          <a:ea typeface="Carlito"/>
                          <a:cs typeface="Carlito"/>
                        </a:rPr>
                        <a:t>Sandbox and mock environment</a:t>
                      </a:r>
                    </a:p>
                  </a:txBody>
                  <a:tcPr marL="95250" marR="95250" marT="28575" marB="28575" anchor="t">
                    <a:solidFill>
                      <a:srgbClr val="F4F5F6"/>
                    </a:solidFill>
                  </a:tcPr>
                </a:tc>
                <a:tc>
                  <a:txBody>
                    <a:bodyPr>
                      <a:noAutofit/>
                    </a:bodyPr>
                    <a:lstStyle/>
                    <a:p>
                      <a:pPr algn="ctr"/>
                      <a:r>
                        <a:rPr sz="1463" b="0">
                          <a:solidFill>
                            <a:srgbClr val="70757C"/>
                          </a:solidFill>
                          <a:latin typeface="Carlito"/>
                          <a:ea typeface="Carlito"/>
                          <a:cs typeface="Carlito"/>
                        </a:rPr>
                        <a:t>B</a:t>
                      </a:r>
                    </a:p>
                  </a:txBody>
                  <a:tcPr marL="95250" marR="95250" marT="28575" marB="28575" anchor="ctr">
                    <a:solidFill>
                      <a:srgbClr val="F4F5F6"/>
                    </a:solidFill>
                  </a:tcPr>
                </a:tc>
                <a:tc>
                  <a:txBody>
                    <a:bodyPr>
                      <a:noAutofit/>
                    </a:bodyPr>
                    <a:lstStyle/>
                    <a:p>
                      <a:pPr algn="ctr"/>
                      <a:r>
                        <a:rPr sz="1463" b="1">
                          <a:solidFill>
                            <a:srgbClr val="946125"/>
                          </a:solidFill>
                          <a:latin typeface="Carlito"/>
                          <a:ea typeface="Carlito"/>
                          <a:cs typeface="Carlito"/>
                        </a:rPr>
                        <a:t>W</a:t>
                      </a:r>
                    </a:p>
                  </a:txBody>
                  <a:tcPr marL="95250" marR="95250" marT="28575" marB="28575" anchor="ctr">
                    <a:solidFill>
                      <a:srgbClr val="FFF0DC"/>
                    </a:solidFill>
                  </a:tcPr>
                </a:tc>
              </a:tr>
              <a:tr h="300038">
                <a:tc>
                  <a:txBody>
                    <a:bodyPr>
                      <a:noAutofit/>
                    </a:bodyPr>
                    <a:lstStyle/>
                    <a:p>
                      <a:r>
                        <a:rPr sz="1463" b="0">
                          <a:solidFill>
                            <a:srgbClr val="30343A"/>
                          </a:solidFill>
                          <a:latin typeface="Carlito"/>
                          <a:ea typeface="Carlito"/>
                          <a:cs typeface="Carlito"/>
                        </a:rPr>
                        <a:t>Publisher portal</a:t>
                      </a:r>
                    </a:p>
                  </a:txBody>
                  <a:tcPr marL="95250" marR="95250" marT="28575" marB="28575" anchor="t">
                    <a:solidFill>
                      <a:srgbClr val="FFFFFF"/>
                    </a:solidFill>
                  </a:tcPr>
                </a:tc>
                <a:tc>
                  <a:txBody>
                    <a:bodyPr>
                      <a:noAutofit/>
                    </a:bodyPr>
                    <a:lstStyle/>
                    <a:p>
                      <a:pPr algn="ctr"/>
                      <a:r>
                        <a:rPr sz="1463" b="0">
                          <a:solidFill>
                            <a:srgbClr val="70757C"/>
                          </a:solidFill>
                          <a:latin typeface="Carlito"/>
                          <a:ea typeface="Carlito"/>
                          <a:cs typeface="Carlito"/>
                        </a:rPr>
                        <a:t>P</a:t>
                      </a:r>
                    </a:p>
                  </a:txBody>
                  <a:tcPr marL="95250" marR="95250" marT="28575" marB="28575" anchor="ctr">
                    <a:solidFill>
                      <a:srgbClr val="FFFFFF"/>
                    </a:solidFill>
                  </a:tcPr>
                </a:tc>
                <a:tc>
                  <a:txBody>
                    <a:bodyPr>
                      <a:noAutofit/>
                    </a:bodyPr>
                    <a:lstStyle/>
                    <a:p>
                      <a:pPr algn="ctr"/>
                      <a:r>
                        <a:rPr sz="1463" b="1">
                          <a:solidFill>
                            <a:srgbClr val="70757C"/>
                          </a:solidFill>
                          <a:latin typeface="Carlito"/>
                          <a:ea typeface="Carlito"/>
                          <a:cs typeface="Carlito"/>
                        </a:rPr>
                        <a:t>Y</a:t>
                      </a:r>
                    </a:p>
                  </a:txBody>
                  <a:tcPr marL="95250" marR="95250" marT="28575" marB="28575" anchor="ctr">
                    <a:solidFill>
                      <a:srgbClr val="FFFFFF"/>
                    </a:solidFill>
                  </a:tcPr>
                </a:tc>
              </a:tr>
              <a:tr h="300038">
                <a:tc>
                  <a:txBody>
                    <a:bodyPr>
                      <a:noAutofit/>
                    </a:bodyPr>
                    <a:lstStyle/>
                    <a:p>
                      <a:r>
                        <a:rPr sz="1463" b="0">
                          <a:solidFill>
                            <a:srgbClr val="30343A"/>
                          </a:solidFill>
                          <a:latin typeface="Carlito"/>
                          <a:ea typeface="Carlito"/>
                          <a:cs typeface="Carlito"/>
                        </a:rPr>
                        <a:t>SDK / client code generation</a:t>
                      </a:r>
                    </a:p>
                  </a:txBody>
                  <a:tcPr marL="95250" marR="95250" marT="28575" marB="28575" anchor="t">
                    <a:solidFill>
                      <a:srgbClr val="F4F5F6"/>
                    </a:solidFill>
                  </a:tcPr>
                </a:tc>
                <a:tc>
                  <a:txBody>
                    <a:bodyPr>
                      <a:noAutofit/>
                    </a:bodyPr>
                    <a:lstStyle/>
                    <a:p>
                      <a:pPr algn="ctr"/>
                      <a:r>
                        <a:rPr sz="1463" b="0">
                          <a:solidFill>
                            <a:srgbClr val="70757C"/>
                          </a:solidFill>
                          <a:latin typeface="Carlito"/>
                          <a:ea typeface="Carlito"/>
                          <a:cs typeface="Carlito"/>
                        </a:rPr>
                        <a:t>B</a:t>
                      </a:r>
                    </a:p>
                  </a:txBody>
                  <a:tcPr marL="95250" marR="95250" marT="28575" marB="28575" anchor="ctr">
                    <a:solidFill>
                      <a:srgbClr val="F4F5F6"/>
                    </a:solidFill>
                  </a:tcPr>
                </a:tc>
                <a:tc>
                  <a:txBody>
                    <a:bodyPr>
                      <a:noAutofit/>
                    </a:bodyPr>
                    <a:lstStyle/>
                    <a:p>
                      <a:pPr algn="ctr"/>
                      <a:r>
                        <a:rPr sz="1463" b="1">
                          <a:solidFill>
                            <a:srgbClr val="70757C"/>
                          </a:solidFill>
                          <a:latin typeface="Carlito"/>
                          <a:ea typeface="Carlito"/>
                          <a:cs typeface="Carlito"/>
                        </a:rPr>
                        <a:t>Y</a:t>
                      </a:r>
                    </a:p>
                  </a:txBody>
                  <a:tcPr marL="95250" marR="95250" marT="28575" marB="28575" anchor="ctr">
                    <a:solidFill>
                      <a:srgbClr val="FFFFFF"/>
                    </a:solidFill>
                  </a:tcPr>
                </a:tc>
              </a:tr>
              <a:tr h="300038">
                <a:tc>
                  <a:txBody>
                    <a:bodyPr>
                      <a:noAutofit/>
                    </a:bodyPr>
                    <a:lstStyle/>
                    <a:p>
                      <a:r>
                        <a:rPr sz="1463" b="0">
                          <a:solidFill>
                            <a:srgbClr val="30343A"/>
                          </a:solidFill>
                          <a:latin typeface="Carlito"/>
                          <a:ea typeface="Carlito"/>
                          <a:cs typeface="Carlito"/>
                        </a:rPr>
                        <a:t>Admin portal</a:t>
                      </a:r>
                    </a:p>
                  </a:txBody>
                  <a:tcPr marL="95250" marR="95250" marT="28575" marB="28575" anchor="t">
                    <a:solidFill>
                      <a:srgbClr val="FFFFFF"/>
                    </a:solidFill>
                  </a:tcPr>
                </a:tc>
                <a:tc>
                  <a:txBody>
                    <a:bodyPr>
                      <a:noAutofit/>
                    </a:bodyPr>
                    <a:lstStyle/>
                    <a:p>
                      <a:pPr algn="ctr"/>
                      <a:r>
                        <a:rPr sz="1463" b="0">
                          <a:solidFill>
                            <a:srgbClr val="70757C"/>
                          </a:solidFill>
                          <a:latin typeface="Carlito"/>
                          <a:ea typeface="Carlito"/>
                          <a:cs typeface="Carlito"/>
                        </a:rPr>
                        <a:t>B</a:t>
                      </a:r>
                    </a:p>
                  </a:txBody>
                  <a:tcPr marL="95250" marR="95250" marT="28575" marB="28575" anchor="ctr">
                    <a:solidFill>
                      <a:srgbClr val="FFFFFF"/>
                    </a:solidFill>
                  </a:tcPr>
                </a:tc>
                <a:tc>
                  <a:txBody>
                    <a:bodyPr>
                      <a:noAutofit/>
                    </a:bodyPr>
                    <a:lstStyle/>
                    <a:p>
                      <a:pPr algn="ctr"/>
                      <a:r>
                        <a:rPr sz="1463" b="1">
                          <a:solidFill>
                            <a:srgbClr val="70757C"/>
                          </a:solidFill>
                          <a:latin typeface="Carlito"/>
                          <a:ea typeface="Carlito"/>
                          <a:cs typeface="Carlito"/>
                        </a:rPr>
                        <a:t>Y</a:t>
                      </a:r>
                    </a:p>
                  </a:txBody>
                  <a:tcPr marL="95250" marR="95250" marT="28575" marB="28575" anchor="ctr">
                    <a:solidFill>
                      <a:srgbClr val="FFFFFF"/>
                    </a:solidFill>
                  </a:tcPr>
                </a:tc>
              </a:tr>
              <a:tr h="300038">
                <a:tc>
                  <a:txBody>
                    <a:bodyPr>
                      <a:noAutofit/>
                    </a:bodyPr>
                    <a:lstStyle/>
                    <a:p>
                      <a:r>
                        <a:rPr sz="1463" b="0">
                          <a:solidFill>
                            <a:srgbClr val="30343A"/>
                          </a:solidFill>
                          <a:latin typeface="Carlito"/>
                          <a:ea typeface="Carlito"/>
                          <a:cs typeface="Carlito"/>
                        </a:rPr>
                        <a:t>Developer portal</a:t>
                      </a:r>
                    </a:p>
                  </a:txBody>
                  <a:tcPr marL="95250" marR="95250" marT="28575" marB="28575" anchor="t">
                    <a:solidFill>
                      <a:srgbClr val="F4F5F6"/>
                    </a:solidFill>
                  </a:tcPr>
                </a:tc>
                <a:tc>
                  <a:txBody>
                    <a:bodyPr>
                      <a:noAutofit/>
                    </a:bodyPr>
                    <a:lstStyle/>
                    <a:p>
                      <a:pPr algn="ctr"/>
                      <a:r>
                        <a:rPr sz="1463" b="0">
                          <a:solidFill>
                            <a:srgbClr val="70757C"/>
                          </a:solidFill>
                          <a:latin typeface="Carlito"/>
                          <a:ea typeface="Carlito"/>
                          <a:cs typeface="Carlito"/>
                        </a:rPr>
                        <a:t>B</a:t>
                      </a:r>
                    </a:p>
                  </a:txBody>
                  <a:tcPr marL="95250" marR="95250" marT="28575" marB="28575" anchor="ctr">
                    <a:solidFill>
                      <a:srgbClr val="F4F5F6"/>
                    </a:solidFill>
                  </a:tcPr>
                </a:tc>
                <a:tc>
                  <a:txBody>
                    <a:bodyPr>
                      <a:noAutofit/>
                    </a:bodyPr>
                    <a:lstStyle/>
                    <a:p>
                      <a:pPr algn="ctr"/>
                      <a:r>
                        <a:rPr sz="1463" b="1">
                          <a:solidFill>
                            <a:srgbClr val="946125"/>
                          </a:solidFill>
                          <a:latin typeface="Carlito"/>
                          <a:ea typeface="Carlito"/>
                          <a:cs typeface="Carlito"/>
                        </a:rPr>
                        <a:t>W</a:t>
                      </a:r>
                    </a:p>
                  </a:txBody>
                  <a:tcPr marL="95250" marR="95250" marT="28575" marB="28575" anchor="ctr">
                    <a:solidFill>
                      <a:srgbClr val="FFF0DC"/>
                    </a:solidFill>
                  </a:tcPr>
                </a:tc>
              </a:tr>
              <a:tr h="300038">
                <a:tc>
                  <a:txBody>
                    <a:bodyPr>
                      <a:noAutofit/>
                    </a:bodyPr>
                    <a:lstStyle/>
                    <a:p>
                      <a:r>
                        <a:rPr sz="1463" b="0">
                          <a:solidFill>
                            <a:srgbClr val="30343A"/>
                          </a:solidFill>
                          <a:latin typeface="Carlito"/>
                          <a:ea typeface="Carlito"/>
                          <a:cs typeface="Carlito"/>
                        </a:rPr>
                        <a:t>Subscription, key and quota self-service</a:t>
                      </a:r>
                    </a:p>
                  </a:txBody>
                  <a:tcPr marL="95250" marR="95250" marT="28575" marB="28575" anchor="t">
                    <a:solidFill>
                      <a:srgbClr val="FFFFFF"/>
                    </a:solidFill>
                  </a:tcPr>
                </a:tc>
                <a:tc>
                  <a:txBody>
                    <a:bodyPr>
                      <a:noAutofit/>
                    </a:bodyPr>
                    <a:lstStyle/>
                    <a:p>
                      <a:pPr algn="ctr"/>
                      <a:r>
                        <a:rPr sz="1463" b="0">
                          <a:solidFill>
                            <a:srgbClr val="70757C"/>
                          </a:solidFill>
                          <a:latin typeface="Carlito"/>
                          <a:ea typeface="Carlito"/>
                          <a:cs typeface="Carlito"/>
                        </a:rPr>
                        <a:t>B</a:t>
                      </a:r>
                    </a:p>
                  </a:txBody>
                  <a:tcPr marL="95250" marR="95250" marT="28575" marB="28575" anchor="ctr">
                    <a:solidFill>
                      <a:srgbClr val="FFFFFF"/>
                    </a:solidFill>
                  </a:tcPr>
                </a:tc>
                <a:tc>
                  <a:txBody>
                    <a:bodyPr>
                      <a:noAutofit/>
                    </a:bodyPr>
                    <a:lstStyle/>
                    <a:p>
                      <a:pPr algn="ctr"/>
                      <a:r>
                        <a:rPr sz="1463" b="1">
                          <a:solidFill>
                            <a:srgbClr val="946125"/>
                          </a:solidFill>
                          <a:latin typeface="Carlito"/>
                          <a:ea typeface="Carlito"/>
                          <a:cs typeface="Carlito"/>
                        </a:rPr>
                        <a:t>W</a:t>
                      </a:r>
                    </a:p>
                  </a:txBody>
                  <a:tcPr marL="95250" marR="95250" marT="28575" marB="28575" anchor="ctr">
                    <a:solidFill>
                      <a:srgbClr val="FFF0DC"/>
                    </a:solidFill>
                  </a:tcPr>
                </a:tc>
              </a:tr>
              <a:tr h="300038">
                <a:tc>
                  <a:txBody>
                    <a:bodyPr>
                      <a:noAutofit/>
                    </a:bodyPr>
                    <a:lstStyle/>
                    <a:p>
                      <a:r>
                        <a:rPr sz="1463" b="0">
                          <a:solidFill>
                            <a:srgbClr val="30343A"/>
                          </a:solidFill>
                          <a:latin typeface="Carlito"/>
                          <a:ea typeface="Carlito"/>
                          <a:cs typeface="Carlito"/>
                        </a:rPr>
                        <a:t>Community, support and feedback channels</a:t>
                      </a:r>
                    </a:p>
                  </a:txBody>
                  <a:tcPr marL="95250" marR="95250" marT="28575" marB="28575" anchor="t">
                    <a:solidFill>
                      <a:srgbClr val="F4F5F6"/>
                    </a:solidFill>
                  </a:tcPr>
                </a:tc>
                <a:tc>
                  <a:txBody>
                    <a:bodyPr>
                      <a:noAutofit/>
                    </a:bodyPr>
                    <a:lstStyle/>
                    <a:p>
                      <a:pPr algn="ctr"/>
                      <a:r>
                        <a:rPr sz="1463" b="0">
                          <a:solidFill>
                            <a:srgbClr val="70757C"/>
                          </a:solidFill>
                          <a:latin typeface="Carlito"/>
                          <a:ea typeface="Carlito"/>
                          <a:cs typeface="Carlito"/>
                        </a:rPr>
                        <a:t>P</a:t>
                      </a:r>
                    </a:p>
                  </a:txBody>
                  <a:tcPr marL="95250" marR="95250" marT="28575" marB="28575" anchor="ctr">
                    <a:solidFill>
                      <a:srgbClr val="F4F5F6"/>
                    </a:solidFill>
                  </a:tcPr>
                </a:tc>
                <a:tc>
                  <a:txBody>
                    <a:bodyPr>
                      <a:noAutofit/>
                    </a:bodyPr>
                    <a:lstStyle/>
                    <a:p>
                      <a:pPr algn="ctr"/>
                      <a:r>
                        <a:rPr sz="1463" b="1">
                          <a:solidFill>
                            <a:srgbClr val="70757C"/>
                          </a:solidFill>
                          <a:latin typeface="Carlito"/>
                          <a:ea typeface="Carlito"/>
                          <a:cs typeface="Carlito"/>
                        </a:rPr>
                        <a:t>Y</a:t>
                      </a:r>
                    </a:p>
                  </a:txBody>
                  <a:tcPr marL="95250" marR="95250" marT="28575" marB="28575" anchor="ctr">
                    <a:solidFill>
                      <a:srgbClr val="FFFFFF"/>
                    </a:solidFill>
                  </a:tcPr>
                </a:tc>
              </a:tr>
              <a:tr h="300038">
                <a:tc>
                  <a:txBody>
                    <a:bodyPr>
                      <a:noAutofit/>
                    </a:bodyPr>
                    <a:lstStyle/>
                    <a:p>
                      <a:r>
                        <a:rPr sz="1463" b="0">
                          <a:solidFill>
                            <a:srgbClr val="30343A"/>
                          </a:solidFill>
                          <a:latin typeface="Carlito"/>
                          <a:ea typeface="Carlito"/>
                          <a:cs typeface="Carlito"/>
                        </a:rPr>
                        <a:t>MCP server registry and discovery</a:t>
                      </a:r>
                    </a:p>
                  </a:txBody>
                  <a:tcPr marL="95250" marR="95250" marT="28575" marB="28575" anchor="t">
                    <a:solidFill>
                      <a:srgbClr val="FFFFFF"/>
                    </a:solidFill>
                  </a:tcPr>
                </a:tc>
                <a:tc>
                  <a:txBody>
                    <a:bodyPr>
                      <a:noAutofit/>
                    </a:bodyPr>
                    <a:lstStyle/>
                    <a:p>
                      <a:pPr algn="ctr"/>
                      <a:r>
                        <a:rPr sz="1463" b="0">
                          <a:solidFill>
                            <a:srgbClr val="70757C"/>
                          </a:solidFill>
                          <a:latin typeface="Carlito"/>
                          <a:ea typeface="Carlito"/>
                          <a:cs typeface="Carlito"/>
                        </a:rPr>
                        <a:t>B</a:t>
                      </a:r>
                    </a:p>
                  </a:txBody>
                  <a:tcPr marL="95250" marR="95250" marT="28575" marB="28575" anchor="ctr">
                    <a:solidFill>
                      <a:srgbClr val="FFFFFF"/>
                    </a:solidFill>
                  </a:tcPr>
                </a:tc>
                <a:tc>
                  <a:txBody>
                    <a:bodyPr>
                      <a:noAutofit/>
                    </a:bodyPr>
                    <a:lstStyle/>
                    <a:p>
                      <a:pPr algn="ctr"/>
                      <a:r>
                        <a:rPr sz="1463" b="1">
                          <a:solidFill>
                            <a:srgbClr val="70757C"/>
                          </a:solidFill>
                          <a:latin typeface="Carlito"/>
                          <a:ea typeface="Carlito"/>
                          <a:cs typeface="Carlito"/>
                        </a:rPr>
                        <a:t>Y</a:t>
                      </a:r>
                    </a:p>
                  </a:txBody>
                  <a:tcPr marL="95250" marR="95250" marT="28575" marB="28575" anchor="ctr">
                    <a:solidFill>
                      <a:srgbClr val="FFFFFF"/>
                    </a:solidFill>
                  </a:tcPr>
                </a:tc>
              </a:tr>
              <a:tr h="300038">
                <a:tc>
                  <a:txBody>
                    <a:bodyPr>
                      <a:noAutofit/>
                    </a:bodyPr>
                    <a:lstStyle/>
                    <a:p>
                      <a:r>
                        <a:rPr sz="1463" b="0">
                          <a:solidFill>
                            <a:srgbClr val="30343A"/>
                          </a:solidFill>
                          <a:latin typeface="Carlito"/>
                          <a:ea typeface="Carlito"/>
                          <a:cs typeface="Carlito"/>
                        </a:rPr>
                        <a:t>Agent / tool manifest publishing</a:t>
                      </a:r>
                    </a:p>
                  </a:txBody>
                  <a:tcPr marL="95250" marR="95250" marT="28575" marB="28575" anchor="t">
                    <a:solidFill>
                      <a:srgbClr val="F4F5F6"/>
                    </a:solidFill>
                  </a:tcPr>
                </a:tc>
                <a:tc>
                  <a:txBody>
                    <a:bodyPr>
                      <a:noAutofit/>
                    </a:bodyPr>
                    <a:lstStyle/>
                    <a:p>
                      <a:pPr algn="ctr"/>
                      <a:r>
                        <a:rPr sz="1463" b="0">
                          <a:solidFill>
                            <a:srgbClr val="70757C"/>
                          </a:solidFill>
                          <a:latin typeface="Carlito"/>
                          <a:ea typeface="Carlito"/>
                          <a:cs typeface="Carlito"/>
                        </a:rPr>
                        <a:t>P</a:t>
                      </a:r>
                    </a:p>
                  </a:txBody>
                  <a:tcPr marL="95250" marR="95250" marT="28575" marB="28575" anchor="ctr">
                    <a:solidFill>
                      <a:srgbClr val="F4F5F6"/>
                    </a:solidFill>
                  </a:tcPr>
                </a:tc>
                <a:tc>
                  <a:txBody>
                    <a:bodyPr>
                      <a:noAutofit/>
                    </a:bodyPr>
                    <a:lstStyle/>
                    <a:p>
                      <a:pPr algn="ctr"/>
                      <a:r>
                        <a:rPr sz="1463" b="1">
                          <a:solidFill>
                            <a:srgbClr val="70757C"/>
                          </a:solidFill>
                          <a:latin typeface="Carlito"/>
                          <a:ea typeface="Carlito"/>
                          <a:cs typeface="Carlito"/>
                        </a:rPr>
                        <a:t>Y</a:t>
                      </a:r>
                    </a:p>
                  </a:txBody>
                  <a:tcPr marL="95250" marR="95250" marT="28575" marB="28575" anchor="ctr">
                    <a:solidFill>
                      <a:srgbClr val="FFFFFF"/>
                    </a:solidFill>
                  </a:tcPr>
                </a:tc>
              </a:tr>
              <a:tr h="300038">
                <a:tc>
                  <a:txBody>
                    <a:bodyPr>
                      <a:noAutofit/>
                    </a:bodyPr>
                    <a:lstStyle/>
                    <a:p>
                      <a:r>
                        <a:rPr sz="1463" b="0">
                          <a:solidFill>
                            <a:srgbClr val="30343A"/>
                          </a:solidFill>
                          <a:latin typeface="Carlito"/>
                          <a:ea typeface="Carlito"/>
                          <a:cs typeface="Carlito"/>
                        </a:rPr>
                        <a:t>Third-party MCP server discovery and vetting</a:t>
                      </a:r>
                    </a:p>
                  </a:txBody>
                  <a:tcPr marL="95250" marR="95250" marT="28575" marB="28575" anchor="t">
                    <a:solidFill>
                      <a:srgbClr val="FFFFFF"/>
                    </a:solidFill>
                  </a:tcPr>
                </a:tc>
                <a:tc>
                  <a:txBody>
                    <a:bodyPr>
                      <a:noAutofit/>
                    </a:bodyPr>
                    <a:lstStyle/>
                    <a:p>
                      <a:pPr algn="ctr"/>
                      <a:r>
                        <a:rPr sz="1463" b="0">
                          <a:solidFill>
                            <a:srgbClr val="70757C"/>
                          </a:solidFill>
                          <a:latin typeface="Carlito"/>
                          <a:ea typeface="Carlito"/>
                          <a:cs typeface="Carlito"/>
                        </a:rPr>
                        <a:t>B</a:t>
                      </a:r>
                    </a:p>
                  </a:txBody>
                  <a:tcPr marL="95250" marR="95250" marT="28575" marB="28575" anchor="ctr">
                    <a:solidFill>
                      <a:srgbClr val="FFFFFF"/>
                    </a:solidFill>
                  </a:tcPr>
                </a:tc>
                <a:tc>
                  <a:txBody>
                    <a:bodyPr>
                      <a:noAutofit/>
                    </a:bodyPr>
                    <a:lstStyle/>
                    <a:p>
                      <a:pPr algn="ctr"/>
                      <a:r>
                        <a:rPr sz="1463" b="1">
                          <a:solidFill>
                            <a:srgbClr val="70757C"/>
                          </a:solidFill>
                          <a:latin typeface="Carlito"/>
                          <a:ea typeface="Carlito"/>
                          <a:cs typeface="Carlito"/>
                        </a:rPr>
                        <a:t>Y</a:t>
                      </a:r>
                    </a:p>
                  </a:txBody>
                  <a:tcPr marL="95250" marR="95250" marT="28575" marB="28575" anchor="ctr">
                    <a:solidFill>
                      <a:srgbClr val="FFFFFF"/>
                    </a:solidFill>
                  </a:tcPr>
                </a:tc>
              </a:tr>
            </a:tbl>
          </a:graphicData>
        </a:graphic>
      </p:graphicFrame>
      <p:sp>
        <p:nvSpPr>
          <p:cNvPr id="26" name="text">
            <a:extLst xmlns:a="http://schemas.openxmlformats.org/drawingml/2006/main">
              <a:ext uri="{FF2B5EF4-FFF2-40B4-BE49-F238E27FC236}">
                <a16:creationId xmlns:a16="http://schemas.microsoft.com/office/drawing/2014/main" id="{9247FC48-EF89-40BB-A7E0-919D28E71E81}"/>
              </a:ext>
            </a:extLst>
          </p:cNvPr>
          <p:cNvSpPr>
            <a:spLocks xmlns:a="http://schemas.openxmlformats.org/drawingml/2006/main" noGrp="1"/>
          </p:cNvSpPr>
          <p:nvPr/>
        </p:nvSpPr>
        <p:spPr>
          <a:xfrm xmlns:a="http://schemas.openxmlformats.org/drawingml/2006/main">
            <a:off x="7791450" y="2562225"/>
            <a:ext cx="710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1632"/>
                </a:solidFill>
                <a:latin typeface="Carlito"/>
                <a:ea typeface="Carlito"/>
                <a:cs typeface="Carlito"/>
              </a:defRPr>
            </a:pPr>
            <a:r>
              <a:rPr sz="2100" b="1">
                <a:solidFill>
                  <a:srgbClr val="A91632"/>
                </a:solidFill>
                <a:latin typeface="Carlito"/>
                <a:ea typeface="Carlito"/>
                <a:cs typeface="Carlito"/>
              </a:rPr>
              <a:t>API Identity and Access Management</a:t>
            </a:r>
          </a:p>
        </p:txBody>
      </p:sp>
      <p:graphicFrame>
        <p:nvGraphicFramePr>
          <p:cNvPr id="56" name=""/>
          <p:cNvGraphicFramePr/>
          <p:nvPr/>
        </p:nvGraphicFramePr>
        <p:xfrm>
          <a:off xmlns:a="http://schemas.openxmlformats.org/drawingml/2006/main" x="7791450" y="2971800"/>
          <a:ext xmlns:a="http://schemas.openxmlformats.org/drawingml/2006/main" cx="7105650" cy="4467225"/>
        </p:xfrm>
        <a:graphic xmlns:a="http://schemas.openxmlformats.org/drawingml/2006/main">
          <a:graphicData uri="http://schemas.openxmlformats.org/drawingml/2006/table">
            <a:tbl>
              <a:tblPr firstRow="0" bandRow="0"/>
              <a:tblGrid>
                <a:gridCol w="5562600"/>
                <a:gridCol w="685800"/>
                <a:gridCol w="857250"/>
              </a:tblGrid>
              <a:tr h="352425">
                <a:tc>
                  <a:txBody>
                    <a:bodyPr>
                      <a:noAutofit/>
                    </a:bodyPr>
                    <a:lstStyle/>
                    <a:p>
                      <a:r>
                        <a:rPr sz="1425" b="1">
                          <a:solidFill>
                            <a:srgbClr val="FFFFFF"/>
                          </a:solidFill>
                          <a:latin typeface="Carlito"/>
                          <a:ea typeface="Carlito"/>
                          <a:cs typeface="Carlito"/>
                        </a:rPr>
                        <a:t>Capability</a:t>
                      </a:r>
                    </a:p>
                  </a:txBody>
                  <a:tcPr marL="95250" marR="95250" marT="28575" marB="28575" anchor="t">
                    <a:solidFill>
                      <a:srgbClr val="BE1738"/>
                    </a:solidFill>
                  </a:tcPr>
                </a:tc>
                <a:tc>
                  <a:txBody>
                    <a:bodyPr>
                      <a:noAutofit/>
                    </a:bodyPr>
                    <a:lstStyle/>
                    <a:p>
                      <a:r>
                        <a:rPr sz="1425" b="1">
                          <a:solidFill>
                            <a:srgbClr val="FFFFFF"/>
                          </a:solidFill>
                          <a:latin typeface="Carlito"/>
                          <a:ea typeface="Carlito"/>
                          <a:cs typeface="Carlito"/>
                        </a:rPr>
                        <a:t>Role</a:t>
                      </a:r>
                    </a:p>
                  </a:txBody>
                  <a:tcPr marL="95250" marR="95250" marT="28575" marB="28575" anchor="t">
                    <a:solidFill>
                      <a:srgbClr val="BE1738"/>
                    </a:solidFill>
                  </a:tcPr>
                </a:tc>
                <a:tc>
                  <a:txBody>
                    <a:bodyPr>
                      <a:noAutofit/>
                    </a:bodyPr>
                    <a:lstStyle/>
                    <a:p>
                      <a:r>
                        <a:rPr sz="1425" b="1">
                          <a:solidFill>
                            <a:srgbClr val="FFFFFF"/>
                          </a:solidFill>
                          <a:latin typeface="Carlito"/>
                          <a:ea typeface="Carlito"/>
                          <a:cs typeface="Carlito"/>
                        </a:rPr>
                        <a:t>State</a:t>
                      </a:r>
                    </a:p>
                  </a:txBody>
                  <a:tcPr marL="95250" marR="95250" marT="28575" marB="28575" anchor="t">
                    <a:solidFill>
                      <a:srgbClr val="BE1738"/>
                    </a:solidFill>
                  </a:tcPr>
                </a:tc>
              </a:tr>
              <a:tr h="342900">
                <a:tc>
                  <a:txBody>
                    <a:bodyPr>
                      <a:noAutofit/>
                    </a:bodyPr>
                    <a:lstStyle/>
                    <a:p>
                      <a:r>
                        <a:rPr sz="1463" b="0">
                          <a:solidFill>
                            <a:srgbClr val="30343A"/>
                          </a:solidFill>
                          <a:latin typeface="Carlito"/>
                          <a:ea typeface="Carlito"/>
                          <a:cs typeface="Carlito"/>
                        </a:rPr>
                        <a:t>Partner / consumer identity federation</a:t>
                      </a:r>
                    </a:p>
                  </a:txBody>
                  <a:tcPr marL="95250" marR="95250" marT="28575" marB="28575" anchor="t">
                    <a:solidFill>
                      <a:srgbClr val="FFFFFF"/>
                    </a:solidFill>
                  </a:tcPr>
                </a:tc>
                <a:tc>
                  <a:txBody>
                    <a:bodyPr>
                      <a:noAutofit/>
                    </a:bodyPr>
                    <a:lstStyle/>
                    <a:p>
                      <a:pPr algn="ctr"/>
                      <a:r>
                        <a:rPr sz="1463" b="0">
                          <a:solidFill>
                            <a:srgbClr val="70757C"/>
                          </a:solidFill>
                          <a:latin typeface="Carlito"/>
                          <a:ea typeface="Carlito"/>
                          <a:cs typeface="Carlito"/>
                        </a:rPr>
                        <a:t>P</a:t>
                      </a:r>
                    </a:p>
                  </a:txBody>
                  <a:tcPr marL="95250" marR="95250" marT="28575" marB="28575" anchor="ctr">
                    <a:solidFill>
                      <a:srgbClr val="FFFFFF"/>
                    </a:solidFill>
                  </a:tcPr>
                </a:tc>
                <a:tc>
                  <a:txBody>
                    <a:bodyPr>
                      <a:noAutofit/>
                    </a:bodyPr>
                    <a:lstStyle/>
                    <a:p>
                      <a:pPr algn="ctr"/>
                      <a:r>
                        <a:rPr sz="1463" b="1">
                          <a:solidFill>
                            <a:srgbClr val="70757C"/>
                          </a:solidFill>
                          <a:latin typeface="Carlito"/>
                          <a:ea typeface="Carlito"/>
                          <a:cs typeface="Carlito"/>
                        </a:rPr>
                        <a:t>Y</a:t>
                      </a:r>
                    </a:p>
                  </a:txBody>
                  <a:tcPr marL="95250" marR="95250" marT="28575" marB="28575" anchor="ctr">
                    <a:solidFill>
                      <a:srgbClr val="FFFFFF"/>
                    </a:solidFill>
                  </a:tcPr>
                </a:tc>
              </a:tr>
              <a:tr h="342900">
                <a:tc>
                  <a:txBody>
                    <a:bodyPr>
                      <a:noAutofit/>
                    </a:bodyPr>
                    <a:lstStyle/>
                    <a:p>
                      <a:r>
                        <a:rPr sz="1463" b="0">
                          <a:solidFill>
                            <a:srgbClr val="30343A"/>
                          </a:solidFill>
                          <a:latin typeface="Carlito"/>
                          <a:ea typeface="Carlito"/>
                          <a:cs typeface="Carlito"/>
                        </a:rPr>
                        <a:t>Client and application registration</a:t>
                      </a:r>
                    </a:p>
                  </a:txBody>
                  <a:tcPr marL="95250" marR="95250" marT="28575" marB="28575" anchor="t">
                    <a:solidFill>
                      <a:srgbClr val="F4F5F6"/>
                    </a:solidFill>
                  </a:tcPr>
                </a:tc>
                <a:tc>
                  <a:txBody>
                    <a:bodyPr>
                      <a:noAutofit/>
                    </a:bodyPr>
                    <a:lstStyle/>
                    <a:p>
                      <a:pPr algn="ctr"/>
                      <a:r>
                        <a:rPr sz="1463" b="0">
                          <a:solidFill>
                            <a:srgbClr val="70757C"/>
                          </a:solidFill>
                          <a:latin typeface="Carlito"/>
                          <a:ea typeface="Carlito"/>
                          <a:cs typeface="Carlito"/>
                        </a:rPr>
                        <a:t>P</a:t>
                      </a:r>
                    </a:p>
                  </a:txBody>
                  <a:tcPr marL="95250" marR="95250" marT="28575" marB="28575" anchor="ctr">
                    <a:solidFill>
                      <a:srgbClr val="F4F5F6"/>
                    </a:solidFill>
                  </a:tcPr>
                </a:tc>
                <a:tc>
                  <a:txBody>
                    <a:bodyPr>
                      <a:noAutofit/>
                    </a:bodyPr>
                    <a:lstStyle/>
                    <a:p>
                      <a:pPr algn="ctr"/>
                      <a:r>
                        <a:rPr sz="1463" b="1">
                          <a:solidFill>
                            <a:srgbClr val="946125"/>
                          </a:solidFill>
                          <a:latin typeface="Carlito"/>
                          <a:ea typeface="Carlito"/>
                          <a:cs typeface="Carlito"/>
                        </a:rPr>
                        <a:t>W</a:t>
                      </a:r>
                    </a:p>
                  </a:txBody>
                  <a:tcPr marL="95250" marR="95250" marT="28575" marB="28575" anchor="ctr">
                    <a:solidFill>
                      <a:srgbClr val="FFF0DC"/>
                    </a:solidFill>
                  </a:tcPr>
                </a:tc>
              </a:tr>
              <a:tr h="342900">
                <a:tc>
                  <a:txBody>
                    <a:bodyPr>
                      <a:noAutofit/>
                    </a:bodyPr>
                    <a:lstStyle/>
                    <a:p>
                      <a:r>
                        <a:rPr sz="1463" b="0">
                          <a:solidFill>
                            <a:srgbClr val="30343A"/>
                          </a:solidFill>
                          <a:latin typeface="Carlito"/>
                          <a:ea typeface="Carlito"/>
                          <a:cs typeface="Carlito"/>
                        </a:rPr>
                        <a:t>Fine-grained authorization and entitlements</a:t>
                      </a:r>
                    </a:p>
                  </a:txBody>
                  <a:tcPr marL="95250" marR="95250" marT="28575" marB="28575" anchor="t">
                    <a:solidFill>
                      <a:srgbClr val="FFFFFF"/>
                    </a:solidFill>
                  </a:tcPr>
                </a:tc>
                <a:tc>
                  <a:txBody>
                    <a:bodyPr>
                      <a:noAutofit/>
                    </a:bodyPr>
                    <a:lstStyle/>
                    <a:p>
                      <a:pPr algn="ctr"/>
                      <a:r>
                        <a:rPr sz="1463" b="0">
                          <a:solidFill>
                            <a:srgbClr val="70757C"/>
                          </a:solidFill>
                          <a:latin typeface="Carlito"/>
                          <a:ea typeface="Carlito"/>
                          <a:cs typeface="Carlito"/>
                        </a:rPr>
                        <a:t>P</a:t>
                      </a:r>
                    </a:p>
                  </a:txBody>
                  <a:tcPr marL="95250" marR="95250" marT="28575" marB="28575" anchor="ctr">
                    <a:solidFill>
                      <a:srgbClr val="FFFFFF"/>
                    </a:solidFill>
                  </a:tcPr>
                </a:tc>
                <a:tc>
                  <a:txBody>
                    <a:bodyPr>
                      <a:noAutofit/>
                    </a:bodyPr>
                    <a:lstStyle/>
                    <a:p>
                      <a:pPr algn="ctr"/>
                      <a:r>
                        <a:rPr sz="1463" b="1">
                          <a:solidFill>
                            <a:srgbClr val="946125"/>
                          </a:solidFill>
                          <a:latin typeface="Carlito"/>
                          <a:ea typeface="Carlito"/>
                          <a:cs typeface="Carlito"/>
                        </a:rPr>
                        <a:t>W</a:t>
                      </a:r>
                    </a:p>
                  </a:txBody>
                  <a:tcPr marL="95250" marR="95250" marT="28575" marB="28575" anchor="ctr">
                    <a:solidFill>
                      <a:srgbClr val="FFF0DC"/>
                    </a:solidFill>
                  </a:tcPr>
                </a:tc>
              </a:tr>
              <a:tr h="342900">
                <a:tc>
                  <a:txBody>
                    <a:bodyPr>
                      <a:noAutofit/>
                    </a:bodyPr>
                    <a:lstStyle/>
                    <a:p>
                      <a:r>
                        <a:rPr sz="1463" b="0">
                          <a:solidFill>
                            <a:srgbClr val="30343A"/>
                          </a:solidFill>
                          <a:latin typeface="Carlito"/>
                          <a:ea typeface="Carlito"/>
                          <a:cs typeface="Carlito"/>
                        </a:rPr>
                        <a:t>Machine-to-machine / service identity</a:t>
                      </a:r>
                    </a:p>
                  </a:txBody>
                  <a:tcPr marL="95250" marR="95250" marT="28575" marB="28575" anchor="t">
                    <a:solidFill>
                      <a:srgbClr val="F4F5F6"/>
                    </a:solidFill>
                  </a:tcPr>
                </a:tc>
                <a:tc>
                  <a:txBody>
                    <a:bodyPr>
                      <a:noAutofit/>
                    </a:bodyPr>
                    <a:lstStyle/>
                    <a:p>
                      <a:pPr algn="ctr"/>
                      <a:r>
                        <a:rPr sz="1463" b="0">
                          <a:solidFill>
                            <a:srgbClr val="70757C"/>
                          </a:solidFill>
                          <a:latin typeface="Carlito"/>
                          <a:ea typeface="Carlito"/>
                          <a:cs typeface="Carlito"/>
                        </a:rPr>
                        <a:t>B</a:t>
                      </a:r>
                    </a:p>
                  </a:txBody>
                  <a:tcPr marL="95250" marR="95250" marT="28575" marB="28575" anchor="ctr">
                    <a:solidFill>
                      <a:srgbClr val="F4F5F6"/>
                    </a:solidFill>
                  </a:tcPr>
                </a:tc>
                <a:tc>
                  <a:txBody>
                    <a:bodyPr>
                      <a:noAutofit/>
                    </a:bodyPr>
                    <a:lstStyle/>
                    <a:p>
                      <a:pPr algn="ctr"/>
                      <a:r>
                        <a:rPr sz="1463" b="1">
                          <a:solidFill>
                            <a:srgbClr val="946125"/>
                          </a:solidFill>
                          <a:latin typeface="Carlito"/>
                          <a:ea typeface="Carlito"/>
                          <a:cs typeface="Carlito"/>
                        </a:rPr>
                        <a:t>W</a:t>
                      </a:r>
                    </a:p>
                  </a:txBody>
                  <a:tcPr marL="95250" marR="95250" marT="28575" marB="28575" anchor="ctr">
                    <a:solidFill>
                      <a:srgbClr val="FFF0DC"/>
                    </a:solidFill>
                  </a:tcPr>
                </a:tc>
              </a:tr>
              <a:tr h="342900">
                <a:tc>
                  <a:txBody>
                    <a:bodyPr>
                      <a:noAutofit/>
                    </a:bodyPr>
                    <a:lstStyle/>
                    <a:p>
                      <a:r>
                        <a:rPr sz="1463" b="0">
                          <a:solidFill>
                            <a:srgbClr val="30343A"/>
                          </a:solidFill>
                          <a:latin typeface="Carlito"/>
                          <a:ea typeface="Carlito"/>
                          <a:cs typeface="Carlito"/>
                        </a:rPr>
                        <a:t>API key and credential lifecycle</a:t>
                      </a:r>
                    </a:p>
                  </a:txBody>
                  <a:tcPr marL="95250" marR="95250" marT="28575" marB="28575" anchor="t">
                    <a:solidFill>
                      <a:srgbClr val="FFFFFF"/>
                    </a:solidFill>
                  </a:tcPr>
                </a:tc>
                <a:tc>
                  <a:txBody>
                    <a:bodyPr>
                      <a:noAutofit/>
                    </a:bodyPr>
                    <a:lstStyle/>
                    <a:p>
                      <a:pPr algn="ctr"/>
                      <a:r>
                        <a:rPr sz="1463" b="0">
                          <a:solidFill>
                            <a:srgbClr val="70757C"/>
                          </a:solidFill>
                          <a:latin typeface="Carlito"/>
                          <a:ea typeface="Carlito"/>
                          <a:cs typeface="Carlito"/>
                        </a:rPr>
                        <a:t>B</a:t>
                      </a:r>
                    </a:p>
                  </a:txBody>
                  <a:tcPr marL="95250" marR="95250" marT="28575" marB="28575" anchor="ctr">
                    <a:solidFill>
                      <a:srgbClr val="FFFFFF"/>
                    </a:solidFill>
                  </a:tcPr>
                </a:tc>
                <a:tc>
                  <a:txBody>
                    <a:bodyPr>
                      <a:noAutofit/>
                    </a:bodyPr>
                    <a:lstStyle/>
                    <a:p>
                      <a:pPr algn="ctr"/>
                      <a:r>
                        <a:rPr sz="1463" b="1">
                          <a:solidFill>
                            <a:srgbClr val="946125"/>
                          </a:solidFill>
                          <a:latin typeface="Carlito"/>
                          <a:ea typeface="Carlito"/>
                          <a:cs typeface="Carlito"/>
                        </a:rPr>
                        <a:t>W</a:t>
                      </a:r>
                    </a:p>
                  </a:txBody>
                  <a:tcPr marL="95250" marR="95250" marT="28575" marB="28575" anchor="ctr">
                    <a:solidFill>
                      <a:srgbClr val="FFF0DC"/>
                    </a:solidFill>
                  </a:tcPr>
                </a:tc>
              </a:tr>
              <a:tr h="342900">
                <a:tc>
                  <a:txBody>
                    <a:bodyPr>
                      <a:noAutofit/>
                    </a:bodyPr>
                    <a:lstStyle/>
                    <a:p>
                      <a:r>
                        <a:rPr sz="1463" b="0">
                          <a:solidFill>
                            <a:srgbClr val="30343A"/>
                          </a:solidFill>
                          <a:latin typeface="Carlito"/>
                          <a:ea typeface="Carlito"/>
                          <a:cs typeface="Carlito"/>
                        </a:rPr>
                        <a:t>Consent and data-sharing authorization</a:t>
                      </a:r>
                    </a:p>
                  </a:txBody>
                  <a:tcPr marL="95250" marR="95250" marT="28575" marB="28575" anchor="t">
                    <a:solidFill>
                      <a:srgbClr val="F4F5F6"/>
                    </a:solidFill>
                  </a:tcPr>
                </a:tc>
                <a:tc>
                  <a:txBody>
                    <a:bodyPr>
                      <a:noAutofit/>
                    </a:bodyPr>
                    <a:lstStyle/>
                    <a:p>
                      <a:pPr algn="ctr"/>
                      <a:r>
                        <a:rPr sz="1463" b="0">
                          <a:solidFill>
                            <a:srgbClr val="70757C"/>
                          </a:solidFill>
                          <a:latin typeface="Carlito"/>
                          <a:ea typeface="Carlito"/>
                          <a:cs typeface="Carlito"/>
                        </a:rPr>
                        <a:t>P</a:t>
                      </a:r>
                    </a:p>
                  </a:txBody>
                  <a:tcPr marL="95250" marR="95250" marT="28575" marB="28575" anchor="ctr">
                    <a:solidFill>
                      <a:srgbClr val="F4F5F6"/>
                    </a:solidFill>
                  </a:tcPr>
                </a:tc>
                <a:tc>
                  <a:txBody>
                    <a:bodyPr>
                      <a:noAutofit/>
                    </a:bodyPr>
                    <a:lstStyle/>
                    <a:p>
                      <a:pPr algn="ctr"/>
                      <a:r>
                        <a:rPr sz="1463" b="1">
                          <a:solidFill>
                            <a:srgbClr val="70757C"/>
                          </a:solidFill>
                          <a:latin typeface="Carlito"/>
                          <a:ea typeface="Carlito"/>
                          <a:cs typeface="Carlito"/>
                        </a:rPr>
                        <a:t>Y</a:t>
                      </a:r>
                    </a:p>
                  </a:txBody>
                  <a:tcPr marL="95250" marR="95250" marT="28575" marB="28575" anchor="ctr">
                    <a:solidFill>
                      <a:srgbClr val="FFFFFF"/>
                    </a:solidFill>
                  </a:tcPr>
                </a:tc>
              </a:tr>
              <a:tr h="342900">
                <a:tc>
                  <a:txBody>
                    <a:bodyPr>
                      <a:noAutofit/>
                    </a:bodyPr>
                    <a:lstStyle/>
                    <a:p>
                      <a:r>
                        <a:rPr sz="1463" b="0">
                          <a:solidFill>
                            <a:srgbClr val="30343A"/>
                          </a:solidFill>
                          <a:latin typeface="Carlito"/>
                          <a:ea typeface="Carlito"/>
                          <a:cs typeface="Carlito"/>
                        </a:rPr>
                        <a:t>Token issuance, rotation and revocation</a:t>
                      </a:r>
                    </a:p>
                  </a:txBody>
                  <a:tcPr marL="95250" marR="95250" marT="28575" marB="28575" anchor="t">
                    <a:solidFill>
                      <a:srgbClr val="FFFFFF"/>
                    </a:solidFill>
                  </a:tcPr>
                </a:tc>
                <a:tc>
                  <a:txBody>
                    <a:bodyPr>
                      <a:noAutofit/>
                    </a:bodyPr>
                    <a:lstStyle/>
                    <a:p>
                      <a:pPr algn="ctr"/>
                      <a:r>
                        <a:rPr sz="1463" b="0">
                          <a:solidFill>
                            <a:srgbClr val="70757C"/>
                          </a:solidFill>
                          <a:latin typeface="Carlito"/>
                          <a:ea typeface="Carlito"/>
                          <a:cs typeface="Carlito"/>
                        </a:rPr>
                        <a:t>B</a:t>
                      </a:r>
                    </a:p>
                  </a:txBody>
                  <a:tcPr marL="95250" marR="95250" marT="28575" marB="28575" anchor="ctr">
                    <a:solidFill>
                      <a:srgbClr val="FFFFFF"/>
                    </a:solidFill>
                  </a:tcPr>
                </a:tc>
                <a:tc>
                  <a:txBody>
                    <a:bodyPr>
                      <a:noAutofit/>
                    </a:bodyPr>
                    <a:lstStyle/>
                    <a:p>
                      <a:pPr algn="ctr"/>
                      <a:r>
                        <a:rPr sz="1463" b="1">
                          <a:solidFill>
                            <a:srgbClr val="946125"/>
                          </a:solidFill>
                          <a:latin typeface="Carlito"/>
                          <a:ea typeface="Carlito"/>
                          <a:cs typeface="Carlito"/>
                        </a:rPr>
                        <a:t>W</a:t>
                      </a:r>
                    </a:p>
                  </a:txBody>
                  <a:tcPr marL="95250" marR="95250" marT="28575" marB="28575" anchor="ctr">
                    <a:solidFill>
                      <a:srgbClr val="FFF0DC"/>
                    </a:solidFill>
                  </a:tcPr>
                </a:tc>
              </a:tr>
              <a:tr h="342900">
                <a:tc>
                  <a:txBody>
                    <a:bodyPr>
                      <a:noAutofit/>
                    </a:bodyPr>
                    <a:lstStyle/>
                    <a:p>
                      <a:r>
                        <a:rPr sz="1463" b="0">
                          <a:solidFill>
                            <a:srgbClr val="30343A"/>
                          </a:solidFill>
                          <a:latin typeface="Carlito"/>
                          <a:ea typeface="Carlito"/>
                          <a:cs typeface="Carlito"/>
                        </a:rPr>
                        <a:t>Certificate, mTLS and PKI management</a:t>
                      </a:r>
                    </a:p>
                  </a:txBody>
                  <a:tcPr marL="95250" marR="95250" marT="28575" marB="28575" anchor="t">
                    <a:solidFill>
                      <a:srgbClr val="F4F5F6"/>
                    </a:solidFill>
                  </a:tcPr>
                </a:tc>
                <a:tc>
                  <a:txBody>
                    <a:bodyPr>
                      <a:noAutofit/>
                    </a:bodyPr>
                    <a:lstStyle/>
                    <a:p>
                      <a:pPr algn="ctr"/>
                      <a:r>
                        <a:rPr sz="1463" b="0">
                          <a:solidFill>
                            <a:srgbClr val="70757C"/>
                          </a:solidFill>
                          <a:latin typeface="Carlito"/>
                          <a:ea typeface="Carlito"/>
                          <a:cs typeface="Carlito"/>
                        </a:rPr>
                        <a:t>B</a:t>
                      </a:r>
                    </a:p>
                  </a:txBody>
                  <a:tcPr marL="95250" marR="95250" marT="28575" marB="28575" anchor="ctr">
                    <a:solidFill>
                      <a:srgbClr val="F4F5F6"/>
                    </a:solidFill>
                  </a:tcPr>
                </a:tc>
                <a:tc>
                  <a:txBody>
                    <a:bodyPr>
                      <a:noAutofit/>
                    </a:bodyPr>
                    <a:lstStyle/>
                    <a:p>
                      <a:pPr algn="ctr"/>
                      <a:r>
                        <a:rPr sz="1463" b="1">
                          <a:solidFill>
                            <a:srgbClr val="946125"/>
                          </a:solidFill>
                          <a:latin typeface="Carlito"/>
                          <a:ea typeface="Carlito"/>
                          <a:cs typeface="Carlito"/>
                        </a:rPr>
                        <a:t>W</a:t>
                      </a:r>
                    </a:p>
                  </a:txBody>
                  <a:tcPr marL="95250" marR="95250" marT="28575" marB="28575" anchor="ctr">
                    <a:solidFill>
                      <a:srgbClr val="FFF0DC"/>
                    </a:solidFill>
                  </a:tcPr>
                </a:tc>
              </a:tr>
              <a:tr h="342900">
                <a:tc>
                  <a:txBody>
                    <a:bodyPr>
                      <a:noAutofit/>
                    </a:bodyPr>
                    <a:lstStyle/>
                    <a:p>
                      <a:r>
                        <a:rPr sz="1463" b="0">
                          <a:solidFill>
                            <a:srgbClr val="30343A"/>
                          </a:solidFill>
                          <a:latin typeface="Carlito"/>
                          <a:ea typeface="Carlito"/>
                          <a:cs typeface="Carlito"/>
                        </a:rPr>
                        <a:t>Agent identity and delegated authorization</a:t>
                      </a:r>
                    </a:p>
                  </a:txBody>
                  <a:tcPr marL="95250" marR="95250" marT="28575" marB="28575" anchor="t">
                    <a:solidFill>
                      <a:srgbClr val="FFFFFF"/>
                    </a:solidFill>
                  </a:tcPr>
                </a:tc>
                <a:tc>
                  <a:txBody>
                    <a:bodyPr>
                      <a:noAutofit/>
                    </a:bodyPr>
                    <a:lstStyle/>
                    <a:p>
                      <a:pPr algn="ctr"/>
                      <a:r>
                        <a:rPr sz="1463" b="0">
                          <a:solidFill>
                            <a:srgbClr val="70757C"/>
                          </a:solidFill>
                          <a:latin typeface="Carlito"/>
                          <a:ea typeface="Carlito"/>
                          <a:cs typeface="Carlito"/>
                        </a:rPr>
                        <a:t>B</a:t>
                      </a:r>
                    </a:p>
                  </a:txBody>
                  <a:tcPr marL="95250" marR="95250" marT="28575" marB="28575" anchor="ctr">
                    <a:solidFill>
                      <a:srgbClr val="FFFFFF"/>
                    </a:solidFill>
                  </a:tcPr>
                </a:tc>
                <a:tc>
                  <a:txBody>
                    <a:bodyPr>
                      <a:noAutofit/>
                    </a:bodyPr>
                    <a:lstStyle/>
                    <a:p>
                      <a:pPr algn="ctr"/>
                      <a:r>
                        <a:rPr sz="1463" b="1">
                          <a:solidFill>
                            <a:srgbClr val="70757C"/>
                          </a:solidFill>
                          <a:latin typeface="Carlito"/>
                          <a:ea typeface="Carlito"/>
                          <a:cs typeface="Carlito"/>
                        </a:rPr>
                        <a:t>Y</a:t>
                      </a:r>
                    </a:p>
                  </a:txBody>
                  <a:tcPr marL="95250" marR="95250" marT="28575" marB="28575" anchor="ctr">
                    <a:solidFill>
                      <a:srgbClr val="FFFFFF"/>
                    </a:solidFill>
                  </a:tcPr>
                </a:tc>
              </a:tr>
              <a:tr h="342900">
                <a:tc>
                  <a:txBody>
                    <a:bodyPr>
                      <a:noAutofit/>
                    </a:bodyPr>
                    <a:lstStyle/>
                    <a:p>
                      <a:r>
                        <a:rPr sz="1463" b="0">
                          <a:solidFill>
                            <a:srgbClr val="30343A"/>
                          </a:solidFill>
                          <a:latin typeface="Carlito"/>
                          <a:ea typeface="Carlito"/>
                          <a:cs typeface="Carlito"/>
                        </a:rPr>
                        <a:t>Dual-gate authorization enforcement</a:t>
                      </a:r>
                    </a:p>
                  </a:txBody>
                  <a:tcPr marL="95250" marR="95250" marT="28575" marB="28575" anchor="t">
                    <a:solidFill>
                      <a:srgbClr val="F4F5F6"/>
                    </a:solidFill>
                  </a:tcPr>
                </a:tc>
                <a:tc>
                  <a:txBody>
                    <a:bodyPr>
                      <a:noAutofit/>
                    </a:bodyPr>
                    <a:lstStyle/>
                    <a:p>
                      <a:pPr algn="ctr"/>
                      <a:r>
                        <a:rPr sz="1463" b="0">
                          <a:solidFill>
                            <a:srgbClr val="70757C"/>
                          </a:solidFill>
                          <a:latin typeface="Carlito"/>
                          <a:ea typeface="Carlito"/>
                          <a:cs typeface="Carlito"/>
                        </a:rPr>
                        <a:t>B</a:t>
                      </a:r>
                    </a:p>
                  </a:txBody>
                  <a:tcPr marL="95250" marR="95250" marT="28575" marB="28575" anchor="ctr">
                    <a:solidFill>
                      <a:srgbClr val="F4F5F6"/>
                    </a:solidFill>
                  </a:tcPr>
                </a:tc>
                <a:tc>
                  <a:txBody>
                    <a:bodyPr>
                      <a:noAutofit/>
                    </a:bodyPr>
                    <a:lstStyle/>
                    <a:p>
                      <a:pPr algn="ctr"/>
                      <a:r>
                        <a:rPr sz="1463" b="1">
                          <a:solidFill>
                            <a:srgbClr val="70757C"/>
                          </a:solidFill>
                          <a:latin typeface="Carlito"/>
                          <a:ea typeface="Carlito"/>
                          <a:cs typeface="Carlito"/>
                        </a:rPr>
                        <a:t>Y</a:t>
                      </a:r>
                    </a:p>
                  </a:txBody>
                  <a:tcPr marL="95250" marR="95250" marT="28575" marB="28575" anchor="ctr">
                    <a:solidFill>
                      <a:srgbClr val="FFFFFF"/>
                    </a:solidFill>
                  </a:tcPr>
                </a:tc>
              </a:tr>
              <a:tr h="342900">
                <a:tc>
                  <a:txBody>
                    <a:bodyPr>
                      <a:noAutofit/>
                    </a:bodyPr>
                    <a:lstStyle/>
                    <a:p>
                      <a:r>
                        <a:rPr sz="1463" b="0">
                          <a:solidFill>
                            <a:srgbClr val="30343A"/>
                          </a:solidFill>
                          <a:latin typeface="Carlito"/>
                          <a:ea typeface="Carlito"/>
                          <a:cs typeface="Carlito"/>
                        </a:rPr>
                        <a:t>Enterprise SSO / federated MCP access</a:t>
                      </a:r>
                    </a:p>
                  </a:txBody>
                  <a:tcPr marL="95250" marR="95250" marT="28575" marB="28575" anchor="t">
                    <a:solidFill>
                      <a:srgbClr val="FFFFFF"/>
                    </a:solidFill>
                  </a:tcPr>
                </a:tc>
                <a:tc>
                  <a:txBody>
                    <a:bodyPr>
                      <a:noAutofit/>
                    </a:bodyPr>
                    <a:lstStyle/>
                    <a:p>
                      <a:pPr algn="ctr"/>
                      <a:r>
                        <a:rPr sz="1463" b="0">
                          <a:solidFill>
                            <a:srgbClr val="70757C"/>
                          </a:solidFill>
                          <a:latin typeface="Carlito"/>
                          <a:ea typeface="Carlito"/>
                          <a:cs typeface="Carlito"/>
                        </a:rPr>
                        <a:t>B</a:t>
                      </a:r>
                    </a:p>
                  </a:txBody>
                  <a:tcPr marL="95250" marR="95250" marT="28575" marB="28575" anchor="ctr">
                    <a:solidFill>
                      <a:srgbClr val="FFFFFF"/>
                    </a:solidFill>
                  </a:tcPr>
                </a:tc>
                <a:tc>
                  <a:txBody>
                    <a:bodyPr>
                      <a:noAutofit/>
                    </a:bodyPr>
                    <a:lstStyle/>
                    <a:p>
                      <a:pPr algn="ctr"/>
                      <a:r>
                        <a:rPr sz="1463" b="1">
                          <a:solidFill>
                            <a:srgbClr val="70757C"/>
                          </a:solidFill>
                          <a:latin typeface="Carlito"/>
                          <a:ea typeface="Carlito"/>
                          <a:cs typeface="Carlito"/>
                        </a:rPr>
                        <a:t>Y</a:t>
                      </a:r>
                    </a:p>
                  </a:txBody>
                  <a:tcPr marL="95250" marR="95250" marT="28575" marB="28575" anchor="ctr">
                    <a:solidFill>
                      <a:srgbClr val="FFFFFF"/>
                    </a:solidFill>
                  </a:tcPr>
                </a:tc>
              </a:tr>
              <a:tr h="342900">
                <a:tc>
                  <a:txBody>
                    <a:bodyPr>
                      <a:noAutofit/>
                    </a:bodyPr>
                    <a:lstStyle/>
                    <a:p>
                      <a:r>
                        <a:rPr sz="1463" b="0">
                          <a:solidFill>
                            <a:srgbClr val="30343A"/>
                          </a:solidFill>
                          <a:latin typeface="Carlito"/>
                          <a:ea typeface="Carlito"/>
                          <a:cs typeface="Carlito"/>
                        </a:rPr>
                        <a:t>Token exchange and scope narrowing for agents</a:t>
                      </a:r>
                    </a:p>
                  </a:txBody>
                  <a:tcPr marL="95250" marR="95250" marT="28575" marB="28575" anchor="t">
                    <a:solidFill>
                      <a:srgbClr val="F4F5F6"/>
                    </a:solidFill>
                  </a:tcPr>
                </a:tc>
                <a:tc>
                  <a:txBody>
                    <a:bodyPr>
                      <a:noAutofit/>
                    </a:bodyPr>
                    <a:lstStyle/>
                    <a:p>
                      <a:pPr algn="ctr"/>
                      <a:r>
                        <a:rPr sz="1463" b="0">
                          <a:solidFill>
                            <a:srgbClr val="70757C"/>
                          </a:solidFill>
                          <a:latin typeface="Carlito"/>
                          <a:ea typeface="Carlito"/>
                          <a:cs typeface="Carlito"/>
                        </a:rPr>
                        <a:t>B</a:t>
                      </a:r>
                    </a:p>
                  </a:txBody>
                  <a:tcPr marL="95250" marR="95250" marT="28575" marB="28575" anchor="ctr">
                    <a:solidFill>
                      <a:srgbClr val="F4F5F6"/>
                    </a:solidFill>
                  </a:tcPr>
                </a:tc>
                <a:tc>
                  <a:txBody>
                    <a:bodyPr>
                      <a:noAutofit/>
                    </a:bodyPr>
                    <a:lstStyle/>
                    <a:p>
                      <a:pPr algn="ctr"/>
                      <a:r>
                        <a:rPr sz="1463" b="1">
                          <a:solidFill>
                            <a:srgbClr val="70757C"/>
                          </a:solidFill>
                          <a:latin typeface="Carlito"/>
                          <a:ea typeface="Carlito"/>
                          <a:cs typeface="Carlito"/>
                        </a:rPr>
                        <a:t>Y</a:t>
                      </a:r>
                    </a:p>
                  </a:txBody>
                  <a:tcPr marL="95250" marR="95250" marT="28575" marB="28575" anchor="ctr">
                    <a:solidFill>
                      <a:srgbClr val="FFFFFF"/>
                    </a:solidFill>
                  </a:tcPr>
                </a:tc>
              </a:tr>
            </a:tbl>
          </a:graphicData>
        </a:graphic>
      </p:graphicFrame>
      <p:sp>
        <p:nvSpPr>
          <p:cNvPr id="28" name="text">
            <a:extLst xmlns:a="http://schemas.openxmlformats.org/drawingml/2006/main">
              <a:ext uri="{FF2B5EF4-FFF2-40B4-BE49-F238E27FC236}">
                <a16:creationId xmlns:a16="http://schemas.microsoft.com/office/drawing/2014/main" id="{ECF7D994-B75A-423D-832D-842DFB5F2741}"/>
              </a:ext>
            </a:extLst>
          </p:cNvPr>
          <p:cNvSpPr>
            <a:spLocks xmlns:a="http://schemas.openxmlformats.org/drawingml/2006/main" noGrp="1"/>
          </p:cNvSpPr>
          <p:nvPr/>
        </p:nvSpPr>
        <p:spPr>
          <a:xfrm xmlns:a="http://schemas.openxmlformats.org/drawingml/2006/main">
            <a:off x="7915275" y="7677150"/>
            <a:ext cx="683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70757C"/>
                </a:solidFill>
                <a:latin typeface="Carlito"/>
                <a:ea typeface="Carlito"/>
                <a:cs typeface="Carlito"/>
              </a:defRPr>
            </a:pPr>
            <a:r>
              <a:rPr sz="1425" b="0">
                <a:solidFill>
                  <a:srgbClr val="70757C"/>
                </a:solidFill>
                <a:latin typeface="Carlito"/>
                <a:ea typeface="Carlito"/>
                <a:cs typeface="Carlito"/>
              </a:rPr>
              <a:t>IAM capabilities use enterprise CIAM and/or IDAM services as appropriate.</a:t>
            </a:r>
          </a:p>
        </p:txBody>
      </p:sp>
      <p:sp>
        <p:nvSpPr>
          <p:cNvPr id="29" name="text">
            <a:extLst xmlns:a="http://schemas.openxmlformats.org/drawingml/2006/main">
              <a:ext uri="{FF2B5EF4-FFF2-40B4-BE49-F238E27FC236}">
                <a16:creationId xmlns:a16="http://schemas.microsoft.com/office/drawing/2014/main" id="{6C9D17AC-12B7-49D7-9F67-8CB8EC95D828}"/>
              </a:ext>
            </a:extLst>
          </p:cNvPr>
          <p:cNvSpPr>
            <a:spLocks xmlns:a="http://schemas.openxmlformats.org/drawingml/2006/main" noGrp="1"/>
          </p:cNvSpPr>
          <p:nvPr/>
        </p:nvSpPr>
        <p:spPr>
          <a:xfrm xmlns:a="http://schemas.openxmlformats.org/drawingml/2006/main">
            <a:off x="361950" y="7905750"/>
            <a:ext cx="1445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70757C"/>
                </a:solidFill>
                <a:latin typeface="Carlito"/>
                <a:ea typeface="Carlito"/>
                <a:cs typeface="Carlito"/>
              </a:defRPr>
            </a:pPr>
            <a:r>
              <a:rPr sz="1350" b="0">
                <a:solidFill>
                  <a:srgbClr val="70757C"/>
                </a:solidFill>
                <a:latin typeface="Carlito"/>
                <a:ea typeface="Carlito"/>
                <a:cs typeface="Carlito"/>
              </a:rPr>
              <a:t>Current-state labels reflect the supplied assessment. Confirm owners, coverage and assessment date during mobilisation.</a:t>
            </a:r>
          </a:p>
        </p:txBody>
      </p:sp>
    </p:spTree>
    <p:extLst>
      <p:ext uri="{BB962C8B-B14F-4D97-AF65-F5344CB8AC3E}">
        <p14:creationId xmlns:p14="http://schemas.microsoft.com/office/powerpoint/2010/main" val="186930307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nav-Background">
            <a:extLst xmlns:a="http://schemas.openxmlformats.org/drawingml/2006/main">
              <a:ext uri="{FF2B5EF4-FFF2-40B4-BE49-F238E27FC236}">
                <a16:creationId xmlns:a16="http://schemas.microsoft.com/office/drawing/2014/main" id="{9564EC8C-EEFD-45B6-AD0D-7F8814992CAE}"/>
              </a:ext>
            </a:extLst>
          </p:cNvPr>
          <p:cNvSpPr>
            <a:spLocks xmlns:a="http://schemas.openxmlformats.org/drawingml/2006/main" noGrp="1"/>
          </p:cNvSpPr>
          <p:nvPr/>
        </p:nvSpPr>
        <p:spPr>
          <a:xfrm xmlns:a="http://schemas.openxmlformats.org/drawingml/2006/main">
            <a:off x="2286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2" name="navigation-Background">
            <a:extLst xmlns:a="http://schemas.openxmlformats.org/drawingml/2006/main">
              <a:ext uri="{FF2B5EF4-FFF2-40B4-BE49-F238E27FC236}">
                <a16:creationId xmlns:a16="http://schemas.microsoft.com/office/drawing/2014/main" id="{0C2632B7-C16E-435C-8BA3-A541BCF945F9}"/>
              </a:ext>
            </a:extLst>
          </p:cNvPr>
          <p:cNvSpPr>
            <a:spLocks xmlns:a="http://schemas.openxmlformats.org/drawingml/2006/main" noGrp="1"/>
          </p:cNvSpPr>
          <p:nvPr/>
        </p:nvSpPr>
        <p:spPr>
          <a:xfrm xmlns:a="http://schemas.openxmlformats.org/drawingml/2006/main">
            <a:off x="2571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Background</a:t>
            </a:r>
          </a:p>
        </p:txBody>
      </p:sp>
      <p:sp>
        <p:nvSpPr>
          <p:cNvPr id="3" name="nav-Problem Statements">
            <a:extLst xmlns:a="http://schemas.openxmlformats.org/drawingml/2006/main">
              <a:ext uri="{FF2B5EF4-FFF2-40B4-BE49-F238E27FC236}">
                <a16:creationId xmlns:a16="http://schemas.microsoft.com/office/drawing/2014/main" id="{DA9877F2-AAC1-4E64-B4DC-FE241932EB23}"/>
              </a:ext>
            </a:extLst>
          </p:cNvPr>
          <p:cNvSpPr>
            <a:spLocks xmlns:a="http://schemas.openxmlformats.org/drawingml/2006/main" noGrp="1"/>
          </p:cNvSpPr>
          <p:nvPr/>
        </p:nvSpPr>
        <p:spPr>
          <a:xfrm xmlns:a="http://schemas.openxmlformats.org/drawingml/2006/main">
            <a:off x="19050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4" name="navigation-Problem Statements">
            <a:extLst xmlns:a="http://schemas.openxmlformats.org/drawingml/2006/main">
              <a:ext uri="{FF2B5EF4-FFF2-40B4-BE49-F238E27FC236}">
                <a16:creationId xmlns:a16="http://schemas.microsoft.com/office/drawing/2014/main" id="{FBD79B9E-BE0C-4ECE-B053-12B688791595}"/>
              </a:ext>
            </a:extLst>
          </p:cNvPr>
          <p:cNvSpPr>
            <a:spLocks xmlns:a="http://schemas.openxmlformats.org/drawingml/2006/main" noGrp="1"/>
          </p:cNvSpPr>
          <p:nvPr/>
        </p:nvSpPr>
        <p:spPr>
          <a:xfrm xmlns:a="http://schemas.openxmlformats.org/drawingml/2006/main">
            <a:off x="19335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Problem Statements</a:t>
            </a:r>
          </a:p>
        </p:txBody>
      </p:sp>
      <p:sp>
        <p:nvSpPr>
          <p:cNvPr id="5" name="nav-Capability Context">
            <a:extLst xmlns:a="http://schemas.openxmlformats.org/drawingml/2006/main">
              <a:ext uri="{FF2B5EF4-FFF2-40B4-BE49-F238E27FC236}">
                <a16:creationId xmlns:a16="http://schemas.microsoft.com/office/drawing/2014/main" id="{3437A70E-D57C-4CE0-8FB1-9D7457BD925C}"/>
              </a:ext>
            </a:extLst>
          </p:cNvPr>
          <p:cNvSpPr>
            <a:spLocks xmlns:a="http://schemas.openxmlformats.org/drawingml/2006/main" noGrp="1"/>
          </p:cNvSpPr>
          <p:nvPr/>
        </p:nvSpPr>
        <p:spPr>
          <a:xfrm xmlns:a="http://schemas.openxmlformats.org/drawingml/2006/main">
            <a:off x="35814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6" name="navigation-Capability Context">
            <a:extLst xmlns:a="http://schemas.openxmlformats.org/drawingml/2006/main">
              <a:ext uri="{FF2B5EF4-FFF2-40B4-BE49-F238E27FC236}">
                <a16:creationId xmlns:a16="http://schemas.microsoft.com/office/drawing/2014/main" id="{E69819AC-7B59-4FBE-B190-14BE6D494F55}"/>
              </a:ext>
            </a:extLst>
          </p:cNvPr>
          <p:cNvSpPr>
            <a:spLocks xmlns:a="http://schemas.openxmlformats.org/drawingml/2006/main" noGrp="1"/>
          </p:cNvSpPr>
          <p:nvPr/>
        </p:nvSpPr>
        <p:spPr>
          <a:xfrm xmlns:a="http://schemas.openxmlformats.org/drawingml/2006/main">
            <a:off x="36099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Capability Context</a:t>
            </a:r>
          </a:p>
        </p:txBody>
      </p:sp>
      <p:sp>
        <p:nvSpPr>
          <p:cNvPr id="7" name="nav-Artefact Content">
            <a:extLst xmlns:a="http://schemas.openxmlformats.org/drawingml/2006/main">
              <a:ext uri="{FF2B5EF4-FFF2-40B4-BE49-F238E27FC236}">
                <a16:creationId xmlns:a16="http://schemas.microsoft.com/office/drawing/2014/main" id="{37535339-0F53-413F-B54F-179D8CF398B3}"/>
              </a:ext>
            </a:extLst>
          </p:cNvPr>
          <p:cNvSpPr>
            <a:spLocks xmlns:a="http://schemas.openxmlformats.org/drawingml/2006/main" noGrp="1"/>
          </p:cNvSpPr>
          <p:nvPr/>
        </p:nvSpPr>
        <p:spPr>
          <a:xfrm xmlns:a="http://schemas.openxmlformats.org/drawingml/2006/main">
            <a:off x="52578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8" name="navigation-Artefact Content">
            <a:extLst xmlns:a="http://schemas.openxmlformats.org/drawingml/2006/main">
              <a:ext uri="{FF2B5EF4-FFF2-40B4-BE49-F238E27FC236}">
                <a16:creationId xmlns:a16="http://schemas.microsoft.com/office/drawing/2014/main" id="{58555025-F53D-4A7A-9FA1-41D143D5A10D}"/>
              </a:ext>
            </a:extLst>
          </p:cNvPr>
          <p:cNvSpPr>
            <a:spLocks xmlns:a="http://schemas.openxmlformats.org/drawingml/2006/main" noGrp="1"/>
          </p:cNvSpPr>
          <p:nvPr/>
        </p:nvSpPr>
        <p:spPr>
          <a:xfrm xmlns:a="http://schemas.openxmlformats.org/drawingml/2006/main">
            <a:off x="52863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Artefact Content</a:t>
            </a:r>
          </a:p>
        </p:txBody>
      </p:sp>
      <p:sp>
        <p:nvSpPr>
          <p:cNvPr id="9" name="nav-Roadmap">
            <a:extLst xmlns:a="http://schemas.openxmlformats.org/drawingml/2006/main">
              <a:ext uri="{FF2B5EF4-FFF2-40B4-BE49-F238E27FC236}">
                <a16:creationId xmlns:a16="http://schemas.microsoft.com/office/drawing/2014/main" id="{401DA3F7-8B8D-4740-9CAD-1A4F3C716004}"/>
              </a:ext>
            </a:extLst>
          </p:cNvPr>
          <p:cNvSpPr>
            <a:spLocks xmlns:a="http://schemas.openxmlformats.org/drawingml/2006/main" noGrp="1"/>
          </p:cNvSpPr>
          <p:nvPr/>
        </p:nvSpPr>
        <p:spPr>
          <a:xfrm xmlns:a="http://schemas.openxmlformats.org/drawingml/2006/main">
            <a:off x="69342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0" name="navigation-Roadmap">
            <a:extLst xmlns:a="http://schemas.openxmlformats.org/drawingml/2006/main">
              <a:ext uri="{FF2B5EF4-FFF2-40B4-BE49-F238E27FC236}">
                <a16:creationId xmlns:a16="http://schemas.microsoft.com/office/drawing/2014/main" id="{8A796BDE-CB24-4304-8B2C-5C36253DED46}"/>
              </a:ext>
            </a:extLst>
          </p:cNvPr>
          <p:cNvSpPr>
            <a:spLocks xmlns:a="http://schemas.openxmlformats.org/drawingml/2006/main" noGrp="1"/>
          </p:cNvSpPr>
          <p:nvPr/>
        </p:nvSpPr>
        <p:spPr>
          <a:xfrm xmlns:a="http://schemas.openxmlformats.org/drawingml/2006/main">
            <a:off x="69627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Roadmap</a:t>
            </a:r>
          </a:p>
        </p:txBody>
      </p:sp>
      <p:sp>
        <p:nvSpPr>
          <p:cNvPr id="11" name="nav-Decision">
            <a:extLst xmlns:a="http://schemas.openxmlformats.org/drawingml/2006/main">
              <a:ext uri="{FF2B5EF4-FFF2-40B4-BE49-F238E27FC236}">
                <a16:creationId xmlns:a16="http://schemas.microsoft.com/office/drawing/2014/main" id="{7ED9B202-46AA-46F5-968C-178B27302A17}"/>
              </a:ext>
            </a:extLst>
          </p:cNvPr>
          <p:cNvSpPr>
            <a:spLocks xmlns:a="http://schemas.openxmlformats.org/drawingml/2006/main" noGrp="1"/>
          </p:cNvSpPr>
          <p:nvPr/>
        </p:nvSpPr>
        <p:spPr>
          <a:xfrm xmlns:a="http://schemas.openxmlformats.org/drawingml/2006/main">
            <a:off x="86106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2" name="navigation-Decision">
            <a:extLst xmlns:a="http://schemas.openxmlformats.org/drawingml/2006/main">
              <a:ext uri="{FF2B5EF4-FFF2-40B4-BE49-F238E27FC236}">
                <a16:creationId xmlns:a16="http://schemas.microsoft.com/office/drawing/2014/main" id="{1AE6454E-831B-4543-B2B4-973C741A4D4A}"/>
              </a:ext>
            </a:extLst>
          </p:cNvPr>
          <p:cNvSpPr>
            <a:spLocks xmlns:a="http://schemas.openxmlformats.org/drawingml/2006/main" noGrp="1"/>
          </p:cNvSpPr>
          <p:nvPr/>
        </p:nvSpPr>
        <p:spPr>
          <a:xfrm xmlns:a="http://schemas.openxmlformats.org/drawingml/2006/main">
            <a:off x="86391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Decision</a:t>
            </a:r>
          </a:p>
        </p:txBody>
      </p:sp>
      <p:sp>
        <p:nvSpPr>
          <p:cNvPr id="13" name="nav-Appendix">
            <a:extLst xmlns:a="http://schemas.openxmlformats.org/drawingml/2006/main">
              <a:ext uri="{FF2B5EF4-FFF2-40B4-BE49-F238E27FC236}">
                <a16:creationId xmlns:a16="http://schemas.microsoft.com/office/drawing/2014/main" id="{3A0BE4CA-B0FF-4C8D-8059-F640E81B2B6E}"/>
              </a:ext>
            </a:extLst>
          </p:cNvPr>
          <p:cNvSpPr>
            <a:spLocks xmlns:a="http://schemas.openxmlformats.org/drawingml/2006/main" noGrp="1"/>
          </p:cNvSpPr>
          <p:nvPr/>
        </p:nvSpPr>
        <p:spPr>
          <a:xfrm xmlns:a="http://schemas.openxmlformats.org/drawingml/2006/main">
            <a:off x="10287000" y="171450"/>
            <a:ext cx="1600200" cy="381000"/>
          </a:xfrm>
          <a:prstGeom xmlns:a="http://schemas.openxmlformats.org/drawingml/2006/main" prst="roundRect">
            <a:avLst>
              <a:gd name="adj" fmla="val 17500"/>
            </a:avLst>
          </a:prstGeom>
          <a:solidFill xmlns:a="http://schemas.openxmlformats.org/drawingml/2006/main">
            <a:srgbClr val="BE1738"/>
          </a:solidFill>
          <a:ln xmlns:a="http://schemas.openxmlformats.org/drawingml/2006/main" w="11430">
            <a:solidFill>
              <a:srgbClr val="BE1738"/>
            </a:solidFill>
          </a:ln>
        </p:spPr>
      </p:sp>
      <p:sp>
        <p:nvSpPr>
          <p:cNvPr id="14" name="navigation-Appendix">
            <a:extLst xmlns:a="http://schemas.openxmlformats.org/drawingml/2006/main">
              <a:ext uri="{FF2B5EF4-FFF2-40B4-BE49-F238E27FC236}">
                <a16:creationId xmlns:a16="http://schemas.microsoft.com/office/drawing/2014/main" id="{7A29CD98-DC1E-4894-85A9-7750F6101264}"/>
              </a:ext>
            </a:extLst>
          </p:cNvPr>
          <p:cNvSpPr>
            <a:spLocks xmlns:a="http://schemas.openxmlformats.org/drawingml/2006/main" noGrp="1"/>
          </p:cNvSpPr>
          <p:nvPr/>
        </p:nvSpPr>
        <p:spPr>
          <a:xfrm xmlns:a="http://schemas.openxmlformats.org/drawingml/2006/main">
            <a:off x="103155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FFFFFF"/>
                </a:solidFill>
                <a:latin typeface="Carlito"/>
                <a:ea typeface="Carlito"/>
                <a:cs typeface="Carlito"/>
              </a:defRPr>
            </a:pPr>
            <a:r>
              <a:rPr sz="1313" b="0">
                <a:solidFill>
                  <a:srgbClr val="FFFFFF"/>
                </a:solidFill>
                <a:latin typeface="Carlito"/>
                <a:ea typeface="Carlito"/>
                <a:cs typeface="Carlito"/>
              </a:rPr>
              <a:t>Appendix</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dc3f9efeaaa740ac"/>
          <a:stretch xmlns:a="http://schemas.openxmlformats.org/drawingml/2006/main"/>
        </p:blipFill>
        <p:spPr>
          <a:xfrm xmlns:a="http://schemas.openxmlformats.org/drawingml/2006/main">
            <a:off x="304800" y="737436"/>
            <a:ext cx="1057275" cy="1001629"/>
          </a:xfrm>
          <a:prstGeom xmlns:a="http://schemas.openxmlformats.org/drawingml/2006/main" prst="rect">
            <a:avLst/>
          </a:prstGeom>
        </p:spPr>
      </p:pic>
      <p:sp>
        <p:nvSpPr>
          <p:cNvPr id="16" name="title-outline">
            <a:extLst xmlns:a="http://schemas.openxmlformats.org/drawingml/2006/main">
              <a:ext uri="{FF2B5EF4-FFF2-40B4-BE49-F238E27FC236}">
                <a16:creationId xmlns:a16="http://schemas.microsoft.com/office/drawing/2014/main" id="{8CDECF2B-429F-43B8-934F-07171CC5C5E5}"/>
              </a:ext>
            </a:extLst>
          </p:cNvPr>
          <p:cNvSpPr>
            <a:spLocks xmlns:a="http://schemas.openxmlformats.org/drawingml/2006/main" noGrp="1"/>
          </p:cNvSpPr>
          <p:nvPr/>
        </p:nvSpPr>
        <p:spPr>
          <a:xfrm xmlns:a="http://schemas.openxmlformats.org/drawingml/2006/main">
            <a:off x="1657350" y="866775"/>
            <a:ext cx="10496550" cy="4857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8575">
            <a:solidFill>
              <a:srgbClr val="BE1738"/>
            </a:solidFill>
          </a:ln>
        </p:spPr>
      </p:sp>
      <p:sp>
        <p:nvSpPr>
          <p:cNvPr id="17" name="slide-title">
            <a:extLst xmlns:a="http://schemas.openxmlformats.org/drawingml/2006/main">
              <a:ext uri="{FF2B5EF4-FFF2-40B4-BE49-F238E27FC236}">
                <a16:creationId xmlns:a16="http://schemas.microsoft.com/office/drawing/2014/main" id="{20F466EA-7A0B-4642-9FA2-E61BCDBA163D}"/>
              </a:ext>
            </a:extLst>
          </p:cNvPr>
          <p:cNvSpPr>
            <a:spLocks xmlns:a="http://schemas.openxmlformats.org/drawingml/2006/main" noGrp="1"/>
          </p:cNvSpPr>
          <p:nvPr/>
        </p:nvSpPr>
        <p:spPr>
          <a:xfrm xmlns:a="http://schemas.openxmlformats.org/drawingml/2006/main">
            <a:off x="1933575" y="933450"/>
            <a:ext cx="994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1632"/>
                </a:solidFill>
                <a:latin typeface="Carlito"/>
                <a:ea typeface="Carlito"/>
                <a:cs typeface="Carlito"/>
              </a:defRPr>
            </a:pPr>
            <a:r>
              <a:rPr sz="2100" b="1">
                <a:solidFill>
                  <a:srgbClr val="A91632"/>
                </a:solidFill>
                <a:latin typeface="Carlito"/>
                <a:ea typeface="Carlito"/>
                <a:cs typeface="Carlito"/>
              </a:rPr>
              <a:t>CAPABILITY MAP – POLICY AND RUNTIME</a:t>
            </a:r>
          </a:p>
        </p:txBody>
      </p:sp>
      <p:sp>
        <p:nvSpPr>
          <p:cNvPr id="18" name="classification">
            <a:extLst xmlns:a="http://schemas.openxmlformats.org/drawingml/2006/main">
              <a:ext uri="{FF2B5EF4-FFF2-40B4-BE49-F238E27FC236}">
                <a16:creationId xmlns:a16="http://schemas.microsoft.com/office/drawing/2014/main" id="{9995F92F-E212-4679-B747-9FBAABD1DA5F}"/>
              </a:ext>
            </a:extLst>
          </p:cNvPr>
          <p:cNvSpPr>
            <a:spLocks xmlns:a="http://schemas.openxmlformats.org/drawingml/2006/main" noGrp="1"/>
          </p:cNvSpPr>
          <p:nvPr/>
        </p:nvSpPr>
        <p:spPr>
          <a:xfrm xmlns:a="http://schemas.openxmlformats.org/drawingml/2006/main">
            <a:off x="12001500" y="619125"/>
            <a:ext cx="2905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30343A"/>
                </a:solidFill>
                <a:latin typeface="Carlito"/>
                <a:ea typeface="Carlito"/>
                <a:cs typeface="Carlito"/>
              </a:defRPr>
            </a:pPr>
            <a:r>
              <a:rPr sz="1275" b="0">
                <a:solidFill>
                  <a:srgbClr val="30343A"/>
                </a:solidFill>
                <a:latin typeface="Carlito"/>
                <a:ea typeface="Carlito"/>
                <a:cs typeface="Carlito"/>
              </a:rPr>
              <a:t>RESTRICTED TO Euroclear</a:t>
            </a:r>
          </a:p>
        </p:txBody>
      </p:sp>
      <p:sp>
        <p:nvSpPr>
          <p:cNvPr id="19" name="footer-outline">
            <a:extLst xmlns:a="http://schemas.openxmlformats.org/drawingml/2006/main">
              <a:ext uri="{FF2B5EF4-FFF2-40B4-BE49-F238E27FC236}">
                <a16:creationId xmlns:a16="http://schemas.microsoft.com/office/drawing/2014/main" id="{2DEF23E6-2C13-4414-BAEA-FBD551FEDEBB}"/>
              </a:ext>
            </a:extLst>
          </p:cNvPr>
          <p:cNvSpPr>
            <a:spLocks xmlns:a="http://schemas.openxmlformats.org/drawingml/2006/main" noGrp="1"/>
          </p:cNvSpPr>
          <p:nvPr/>
        </p:nvSpPr>
        <p:spPr>
          <a:xfrm xmlns:a="http://schemas.openxmlformats.org/drawingml/2006/main">
            <a:off x="171450" y="8143875"/>
            <a:ext cx="3009900" cy="2952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4288">
            <a:solidFill>
              <a:srgbClr val="70757C"/>
            </a:solidFill>
          </a:ln>
        </p:spPr>
      </p:sp>
      <p:sp>
        <p:nvSpPr>
          <p:cNvPr id="20" name="footer">
            <a:extLst xmlns:a="http://schemas.openxmlformats.org/drawingml/2006/main">
              <a:ext uri="{FF2B5EF4-FFF2-40B4-BE49-F238E27FC236}">
                <a16:creationId xmlns:a16="http://schemas.microsoft.com/office/drawing/2014/main" id="{5AAC1483-935C-45DD-B18E-017F55C621F6}"/>
              </a:ext>
            </a:extLst>
          </p:cNvPr>
          <p:cNvSpPr>
            <a:spLocks xmlns:a="http://schemas.openxmlformats.org/drawingml/2006/main" noGrp="1"/>
          </p:cNvSpPr>
          <p:nvPr/>
        </p:nvSpPr>
        <p:spPr>
          <a:xfrm xmlns:a="http://schemas.openxmlformats.org/drawingml/2006/main">
            <a:off x="295275" y="8172450"/>
            <a:ext cx="2771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0343A"/>
                </a:solidFill>
                <a:latin typeface="Carlito"/>
                <a:ea typeface="Carlito"/>
                <a:cs typeface="Carlito"/>
              </a:defRPr>
            </a:pPr>
            <a:r>
              <a:rPr sz="1500" b="0">
                <a:solidFill>
                  <a:srgbClr val="30343A"/>
                </a:solidFill>
                <a:latin typeface="Carlito"/>
                <a:ea typeface="Carlito"/>
                <a:cs typeface="Carlito"/>
              </a:rPr>
              <a:t>API Target Architecture</a:t>
            </a:r>
          </a:p>
        </p:txBody>
      </p:sp>
      <p:sp>
        <p:nvSpPr>
          <p:cNvPr id="21" name="page-number">
            <a:extLst xmlns:a="http://schemas.openxmlformats.org/drawingml/2006/main">
              <a:ext uri="{FF2B5EF4-FFF2-40B4-BE49-F238E27FC236}">
                <a16:creationId xmlns:a16="http://schemas.microsoft.com/office/drawing/2014/main" id="{909A0AB7-A6F1-4463-B3AF-CB30696D3A6D}"/>
              </a:ext>
            </a:extLst>
          </p:cNvPr>
          <p:cNvSpPr>
            <a:spLocks xmlns:a="http://schemas.openxmlformats.org/drawingml/2006/main" noGrp="1"/>
          </p:cNvSpPr>
          <p:nvPr/>
        </p:nvSpPr>
        <p:spPr>
          <a:xfrm xmlns:a="http://schemas.openxmlformats.org/drawingml/2006/main">
            <a:off x="14458950" y="8162925"/>
            <a:ext cx="4476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70757C"/>
                </a:solidFill>
                <a:latin typeface="Carlito"/>
                <a:ea typeface="Carlito"/>
                <a:cs typeface="Carlito"/>
              </a:defRPr>
            </a:pPr>
            <a:r>
              <a:rPr sz="1350" b="0">
                <a:solidFill>
                  <a:srgbClr val="70757C"/>
                </a:solidFill>
                <a:latin typeface="Carlito"/>
                <a:ea typeface="Carlito"/>
                <a:cs typeface="Carlito"/>
              </a:rPr>
              <a:t>13</a:t>
            </a:r>
          </a:p>
        </p:txBody>
      </p:sp>
      <p:sp>
        <p:nvSpPr>
          <p:cNvPr id="22" name="text">
            <a:extLst xmlns:a="http://schemas.openxmlformats.org/drawingml/2006/main">
              <a:ext uri="{FF2B5EF4-FFF2-40B4-BE49-F238E27FC236}">
                <a16:creationId xmlns:a16="http://schemas.microsoft.com/office/drawing/2014/main" id="{5C6DA873-2D35-4A01-8E89-BB5F80F3C9F0}"/>
              </a:ext>
            </a:extLst>
          </p:cNvPr>
          <p:cNvSpPr>
            <a:spLocks xmlns:a="http://schemas.openxmlformats.org/drawingml/2006/main" noGrp="1"/>
          </p:cNvSpPr>
          <p:nvPr/>
        </p:nvSpPr>
        <p:spPr>
          <a:xfrm xmlns:a="http://schemas.openxmlformats.org/drawingml/2006/main">
            <a:off x="361950" y="1790700"/>
            <a:ext cx="1447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0343A"/>
                </a:solidFill>
                <a:latin typeface="Carlito"/>
                <a:ea typeface="Carlito"/>
                <a:cs typeface="Carlito"/>
              </a:defRPr>
            </a:pPr>
            <a:r>
              <a:rPr sz="1500" b="0">
                <a:solidFill>
                  <a:srgbClr val="30343A"/>
                </a:solidFill>
                <a:latin typeface="Carlito"/>
                <a:ea typeface="Carlito"/>
                <a:cs typeface="Carlito"/>
              </a:rPr>
              <a:t>Role: P = Euroclear provides APIs, C = Euroclear consumes APIs, B = both</a:t>
            </a:r>
          </a:p>
        </p:txBody>
      </p:sp>
      <p:sp>
        <p:nvSpPr>
          <p:cNvPr id="23" name="text">
            <a:extLst xmlns:a="http://schemas.openxmlformats.org/drawingml/2006/main">
              <a:ext uri="{FF2B5EF4-FFF2-40B4-BE49-F238E27FC236}">
                <a16:creationId xmlns:a16="http://schemas.microsoft.com/office/drawing/2014/main" id="{DF8DC6E5-03E3-4688-90AC-6D4736EE6BD1}"/>
              </a:ext>
            </a:extLst>
          </p:cNvPr>
          <p:cNvSpPr>
            <a:spLocks xmlns:a="http://schemas.openxmlformats.org/drawingml/2006/main" noGrp="1"/>
          </p:cNvSpPr>
          <p:nvPr/>
        </p:nvSpPr>
        <p:spPr>
          <a:xfrm xmlns:a="http://schemas.openxmlformats.org/drawingml/2006/main">
            <a:off x="361950" y="2095500"/>
            <a:ext cx="1447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0343A"/>
                </a:solidFill>
                <a:latin typeface="Carlito"/>
                <a:ea typeface="Carlito"/>
                <a:cs typeface="Carlito"/>
              </a:defRPr>
            </a:pPr>
            <a:r>
              <a:rPr sz="1500" b="0">
                <a:solidFill>
                  <a:srgbClr val="30343A"/>
                </a:solidFill>
                <a:latin typeface="Carlito"/>
                <a:ea typeface="Carlito"/>
                <a:cs typeface="Carlito"/>
              </a:rPr>
              <a:t>Reported state: E = established, W = work in progress, Y = yet to start</a:t>
            </a:r>
          </a:p>
        </p:txBody>
      </p:sp>
      <p:sp>
        <p:nvSpPr>
          <p:cNvPr id="24" name="text">
            <a:extLst xmlns:a="http://schemas.openxmlformats.org/drawingml/2006/main">
              <a:ext uri="{FF2B5EF4-FFF2-40B4-BE49-F238E27FC236}">
                <a16:creationId xmlns:a16="http://schemas.microsoft.com/office/drawing/2014/main" id="{052AF38A-2E10-4FEF-BA94-A0CC8DE1F2D3}"/>
              </a:ext>
            </a:extLst>
          </p:cNvPr>
          <p:cNvSpPr>
            <a:spLocks xmlns:a="http://schemas.openxmlformats.org/drawingml/2006/main" noGrp="1"/>
          </p:cNvSpPr>
          <p:nvPr/>
        </p:nvSpPr>
        <p:spPr>
          <a:xfrm xmlns:a="http://schemas.openxmlformats.org/drawingml/2006/main">
            <a:off x="342900" y="2562225"/>
            <a:ext cx="710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1632"/>
                </a:solidFill>
                <a:latin typeface="Carlito"/>
                <a:ea typeface="Carlito"/>
                <a:cs typeface="Carlito"/>
              </a:defRPr>
            </a:pPr>
            <a:r>
              <a:rPr sz="2100" b="1">
                <a:solidFill>
                  <a:srgbClr val="A91632"/>
                </a:solidFill>
                <a:latin typeface="Carlito"/>
                <a:ea typeface="Carlito"/>
                <a:cs typeface="Carlito"/>
              </a:rPr>
              <a:t>Policy Management</a:t>
            </a:r>
          </a:p>
        </p:txBody>
      </p:sp>
      <p:graphicFrame>
        <p:nvGraphicFramePr>
          <p:cNvPr id="54" name=""/>
          <p:cNvGraphicFramePr/>
          <p:nvPr/>
        </p:nvGraphicFramePr>
        <p:xfrm>
          <a:off xmlns:a="http://schemas.openxmlformats.org/drawingml/2006/main" x="342900" y="2971800"/>
          <a:ext xmlns:a="http://schemas.openxmlformats.org/drawingml/2006/main" cx="7105650" cy="4257675"/>
        </p:xfrm>
        <a:graphic xmlns:a="http://schemas.openxmlformats.org/drawingml/2006/main">
          <a:graphicData uri="http://schemas.openxmlformats.org/drawingml/2006/table">
            <a:tbl>
              <a:tblPr firstRow="0" bandRow="0"/>
              <a:tblGrid>
                <a:gridCol w="5562600"/>
                <a:gridCol w="685800"/>
                <a:gridCol w="857250"/>
              </a:tblGrid>
              <a:tr h="352425">
                <a:tc>
                  <a:txBody>
                    <a:bodyPr>
                      <a:noAutofit/>
                    </a:bodyPr>
                    <a:lstStyle/>
                    <a:p>
                      <a:r>
                        <a:rPr sz="1425" b="1">
                          <a:solidFill>
                            <a:srgbClr val="FFFFFF"/>
                          </a:solidFill>
                          <a:latin typeface="Carlito"/>
                          <a:ea typeface="Carlito"/>
                          <a:cs typeface="Carlito"/>
                        </a:rPr>
                        <a:t>Capability</a:t>
                      </a:r>
                    </a:p>
                  </a:txBody>
                  <a:tcPr marL="95250" marR="95250" marT="28575" marB="28575" anchor="t">
                    <a:solidFill>
                      <a:srgbClr val="BE1738"/>
                    </a:solidFill>
                  </a:tcPr>
                </a:tc>
                <a:tc>
                  <a:txBody>
                    <a:bodyPr>
                      <a:noAutofit/>
                    </a:bodyPr>
                    <a:lstStyle/>
                    <a:p>
                      <a:r>
                        <a:rPr sz="1425" b="1">
                          <a:solidFill>
                            <a:srgbClr val="FFFFFF"/>
                          </a:solidFill>
                          <a:latin typeface="Carlito"/>
                          <a:ea typeface="Carlito"/>
                          <a:cs typeface="Carlito"/>
                        </a:rPr>
                        <a:t>Role</a:t>
                      </a:r>
                    </a:p>
                  </a:txBody>
                  <a:tcPr marL="95250" marR="95250" marT="28575" marB="28575" anchor="t">
                    <a:solidFill>
                      <a:srgbClr val="BE1738"/>
                    </a:solidFill>
                  </a:tcPr>
                </a:tc>
                <a:tc>
                  <a:txBody>
                    <a:bodyPr>
                      <a:noAutofit/>
                    </a:bodyPr>
                    <a:lstStyle/>
                    <a:p>
                      <a:r>
                        <a:rPr sz="1425" b="1">
                          <a:solidFill>
                            <a:srgbClr val="FFFFFF"/>
                          </a:solidFill>
                          <a:latin typeface="Carlito"/>
                          <a:ea typeface="Carlito"/>
                          <a:cs typeface="Carlito"/>
                        </a:rPr>
                        <a:t>State</a:t>
                      </a:r>
                    </a:p>
                  </a:txBody>
                  <a:tcPr marL="95250" marR="95250" marT="28575" marB="28575" anchor="t">
                    <a:solidFill>
                      <a:srgbClr val="BE1738"/>
                    </a:solidFill>
                  </a:tcPr>
                </a:tc>
              </a:tr>
              <a:tr h="390525">
                <a:tc>
                  <a:txBody>
                    <a:bodyPr>
                      <a:noAutofit/>
                    </a:bodyPr>
                    <a:lstStyle/>
                    <a:p>
                      <a:r>
                        <a:rPr sz="1500" b="0">
                          <a:solidFill>
                            <a:srgbClr val="30343A"/>
                          </a:solidFill>
                          <a:latin typeface="Carlito"/>
                          <a:ea typeface="Carlito"/>
                          <a:cs typeface="Carlito"/>
                        </a:rPr>
                        <a:t>Regulatory compliance policy mapping</a:t>
                      </a:r>
                    </a:p>
                  </a:txBody>
                  <a:tcPr marL="95250" marR="95250" marT="28575" marB="28575" anchor="t">
                    <a:solidFill>
                      <a:srgbClr val="FFFFFF"/>
                    </a:solidFill>
                  </a:tcPr>
                </a:tc>
                <a:tc>
                  <a:txBody>
                    <a:bodyPr>
                      <a:noAutofit/>
                    </a:bodyPr>
                    <a:lstStyle/>
                    <a:p>
                      <a:pPr algn="ctr"/>
                      <a:r>
                        <a:rPr sz="1500" b="0">
                          <a:solidFill>
                            <a:srgbClr val="70757C"/>
                          </a:solidFill>
                          <a:latin typeface="Carlito"/>
                          <a:ea typeface="Carlito"/>
                          <a:cs typeface="Carlito"/>
                        </a:rPr>
                        <a:t>B</a:t>
                      </a:r>
                    </a:p>
                  </a:txBody>
                  <a:tcPr marL="95250" marR="95250" marT="28575" marB="28575" anchor="ctr">
                    <a:solidFill>
                      <a:srgbClr val="FFFFFF"/>
                    </a:solidFill>
                  </a:tcPr>
                </a:tc>
                <a:tc>
                  <a:txBody>
                    <a:bodyPr>
                      <a:noAutofit/>
                    </a:bodyPr>
                    <a:lstStyle/>
                    <a:p>
                      <a:pPr algn="ctr"/>
                      <a:r>
                        <a:rPr sz="1500" b="1">
                          <a:solidFill>
                            <a:srgbClr val="288C87"/>
                          </a:solidFill>
                          <a:latin typeface="Carlito"/>
                          <a:ea typeface="Carlito"/>
                          <a:cs typeface="Carlito"/>
                        </a:rPr>
                        <a:t>E</a:t>
                      </a:r>
                    </a:p>
                  </a:txBody>
                  <a:tcPr marL="95250" marR="95250" marT="28575" marB="28575" anchor="ctr">
                    <a:solidFill>
                      <a:srgbClr val="E8F4F2"/>
                    </a:solidFill>
                  </a:tcPr>
                </a:tc>
              </a:tr>
              <a:tr h="390525">
                <a:tc>
                  <a:txBody>
                    <a:bodyPr>
                      <a:noAutofit/>
                    </a:bodyPr>
                    <a:lstStyle/>
                    <a:p>
                      <a:r>
                        <a:rPr sz="1500" b="0">
                          <a:solidFill>
                            <a:srgbClr val="30343A"/>
                          </a:solidFill>
                          <a:latin typeface="Carlito"/>
                          <a:ea typeface="Carlito"/>
                          <a:cs typeface="Carlito"/>
                        </a:rPr>
                        <a:t>Policy design and authoring</a:t>
                      </a:r>
                    </a:p>
                  </a:txBody>
                  <a:tcPr marL="95250" marR="95250" marT="28575" marB="28575" anchor="t">
                    <a:solidFill>
                      <a:srgbClr val="F4F5F6"/>
                    </a:solidFill>
                  </a:tcPr>
                </a:tc>
                <a:tc>
                  <a:txBody>
                    <a:bodyPr>
                      <a:noAutofit/>
                    </a:bodyPr>
                    <a:lstStyle/>
                    <a:p>
                      <a:pPr algn="ctr"/>
                      <a:r>
                        <a:rPr sz="1500" b="0">
                          <a:solidFill>
                            <a:srgbClr val="70757C"/>
                          </a:solidFill>
                          <a:latin typeface="Carlito"/>
                          <a:ea typeface="Carlito"/>
                          <a:cs typeface="Carlito"/>
                        </a:rPr>
                        <a:t>B</a:t>
                      </a:r>
                    </a:p>
                  </a:txBody>
                  <a:tcPr marL="95250" marR="95250" marT="28575" marB="28575" anchor="ctr">
                    <a:solidFill>
                      <a:srgbClr val="F4F5F6"/>
                    </a:solidFill>
                  </a:tcPr>
                </a:tc>
                <a:tc>
                  <a:txBody>
                    <a:bodyPr>
                      <a:noAutofit/>
                    </a:bodyPr>
                    <a:lstStyle/>
                    <a:p>
                      <a:pPr algn="ctr"/>
                      <a:r>
                        <a:rPr sz="1500" b="1">
                          <a:solidFill>
                            <a:srgbClr val="288C87"/>
                          </a:solidFill>
                          <a:latin typeface="Carlito"/>
                          <a:ea typeface="Carlito"/>
                          <a:cs typeface="Carlito"/>
                        </a:rPr>
                        <a:t>E</a:t>
                      </a:r>
                    </a:p>
                  </a:txBody>
                  <a:tcPr marL="95250" marR="95250" marT="28575" marB="28575" anchor="ctr">
                    <a:solidFill>
                      <a:srgbClr val="E8F4F2"/>
                    </a:solidFill>
                  </a:tcPr>
                </a:tc>
              </a:tr>
              <a:tr h="390525">
                <a:tc>
                  <a:txBody>
                    <a:bodyPr>
                      <a:noAutofit/>
                    </a:bodyPr>
                    <a:lstStyle/>
                    <a:p>
                      <a:r>
                        <a:rPr sz="1500" b="0">
                          <a:solidFill>
                            <a:srgbClr val="30343A"/>
                          </a:solidFill>
                          <a:latin typeface="Carlito"/>
                          <a:ea typeface="Carlito"/>
                          <a:cs typeface="Carlito"/>
                        </a:rPr>
                        <a:t>Data privacy, masking and residency policies</a:t>
                      </a:r>
                    </a:p>
                  </a:txBody>
                  <a:tcPr marL="95250" marR="95250" marT="28575" marB="28575" anchor="t">
                    <a:solidFill>
                      <a:srgbClr val="FFFFFF"/>
                    </a:solidFill>
                  </a:tcPr>
                </a:tc>
                <a:tc>
                  <a:txBody>
                    <a:bodyPr>
                      <a:noAutofit/>
                    </a:bodyPr>
                    <a:lstStyle/>
                    <a:p>
                      <a:pPr algn="ctr"/>
                      <a:r>
                        <a:rPr sz="1500" b="0">
                          <a:solidFill>
                            <a:srgbClr val="70757C"/>
                          </a:solidFill>
                          <a:latin typeface="Carlito"/>
                          <a:ea typeface="Carlito"/>
                          <a:cs typeface="Carlito"/>
                        </a:rPr>
                        <a:t>B</a:t>
                      </a:r>
                    </a:p>
                  </a:txBody>
                  <a:tcPr marL="95250" marR="95250" marT="28575" marB="28575" anchor="ctr">
                    <a:solidFill>
                      <a:srgbClr val="FFFFFF"/>
                    </a:solidFill>
                  </a:tcPr>
                </a:tc>
                <a:tc>
                  <a:txBody>
                    <a:bodyPr>
                      <a:noAutofit/>
                    </a:bodyPr>
                    <a:lstStyle/>
                    <a:p>
                      <a:pPr algn="ctr"/>
                      <a:r>
                        <a:rPr sz="1500" b="1">
                          <a:solidFill>
                            <a:srgbClr val="288C87"/>
                          </a:solidFill>
                          <a:latin typeface="Carlito"/>
                          <a:ea typeface="Carlito"/>
                          <a:cs typeface="Carlito"/>
                        </a:rPr>
                        <a:t>E</a:t>
                      </a:r>
                    </a:p>
                  </a:txBody>
                  <a:tcPr marL="95250" marR="95250" marT="28575" marB="28575" anchor="ctr">
                    <a:solidFill>
                      <a:srgbClr val="E8F4F2"/>
                    </a:solidFill>
                  </a:tcPr>
                </a:tc>
              </a:tr>
              <a:tr h="390525">
                <a:tc>
                  <a:txBody>
                    <a:bodyPr>
                      <a:noAutofit/>
                    </a:bodyPr>
                    <a:lstStyle/>
                    <a:p>
                      <a:r>
                        <a:rPr sz="1500" b="0">
                          <a:solidFill>
                            <a:srgbClr val="30343A"/>
                          </a:solidFill>
                          <a:latin typeface="Carlito"/>
                          <a:ea typeface="Carlito"/>
                          <a:cs typeface="Carlito"/>
                        </a:rPr>
                        <a:t>Policy enforcement point configuration</a:t>
                      </a:r>
                    </a:p>
                  </a:txBody>
                  <a:tcPr marL="95250" marR="95250" marT="28575" marB="28575" anchor="t">
                    <a:solidFill>
                      <a:srgbClr val="F4F5F6"/>
                    </a:solidFill>
                  </a:tcPr>
                </a:tc>
                <a:tc>
                  <a:txBody>
                    <a:bodyPr>
                      <a:noAutofit/>
                    </a:bodyPr>
                    <a:lstStyle/>
                    <a:p>
                      <a:pPr algn="ctr"/>
                      <a:r>
                        <a:rPr sz="1500" b="0">
                          <a:solidFill>
                            <a:srgbClr val="70757C"/>
                          </a:solidFill>
                          <a:latin typeface="Carlito"/>
                          <a:ea typeface="Carlito"/>
                          <a:cs typeface="Carlito"/>
                        </a:rPr>
                        <a:t>B</a:t>
                      </a:r>
                    </a:p>
                  </a:txBody>
                  <a:tcPr marL="95250" marR="95250" marT="28575" marB="28575" anchor="ctr">
                    <a:solidFill>
                      <a:srgbClr val="F4F5F6"/>
                    </a:solidFill>
                  </a:tcPr>
                </a:tc>
                <a:tc>
                  <a:txBody>
                    <a:bodyPr>
                      <a:noAutofit/>
                    </a:bodyPr>
                    <a:lstStyle/>
                    <a:p>
                      <a:pPr algn="ctr"/>
                      <a:r>
                        <a:rPr sz="1500" b="1">
                          <a:solidFill>
                            <a:srgbClr val="946125"/>
                          </a:solidFill>
                          <a:latin typeface="Carlito"/>
                          <a:ea typeface="Carlito"/>
                          <a:cs typeface="Carlito"/>
                        </a:rPr>
                        <a:t>W</a:t>
                      </a:r>
                    </a:p>
                  </a:txBody>
                  <a:tcPr marL="95250" marR="95250" marT="28575" marB="28575" anchor="ctr">
                    <a:solidFill>
                      <a:srgbClr val="FFF0DC"/>
                    </a:solidFill>
                  </a:tcPr>
                </a:tc>
              </a:tr>
              <a:tr h="390525">
                <a:tc>
                  <a:txBody>
                    <a:bodyPr>
                      <a:noAutofit/>
                    </a:bodyPr>
                    <a:lstStyle/>
                    <a:p>
                      <a:r>
                        <a:rPr sz="1500" b="0">
                          <a:solidFill>
                            <a:srgbClr val="30343A"/>
                          </a:solidFill>
                          <a:latin typeface="Carlito"/>
                          <a:ea typeface="Carlito"/>
                          <a:cs typeface="Carlito"/>
                        </a:rPr>
                        <a:t>Service-level definition, monitoring and enforcement</a:t>
                      </a:r>
                    </a:p>
                  </a:txBody>
                  <a:tcPr marL="95250" marR="95250" marT="28575" marB="28575" anchor="t">
                    <a:solidFill>
                      <a:srgbClr val="FFFFFF"/>
                    </a:solidFill>
                  </a:tcPr>
                </a:tc>
                <a:tc>
                  <a:txBody>
                    <a:bodyPr>
                      <a:noAutofit/>
                    </a:bodyPr>
                    <a:lstStyle/>
                    <a:p>
                      <a:pPr algn="ctr"/>
                      <a:r>
                        <a:rPr sz="1500" b="0">
                          <a:solidFill>
                            <a:srgbClr val="70757C"/>
                          </a:solidFill>
                          <a:latin typeface="Carlito"/>
                          <a:ea typeface="Carlito"/>
                          <a:cs typeface="Carlito"/>
                        </a:rPr>
                        <a:t>B</a:t>
                      </a:r>
                    </a:p>
                  </a:txBody>
                  <a:tcPr marL="95250" marR="95250" marT="28575" marB="28575" anchor="ctr">
                    <a:solidFill>
                      <a:srgbClr val="FFFFFF"/>
                    </a:solidFill>
                  </a:tcPr>
                </a:tc>
                <a:tc>
                  <a:txBody>
                    <a:bodyPr>
                      <a:noAutofit/>
                    </a:bodyPr>
                    <a:lstStyle/>
                    <a:p>
                      <a:pPr algn="ctr"/>
                      <a:r>
                        <a:rPr sz="1500" b="1">
                          <a:solidFill>
                            <a:srgbClr val="946125"/>
                          </a:solidFill>
                          <a:latin typeface="Carlito"/>
                          <a:ea typeface="Carlito"/>
                          <a:cs typeface="Carlito"/>
                        </a:rPr>
                        <a:t>W</a:t>
                      </a:r>
                    </a:p>
                  </a:txBody>
                  <a:tcPr marL="95250" marR="95250" marT="28575" marB="28575" anchor="ctr">
                    <a:solidFill>
                      <a:srgbClr val="FFF0DC"/>
                    </a:solidFill>
                  </a:tcPr>
                </a:tc>
              </a:tr>
              <a:tr h="390525">
                <a:tc>
                  <a:txBody>
                    <a:bodyPr>
                      <a:noAutofit/>
                    </a:bodyPr>
                    <a:lstStyle/>
                    <a:p>
                      <a:r>
                        <a:rPr sz="1500" b="0">
                          <a:solidFill>
                            <a:srgbClr val="30343A"/>
                          </a:solidFill>
                          <a:latin typeface="Carlito"/>
                          <a:ea typeface="Carlito"/>
                          <a:cs typeface="Carlito"/>
                        </a:rPr>
                        <a:t>Commercial / tiering policy</a:t>
                      </a:r>
                    </a:p>
                  </a:txBody>
                  <a:tcPr marL="95250" marR="95250" marT="28575" marB="28575" anchor="t">
                    <a:solidFill>
                      <a:srgbClr val="F4F5F6"/>
                    </a:solidFill>
                  </a:tcPr>
                </a:tc>
                <a:tc>
                  <a:txBody>
                    <a:bodyPr>
                      <a:noAutofit/>
                    </a:bodyPr>
                    <a:lstStyle/>
                    <a:p>
                      <a:pPr algn="ctr"/>
                      <a:r>
                        <a:rPr sz="1500" b="0">
                          <a:solidFill>
                            <a:srgbClr val="70757C"/>
                          </a:solidFill>
                          <a:latin typeface="Carlito"/>
                          <a:ea typeface="Carlito"/>
                          <a:cs typeface="Carlito"/>
                        </a:rPr>
                        <a:t>P</a:t>
                      </a:r>
                    </a:p>
                  </a:txBody>
                  <a:tcPr marL="95250" marR="95250" marT="28575" marB="28575" anchor="ctr">
                    <a:solidFill>
                      <a:srgbClr val="F4F5F6"/>
                    </a:solidFill>
                  </a:tcPr>
                </a:tc>
                <a:tc>
                  <a:txBody>
                    <a:bodyPr>
                      <a:noAutofit/>
                    </a:bodyPr>
                    <a:lstStyle/>
                    <a:p>
                      <a:pPr algn="ctr"/>
                      <a:r>
                        <a:rPr sz="1500" b="1">
                          <a:solidFill>
                            <a:srgbClr val="946125"/>
                          </a:solidFill>
                          <a:latin typeface="Carlito"/>
                          <a:ea typeface="Carlito"/>
                          <a:cs typeface="Carlito"/>
                        </a:rPr>
                        <a:t>W</a:t>
                      </a:r>
                    </a:p>
                  </a:txBody>
                  <a:tcPr marL="95250" marR="95250" marT="28575" marB="28575" anchor="ctr">
                    <a:solidFill>
                      <a:srgbClr val="FFF0DC"/>
                    </a:solidFill>
                  </a:tcPr>
                </a:tc>
              </a:tr>
              <a:tr h="390525">
                <a:tc>
                  <a:txBody>
                    <a:bodyPr>
                      <a:noAutofit/>
                    </a:bodyPr>
                    <a:lstStyle/>
                    <a:p>
                      <a:r>
                        <a:rPr sz="1500" b="0">
                          <a:solidFill>
                            <a:srgbClr val="30343A"/>
                          </a:solidFill>
                          <a:latin typeface="Carlito"/>
                          <a:ea typeface="Carlito"/>
                          <a:cs typeface="Carlito"/>
                        </a:rPr>
                        <a:t>Policy simulation and impact testing</a:t>
                      </a:r>
                    </a:p>
                  </a:txBody>
                  <a:tcPr marL="95250" marR="95250" marT="28575" marB="28575" anchor="t">
                    <a:solidFill>
                      <a:srgbClr val="FFFFFF"/>
                    </a:solidFill>
                  </a:tcPr>
                </a:tc>
                <a:tc>
                  <a:txBody>
                    <a:bodyPr>
                      <a:noAutofit/>
                    </a:bodyPr>
                    <a:lstStyle/>
                    <a:p>
                      <a:pPr algn="ctr"/>
                      <a:r>
                        <a:rPr sz="1500" b="0">
                          <a:solidFill>
                            <a:srgbClr val="70757C"/>
                          </a:solidFill>
                          <a:latin typeface="Carlito"/>
                          <a:ea typeface="Carlito"/>
                          <a:cs typeface="Carlito"/>
                        </a:rPr>
                        <a:t>B</a:t>
                      </a:r>
                    </a:p>
                  </a:txBody>
                  <a:tcPr marL="95250" marR="95250" marT="28575" marB="28575" anchor="ctr">
                    <a:solidFill>
                      <a:srgbClr val="FFFFFF"/>
                    </a:solidFill>
                  </a:tcPr>
                </a:tc>
                <a:tc>
                  <a:txBody>
                    <a:bodyPr>
                      <a:noAutofit/>
                    </a:bodyPr>
                    <a:lstStyle/>
                    <a:p>
                      <a:pPr algn="ctr"/>
                      <a:r>
                        <a:rPr sz="1500" b="1">
                          <a:solidFill>
                            <a:srgbClr val="946125"/>
                          </a:solidFill>
                          <a:latin typeface="Carlito"/>
                          <a:ea typeface="Carlito"/>
                          <a:cs typeface="Carlito"/>
                        </a:rPr>
                        <a:t>W</a:t>
                      </a:r>
                    </a:p>
                  </a:txBody>
                  <a:tcPr marL="95250" marR="95250" marT="28575" marB="28575" anchor="ctr">
                    <a:solidFill>
                      <a:srgbClr val="FFF0DC"/>
                    </a:solidFill>
                  </a:tcPr>
                </a:tc>
              </a:tr>
              <a:tr h="390525">
                <a:tc>
                  <a:txBody>
                    <a:bodyPr>
                      <a:noAutofit/>
                    </a:bodyPr>
                    <a:lstStyle/>
                    <a:p>
                      <a:r>
                        <a:rPr sz="1500" b="0">
                          <a:solidFill>
                            <a:srgbClr val="30343A"/>
                          </a:solidFill>
                          <a:latin typeface="Carlito"/>
                          <a:ea typeface="Carlito"/>
                          <a:cs typeface="Carlito"/>
                        </a:rPr>
                        <a:t>Agentic action risk-tiering policy</a:t>
                      </a:r>
                    </a:p>
                  </a:txBody>
                  <a:tcPr marL="95250" marR="95250" marT="28575" marB="28575" anchor="t">
                    <a:solidFill>
                      <a:srgbClr val="F4F5F6"/>
                    </a:solidFill>
                  </a:tcPr>
                </a:tc>
                <a:tc>
                  <a:txBody>
                    <a:bodyPr>
                      <a:noAutofit/>
                    </a:bodyPr>
                    <a:lstStyle/>
                    <a:p>
                      <a:pPr algn="ctr"/>
                      <a:r>
                        <a:rPr sz="1500" b="0">
                          <a:solidFill>
                            <a:srgbClr val="70757C"/>
                          </a:solidFill>
                          <a:latin typeface="Carlito"/>
                          <a:ea typeface="Carlito"/>
                          <a:cs typeface="Carlito"/>
                        </a:rPr>
                        <a:t>B</a:t>
                      </a:r>
                    </a:p>
                  </a:txBody>
                  <a:tcPr marL="95250" marR="95250" marT="28575" marB="28575" anchor="ctr">
                    <a:solidFill>
                      <a:srgbClr val="F4F5F6"/>
                    </a:solidFill>
                  </a:tcPr>
                </a:tc>
                <a:tc>
                  <a:txBody>
                    <a:bodyPr>
                      <a:noAutofit/>
                    </a:bodyPr>
                    <a:lstStyle/>
                    <a:p>
                      <a:pPr algn="ctr"/>
                      <a:r>
                        <a:rPr sz="1500" b="1">
                          <a:solidFill>
                            <a:srgbClr val="70757C"/>
                          </a:solidFill>
                          <a:latin typeface="Carlito"/>
                          <a:ea typeface="Carlito"/>
                          <a:cs typeface="Carlito"/>
                        </a:rPr>
                        <a:t>Y</a:t>
                      </a:r>
                    </a:p>
                  </a:txBody>
                  <a:tcPr marL="95250" marR="95250" marT="28575" marB="28575" anchor="ctr">
                    <a:solidFill>
                      <a:srgbClr val="FFFFFF"/>
                    </a:solidFill>
                  </a:tcPr>
                </a:tc>
              </a:tr>
              <a:tr h="390525">
                <a:tc>
                  <a:txBody>
                    <a:bodyPr>
                      <a:noAutofit/>
                    </a:bodyPr>
                    <a:lstStyle/>
                    <a:p>
                      <a:r>
                        <a:rPr sz="1500" b="0">
                          <a:solidFill>
                            <a:srgbClr val="30343A"/>
                          </a:solidFill>
                          <a:latin typeface="Carlito"/>
                          <a:ea typeface="Carlito"/>
                          <a:cs typeface="Carlito"/>
                        </a:rPr>
                        <a:t>Consent and session-scope policy for agents</a:t>
                      </a:r>
                    </a:p>
                  </a:txBody>
                  <a:tcPr marL="95250" marR="95250" marT="28575" marB="28575" anchor="t">
                    <a:solidFill>
                      <a:srgbClr val="FFFFFF"/>
                    </a:solidFill>
                  </a:tcPr>
                </a:tc>
                <a:tc>
                  <a:txBody>
                    <a:bodyPr>
                      <a:noAutofit/>
                    </a:bodyPr>
                    <a:lstStyle/>
                    <a:p>
                      <a:pPr algn="ctr"/>
                      <a:r>
                        <a:rPr sz="1500" b="0">
                          <a:solidFill>
                            <a:srgbClr val="70757C"/>
                          </a:solidFill>
                          <a:latin typeface="Carlito"/>
                          <a:ea typeface="Carlito"/>
                          <a:cs typeface="Carlito"/>
                        </a:rPr>
                        <a:t>B</a:t>
                      </a:r>
                    </a:p>
                  </a:txBody>
                  <a:tcPr marL="95250" marR="95250" marT="28575" marB="28575" anchor="ctr">
                    <a:solidFill>
                      <a:srgbClr val="FFFFFF"/>
                    </a:solidFill>
                  </a:tcPr>
                </a:tc>
                <a:tc>
                  <a:txBody>
                    <a:bodyPr>
                      <a:noAutofit/>
                    </a:bodyPr>
                    <a:lstStyle/>
                    <a:p>
                      <a:pPr algn="ctr"/>
                      <a:r>
                        <a:rPr sz="1500" b="1">
                          <a:solidFill>
                            <a:srgbClr val="70757C"/>
                          </a:solidFill>
                          <a:latin typeface="Carlito"/>
                          <a:ea typeface="Carlito"/>
                          <a:cs typeface="Carlito"/>
                        </a:rPr>
                        <a:t>Y</a:t>
                      </a:r>
                    </a:p>
                  </a:txBody>
                  <a:tcPr marL="95250" marR="95250" marT="28575" marB="28575" anchor="ctr">
                    <a:solidFill>
                      <a:srgbClr val="FFFFFF"/>
                    </a:solidFill>
                  </a:tcPr>
                </a:tc>
              </a:tr>
              <a:tr h="390525">
                <a:tc>
                  <a:txBody>
                    <a:bodyPr>
                      <a:noAutofit/>
                    </a:bodyPr>
                    <a:lstStyle/>
                    <a:p>
                      <a:r>
                        <a:rPr sz="1500" b="0">
                          <a:solidFill>
                            <a:srgbClr val="30343A"/>
                          </a:solidFill>
                          <a:latin typeface="Carlito"/>
                          <a:ea typeface="Carlito"/>
                          <a:cs typeface="Carlito"/>
                        </a:rPr>
                        <a:t>Tool / server trust and provenance policy</a:t>
                      </a:r>
                    </a:p>
                  </a:txBody>
                  <a:tcPr marL="95250" marR="95250" marT="28575" marB="28575" anchor="t">
                    <a:solidFill>
                      <a:srgbClr val="F4F5F6"/>
                    </a:solidFill>
                  </a:tcPr>
                </a:tc>
                <a:tc>
                  <a:txBody>
                    <a:bodyPr>
                      <a:noAutofit/>
                    </a:bodyPr>
                    <a:lstStyle/>
                    <a:p>
                      <a:pPr algn="ctr"/>
                      <a:r>
                        <a:rPr sz="1500" b="0">
                          <a:solidFill>
                            <a:srgbClr val="70757C"/>
                          </a:solidFill>
                          <a:latin typeface="Carlito"/>
                          <a:ea typeface="Carlito"/>
                          <a:cs typeface="Carlito"/>
                        </a:rPr>
                        <a:t>B</a:t>
                      </a:r>
                    </a:p>
                  </a:txBody>
                  <a:tcPr marL="95250" marR="95250" marT="28575" marB="28575" anchor="ctr">
                    <a:solidFill>
                      <a:srgbClr val="F4F5F6"/>
                    </a:solidFill>
                  </a:tcPr>
                </a:tc>
                <a:tc>
                  <a:txBody>
                    <a:bodyPr>
                      <a:noAutofit/>
                    </a:bodyPr>
                    <a:lstStyle/>
                    <a:p>
                      <a:pPr algn="ctr"/>
                      <a:r>
                        <a:rPr sz="1500" b="1">
                          <a:solidFill>
                            <a:srgbClr val="70757C"/>
                          </a:solidFill>
                          <a:latin typeface="Carlito"/>
                          <a:ea typeface="Carlito"/>
                          <a:cs typeface="Carlito"/>
                        </a:rPr>
                        <a:t>Y</a:t>
                      </a:r>
                    </a:p>
                  </a:txBody>
                  <a:tcPr marL="95250" marR="95250" marT="28575" marB="28575" anchor="ctr">
                    <a:solidFill>
                      <a:srgbClr val="FFFFFF"/>
                    </a:solidFill>
                  </a:tcPr>
                </a:tc>
              </a:tr>
            </a:tbl>
          </a:graphicData>
        </a:graphic>
      </p:graphicFrame>
      <p:sp>
        <p:nvSpPr>
          <p:cNvPr id="26" name="text">
            <a:extLst xmlns:a="http://schemas.openxmlformats.org/drawingml/2006/main">
              <a:ext uri="{FF2B5EF4-FFF2-40B4-BE49-F238E27FC236}">
                <a16:creationId xmlns:a16="http://schemas.microsoft.com/office/drawing/2014/main" id="{1B5F3C17-3E8B-41DB-A8EA-1828AA80715D}"/>
              </a:ext>
            </a:extLst>
          </p:cNvPr>
          <p:cNvSpPr>
            <a:spLocks xmlns:a="http://schemas.openxmlformats.org/drawingml/2006/main" noGrp="1"/>
          </p:cNvSpPr>
          <p:nvPr/>
        </p:nvSpPr>
        <p:spPr>
          <a:xfrm xmlns:a="http://schemas.openxmlformats.org/drawingml/2006/main">
            <a:off x="7791450" y="2562225"/>
            <a:ext cx="710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1632"/>
                </a:solidFill>
                <a:latin typeface="Carlito"/>
                <a:ea typeface="Carlito"/>
                <a:cs typeface="Carlito"/>
              </a:defRPr>
            </a:pPr>
            <a:r>
              <a:rPr sz="2100" b="1">
                <a:solidFill>
                  <a:srgbClr val="A91632"/>
                </a:solidFill>
                <a:latin typeface="Carlito"/>
                <a:ea typeface="Carlito"/>
                <a:cs typeface="Carlito"/>
              </a:rPr>
              <a:t>API Gateway and Runtime</a:t>
            </a:r>
          </a:p>
        </p:txBody>
      </p:sp>
      <p:graphicFrame>
        <p:nvGraphicFramePr>
          <p:cNvPr id="56" name=""/>
          <p:cNvGraphicFramePr/>
          <p:nvPr/>
        </p:nvGraphicFramePr>
        <p:xfrm>
          <a:off xmlns:a="http://schemas.openxmlformats.org/drawingml/2006/main" x="7791450" y="2971800"/>
          <a:ext xmlns:a="http://schemas.openxmlformats.org/drawingml/2006/main" cx="7105650" cy="4810125"/>
        </p:xfrm>
        <a:graphic xmlns:a="http://schemas.openxmlformats.org/drawingml/2006/main">
          <a:graphicData uri="http://schemas.openxmlformats.org/drawingml/2006/table">
            <a:tbl>
              <a:tblPr firstRow="0" bandRow="0"/>
              <a:tblGrid>
                <a:gridCol w="5562600"/>
                <a:gridCol w="685800"/>
                <a:gridCol w="857250"/>
              </a:tblGrid>
              <a:tr h="352425">
                <a:tc>
                  <a:txBody>
                    <a:bodyPr>
                      <a:noAutofit/>
                    </a:bodyPr>
                    <a:lstStyle/>
                    <a:p>
                      <a:r>
                        <a:rPr sz="1425" b="1">
                          <a:solidFill>
                            <a:srgbClr val="FFFFFF"/>
                          </a:solidFill>
                          <a:latin typeface="Carlito"/>
                          <a:ea typeface="Carlito"/>
                          <a:cs typeface="Carlito"/>
                        </a:rPr>
                        <a:t>Capability</a:t>
                      </a:r>
                    </a:p>
                  </a:txBody>
                  <a:tcPr marL="95250" marR="95250" marT="28575" marB="28575" anchor="t">
                    <a:solidFill>
                      <a:srgbClr val="BE1738"/>
                    </a:solidFill>
                  </a:tcPr>
                </a:tc>
                <a:tc>
                  <a:txBody>
                    <a:bodyPr>
                      <a:noAutofit/>
                    </a:bodyPr>
                    <a:lstStyle/>
                    <a:p>
                      <a:r>
                        <a:rPr sz="1425" b="1">
                          <a:solidFill>
                            <a:srgbClr val="FFFFFF"/>
                          </a:solidFill>
                          <a:latin typeface="Carlito"/>
                          <a:ea typeface="Carlito"/>
                          <a:cs typeface="Carlito"/>
                        </a:rPr>
                        <a:t>Role</a:t>
                      </a:r>
                    </a:p>
                  </a:txBody>
                  <a:tcPr marL="95250" marR="95250" marT="28575" marB="28575" anchor="t">
                    <a:solidFill>
                      <a:srgbClr val="BE1738"/>
                    </a:solidFill>
                  </a:tcPr>
                </a:tc>
                <a:tc>
                  <a:txBody>
                    <a:bodyPr>
                      <a:noAutofit/>
                    </a:bodyPr>
                    <a:lstStyle/>
                    <a:p>
                      <a:r>
                        <a:rPr sz="1425" b="1">
                          <a:solidFill>
                            <a:srgbClr val="FFFFFF"/>
                          </a:solidFill>
                          <a:latin typeface="Carlito"/>
                          <a:ea typeface="Carlito"/>
                          <a:cs typeface="Carlito"/>
                        </a:rPr>
                        <a:t>State</a:t>
                      </a:r>
                    </a:p>
                  </a:txBody>
                  <a:tcPr marL="95250" marR="95250" marT="28575" marB="28575" anchor="t">
                    <a:solidFill>
                      <a:srgbClr val="BE1738"/>
                    </a:solidFill>
                  </a:tcPr>
                </a:tc>
              </a:tr>
              <a:tr h="342900">
                <a:tc>
                  <a:txBody>
                    <a:bodyPr>
                      <a:noAutofit/>
                    </a:bodyPr>
                    <a:lstStyle/>
                    <a:p>
                      <a:r>
                        <a:rPr sz="1500" b="0">
                          <a:solidFill>
                            <a:srgbClr val="30343A"/>
                          </a:solidFill>
                          <a:latin typeface="Carlito"/>
                          <a:ea typeface="Carlito"/>
                          <a:cs typeface="Carlito"/>
                        </a:rPr>
                        <a:t>Rate limiting and throttling</a:t>
                      </a:r>
                    </a:p>
                  </a:txBody>
                  <a:tcPr marL="95250" marR="95250" marT="28575" marB="28575" anchor="t">
                    <a:solidFill>
                      <a:srgbClr val="FFFFFF"/>
                    </a:solidFill>
                  </a:tcPr>
                </a:tc>
                <a:tc>
                  <a:txBody>
                    <a:bodyPr>
                      <a:noAutofit/>
                    </a:bodyPr>
                    <a:lstStyle/>
                    <a:p>
                      <a:pPr algn="ctr"/>
                      <a:r>
                        <a:rPr sz="1500" b="0">
                          <a:solidFill>
                            <a:srgbClr val="70757C"/>
                          </a:solidFill>
                          <a:latin typeface="Carlito"/>
                          <a:ea typeface="Carlito"/>
                          <a:cs typeface="Carlito"/>
                        </a:rPr>
                        <a:t>B</a:t>
                      </a:r>
                    </a:p>
                  </a:txBody>
                  <a:tcPr marL="95250" marR="95250" marT="28575" marB="28575" anchor="ctr">
                    <a:solidFill>
                      <a:srgbClr val="FFFFFF"/>
                    </a:solidFill>
                  </a:tcPr>
                </a:tc>
                <a:tc>
                  <a:txBody>
                    <a:bodyPr>
                      <a:noAutofit/>
                    </a:bodyPr>
                    <a:lstStyle/>
                    <a:p>
                      <a:pPr algn="ctr"/>
                      <a:r>
                        <a:rPr sz="1500" b="1">
                          <a:solidFill>
                            <a:srgbClr val="288C87"/>
                          </a:solidFill>
                          <a:latin typeface="Carlito"/>
                          <a:ea typeface="Carlito"/>
                          <a:cs typeface="Carlito"/>
                        </a:rPr>
                        <a:t>E</a:t>
                      </a:r>
                    </a:p>
                  </a:txBody>
                  <a:tcPr marL="95250" marR="95250" marT="28575" marB="28575" anchor="ctr">
                    <a:solidFill>
                      <a:srgbClr val="E8F4F2"/>
                    </a:solidFill>
                  </a:tcPr>
                </a:tc>
              </a:tr>
              <a:tr h="342900">
                <a:tc>
                  <a:txBody>
                    <a:bodyPr>
                      <a:noAutofit/>
                    </a:bodyPr>
                    <a:lstStyle/>
                    <a:p>
                      <a:r>
                        <a:rPr sz="1500" b="0">
                          <a:solidFill>
                            <a:srgbClr val="30343A"/>
                          </a:solidFill>
                          <a:latin typeface="Carlito"/>
                          <a:ea typeface="Carlito"/>
                          <a:cs typeface="Carlito"/>
                        </a:rPr>
                        <a:t>Resilience: retries, failover and circuit breaking</a:t>
                      </a:r>
                    </a:p>
                  </a:txBody>
                  <a:tcPr marL="95250" marR="95250" marT="28575" marB="28575" anchor="t">
                    <a:solidFill>
                      <a:srgbClr val="F4F5F6"/>
                    </a:solidFill>
                  </a:tcPr>
                </a:tc>
                <a:tc>
                  <a:txBody>
                    <a:bodyPr>
                      <a:noAutofit/>
                    </a:bodyPr>
                    <a:lstStyle/>
                    <a:p>
                      <a:pPr algn="ctr"/>
                      <a:r>
                        <a:rPr sz="1500" b="0">
                          <a:solidFill>
                            <a:srgbClr val="70757C"/>
                          </a:solidFill>
                          <a:latin typeface="Carlito"/>
                          <a:ea typeface="Carlito"/>
                          <a:cs typeface="Carlito"/>
                        </a:rPr>
                        <a:t>B</a:t>
                      </a:r>
                    </a:p>
                  </a:txBody>
                  <a:tcPr marL="95250" marR="95250" marT="28575" marB="28575" anchor="ctr">
                    <a:solidFill>
                      <a:srgbClr val="F4F5F6"/>
                    </a:solidFill>
                  </a:tcPr>
                </a:tc>
                <a:tc>
                  <a:txBody>
                    <a:bodyPr>
                      <a:noAutofit/>
                    </a:bodyPr>
                    <a:lstStyle/>
                    <a:p>
                      <a:pPr algn="ctr"/>
                      <a:r>
                        <a:rPr sz="1500" b="1">
                          <a:solidFill>
                            <a:srgbClr val="288C87"/>
                          </a:solidFill>
                          <a:latin typeface="Carlito"/>
                          <a:ea typeface="Carlito"/>
                          <a:cs typeface="Carlito"/>
                        </a:rPr>
                        <a:t>E</a:t>
                      </a:r>
                    </a:p>
                  </a:txBody>
                  <a:tcPr marL="95250" marR="95250" marT="28575" marB="28575" anchor="ctr">
                    <a:solidFill>
                      <a:srgbClr val="E8F4F2"/>
                    </a:solidFill>
                  </a:tcPr>
                </a:tc>
              </a:tr>
              <a:tr h="342900">
                <a:tc>
                  <a:txBody>
                    <a:bodyPr>
                      <a:noAutofit/>
                    </a:bodyPr>
                    <a:lstStyle/>
                    <a:p>
                      <a:r>
                        <a:rPr sz="1500" b="0">
                          <a:solidFill>
                            <a:srgbClr val="30343A"/>
                          </a:solidFill>
                          <a:latin typeface="Carlito"/>
                          <a:ea typeface="Carlito"/>
                          <a:cs typeface="Carlito"/>
                        </a:rPr>
                        <a:t>Threat protection</a:t>
                      </a:r>
                    </a:p>
                  </a:txBody>
                  <a:tcPr marL="95250" marR="95250" marT="28575" marB="28575" anchor="t">
                    <a:solidFill>
                      <a:srgbClr val="FFFFFF"/>
                    </a:solidFill>
                  </a:tcPr>
                </a:tc>
                <a:tc>
                  <a:txBody>
                    <a:bodyPr>
                      <a:noAutofit/>
                    </a:bodyPr>
                    <a:lstStyle/>
                    <a:p>
                      <a:pPr algn="ctr"/>
                      <a:r>
                        <a:rPr sz="1500" b="0">
                          <a:solidFill>
                            <a:srgbClr val="70757C"/>
                          </a:solidFill>
                          <a:latin typeface="Carlito"/>
                          <a:ea typeface="Carlito"/>
                          <a:cs typeface="Carlito"/>
                        </a:rPr>
                        <a:t>B</a:t>
                      </a:r>
                    </a:p>
                  </a:txBody>
                  <a:tcPr marL="95250" marR="95250" marT="28575" marB="28575" anchor="ctr">
                    <a:solidFill>
                      <a:srgbClr val="FFFFFF"/>
                    </a:solidFill>
                  </a:tcPr>
                </a:tc>
                <a:tc>
                  <a:txBody>
                    <a:bodyPr>
                      <a:noAutofit/>
                    </a:bodyPr>
                    <a:lstStyle/>
                    <a:p>
                      <a:pPr algn="ctr"/>
                      <a:r>
                        <a:rPr sz="1500" b="1">
                          <a:solidFill>
                            <a:srgbClr val="288C87"/>
                          </a:solidFill>
                          <a:latin typeface="Carlito"/>
                          <a:ea typeface="Carlito"/>
                          <a:cs typeface="Carlito"/>
                        </a:rPr>
                        <a:t>E</a:t>
                      </a:r>
                    </a:p>
                  </a:txBody>
                  <a:tcPr marL="95250" marR="95250" marT="28575" marB="28575" anchor="ctr">
                    <a:solidFill>
                      <a:srgbClr val="E8F4F2"/>
                    </a:solidFill>
                  </a:tcPr>
                </a:tc>
              </a:tr>
              <a:tr h="342900">
                <a:tc>
                  <a:txBody>
                    <a:bodyPr>
                      <a:noAutofit/>
                    </a:bodyPr>
                    <a:lstStyle/>
                    <a:p>
                      <a:r>
                        <a:rPr sz="1500" b="0">
                          <a:solidFill>
                            <a:srgbClr val="30343A"/>
                          </a:solidFill>
                          <a:latin typeface="Carlito"/>
                          <a:ea typeface="Carlito"/>
                          <a:cs typeface="Carlito"/>
                        </a:rPr>
                        <a:t>Inbound traffic routing and load balancing</a:t>
                      </a:r>
                    </a:p>
                  </a:txBody>
                  <a:tcPr marL="95250" marR="95250" marT="28575" marB="28575" anchor="t">
                    <a:solidFill>
                      <a:srgbClr val="F4F5F6"/>
                    </a:solidFill>
                  </a:tcPr>
                </a:tc>
                <a:tc>
                  <a:txBody>
                    <a:bodyPr>
                      <a:noAutofit/>
                    </a:bodyPr>
                    <a:lstStyle/>
                    <a:p>
                      <a:pPr algn="ctr"/>
                      <a:r>
                        <a:rPr sz="1500" b="0">
                          <a:solidFill>
                            <a:srgbClr val="70757C"/>
                          </a:solidFill>
                          <a:latin typeface="Carlito"/>
                          <a:ea typeface="Carlito"/>
                          <a:cs typeface="Carlito"/>
                        </a:rPr>
                        <a:t>P</a:t>
                      </a:r>
                    </a:p>
                  </a:txBody>
                  <a:tcPr marL="95250" marR="95250" marT="28575" marB="28575" anchor="ctr">
                    <a:solidFill>
                      <a:srgbClr val="F4F5F6"/>
                    </a:solidFill>
                  </a:tcPr>
                </a:tc>
                <a:tc>
                  <a:txBody>
                    <a:bodyPr>
                      <a:noAutofit/>
                    </a:bodyPr>
                    <a:lstStyle/>
                    <a:p>
                      <a:pPr algn="ctr"/>
                      <a:r>
                        <a:rPr sz="1500" b="1">
                          <a:solidFill>
                            <a:srgbClr val="288C87"/>
                          </a:solidFill>
                          <a:latin typeface="Carlito"/>
                          <a:ea typeface="Carlito"/>
                          <a:cs typeface="Carlito"/>
                        </a:rPr>
                        <a:t>E</a:t>
                      </a:r>
                    </a:p>
                  </a:txBody>
                  <a:tcPr marL="95250" marR="95250" marT="28575" marB="28575" anchor="ctr">
                    <a:solidFill>
                      <a:srgbClr val="E8F4F2"/>
                    </a:solidFill>
                  </a:tcPr>
                </a:tc>
              </a:tr>
              <a:tr h="342900">
                <a:tc>
                  <a:txBody>
                    <a:bodyPr>
                      <a:noAutofit/>
                    </a:bodyPr>
                    <a:lstStyle/>
                    <a:p>
                      <a:r>
                        <a:rPr sz="1500" b="0">
                          <a:solidFill>
                            <a:srgbClr val="30343A"/>
                          </a:solidFill>
                          <a:latin typeface="Carlito"/>
                          <a:ea typeface="Carlito"/>
                          <a:cs typeface="Carlito"/>
                        </a:rPr>
                        <a:t>Outbound / egress gateway management</a:t>
                      </a:r>
                    </a:p>
                  </a:txBody>
                  <a:tcPr marL="95250" marR="95250" marT="28575" marB="28575" anchor="t">
                    <a:solidFill>
                      <a:srgbClr val="FFFFFF"/>
                    </a:solidFill>
                  </a:tcPr>
                </a:tc>
                <a:tc>
                  <a:txBody>
                    <a:bodyPr>
                      <a:noAutofit/>
                    </a:bodyPr>
                    <a:lstStyle/>
                    <a:p>
                      <a:pPr algn="ctr"/>
                      <a:r>
                        <a:rPr sz="1500" b="0">
                          <a:solidFill>
                            <a:srgbClr val="70757C"/>
                          </a:solidFill>
                          <a:latin typeface="Carlito"/>
                          <a:ea typeface="Carlito"/>
                          <a:cs typeface="Carlito"/>
                        </a:rPr>
                        <a:t>B</a:t>
                      </a:r>
                    </a:p>
                  </a:txBody>
                  <a:tcPr marL="95250" marR="95250" marT="28575" marB="28575" anchor="ctr">
                    <a:solidFill>
                      <a:srgbClr val="FFFFFF"/>
                    </a:solidFill>
                  </a:tcPr>
                </a:tc>
                <a:tc>
                  <a:txBody>
                    <a:bodyPr>
                      <a:noAutofit/>
                    </a:bodyPr>
                    <a:lstStyle/>
                    <a:p>
                      <a:pPr algn="ctr"/>
                      <a:r>
                        <a:rPr sz="1500" b="1">
                          <a:solidFill>
                            <a:srgbClr val="946125"/>
                          </a:solidFill>
                          <a:latin typeface="Carlito"/>
                          <a:ea typeface="Carlito"/>
                          <a:cs typeface="Carlito"/>
                        </a:rPr>
                        <a:t>W</a:t>
                      </a:r>
                    </a:p>
                  </a:txBody>
                  <a:tcPr marL="95250" marR="95250" marT="28575" marB="28575" anchor="ctr">
                    <a:solidFill>
                      <a:srgbClr val="FFF0DC"/>
                    </a:solidFill>
                  </a:tcPr>
                </a:tc>
              </a:tr>
              <a:tr h="342900">
                <a:tc>
                  <a:txBody>
                    <a:bodyPr>
                      <a:noAutofit/>
                    </a:bodyPr>
                    <a:lstStyle/>
                    <a:p>
                      <a:r>
                        <a:rPr sz="1500" b="0">
                          <a:solidFill>
                            <a:srgbClr val="30343A"/>
                          </a:solidFill>
                          <a:latin typeface="Carlito"/>
                          <a:ea typeface="Carlito"/>
                          <a:cs typeface="Carlito"/>
                        </a:rPr>
                        <a:t>Tool-call input and schema validation</a:t>
                      </a:r>
                    </a:p>
                  </a:txBody>
                  <a:tcPr marL="95250" marR="95250" marT="28575" marB="28575" anchor="t">
                    <a:solidFill>
                      <a:srgbClr val="F4F5F6"/>
                    </a:solidFill>
                  </a:tcPr>
                </a:tc>
                <a:tc>
                  <a:txBody>
                    <a:bodyPr>
                      <a:noAutofit/>
                    </a:bodyPr>
                    <a:lstStyle/>
                    <a:p>
                      <a:pPr algn="ctr"/>
                      <a:r>
                        <a:rPr sz="1500" b="0">
                          <a:solidFill>
                            <a:srgbClr val="70757C"/>
                          </a:solidFill>
                          <a:latin typeface="Carlito"/>
                          <a:ea typeface="Carlito"/>
                          <a:cs typeface="Carlito"/>
                        </a:rPr>
                        <a:t>B</a:t>
                      </a:r>
                    </a:p>
                  </a:txBody>
                  <a:tcPr marL="95250" marR="95250" marT="28575" marB="28575" anchor="ctr">
                    <a:solidFill>
                      <a:srgbClr val="F4F5F6"/>
                    </a:solidFill>
                  </a:tcPr>
                </a:tc>
                <a:tc>
                  <a:txBody>
                    <a:bodyPr>
                      <a:noAutofit/>
                    </a:bodyPr>
                    <a:lstStyle/>
                    <a:p>
                      <a:pPr algn="ctr"/>
                      <a:r>
                        <a:rPr sz="1500" b="1">
                          <a:solidFill>
                            <a:srgbClr val="946125"/>
                          </a:solidFill>
                          <a:latin typeface="Carlito"/>
                          <a:ea typeface="Carlito"/>
                          <a:cs typeface="Carlito"/>
                        </a:rPr>
                        <a:t>W</a:t>
                      </a:r>
                    </a:p>
                  </a:txBody>
                  <a:tcPr marL="95250" marR="95250" marT="28575" marB="28575" anchor="ctr">
                    <a:solidFill>
                      <a:srgbClr val="FFF0DC"/>
                    </a:solidFill>
                  </a:tcPr>
                </a:tc>
              </a:tr>
              <a:tr h="342900">
                <a:tc>
                  <a:txBody>
                    <a:bodyPr>
                      <a:noAutofit/>
                    </a:bodyPr>
                    <a:lstStyle/>
                    <a:p>
                      <a:r>
                        <a:rPr sz="1500" b="0">
                          <a:solidFill>
                            <a:srgbClr val="30343A"/>
                          </a:solidFill>
                          <a:latin typeface="Carlito"/>
                          <a:ea typeface="Carlito"/>
                          <a:cs typeface="Carlito"/>
                        </a:rPr>
                        <a:t>Request / response aggregation and mediation</a:t>
                      </a:r>
                    </a:p>
                  </a:txBody>
                  <a:tcPr marL="95250" marR="95250" marT="28575" marB="28575" anchor="t">
                    <a:solidFill>
                      <a:srgbClr val="FFFFFF"/>
                    </a:solidFill>
                  </a:tcPr>
                </a:tc>
                <a:tc>
                  <a:txBody>
                    <a:bodyPr>
                      <a:noAutofit/>
                    </a:bodyPr>
                    <a:lstStyle/>
                    <a:p>
                      <a:pPr algn="ctr"/>
                      <a:r>
                        <a:rPr sz="1500" b="0">
                          <a:solidFill>
                            <a:srgbClr val="70757C"/>
                          </a:solidFill>
                          <a:latin typeface="Carlito"/>
                          <a:ea typeface="Carlito"/>
                          <a:cs typeface="Carlito"/>
                        </a:rPr>
                        <a:t>B</a:t>
                      </a:r>
                    </a:p>
                  </a:txBody>
                  <a:tcPr marL="95250" marR="95250" marT="28575" marB="28575" anchor="ctr">
                    <a:solidFill>
                      <a:srgbClr val="FFFFFF"/>
                    </a:solidFill>
                  </a:tcPr>
                </a:tc>
                <a:tc>
                  <a:txBody>
                    <a:bodyPr>
                      <a:noAutofit/>
                    </a:bodyPr>
                    <a:lstStyle/>
                    <a:p>
                      <a:pPr algn="ctr"/>
                      <a:r>
                        <a:rPr sz="1500" b="1">
                          <a:solidFill>
                            <a:srgbClr val="946125"/>
                          </a:solidFill>
                          <a:latin typeface="Carlito"/>
                          <a:ea typeface="Carlito"/>
                          <a:cs typeface="Carlito"/>
                        </a:rPr>
                        <a:t>W</a:t>
                      </a:r>
                    </a:p>
                  </a:txBody>
                  <a:tcPr marL="95250" marR="95250" marT="28575" marB="28575" anchor="ctr">
                    <a:solidFill>
                      <a:srgbClr val="FFF0DC"/>
                    </a:solidFill>
                  </a:tcPr>
                </a:tc>
              </a:tr>
              <a:tr h="342900">
                <a:tc>
                  <a:txBody>
                    <a:bodyPr>
                      <a:noAutofit/>
                    </a:bodyPr>
                    <a:lstStyle/>
                    <a:p>
                      <a:r>
                        <a:rPr sz="1500" b="0">
                          <a:solidFill>
                            <a:srgbClr val="30343A"/>
                          </a:solidFill>
                          <a:latin typeface="Carlito"/>
                          <a:ea typeface="Carlito"/>
                          <a:cs typeface="Carlito"/>
                        </a:rPr>
                        <a:t>Caching</a:t>
                      </a:r>
                    </a:p>
                  </a:txBody>
                  <a:tcPr marL="95250" marR="95250" marT="28575" marB="28575" anchor="t">
                    <a:solidFill>
                      <a:srgbClr val="F4F5F6"/>
                    </a:solidFill>
                  </a:tcPr>
                </a:tc>
                <a:tc>
                  <a:txBody>
                    <a:bodyPr>
                      <a:noAutofit/>
                    </a:bodyPr>
                    <a:lstStyle/>
                    <a:p>
                      <a:pPr algn="ctr"/>
                      <a:r>
                        <a:rPr sz="1500" b="0">
                          <a:solidFill>
                            <a:srgbClr val="70757C"/>
                          </a:solidFill>
                          <a:latin typeface="Carlito"/>
                          <a:ea typeface="Carlito"/>
                          <a:cs typeface="Carlito"/>
                        </a:rPr>
                        <a:t>B</a:t>
                      </a:r>
                    </a:p>
                  </a:txBody>
                  <a:tcPr marL="95250" marR="95250" marT="28575" marB="28575" anchor="ctr">
                    <a:solidFill>
                      <a:srgbClr val="F4F5F6"/>
                    </a:solidFill>
                  </a:tcPr>
                </a:tc>
                <a:tc>
                  <a:txBody>
                    <a:bodyPr>
                      <a:noAutofit/>
                    </a:bodyPr>
                    <a:lstStyle/>
                    <a:p>
                      <a:pPr algn="ctr"/>
                      <a:r>
                        <a:rPr sz="1500" b="1">
                          <a:solidFill>
                            <a:srgbClr val="946125"/>
                          </a:solidFill>
                          <a:latin typeface="Carlito"/>
                          <a:ea typeface="Carlito"/>
                          <a:cs typeface="Carlito"/>
                        </a:rPr>
                        <a:t>W</a:t>
                      </a:r>
                    </a:p>
                  </a:txBody>
                  <a:tcPr marL="95250" marR="95250" marT="28575" marB="28575" anchor="ctr">
                    <a:solidFill>
                      <a:srgbClr val="FFF0DC"/>
                    </a:solidFill>
                  </a:tcPr>
                </a:tc>
              </a:tr>
              <a:tr h="342900">
                <a:tc>
                  <a:txBody>
                    <a:bodyPr>
                      <a:noAutofit/>
                    </a:bodyPr>
                    <a:lstStyle/>
                    <a:p>
                      <a:r>
                        <a:rPr sz="1500" b="0">
                          <a:solidFill>
                            <a:srgbClr val="30343A"/>
                          </a:solidFill>
                          <a:latin typeface="Carlito"/>
                          <a:ea typeface="Carlito"/>
                          <a:cs typeface="Carlito"/>
                        </a:rPr>
                        <a:t>Protocol mediation and transformation</a:t>
                      </a:r>
                    </a:p>
                  </a:txBody>
                  <a:tcPr marL="95250" marR="95250" marT="28575" marB="28575" anchor="t">
                    <a:solidFill>
                      <a:srgbClr val="FFFFFF"/>
                    </a:solidFill>
                  </a:tcPr>
                </a:tc>
                <a:tc>
                  <a:txBody>
                    <a:bodyPr>
                      <a:noAutofit/>
                    </a:bodyPr>
                    <a:lstStyle/>
                    <a:p>
                      <a:pPr algn="ctr"/>
                      <a:r>
                        <a:rPr sz="1500" b="0">
                          <a:solidFill>
                            <a:srgbClr val="70757C"/>
                          </a:solidFill>
                          <a:latin typeface="Carlito"/>
                          <a:ea typeface="Carlito"/>
                          <a:cs typeface="Carlito"/>
                        </a:rPr>
                        <a:t>B</a:t>
                      </a:r>
                    </a:p>
                  </a:txBody>
                  <a:tcPr marL="95250" marR="95250" marT="28575" marB="28575" anchor="ctr">
                    <a:solidFill>
                      <a:srgbClr val="FFFFFF"/>
                    </a:solidFill>
                  </a:tcPr>
                </a:tc>
                <a:tc>
                  <a:txBody>
                    <a:bodyPr>
                      <a:noAutofit/>
                    </a:bodyPr>
                    <a:lstStyle/>
                    <a:p>
                      <a:pPr algn="ctr"/>
                      <a:r>
                        <a:rPr sz="1500" b="1">
                          <a:solidFill>
                            <a:srgbClr val="946125"/>
                          </a:solidFill>
                          <a:latin typeface="Carlito"/>
                          <a:ea typeface="Carlito"/>
                          <a:cs typeface="Carlito"/>
                        </a:rPr>
                        <a:t>W</a:t>
                      </a:r>
                    </a:p>
                  </a:txBody>
                  <a:tcPr marL="95250" marR="95250" marT="28575" marB="28575" anchor="ctr">
                    <a:solidFill>
                      <a:srgbClr val="FFF0DC"/>
                    </a:solidFill>
                  </a:tcPr>
                </a:tc>
              </a:tr>
              <a:tr h="342900">
                <a:tc>
                  <a:txBody>
                    <a:bodyPr>
                      <a:noAutofit/>
                    </a:bodyPr>
                    <a:lstStyle/>
                    <a:p>
                      <a:r>
                        <a:rPr sz="1500" b="0">
                          <a:solidFill>
                            <a:srgbClr val="30343A"/>
                          </a:solidFill>
                          <a:latin typeface="Carlito"/>
                          <a:ea typeface="Carlito"/>
                          <a:cs typeface="Carlito"/>
                        </a:rPr>
                        <a:t>Message-level security</a:t>
                      </a:r>
                    </a:p>
                  </a:txBody>
                  <a:tcPr marL="95250" marR="95250" marT="28575" marB="28575" anchor="t">
                    <a:solidFill>
                      <a:srgbClr val="F4F5F6"/>
                    </a:solidFill>
                  </a:tcPr>
                </a:tc>
                <a:tc>
                  <a:txBody>
                    <a:bodyPr>
                      <a:noAutofit/>
                    </a:bodyPr>
                    <a:lstStyle/>
                    <a:p>
                      <a:pPr algn="ctr"/>
                      <a:r>
                        <a:rPr sz="1500" b="0">
                          <a:solidFill>
                            <a:srgbClr val="70757C"/>
                          </a:solidFill>
                          <a:latin typeface="Carlito"/>
                          <a:ea typeface="Carlito"/>
                          <a:cs typeface="Carlito"/>
                        </a:rPr>
                        <a:t>B</a:t>
                      </a:r>
                    </a:p>
                  </a:txBody>
                  <a:tcPr marL="95250" marR="95250" marT="28575" marB="28575" anchor="ctr">
                    <a:solidFill>
                      <a:srgbClr val="F4F5F6"/>
                    </a:solidFill>
                  </a:tcPr>
                </a:tc>
                <a:tc>
                  <a:txBody>
                    <a:bodyPr>
                      <a:noAutofit/>
                    </a:bodyPr>
                    <a:lstStyle/>
                    <a:p>
                      <a:pPr algn="ctr"/>
                      <a:r>
                        <a:rPr sz="1500" b="1">
                          <a:solidFill>
                            <a:srgbClr val="946125"/>
                          </a:solidFill>
                          <a:latin typeface="Carlito"/>
                          <a:ea typeface="Carlito"/>
                          <a:cs typeface="Carlito"/>
                        </a:rPr>
                        <a:t>W</a:t>
                      </a:r>
                    </a:p>
                  </a:txBody>
                  <a:tcPr marL="95250" marR="95250" marT="28575" marB="28575" anchor="ctr">
                    <a:solidFill>
                      <a:srgbClr val="FFF0DC"/>
                    </a:solidFill>
                  </a:tcPr>
                </a:tc>
              </a:tr>
              <a:tr h="342900">
                <a:tc>
                  <a:txBody>
                    <a:bodyPr>
                      <a:noAutofit/>
                    </a:bodyPr>
                    <a:lstStyle/>
                    <a:p>
                      <a:r>
                        <a:rPr sz="1500" b="0">
                          <a:solidFill>
                            <a:srgbClr val="30343A"/>
                          </a:solidFill>
                          <a:latin typeface="Carlito"/>
                          <a:ea typeface="Carlito"/>
                          <a:cs typeface="Carlito"/>
                        </a:rPr>
                        <a:t>Human-in-the-loop confirmation gateway</a:t>
                      </a:r>
                    </a:p>
                  </a:txBody>
                  <a:tcPr marL="95250" marR="95250" marT="28575" marB="28575" anchor="t">
                    <a:solidFill>
                      <a:srgbClr val="FFFFFF"/>
                    </a:solidFill>
                  </a:tcPr>
                </a:tc>
                <a:tc>
                  <a:txBody>
                    <a:bodyPr>
                      <a:noAutofit/>
                    </a:bodyPr>
                    <a:lstStyle/>
                    <a:p>
                      <a:pPr algn="ctr"/>
                      <a:r>
                        <a:rPr sz="1500" b="0">
                          <a:solidFill>
                            <a:srgbClr val="70757C"/>
                          </a:solidFill>
                          <a:latin typeface="Carlito"/>
                          <a:ea typeface="Carlito"/>
                          <a:cs typeface="Carlito"/>
                        </a:rPr>
                        <a:t>B</a:t>
                      </a:r>
                    </a:p>
                  </a:txBody>
                  <a:tcPr marL="95250" marR="95250" marT="28575" marB="28575" anchor="ctr">
                    <a:solidFill>
                      <a:srgbClr val="FFFFFF"/>
                    </a:solidFill>
                  </a:tcPr>
                </a:tc>
                <a:tc>
                  <a:txBody>
                    <a:bodyPr>
                      <a:noAutofit/>
                    </a:bodyPr>
                    <a:lstStyle/>
                    <a:p>
                      <a:pPr algn="ctr"/>
                      <a:r>
                        <a:rPr sz="1500" b="1">
                          <a:solidFill>
                            <a:srgbClr val="70757C"/>
                          </a:solidFill>
                          <a:latin typeface="Carlito"/>
                          <a:ea typeface="Carlito"/>
                          <a:cs typeface="Carlito"/>
                        </a:rPr>
                        <a:t>Y</a:t>
                      </a:r>
                    </a:p>
                  </a:txBody>
                  <a:tcPr marL="95250" marR="95250" marT="28575" marB="28575" anchor="ctr">
                    <a:solidFill>
                      <a:srgbClr val="FFFFFF"/>
                    </a:solidFill>
                  </a:tcPr>
                </a:tc>
              </a:tr>
              <a:tr h="342900">
                <a:tc>
                  <a:txBody>
                    <a:bodyPr>
                      <a:noAutofit/>
                    </a:bodyPr>
                    <a:lstStyle/>
                    <a:p>
                      <a:r>
                        <a:rPr sz="1500" b="0">
                          <a:solidFill>
                            <a:srgbClr val="30343A"/>
                          </a:solidFill>
                          <a:latin typeface="Carlito"/>
                          <a:ea typeface="Carlito"/>
                          <a:cs typeface="Carlito"/>
                        </a:rPr>
                        <a:t>Agent traffic / MCP gateway</a:t>
                      </a:r>
                    </a:p>
                  </a:txBody>
                  <a:tcPr marL="95250" marR="95250" marT="28575" marB="28575" anchor="t">
                    <a:solidFill>
                      <a:srgbClr val="F4F5F6"/>
                    </a:solidFill>
                  </a:tcPr>
                </a:tc>
                <a:tc>
                  <a:txBody>
                    <a:bodyPr>
                      <a:noAutofit/>
                    </a:bodyPr>
                    <a:lstStyle/>
                    <a:p>
                      <a:pPr algn="ctr"/>
                      <a:r>
                        <a:rPr sz="1500" b="0">
                          <a:solidFill>
                            <a:srgbClr val="70757C"/>
                          </a:solidFill>
                          <a:latin typeface="Carlito"/>
                          <a:ea typeface="Carlito"/>
                          <a:cs typeface="Carlito"/>
                        </a:rPr>
                        <a:t>B</a:t>
                      </a:r>
                    </a:p>
                  </a:txBody>
                  <a:tcPr marL="95250" marR="95250" marT="28575" marB="28575" anchor="ctr">
                    <a:solidFill>
                      <a:srgbClr val="F4F5F6"/>
                    </a:solidFill>
                  </a:tcPr>
                </a:tc>
                <a:tc>
                  <a:txBody>
                    <a:bodyPr>
                      <a:noAutofit/>
                    </a:bodyPr>
                    <a:lstStyle/>
                    <a:p>
                      <a:pPr algn="ctr"/>
                      <a:r>
                        <a:rPr sz="1500" b="1">
                          <a:solidFill>
                            <a:srgbClr val="70757C"/>
                          </a:solidFill>
                          <a:latin typeface="Carlito"/>
                          <a:ea typeface="Carlito"/>
                          <a:cs typeface="Carlito"/>
                        </a:rPr>
                        <a:t>Y</a:t>
                      </a:r>
                    </a:p>
                  </a:txBody>
                  <a:tcPr marL="95250" marR="95250" marT="28575" marB="28575" anchor="ctr">
                    <a:solidFill>
                      <a:srgbClr val="FFFFFF"/>
                    </a:solidFill>
                  </a:tcPr>
                </a:tc>
              </a:tr>
              <a:tr h="342900">
                <a:tc>
                  <a:txBody>
                    <a:bodyPr>
                      <a:noAutofit/>
                    </a:bodyPr>
                    <a:lstStyle/>
                    <a:p>
                      <a:r>
                        <a:rPr sz="1500" b="0">
                          <a:solidFill>
                            <a:srgbClr val="30343A"/>
                          </a:solidFill>
                          <a:latin typeface="Carlito"/>
                          <a:ea typeface="Carlito"/>
                          <a:cs typeface="Carlito"/>
                        </a:rPr>
                        <a:t>API version routing enforcement</a:t>
                      </a:r>
                    </a:p>
                  </a:txBody>
                  <a:tcPr marL="95250" marR="95250" marT="28575" marB="28575" anchor="t">
                    <a:solidFill>
                      <a:srgbClr val="FFFFFF"/>
                    </a:solidFill>
                  </a:tcPr>
                </a:tc>
                <a:tc>
                  <a:txBody>
                    <a:bodyPr>
                      <a:noAutofit/>
                    </a:bodyPr>
                    <a:lstStyle/>
                    <a:p>
                      <a:pPr algn="ctr"/>
                      <a:r>
                        <a:rPr sz="1500" b="0">
                          <a:solidFill>
                            <a:srgbClr val="70757C"/>
                          </a:solidFill>
                          <a:latin typeface="Carlito"/>
                          <a:ea typeface="Carlito"/>
                          <a:cs typeface="Carlito"/>
                        </a:rPr>
                        <a:t>B</a:t>
                      </a:r>
                    </a:p>
                  </a:txBody>
                  <a:tcPr marL="95250" marR="95250" marT="28575" marB="28575" anchor="ctr">
                    <a:solidFill>
                      <a:srgbClr val="FFFFFF"/>
                    </a:solidFill>
                  </a:tcPr>
                </a:tc>
                <a:tc>
                  <a:txBody>
                    <a:bodyPr>
                      <a:noAutofit/>
                    </a:bodyPr>
                    <a:lstStyle/>
                    <a:p>
                      <a:pPr algn="ctr"/>
                      <a:r>
                        <a:rPr sz="1500" b="1">
                          <a:solidFill>
                            <a:srgbClr val="70757C"/>
                          </a:solidFill>
                          <a:latin typeface="Carlito"/>
                          <a:ea typeface="Carlito"/>
                          <a:cs typeface="Carlito"/>
                        </a:rPr>
                        <a:t>Y</a:t>
                      </a:r>
                    </a:p>
                  </a:txBody>
                  <a:tcPr marL="95250" marR="95250" marT="28575" marB="28575" anchor="ctr">
                    <a:solidFill>
                      <a:srgbClr val="FFFFFF"/>
                    </a:solidFill>
                  </a:tcPr>
                </a:tc>
              </a:tr>
            </a:tbl>
          </a:graphicData>
        </a:graphic>
      </p:graphicFrame>
      <p:sp>
        <p:nvSpPr>
          <p:cNvPr id="28" name="text">
            <a:extLst xmlns:a="http://schemas.openxmlformats.org/drawingml/2006/main">
              <a:ext uri="{FF2B5EF4-FFF2-40B4-BE49-F238E27FC236}">
                <a16:creationId xmlns:a16="http://schemas.microsoft.com/office/drawing/2014/main" id="{7E6976FC-DD6C-4164-A5E0-EC4C97BEE255}"/>
              </a:ext>
            </a:extLst>
          </p:cNvPr>
          <p:cNvSpPr>
            <a:spLocks xmlns:a="http://schemas.openxmlformats.org/drawingml/2006/main" noGrp="1"/>
          </p:cNvSpPr>
          <p:nvPr/>
        </p:nvSpPr>
        <p:spPr>
          <a:xfrm xmlns:a="http://schemas.openxmlformats.org/drawingml/2006/main">
            <a:off x="457200" y="7524750"/>
            <a:ext cx="683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70757C"/>
                </a:solidFill>
                <a:latin typeface="Carlito"/>
                <a:ea typeface="Carlito"/>
                <a:cs typeface="Carlito"/>
              </a:defRPr>
            </a:pPr>
            <a:r>
              <a:rPr sz="1500" b="0">
                <a:solidFill>
                  <a:srgbClr val="70757C"/>
                </a:solidFill>
                <a:latin typeface="Carlito"/>
                <a:ea typeface="Carlito"/>
                <a:cs typeface="Carlito"/>
              </a:rPr>
              <a:t>Domain services retain business orchestration.</a:t>
            </a:r>
          </a:p>
        </p:txBody>
      </p:sp>
      <p:sp>
        <p:nvSpPr>
          <p:cNvPr id="29" name="text">
            <a:extLst xmlns:a="http://schemas.openxmlformats.org/drawingml/2006/main">
              <a:ext uri="{FF2B5EF4-FFF2-40B4-BE49-F238E27FC236}">
                <a16:creationId xmlns:a16="http://schemas.microsoft.com/office/drawing/2014/main" id="{18B21950-BE17-4C1C-994E-56995C54C42E}"/>
              </a:ext>
            </a:extLst>
          </p:cNvPr>
          <p:cNvSpPr>
            <a:spLocks xmlns:a="http://schemas.openxmlformats.org/drawingml/2006/main" noGrp="1"/>
          </p:cNvSpPr>
          <p:nvPr/>
        </p:nvSpPr>
        <p:spPr>
          <a:xfrm xmlns:a="http://schemas.openxmlformats.org/drawingml/2006/main">
            <a:off x="361950" y="7905750"/>
            <a:ext cx="1445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70757C"/>
                </a:solidFill>
                <a:latin typeface="Carlito"/>
                <a:ea typeface="Carlito"/>
                <a:cs typeface="Carlito"/>
              </a:defRPr>
            </a:pPr>
            <a:r>
              <a:rPr sz="1350" b="0">
                <a:solidFill>
                  <a:srgbClr val="70757C"/>
                </a:solidFill>
                <a:latin typeface="Carlito"/>
                <a:ea typeface="Carlito"/>
                <a:cs typeface="Carlito"/>
              </a:rPr>
              <a:t>Current-state labels reflect the supplied assessment. Confirm owners, coverage and assessment date during mobilisation.</a:t>
            </a:r>
          </a:p>
        </p:txBody>
      </p:sp>
    </p:spTree>
    <p:extLst>
      <p:ext uri="{BB962C8B-B14F-4D97-AF65-F5344CB8AC3E}">
        <p14:creationId xmlns:p14="http://schemas.microsoft.com/office/powerpoint/2010/main" val="92949302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nav-Background">
            <a:extLst xmlns:a="http://schemas.openxmlformats.org/drawingml/2006/main">
              <a:ext uri="{FF2B5EF4-FFF2-40B4-BE49-F238E27FC236}">
                <a16:creationId xmlns:a16="http://schemas.microsoft.com/office/drawing/2014/main" id="{D9446780-0C3F-4627-9447-C730A4E4D586}"/>
              </a:ext>
            </a:extLst>
          </p:cNvPr>
          <p:cNvSpPr>
            <a:spLocks xmlns:a="http://schemas.openxmlformats.org/drawingml/2006/main" noGrp="1"/>
          </p:cNvSpPr>
          <p:nvPr/>
        </p:nvSpPr>
        <p:spPr>
          <a:xfrm xmlns:a="http://schemas.openxmlformats.org/drawingml/2006/main">
            <a:off x="2286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2" name="navigation-Background">
            <a:extLst xmlns:a="http://schemas.openxmlformats.org/drawingml/2006/main">
              <a:ext uri="{FF2B5EF4-FFF2-40B4-BE49-F238E27FC236}">
                <a16:creationId xmlns:a16="http://schemas.microsoft.com/office/drawing/2014/main" id="{5F4A2A1B-677E-4413-8D8F-F6452DEBD6C9}"/>
              </a:ext>
            </a:extLst>
          </p:cNvPr>
          <p:cNvSpPr>
            <a:spLocks xmlns:a="http://schemas.openxmlformats.org/drawingml/2006/main" noGrp="1"/>
          </p:cNvSpPr>
          <p:nvPr/>
        </p:nvSpPr>
        <p:spPr>
          <a:xfrm xmlns:a="http://schemas.openxmlformats.org/drawingml/2006/main">
            <a:off x="2571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Background</a:t>
            </a:r>
          </a:p>
        </p:txBody>
      </p:sp>
      <p:sp>
        <p:nvSpPr>
          <p:cNvPr id="3" name="nav-Problem Statements">
            <a:extLst xmlns:a="http://schemas.openxmlformats.org/drawingml/2006/main">
              <a:ext uri="{FF2B5EF4-FFF2-40B4-BE49-F238E27FC236}">
                <a16:creationId xmlns:a16="http://schemas.microsoft.com/office/drawing/2014/main" id="{C8878FB3-9B23-4EF9-99B8-473FEC170F61}"/>
              </a:ext>
            </a:extLst>
          </p:cNvPr>
          <p:cNvSpPr>
            <a:spLocks xmlns:a="http://schemas.openxmlformats.org/drawingml/2006/main" noGrp="1"/>
          </p:cNvSpPr>
          <p:nvPr/>
        </p:nvSpPr>
        <p:spPr>
          <a:xfrm xmlns:a="http://schemas.openxmlformats.org/drawingml/2006/main">
            <a:off x="19050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4" name="navigation-Problem Statements">
            <a:extLst xmlns:a="http://schemas.openxmlformats.org/drawingml/2006/main">
              <a:ext uri="{FF2B5EF4-FFF2-40B4-BE49-F238E27FC236}">
                <a16:creationId xmlns:a16="http://schemas.microsoft.com/office/drawing/2014/main" id="{809F3F14-4D3D-4428-9B0D-ED8515FD6CB3}"/>
              </a:ext>
            </a:extLst>
          </p:cNvPr>
          <p:cNvSpPr>
            <a:spLocks xmlns:a="http://schemas.openxmlformats.org/drawingml/2006/main" noGrp="1"/>
          </p:cNvSpPr>
          <p:nvPr/>
        </p:nvSpPr>
        <p:spPr>
          <a:xfrm xmlns:a="http://schemas.openxmlformats.org/drawingml/2006/main">
            <a:off x="19335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Problem Statements</a:t>
            </a:r>
          </a:p>
        </p:txBody>
      </p:sp>
      <p:sp>
        <p:nvSpPr>
          <p:cNvPr id="5" name="nav-Capability Context">
            <a:extLst xmlns:a="http://schemas.openxmlformats.org/drawingml/2006/main">
              <a:ext uri="{FF2B5EF4-FFF2-40B4-BE49-F238E27FC236}">
                <a16:creationId xmlns:a16="http://schemas.microsoft.com/office/drawing/2014/main" id="{DE462641-E115-4419-90C3-D100226D3C21}"/>
              </a:ext>
            </a:extLst>
          </p:cNvPr>
          <p:cNvSpPr>
            <a:spLocks xmlns:a="http://schemas.openxmlformats.org/drawingml/2006/main" noGrp="1"/>
          </p:cNvSpPr>
          <p:nvPr/>
        </p:nvSpPr>
        <p:spPr>
          <a:xfrm xmlns:a="http://schemas.openxmlformats.org/drawingml/2006/main">
            <a:off x="35814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6" name="navigation-Capability Context">
            <a:extLst xmlns:a="http://schemas.openxmlformats.org/drawingml/2006/main">
              <a:ext uri="{FF2B5EF4-FFF2-40B4-BE49-F238E27FC236}">
                <a16:creationId xmlns:a16="http://schemas.microsoft.com/office/drawing/2014/main" id="{AE835877-6B0C-47F4-A457-7293214EA9DF}"/>
              </a:ext>
            </a:extLst>
          </p:cNvPr>
          <p:cNvSpPr>
            <a:spLocks xmlns:a="http://schemas.openxmlformats.org/drawingml/2006/main" noGrp="1"/>
          </p:cNvSpPr>
          <p:nvPr/>
        </p:nvSpPr>
        <p:spPr>
          <a:xfrm xmlns:a="http://schemas.openxmlformats.org/drawingml/2006/main">
            <a:off x="36099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Capability Context</a:t>
            </a:r>
          </a:p>
        </p:txBody>
      </p:sp>
      <p:sp>
        <p:nvSpPr>
          <p:cNvPr id="7" name="nav-Artefact Content">
            <a:extLst xmlns:a="http://schemas.openxmlformats.org/drawingml/2006/main">
              <a:ext uri="{FF2B5EF4-FFF2-40B4-BE49-F238E27FC236}">
                <a16:creationId xmlns:a16="http://schemas.microsoft.com/office/drawing/2014/main" id="{F2176FB2-774C-45A3-8441-73FE497279BE}"/>
              </a:ext>
            </a:extLst>
          </p:cNvPr>
          <p:cNvSpPr>
            <a:spLocks xmlns:a="http://schemas.openxmlformats.org/drawingml/2006/main" noGrp="1"/>
          </p:cNvSpPr>
          <p:nvPr/>
        </p:nvSpPr>
        <p:spPr>
          <a:xfrm xmlns:a="http://schemas.openxmlformats.org/drawingml/2006/main">
            <a:off x="52578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8" name="navigation-Artefact Content">
            <a:extLst xmlns:a="http://schemas.openxmlformats.org/drawingml/2006/main">
              <a:ext uri="{FF2B5EF4-FFF2-40B4-BE49-F238E27FC236}">
                <a16:creationId xmlns:a16="http://schemas.microsoft.com/office/drawing/2014/main" id="{4DA07569-7481-4025-ABFE-9E0C73D0E832}"/>
              </a:ext>
            </a:extLst>
          </p:cNvPr>
          <p:cNvSpPr>
            <a:spLocks xmlns:a="http://schemas.openxmlformats.org/drawingml/2006/main" noGrp="1"/>
          </p:cNvSpPr>
          <p:nvPr/>
        </p:nvSpPr>
        <p:spPr>
          <a:xfrm xmlns:a="http://schemas.openxmlformats.org/drawingml/2006/main">
            <a:off x="52863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Artefact Content</a:t>
            </a:r>
          </a:p>
        </p:txBody>
      </p:sp>
      <p:sp>
        <p:nvSpPr>
          <p:cNvPr id="9" name="nav-Roadmap">
            <a:extLst xmlns:a="http://schemas.openxmlformats.org/drawingml/2006/main">
              <a:ext uri="{FF2B5EF4-FFF2-40B4-BE49-F238E27FC236}">
                <a16:creationId xmlns:a16="http://schemas.microsoft.com/office/drawing/2014/main" id="{C03CF7AC-316A-42A9-ADE1-CFDA9567BC86}"/>
              </a:ext>
            </a:extLst>
          </p:cNvPr>
          <p:cNvSpPr>
            <a:spLocks xmlns:a="http://schemas.openxmlformats.org/drawingml/2006/main" noGrp="1"/>
          </p:cNvSpPr>
          <p:nvPr/>
        </p:nvSpPr>
        <p:spPr>
          <a:xfrm xmlns:a="http://schemas.openxmlformats.org/drawingml/2006/main">
            <a:off x="69342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0" name="navigation-Roadmap">
            <a:extLst xmlns:a="http://schemas.openxmlformats.org/drawingml/2006/main">
              <a:ext uri="{FF2B5EF4-FFF2-40B4-BE49-F238E27FC236}">
                <a16:creationId xmlns:a16="http://schemas.microsoft.com/office/drawing/2014/main" id="{08FE1AD2-3A60-43D9-BA2E-ACC21B2F6478}"/>
              </a:ext>
            </a:extLst>
          </p:cNvPr>
          <p:cNvSpPr>
            <a:spLocks xmlns:a="http://schemas.openxmlformats.org/drawingml/2006/main" noGrp="1"/>
          </p:cNvSpPr>
          <p:nvPr/>
        </p:nvSpPr>
        <p:spPr>
          <a:xfrm xmlns:a="http://schemas.openxmlformats.org/drawingml/2006/main">
            <a:off x="69627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Roadmap</a:t>
            </a:r>
          </a:p>
        </p:txBody>
      </p:sp>
      <p:sp>
        <p:nvSpPr>
          <p:cNvPr id="11" name="nav-Decision">
            <a:extLst xmlns:a="http://schemas.openxmlformats.org/drawingml/2006/main">
              <a:ext uri="{FF2B5EF4-FFF2-40B4-BE49-F238E27FC236}">
                <a16:creationId xmlns:a16="http://schemas.microsoft.com/office/drawing/2014/main" id="{4F79B3EE-A0E3-4B97-9C37-8B42075531CD}"/>
              </a:ext>
            </a:extLst>
          </p:cNvPr>
          <p:cNvSpPr>
            <a:spLocks xmlns:a="http://schemas.openxmlformats.org/drawingml/2006/main" noGrp="1"/>
          </p:cNvSpPr>
          <p:nvPr/>
        </p:nvSpPr>
        <p:spPr>
          <a:xfrm xmlns:a="http://schemas.openxmlformats.org/drawingml/2006/main">
            <a:off x="8610600" y="171450"/>
            <a:ext cx="1600200" cy="381000"/>
          </a:xfrm>
          <a:prstGeom xmlns:a="http://schemas.openxmlformats.org/drawingml/2006/main" prst="roundRect">
            <a:avLst>
              <a:gd name="adj" fmla="val 17500"/>
            </a:avLst>
          </a:prstGeom>
          <a:solidFill xmlns:a="http://schemas.openxmlformats.org/drawingml/2006/main">
            <a:srgbClr val="FFFFFF"/>
          </a:solidFill>
          <a:ln xmlns:a="http://schemas.openxmlformats.org/drawingml/2006/main" w="11430">
            <a:solidFill>
              <a:srgbClr val="70757C"/>
            </a:solidFill>
          </a:ln>
        </p:spPr>
      </p:sp>
      <p:sp>
        <p:nvSpPr>
          <p:cNvPr id="12" name="navigation-Decision">
            <a:extLst xmlns:a="http://schemas.openxmlformats.org/drawingml/2006/main">
              <a:ext uri="{FF2B5EF4-FFF2-40B4-BE49-F238E27FC236}">
                <a16:creationId xmlns:a16="http://schemas.microsoft.com/office/drawing/2014/main" id="{889889F5-10FB-417A-8524-EBE0A389872F}"/>
              </a:ext>
            </a:extLst>
          </p:cNvPr>
          <p:cNvSpPr>
            <a:spLocks xmlns:a="http://schemas.openxmlformats.org/drawingml/2006/main" noGrp="1"/>
          </p:cNvSpPr>
          <p:nvPr/>
        </p:nvSpPr>
        <p:spPr>
          <a:xfrm xmlns:a="http://schemas.openxmlformats.org/drawingml/2006/main">
            <a:off x="86391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30343A"/>
                </a:solidFill>
                <a:latin typeface="Carlito"/>
                <a:ea typeface="Carlito"/>
                <a:cs typeface="Carlito"/>
              </a:defRPr>
            </a:pPr>
            <a:r>
              <a:rPr sz="1313" b="0">
                <a:solidFill>
                  <a:srgbClr val="30343A"/>
                </a:solidFill>
                <a:latin typeface="Carlito"/>
                <a:ea typeface="Carlito"/>
                <a:cs typeface="Carlito"/>
              </a:rPr>
              <a:t>Decision</a:t>
            </a:r>
          </a:p>
        </p:txBody>
      </p:sp>
      <p:sp>
        <p:nvSpPr>
          <p:cNvPr id="13" name="nav-Appendix">
            <a:extLst xmlns:a="http://schemas.openxmlformats.org/drawingml/2006/main">
              <a:ext uri="{FF2B5EF4-FFF2-40B4-BE49-F238E27FC236}">
                <a16:creationId xmlns:a16="http://schemas.microsoft.com/office/drawing/2014/main" id="{4E764B00-5A8C-483B-8BC0-5A5234161FF4}"/>
              </a:ext>
            </a:extLst>
          </p:cNvPr>
          <p:cNvSpPr>
            <a:spLocks xmlns:a="http://schemas.openxmlformats.org/drawingml/2006/main" noGrp="1"/>
          </p:cNvSpPr>
          <p:nvPr/>
        </p:nvSpPr>
        <p:spPr>
          <a:xfrm xmlns:a="http://schemas.openxmlformats.org/drawingml/2006/main">
            <a:off x="10287000" y="171450"/>
            <a:ext cx="1600200" cy="381000"/>
          </a:xfrm>
          <a:prstGeom xmlns:a="http://schemas.openxmlformats.org/drawingml/2006/main" prst="roundRect">
            <a:avLst>
              <a:gd name="adj" fmla="val 17500"/>
            </a:avLst>
          </a:prstGeom>
          <a:solidFill xmlns:a="http://schemas.openxmlformats.org/drawingml/2006/main">
            <a:srgbClr val="BE1738"/>
          </a:solidFill>
          <a:ln xmlns:a="http://schemas.openxmlformats.org/drawingml/2006/main" w="11430">
            <a:solidFill>
              <a:srgbClr val="BE1738"/>
            </a:solidFill>
          </a:ln>
        </p:spPr>
      </p:sp>
      <p:sp>
        <p:nvSpPr>
          <p:cNvPr id="14" name="navigation-Appendix">
            <a:extLst xmlns:a="http://schemas.openxmlformats.org/drawingml/2006/main">
              <a:ext uri="{FF2B5EF4-FFF2-40B4-BE49-F238E27FC236}">
                <a16:creationId xmlns:a16="http://schemas.microsoft.com/office/drawing/2014/main" id="{66AE062D-3C65-4B4D-B5C2-27D0899C10C3}"/>
              </a:ext>
            </a:extLst>
          </p:cNvPr>
          <p:cNvSpPr>
            <a:spLocks xmlns:a="http://schemas.openxmlformats.org/drawingml/2006/main" noGrp="1"/>
          </p:cNvSpPr>
          <p:nvPr/>
        </p:nvSpPr>
        <p:spPr>
          <a:xfrm xmlns:a="http://schemas.openxmlformats.org/drawingml/2006/main">
            <a:off x="10315575" y="190500"/>
            <a:ext cx="154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0">
                <a:solidFill>
                  <a:srgbClr val="FFFFFF"/>
                </a:solidFill>
                <a:latin typeface="Carlito"/>
                <a:ea typeface="Carlito"/>
                <a:cs typeface="Carlito"/>
              </a:defRPr>
            </a:pPr>
            <a:r>
              <a:rPr sz="1313" b="0">
                <a:solidFill>
                  <a:srgbClr val="FFFFFF"/>
                </a:solidFill>
                <a:latin typeface="Carlito"/>
                <a:ea typeface="Carlito"/>
                <a:cs typeface="Carlito"/>
              </a:rPr>
              <a:t>Appendix</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67046fc9f1034c1e"/>
          <a:stretch xmlns:a="http://schemas.openxmlformats.org/drawingml/2006/main"/>
        </p:blipFill>
        <p:spPr>
          <a:xfrm xmlns:a="http://schemas.openxmlformats.org/drawingml/2006/main">
            <a:off x="304800" y="737436"/>
            <a:ext cx="1057275" cy="1001629"/>
          </a:xfrm>
          <a:prstGeom xmlns:a="http://schemas.openxmlformats.org/drawingml/2006/main" prst="rect">
            <a:avLst/>
          </a:prstGeom>
        </p:spPr>
      </p:pic>
      <p:sp>
        <p:nvSpPr>
          <p:cNvPr id="16" name="title-outline">
            <a:extLst xmlns:a="http://schemas.openxmlformats.org/drawingml/2006/main">
              <a:ext uri="{FF2B5EF4-FFF2-40B4-BE49-F238E27FC236}">
                <a16:creationId xmlns:a16="http://schemas.microsoft.com/office/drawing/2014/main" id="{D454283C-F097-4735-9326-9A3AABB17E3F}"/>
              </a:ext>
            </a:extLst>
          </p:cNvPr>
          <p:cNvSpPr>
            <a:spLocks xmlns:a="http://schemas.openxmlformats.org/drawingml/2006/main" noGrp="1"/>
          </p:cNvSpPr>
          <p:nvPr/>
        </p:nvSpPr>
        <p:spPr>
          <a:xfrm xmlns:a="http://schemas.openxmlformats.org/drawingml/2006/main">
            <a:off x="1657350" y="866775"/>
            <a:ext cx="10496550" cy="4857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8575">
            <a:solidFill>
              <a:srgbClr val="BE1738"/>
            </a:solidFill>
          </a:ln>
        </p:spPr>
      </p:sp>
      <p:sp>
        <p:nvSpPr>
          <p:cNvPr id="17" name="slide-title">
            <a:extLst xmlns:a="http://schemas.openxmlformats.org/drawingml/2006/main">
              <a:ext uri="{FF2B5EF4-FFF2-40B4-BE49-F238E27FC236}">
                <a16:creationId xmlns:a16="http://schemas.microsoft.com/office/drawing/2014/main" id="{F1BA6DE8-A706-44AA-953B-E4F491E5DAC4}"/>
              </a:ext>
            </a:extLst>
          </p:cNvPr>
          <p:cNvSpPr>
            <a:spLocks xmlns:a="http://schemas.openxmlformats.org/drawingml/2006/main" noGrp="1"/>
          </p:cNvSpPr>
          <p:nvPr/>
        </p:nvSpPr>
        <p:spPr>
          <a:xfrm xmlns:a="http://schemas.openxmlformats.org/drawingml/2006/main">
            <a:off x="1933575" y="933450"/>
            <a:ext cx="994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1632"/>
                </a:solidFill>
                <a:latin typeface="Carlito"/>
                <a:ea typeface="Carlito"/>
                <a:cs typeface="Carlito"/>
              </a:defRPr>
            </a:pPr>
            <a:r>
              <a:rPr sz="2100" b="1">
                <a:solidFill>
                  <a:srgbClr val="A91632"/>
                </a:solidFill>
                <a:latin typeface="Carlito"/>
                <a:ea typeface="Carlito"/>
                <a:cs typeface="Carlito"/>
              </a:rPr>
              <a:t>CAPABILITY MAP – LIFECYCLE AND GOVERNANCE</a:t>
            </a:r>
          </a:p>
        </p:txBody>
      </p:sp>
      <p:sp>
        <p:nvSpPr>
          <p:cNvPr id="18" name="classification">
            <a:extLst xmlns:a="http://schemas.openxmlformats.org/drawingml/2006/main">
              <a:ext uri="{FF2B5EF4-FFF2-40B4-BE49-F238E27FC236}">
                <a16:creationId xmlns:a16="http://schemas.microsoft.com/office/drawing/2014/main" id="{C216EC92-F710-4F2C-8B42-410104E34784}"/>
              </a:ext>
            </a:extLst>
          </p:cNvPr>
          <p:cNvSpPr>
            <a:spLocks xmlns:a="http://schemas.openxmlformats.org/drawingml/2006/main" noGrp="1"/>
          </p:cNvSpPr>
          <p:nvPr/>
        </p:nvSpPr>
        <p:spPr>
          <a:xfrm xmlns:a="http://schemas.openxmlformats.org/drawingml/2006/main">
            <a:off x="12001500" y="619125"/>
            <a:ext cx="2905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30343A"/>
                </a:solidFill>
                <a:latin typeface="Carlito"/>
                <a:ea typeface="Carlito"/>
                <a:cs typeface="Carlito"/>
              </a:defRPr>
            </a:pPr>
            <a:r>
              <a:rPr sz="1275" b="0">
                <a:solidFill>
                  <a:srgbClr val="30343A"/>
                </a:solidFill>
                <a:latin typeface="Carlito"/>
                <a:ea typeface="Carlito"/>
                <a:cs typeface="Carlito"/>
              </a:rPr>
              <a:t>RESTRICTED TO Euroclear</a:t>
            </a:r>
          </a:p>
        </p:txBody>
      </p:sp>
      <p:sp>
        <p:nvSpPr>
          <p:cNvPr id="19" name="footer-outline">
            <a:extLst xmlns:a="http://schemas.openxmlformats.org/drawingml/2006/main">
              <a:ext uri="{FF2B5EF4-FFF2-40B4-BE49-F238E27FC236}">
                <a16:creationId xmlns:a16="http://schemas.microsoft.com/office/drawing/2014/main" id="{A355BBAF-AEF7-472C-B3CB-61A4243758B0}"/>
              </a:ext>
            </a:extLst>
          </p:cNvPr>
          <p:cNvSpPr>
            <a:spLocks xmlns:a="http://schemas.openxmlformats.org/drawingml/2006/main" noGrp="1"/>
          </p:cNvSpPr>
          <p:nvPr/>
        </p:nvSpPr>
        <p:spPr>
          <a:xfrm xmlns:a="http://schemas.openxmlformats.org/drawingml/2006/main">
            <a:off x="171450" y="8143875"/>
            <a:ext cx="3009900" cy="2952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4288">
            <a:solidFill>
              <a:srgbClr val="70757C"/>
            </a:solidFill>
          </a:ln>
        </p:spPr>
      </p:sp>
      <p:sp>
        <p:nvSpPr>
          <p:cNvPr id="20" name="footer">
            <a:extLst xmlns:a="http://schemas.openxmlformats.org/drawingml/2006/main">
              <a:ext uri="{FF2B5EF4-FFF2-40B4-BE49-F238E27FC236}">
                <a16:creationId xmlns:a16="http://schemas.microsoft.com/office/drawing/2014/main" id="{31D53B24-7F55-49A7-ACA8-8FB34E8BA1C5}"/>
              </a:ext>
            </a:extLst>
          </p:cNvPr>
          <p:cNvSpPr>
            <a:spLocks xmlns:a="http://schemas.openxmlformats.org/drawingml/2006/main" noGrp="1"/>
          </p:cNvSpPr>
          <p:nvPr/>
        </p:nvSpPr>
        <p:spPr>
          <a:xfrm xmlns:a="http://schemas.openxmlformats.org/drawingml/2006/main">
            <a:off x="295275" y="8172450"/>
            <a:ext cx="2771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0343A"/>
                </a:solidFill>
                <a:latin typeface="Carlito"/>
                <a:ea typeface="Carlito"/>
                <a:cs typeface="Carlito"/>
              </a:defRPr>
            </a:pPr>
            <a:r>
              <a:rPr sz="1500" b="0">
                <a:solidFill>
                  <a:srgbClr val="30343A"/>
                </a:solidFill>
                <a:latin typeface="Carlito"/>
                <a:ea typeface="Carlito"/>
                <a:cs typeface="Carlito"/>
              </a:rPr>
              <a:t>API Target Architecture</a:t>
            </a:r>
          </a:p>
        </p:txBody>
      </p:sp>
      <p:sp>
        <p:nvSpPr>
          <p:cNvPr id="21" name="page-number">
            <a:extLst xmlns:a="http://schemas.openxmlformats.org/drawingml/2006/main">
              <a:ext uri="{FF2B5EF4-FFF2-40B4-BE49-F238E27FC236}">
                <a16:creationId xmlns:a16="http://schemas.microsoft.com/office/drawing/2014/main" id="{ACF8CBF2-5662-44E1-8AC6-FAA892A1CE14}"/>
              </a:ext>
            </a:extLst>
          </p:cNvPr>
          <p:cNvSpPr>
            <a:spLocks xmlns:a="http://schemas.openxmlformats.org/drawingml/2006/main" noGrp="1"/>
          </p:cNvSpPr>
          <p:nvPr/>
        </p:nvSpPr>
        <p:spPr>
          <a:xfrm xmlns:a="http://schemas.openxmlformats.org/drawingml/2006/main">
            <a:off x="14458950" y="8162925"/>
            <a:ext cx="4476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70757C"/>
                </a:solidFill>
                <a:latin typeface="Carlito"/>
                <a:ea typeface="Carlito"/>
                <a:cs typeface="Carlito"/>
              </a:defRPr>
            </a:pPr>
            <a:r>
              <a:rPr sz="1350" b="0">
                <a:solidFill>
                  <a:srgbClr val="70757C"/>
                </a:solidFill>
                <a:latin typeface="Carlito"/>
                <a:ea typeface="Carlito"/>
                <a:cs typeface="Carlito"/>
              </a:rPr>
              <a:t>14</a:t>
            </a:r>
          </a:p>
        </p:txBody>
      </p:sp>
      <p:sp>
        <p:nvSpPr>
          <p:cNvPr id="22" name="text">
            <a:extLst xmlns:a="http://schemas.openxmlformats.org/drawingml/2006/main">
              <a:ext uri="{FF2B5EF4-FFF2-40B4-BE49-F238E27FC236}">
                <a16:creationId xmlns:a16="http://schemas.microsoft.com/office/drawing/2014/main" id="{952F3EAE-9130-4974-8970-AA7853BDEBF1}"/>
              </a:ext>
            </a:extLst>
          </p:cNvPr>
          <p:cNvSpPr>
            <a:spLocks xmlns:a="http://schemas.openxmlformats.org/drawingml/2006/main" noGrp="1"/>
          </p:cNvSpPr>
          <p:nvPr/>
        </p:nvSpPr>
        <p:spPr>
          <a:xfrm xmlns:a="http://schemas.openxmlformats.org/drawingml/2006/main">
            <a:off x="361950" y="1790700"/>
            <a:ext cx="1447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0343A"/>
                </a:solidFill>
                <a:latin typeface="Carlito"/>
                <a:ea typeface="Carlito"/>
                <a:cs typeface="Carlito"/>
              </a:defRPr>
            </a:pPr>
            <a:r>
              <a:rPr sz="1500" b="0">
                <a:solidFill>
                  <a:srgbClr val="30343A"/>
                </a:solidFill>
                <a:latin typeface="Carlito"/>
                <a:ea typeface="Carlito"/>
                <a:cs typeface="Carlito"/>
              </a:rPr>
              <a:t>Role: P = Euroclear provides APIs, C = Euroclear consumes APIs, B = both</a:t>
            </a:r>
          </a:p>
        </p:txBody>
      </p:sp>
      <p:sp>
        <p:nvSpPr>
          <p:cNvPr id="23" name="text">
            <a:extLst xmlns:a="http://schemas.openxmlformats.org/drawingml/2006/main">
              <a:ext uri="{FF2B5EF4-FFF2-40B4-BE49-F238E27FC236}">
                <a16:creationId xmlns:a16="http://schemas.microsoft.com/office/drawing/2014/main" id="{012DC7B7-23E6-4128-AABB-EDD03194EFC9}"/>
              </a:ext>
            </a:extLst>
          </p:cNvPr>
          <p:cNvSpPr>
            <a:spLocks xmlns:a="http://schemas.openxmlformats.org/drawingml/2006/main" noGrp="1"/>
          </p:cNvSpPr>
          <p:nvPr/>
        </p:nvSpPr>
        <p:spPr>
          <a:xfrm xmlns:a="http://schemas.openxmlformats.org/drawingml/2006/main">
            <a:off x="361950" y="2095500"/>
            <a:ext cx="1447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0343A"/>
                </a:solidFill>
                <a:latin typeface="Carlito"/>
                <a:ea typeface="Carlito"/>
                <a:cs typeface="Carlito"/>
              </a:defRPr>
            </a:pPr>
            <a:r>
              <a:rPr sz="1500" b="0">
                <a:solidFill>
                  <a:srgbClr val="30343A"/>
                </a:solidFill>
                <a:latin typeface="Carlito"/>
                <a:ea typeface="Carlito"/>
                <a:cs typeface="Carlito"/>
              </a:rPr>
              <a:t>Reported state: E = established, W = work in progress, Y = yet to start</a:t>
            </a:r>
          </a:p>
        </p:txBody>
      </p:sp>
      <p:sp>
        <p:nvSpPr>
          <p:cNvPr id="24" name="text">
            <a:extLst xmlns:a="http://schemas.openxmlformats.org/drawingml/2006/main">
              <a:ext uri="{FF2B5EF4-FFF2-40B4-BE49-F238E27FC236}">
                <a16:creationId xmlns:a16="http://schemas.microsoft.com/office/drawing/2014/main" id="{8177DE77-35EF-4740-A2D0-0339EAEA038B}"/>
              </a:ext>
            </a:extLst>
          </p:cNvPr>
          <p:cNvSpPr>
            <a:spLocks xmlns:a="http://schemas.openxmlformats.org/drawingml/2006/main" noGrp="1"/>
          </p:cNvSpPr>
          <p:nvPr/>
        </p:nvSpPr>
        <p:spPr>
          <a:xfrm xmlns:a="http://schemas.openxmlformats.org/drawingml/2006/main">
            <a:off x="342900" y="2562225"/>
            <a:ext cx="47053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1632"/>
                </a:solidFill>
                <a:latin typeface="Carlito"/>
                <a:ea typeface="Carlito"/>
                <a:cs typeface="Carlito"/>
              </a:defRPr>
            </a:pPr>
            <a:r>
              <a:rPr sz="2100" b="1">
                <a:solidFill>
                  <a:srgbClr val="A91632"/>
                </a:solidFill>
                <a:latin typeface="Carlito"/>
                <a:ea typeface="Carlito"/>
                <a:cs typeface="Carlito"/>
              </a:rPr>
              <a:t>API Lifecycle Management</a:t>
            </a:r>
          </a:p>
        </p:txBody>
      </p:sp>
      <p:graphicFrame>
        <p:nvGraphicFramePr>
          <p:cNvPr id="55" name=""/>
          <p:cNvGraphicFramePr/>
          <p:nvPr/>
        </p:nvGraphicFramePr>
        <p:xfrm>
          <a:off xmlns:a="http://schemas.openxmlformats.org/drawingml/2006/main" x="342900" y="2971800"/>
          <a:ext xmlns:a="http://schemas.openxmlformats.org/drawingml/2006/main" cx="4705350" cy="4648200"/>
        </p:xfrm>
        <a:graphic xmlns:a="http://schemas.openxmlformats.org/drawingml/2006/main">
          <a:graphicData uri="http://schemas.openxmlformats.org/drawingml/2006/table">
            <a:tbl>
              <a:tblPr firstRow="0" bandRow="0"/>
              <a:tblGrid>
                <a:gridCol w="3657600"/>
                <a:gridCol w="514350"/>
                <a:gridCol w="533400"/>
              </a:tblGrid>
              <a:tr h="352425">
                <a:tc>
                  <a:txBody>
                    <a:bodyPr>
                      <a:noAutofit/>
                    </a:bodyPr>
                    <a:lstStyle/>
                    <a:p>
                      <a:r>
                        <a:rPr sz="1275" b="1">
                          <a:solidFill>
                            <a:srgbClr val="FFFFFF"/>
                          </a:solidFill>
                          <a:latin typeface="Carlito"/>
                          <a:ea typeface="Carlito"/>
                          <a:cs typeface="Carlito"/>
                        </a:rPr>
                        <a:t>Capability</a:t>
                      </a:r>
                    </a:p>
                  </a:txBody>
                  <a:tcPr marL="76200" marR="76200" marT="28575" marB="28575" anchor="t">
                    <a:solidFill>
                      <a:srgbClr val="BE1738"/>
                    </a:solidFill>
                  </a:tcPr>
                </a:tc>
                <a:tc>
                  <a:txBody>
                    <a:bodyPr>
                      <a:noAutofit/>
                    </a:bodyPr>
                    <a:lstStyle/>
                    <a:p>
                      <a:r>
                        <a:rPr sz="1275" b="1">
                          <a:solidFill>
                            <a:srgbClr val="FFFFFF"/>
                          </a:solidFill>
                          <a:latin typeface="Carlito"/>
                          <a:ea typeface="Carlito"/>
                          <a:cs typeface="Carlito"/>
                        </a:rPr>
                        <a:t>Role</a:t>
                      </a:r>
                    </a:p>
                  </a:txBody>
                  <a:tcPr marL="76200" marR="76200" marT="28575" marB="28575" anchor="t">
                    <a:solidFill>
                      <a:srgbClr val="BE1738"/>
                    </a:solidFill>
                  </a:tcPr>
                </a:tc>
                <a:tc>
                  <a:txBody>
                    <a:bodyPr>
                      <a:noAutofit/>
                    </a:bodyPr>
                    <a:lstStyle/>
                    <a:p>
                      <a:r>
                        <a:rPr sz="1163" b="1">
                          <a:solidFill>
                            <a:srgbClr val="FFFFFF"/>
                          </a:solidFill>
                          <a:latin typeface="Carlito"/>
                          <a:ea typeface="Carlito"/>
                          <a:cs typeface="Carlito"/>
                        </a:rPr>
                        <a:t>State</a:t>
                      </a:r>
                    </a:p>
                  </a:txBody>
                  <a:tcPr marL="76200" marR="76200" marT="28575" marB="28575" anchor="t">
                    <a:solidFill>
                      <a:srgbClr val="BE1738"/>
                    </a:solidFill>
                  </a:tcPr>
                </a:tc>
              </a:tr>
              <a:tr h="390525">
                <a:tc>
                  <a:txBody>
                    <a:bodyPr>
                      <a:noAutofit/>
                    </a:bodyPr>
                    <a:lstStyle/>
                    <a:p>
                      <a:r>
                        <a:rPr sz="1313" b="0">
                          <a:solidFill>
                            <a:srgbClr val="30343A"/>
                          </a:solidFill>
                          <a:latin typeface="Carlito"/>
                          <a:ea typeface="Carlito"/>
                          <a:cs typeface="Carlito"/>
                        </a:rPr>
                        <a:t>API design and specification authoring</a:t>
                      </a:r>
                    </a:p>
                  </a:txBody>
                  <a:tcPr marL="76200" marR="76200" marT="28575" marB="28575" anchor="t">
                    <a:solidFill>
                      <a:srgbClr val="FFFFFF"/>
                    </a:solidFill>
                  </a:tcPr>
                </a:tc>
                <a:tc>
                  <a:txBody>
                    <a:bodyPr>
                      <a:noAutofit/>
                    </a:bodyPr>
                    <a:lstStyle/>
                    <a:p>
                      <a:pPr algn="ctr"/>
                      <a:r>
                        <a:rPr sz="1313" b="0">
                          <a:solidFill>
                            <a:srgbClr val="70757C"/>
                          </a:solidFill>
                          <a:latin typeface="Carlito"/>
                          <a:ea typeface="Carlito"/>
                          <a:cs typeface="Carlito"/>
                        </a:rPr>
                        <a:t>P</a:t>
                      </a:r>
                    </a:p>
                  </a:txBody>
                  <a:tcPr marL="76200" marR="76200" marT="28575" marB="28575" anchor="ctr">
                    <a:solidFill>
                      <a:srgbClr val="FFFFFF"/>
                    </a:solidFill>
                  </a:tcPr>
                </a:tc>
                <a:tc>
                  <a:txBody>
                    <a:bodyPr>
                      <a:noAutofit/>
                    </a:bodyPr>
                    <a:lstStyle/>
                    <a:p>
                      <a:pPr algn="ctr"/>
                      <a:r>
                        <a:rPr sz="1313" b="1">
                          <a:solidFill>
                            <a:srgbClr val="288C87"/>
                          </a:solidFill>
                          <a:latin typeface="Carlito"/>
                          <a:ea typeface="Carlito"/>
                          <a:cs typeface="Carlito"/>
                        </a:rPr>
                        <a:t>E</a:t>
                      </a:r>
                    </a:p>
                  </a:txBody>
                  <a:tcPr marL="76200" marR="76200" marT="28575" marB="28575" anchor="ctr">
                    <a:solidFill>
                      <a:srgbClr val="E8F4F2"/>
                    </a:solidFill>
                  </a:tcPr>
                </a:tc>
              </a:tr>
              <a:tr h="390525">
                <a:tc>
                  <a:txBody>
                    <a:bodyPr>
                      <a:noAutofit/>
                    </a:bodyPr>
                    <a:lstStyle/>
                    <a:p>
                      <a:r>
                        <a:rPr sz="1313" b="0">
                          <a:solidFill>
                            <a:srgbClr val="30343A"/>
                          </a:solidFill>
                          <a:latin typeface="Carlito"/>
                          <a:ea typeface="Carlito"/>
                          <a:cs typeface="Carlito"/>
                        </a:rPr>
                        <a:t>API build and implementation tooling</a:t>
                      </a:r>
                    </a:p>
                  </a:txBody>
                  <a:tcPr marL="76200" marR="76200" marT="28575" marB="28575" anchor="t">
                    <a:solidFill>
                      <a:srgbClr val="F4F5F6"/>
                    </a:solidFill>
                  </a:tcPr>
                </a:tc>
                <a:tc>
                  <a:txBody>
                    <a:bodyPr>
                      <a:noAutofit/>
                    </a:bodyPr>
                    <a:lstStyle/>
                    <a:p>
                      <a:pPr algn="ctr"/>
                      <a:r>
                        <a:rPr sz="1313" b="0">
                          <a:solidFill>
                            <a:srgbClr val="70757C"/>
                          </a:solidFill>
                          <a:latin typeface="Carlito"/>
                          <a:ea typeface="Carlito"/>
                          <a:cs typeface="Carlito"/>
                        </a:rPr>
                        <a:t>B</a:t>
                      </a:r>
                    </a:p>
                  </a:txBody>
                  <a:tcPr marL="76200" marR="76200" marT="28575" marB="28575" anchor="ctr">
                    <a:solidFill>
                      <a:srgbClr val="F4F5F6"/>
                    </a:solidFill>
                  </a:tcPr>
                </a:tc>
                <a:tc>
                  <a:txBody>
                    <a:bodyPr>
                      <a:noAutofit/>
                    </a:bodyPr>
                    <a:lstStyle/>
                    <a:p>
                      <a:pPr algn="ctr"/>
                      <a:r>
                        <a:rPr sz="1313" b="1">
                          <a:solidFill>
                            <a:srgbClr val="288C87"/>
                          </a:solidFill>
                          <a:latin typeface="Carlito"/>
                          <a:ea typeface="Carlito"/>
                          <a:cs typeface="Carlito"/>
                        </a:rPr>
                        <a:t>E</a:t>
                      </a:r>
                    </a:p>
                  </a:txBody>
                  <a:tcPr marL="76200" marR="76200" marT="28575" marB="28575" anchor="ctr">
                    <a:solidFill>
                      <a:srgbClr val="E8F4F2"/>
                    </a:solidFill>
                  </a:tcPr>
                </a:tc>
              </a:tr>
              <a:tr h="390525">
                <a:tc>
                  <a:txBody>
                    <a:bodyPr>
                      <a:noAutofit/>
                    </a:bodyPr>
                    <a:lstStyle/>
                    <a:p>
                      <a:r>
                        <a:rPr sz="1313" b="0">
                          <a:solidFill>
                            <a:srgbClr val="30343A"/>
                          </a:solidFill>
                          <a:latin typeface="Carlito"/>
                          <a:ea typeface="Carlito"/>
                          <a:cs typeface="Carlito"/>
                        </a:rPr>
                        <a:t>Environment management</a:t>
                      </a:r>
                    </a:p>
                  </a:txBody>
                  <a:tcPr marL="76200" marR="76200" marT="28575" marB="28575" anchor="t">
                    <a:solidFill>
                      <a:srgbClr val="FFFFFF"/>
                    </a:solidFill>
                  </a:tcPr>
                </a:tc>
                <a:tc>
                  <a:txBody>
                    <a:bodyPr>
                      <a:noAutofit/>
                    </a:bodyPr>
                    <a:lstStyle/>
                    <a:p>
                      <a:pPr algn="ctr"/>
                      <a:r>
                        <a:rPr sz="1313" b="0">
                          <a:solidFill>
                            <a:srgbClr val="70757C"/>
                          </a:solidFill>
                          <a:latin typeface="Carlito"/>
                          <a:ea typeface="Carlito"/>
                          <a:cs typeface="Carlito"/>
                        </a:rPr>
                        <a:t>B</a:t>
                      </a:r>
                    </a:p>
                  </a:txBody>
                  <a:tcPr marL="76200" marR="76200" marT="28575" marB="28575" anchor="ctr">
                    <a:solidFill>
                      <a:srgbClr val="FFFFFF"/>
                    </a:solidFill>
                  </a:tcPr>
                </a:tc>
                <a:tc>
                  <a:txBody>
                    <a:bodyPr>
                      <a:noAutofit/>
                    </a:bodyPr>
                    <a:lstStyle/>
                    <a:p>
                      <a:pPr algn="ctr"/>
                      <a:r>
                        <a:rPr sz="1313" b="1">
                          <a:solidFill>
                            <a:srgbClr val="288C87"/>
                          </a:solidFill>
                          <a:latin typeface="Carlito"/>
                          <a:ea typeface="Carlito"/>
                          <a:cs typeface="Carlito"/>
                        </a:rPr>
                        <a:t>E</a:t>
                      </a:r>
                    </a:p>
                  </a:txBody>
                  <a:tcPr marL="76200" marR="76200" marT="28575" marB="28575" anchor="ctr">
                    <a:solidFill>
                      <a:srgbClr val="E8F4F2"/>
                    </a:solidFill>
                  </a:tcPr>
                </a:tc>
              </a:tr>
              <a:tr h="390525">
                <a:tc>
                  <a:txBody>
                    <a:bodyPr>
                      <a:noAutofit/>
                    </a:bodyPr>
                    <a:lstStyle/>
                    <a:p>
                      <a:r>
                        <a:rPr sz="1313" b="0">
                          <a:solidFill>
                            <a:srgbClr val="30343A"/>
                          </a:solidFill>
                          <a:latin typeface="Carlito"/>
                          <a:ea typeface="Carlito"/>
                          <a:cs typeface="Carlito"/>
                        </a:rPr>
                        <a:t>API retirement and decommissioning</a:t>
                      </a:r>
                    </a:p>
                  </a:txBody>
                  <a:tcPr marL="76200" marR="76200" marT="28575" marB="28575" anchor="t">
                    <a:solidFill>
                      <a:srgbClr val="F4F5F6"/>
                    </a:solidFill>
                  </a:tcPr>
                </a:tc>
                <a:tc>
                  <a:txBody>
                    <a:bodyPr>
                      <a:noAutofit/>
                    </a:bodyPr>
                    <a:lstStyle/>
                    <a:p>
                      <a:pPr algn="ctr"/>
                      <a:r>
                        <a:rPr sz="1313" b="0">
                          <a:solidFill>
                            <a:srgbClr val="70757C"/>
                          </a:solidFill>
                          <a:latin typeface="Carlito"/>
                          <a:ea typeface="Carlito"/>
                          <a:cs typeface="Carlito"/>
                        </a:rPr>
                        <a:t>P</a:t>
                      </a:r>
                    </a:p>
                  </a:txBody>
                  <a:tcPr marL="76200" marR="76200" marT="28575" marB="28575" anchor="ctr">
                    <a:solidFill>
                      <a:srgbClr val="F4F5F6"/>
                    </a:solidFill>
                  </a:tcPr>
                </a:tc>
                <a:tc>
                  <a:txBody>
                    <a:bodyPr>
                      <a:noAutofit/>
                    </a:bodyPr>
                    <a:lstStyle/>
                    <a:p>
                      <a:pPr algn="ctr"/>
                      <a:r>
                        <a:rPr sz="1313" b="1">
                          <a:solidFill>
                            <a:srgbClr val="946125"/>
                          </a:solidFill>
                          <a:latin typeface="Carlito"/>
                          <a:ea typeface="Carlito"/>
                          <a:cs typeface="Carlito"/>
                        </a:rPr>
                        <a:t>W</a:t>
                      </a:r>
                    </a:p>
                  </a:txBody>
                  <a:tcPr marL="76200" marR="76200" marT="28575" marB="28575" anchor="ctr">
                    <a:solidFill>
                      <a:srgbClr val="FFF0DC"/>
                    </a:solidFill>
                  </a:tcPr>
                </a:tc>
              </a:tr>
              <a:tr h="390525">
                <a:tc>
                  <a:txBody>
                    <a:bodyPr>
                      <a:noAutofit/>
                    </a:bodyPr>
                    <a:lstStyle/>
                    <a:p>
                      <a:r>
                        <a:rPr sz="1313" b="0">
                          <a:solidFill>
                            <a:srgbClr val="30343A"/>
                          </a:solidFill>
                          <a:latin typeface="Carlito"/>
                          <a:ea typeface="Carlito"/>
                          <a:cs typeface="Carlito"/>
                        </a:rPr>
                        <a:t>Analytics, monitoring and observability</a:t>
                      </a:r>
                    </a:p>
                  </a:txBody>
                  <a:tcPr marL="76200" marR="76200" marT="28575" marB="28575" anchor="t">
                    <a:solidFill>
                      <a:srgbClr val="FFFFFF"/>
                    </a:solidFill>
                  </a:tcPr>
                </a:tc>
                <a:tc>
                  <a:txBody>
                    <a:bodyPr>
                      <a:noAutofit/>
                    </a:bodyPr>
                    <a:lstStyle/>
                    <a:p>
                      <a:pPr algn="ctr"/>
                      <a:r>
                        <a:rPr sz="1313" b="0">
                          <a:solidFill>
                            <a:srgbClr val="70757C"/>
                          </a:solidFill>
                          <a:latin typeface="Carlito"/>
                          <a:ea typeface="Carlito"/>
                          <a:cs typeface="Carlito"/>
                        </a:rPr>
                        <a:t>B</a:t>
                      </a:r>
                    </a:p>
                  </a:txBody>
                  <a:tcPr marL="76200" marR="76200" marT="28575" marB="28575" anchor="ctr">
                    <a:solidFill>
                      <a:srgbClr val="FFFFFF"/>
                    </a:solidFill>
                  </a:tcPr>
                </a:tc>
                <a:tc>
                  <a:txBody>
                    <a:bodyPr>
                      <a:noAutofit/>
                    </a:bodyPr>
                    <a:lstStyle/>
                    <a:p>
                      <a:pPr algn="ctr"/>
                      <a:r>
                        <a:rPr sz="1313" b="1">
                          <a:solidFill>
                            <a:srgbClr val="946125"/>
                          </a:solidFill>
                          <a:latin typeface="Carlito"/>
                          <a:ea typeface="Carlito"/>
                          <a:cs typeface="Carlito"/>
                        </a:rPr>
                        <a:t>W</a:t>
                      </a:r>
                    </a:p>
                  </a:txBody>
                  <a:tcPr marL="76200" marR="76200" marT="28575" marB="28575" anchor="ctr">
                    <a:solidFill>
                      <a:srgbClr val="FFF0DC"/>
                    </a:solidFill>
                  </a:tcPr>
                </a:tc>
              </a:tr>
              <a:tr h="390525">
                <a:tc>
                  <a:txBody>
                    <a:bodyPr>
                      <a:noAutofit/>
                    </a:bodyPr>
                    <a:lstStyle/>
                    <a:p>
                      <a:r>
                        <a:rPr sz="1313" b="0">
                          <a:solidFill>
                            <a:srgbClr val="30343A"/>
                          </a:solidFill>
                          <a:latin typeface="Carlito"/>
                          <a:ea typeface="Carlito"/>
                          <a:cs typeface="Carlito"/>
                        </a:rPr>
                        <a:t>Centralised logging and audit trail</a:t>
                      </a:r>
                    </a:p>
                  </a:txBody>
                  <a:tcPr marL="76200" marR="76200" marT="28575" marB="28575" anchor="t">
                    <a:solidFill>
                      <a:srgbClr val="F4F5F6"/>
                    </a:solidFill>
                  </a:tcPr>
                </a:tc>
                <a:tc>
                  <a:txBody>
                    <a:bodyPr>
                      <a:noAutofit/>
                    </a:bodyPr>
                    <a:lstStyle/>
                    <a:p>
                      <a:pPr algn="ctr"/>
                      <a:r>
                        <a:rPr sz="1313" b="0">
                          <a:solidFill>
                            <a:srgbClr val="70757C"/>
                          </a:solidFill>
                          <a:latin typeface="Carlito"/>
                          <a:ea typeface="Carlito"/>
                          <a:cs typeface="Carlito"/>
                        </a:rPr>
                        <a:t>B</a:t>
                      </a:r>
                    </a:p>
                  </a:txBody>
                  <a:tcPr marL="76200" marR="76200" marT="28575" marB="28575" anchor="ctr">
                    <a:solidFill>
                      <a:srgbClr val="F4F5F6"/>
                    </a:solidFill>
                  </a:tcPr>
                </a:tc>
                <a:tc>
                  <a:txBody>
                    <a:bodyPr>
                      <a:noAutofit/>
                    </a:bodyPr>
                    <a:lstStyle/>
                    <a:p>
                      <a:pPr algn="ctr"/>
                      <a:r>
                        <a:rPr sz="1313" b="1">
                          <a:solidFill>
                            <a:srgbClr val="946125"/>
                          </a:solidFill>
                          <a:latin typeface="Carlito"/>
                          <a:ea typeface="Carlito"/>
                          <a:cs typeface="Carlito"/>
                        </a:rPr>
                        <a:t>W</a:t>
                      </a:r>
                    </a:p>
                  </a:txBody>
                  <a:tcPr marL="76200" marR="76200" marT="28575" marB="28575" anchor="ctr">
                    <a:solidFill>
                      <a:srgbClr val="FFF0DC"/>
                    </a:solidFill>
                  </a:tcPr>
                </a:tc>
              </a:tr>
              <a:tr h="390525">
                <a:tc>
                  <a:txBody>
                    <a:bodyPr>
                      <a:noAutofit/>
                    </a:bodyPr>
                    <a:lstStyle/>
                    <a:p>
                      <a:r>
                        <a:rPr sz="1313" b="0">
                          <a:solidFill>
                            <a:srgbClr val="30343A"/>
                          </a:solidFill>
                          <a:latin typeface="Carlito"/>
                          <a:ea typeface="Carlito"/>
                          <a:cs typeface="Carlito"/>
                        </a:rPr>
                        <a:t>Dependency management</a:t>
                      </a:r>
                    </a:p>
                  </a:txBody>
                  <a:tcPr marL="76200" marR="76200" marT="28575" marB="28575" anchor="t">
                    <a:solidFill>
                      <a:srgbClr val="FFFFFF"/>
                    </a:solidFill>
                  </a:tcPr>
                </a:tc>
                <a:tc>
                  <a:txBody>
                    <a:bodyPr>
                      <a:noAutofit/>
                    </a:bodyPr>
                    <a:lstStyle/>
                    <a:p>
                      <a:pPr algn="ctr"/>
                      <a:r>
                        <a:rPr sz="1313" b="0">
                          <a:solidFill>
                            <a:srgbClr val="70757C"/>
                          </a:solidFill>
                          <a:latin typeface="Carlito"/>
                          <a:ea typeface="Carlito"/>
                          <a:cs typeface="Carlito"/>
                        </a:rPr>
                        <a:t>C</a:t>
                      </a:r>
                    </a:p>
                  </a:txBody>
                  <a:tcPr marL="76200" marR="76200" marT="28575" marB="28575" anchor="ctr">
                    <a:solidFill>
                      <a:srgbClr val="FFFFFF"/>
                    </a:solidFill>
                  </a:tcPr>
                </a:tc>
                <a:tc>
                  <a:txBody>
                    <a:bodyPr>
                      <a:noAutofit/>
                    </a:bodyPr>
                    <a:lstStyle/>
                    <a:p>
                      <a:pPr algn="ctr"/>
                      <a:r>
                        <a:rPr sz="1313" b="1">
                          <a:solidFill>
                            <a:srgbClr val="946125"/>
                          </a:solidFill>
                          <a:latin typeface="Carlito"/>
                          <a:ea typeface="Carlito"/>
                          <a:cs typeface="Carlito"/>
                        </a:rPr>
                        <a:t>W</a:t>
                      </a:r>
                    </a:p>
                  </a:txBody>
                  <a:tcPr marL="76200" marR="76200" marT="28575" marB="28575" anchor="ctr">
                    <a:solidFill>
                      <a:srgbClr val="FFF0DC"/>
                    </a:solidFill>
                  </a:tcPr>
                </a:tc>
              </a:tr>
              <a:tr h="390525">
                <a:tc>
                  <a:txBody>
                    <a:bodyPr>
                      <a:noAutofit/>
                    </a:bodyPr>
                    <a:lstStyle/>
                    <a:p>
                      <a:r>
                        <a:rPr sz="1313" b="0">
                          <a:solidFill>
                            <a:srgbClr val="30343A"/>
                          </a:solidFill>
                          <a:latin typeface="Carlito"/>
                          <a:ea typeface="Carlito"/>
                          <a:cs typeface="Carlito"/>
                        </a:rPr>
                        <a:t>CI/CD and release pipeline</a:t>
                      </a:r>
                    </a:p>
                  </a:txBody>
                  <a:tcPr marL="76200" marR="76200" marT="28575" marB="28575" anchor="t">
                    <a:solidFill>
                      <a:srgbClr val="F4F5F6"/>
                    </a:solidFill>
                  </a:tcPr>
                </a:tc>
                <a:tc>
                  <a:txBody>
                    <a:bodyPr>
                      <a:noAutofit/>
                    </a:bodyPr>
                    <a:lstStyle/>
                    <a:p>
                      <a:pPr algn="ctr"/>
                      <a:r>
                        <a:rPr sz="1313" b="0">
                          <a:solidFill>
                            <a:srgbClr val="70757C"/>
                          </a:solidFill>
                          <a:latin typeface="Carlito"/>
                          <a:ea typeface="Carlito"/>
                          <a:cs typeface="Carlito"/>
                        </a:rPr>
                        <a:t>B</a:t>
                      </a:r>
                    </a:p>
                  </a:txBody>
                  <a:tcPr marL="76200" marR="76200" marT="28575" marB="28575" anchor="ctr">
                    <a:solidFill>
                      <a:srgbClr val="F4F5F6"/>
                    </a:solidFill>
                  </a:tcPr>
                </a:tc>
                <a:tc>
                  <a:txBody>
                    <a:bodyPr>
                      <a:noAutofit/>
                    </a:bodyPr>
                    <a:lstStyle/>
                    <a:p>
                      <a:pPr algn="ctr"/>
                      <a:r>
                        <a:rPr sz="1313" b="1">
                          <a:solidFill>
                            <a:srgbClr val="946125"/>
                          </a:solidFill>
                          <a:latin typeface="Carlito"/>
                          <a:ea typeface="Carlito"/>
                          <a:cs typeface="Carlito"/>
                        </a:rPr>
                        <a:t>W</a:t>
                      </a:r>
                    </a:p>
                  </a:txBody>
                  <a:tcPr marL="76200" marR="76200" marT="28575" marB="28575" anchor="ctr">
                    <a:solidFill>
                      <a:srgbClr val="FFF0DC"/>
                    </a:solidFill>
                  </a:tcPr>
                </a:tc>
              </a:tr>
              <a:tr h="390525">
                <a:tc>
                  <a:txBody>
                    <a:bodyPr>
                      <a:noAutofit/>
                    </a:bodyPr>
                    <a:lstStyle/>
                    <a:p>
                      <a:r>
                        <a:rPr sz="1313" b="0">
                          <a:solidFill>
                            <a:srgbClr val="30343A"/>
                          </a:solidFill>
                          <a:latin typeface="Carlito"/>
                          <a:ea typeface="Carlito"/>
                          <a:cs typeface="Carlito"/>
                        </a:rPr>
                        <a:t>Contract and schema validation</a:t>
                      </a:r>
                    </a:p>
                  </a:txBody>
                  <a:tcPr marL="76200" marR="76200" marT="28575" marB="28575" anchor="t">
                    <a:solidFill>
                      <a:srgbClr val="FFFFFF"/>
                    </a:solidFill>
                  </a:tcPr>
                </a:tc>
                <a:tc>
                  <a:txBody>
                    <a:bodyPr>
                      <a:noAutofit/>
                    </a:bodyPr>
                    <a:lstStyle/>
                    <a:p>
                      <a:pPr algn="ctr"/>
                      <a:r>
                        <a:rPr sz="1313" b="0">
                          <a:solidFill>
                            <a:srgbClr val="70757C"/>
                          </a:solidFill>
                          <a:latin typeface="Carlito"/>
                          <a:ea typeface="Carlito"/>
                          <a:cs typeface="Carlito"/>
                        </a:rPr>
                        <a:t>B</a:t>
                      </a:r>
                    </a:p>
                  </a:txBody>
                  <a:tcPr marL="76200" marR="76200" marT="28575" marB="28575" anchor="ctr">
                    <a:solidFill>
                      <a:srgbClr val="FFFFFF"/>
                    </a:solidFill>
                  </a:tcPr>
                </a:tc>
                <a:tc>
                  <a:txBody>
                    <a:bodyPr>
                      <a:noAutofit/>
                    </a:bodyPr>
                    <a:lstStyle/>
                    <a:p>
                      <a:pPr algn="ctr"/>
                      <a:r>
                        <a:rPr sz="1313" b="1">
                          <a:solidFill>
                            <a:srgbClr val="946125"/>
                          </a:solidFill>
                          <a:latin typeface="Carlito"/>
                          <a:ea typeface="Carlito"/>
                          <a:cs typeface="Carlito"/>
                        </a:rPr>
                        <a:t>W</a:t>
                      </a:r>
                    </a:p>
                  </a:txBody>
                  <a:tcPr marL="76200" marR="76200" marT="28575" marB="28575" anchor="ctr">
                    <a:solidFill>
                      <a:srgbClr val="FFF0DC"/>
                    </a:solidFill>
                  </a:tcPr>
                </a:tc>
              </a:tr>
              <a:tr h="390525">
                <a:tc>
                  <a:txBody>
                    <a:bodyPr>
                      <a:noAutofit/>
                    </a:bodyPr>
                    <a:lstStyle/>
                    <a:p>
                      <a:r>
                        <a:rPr sz="1313" b="0">
                          <a:solidFill>
                            <a:srgbClr val="30343A"/>
                          </a:solidFill>
                          <a:latin typeface="Carlito"/>
                          <a:ea typeface="Carlito"/>
                          <a:cs typeface="Carlito"/>
                        </a:rPr>
                        <a:t>Version management and deprecation execution</a:t>
                      </a:r>
                    </a:p>
                  </a:txBody>
                  <a:tcPr marL="76200" marR="76200" marT="28575" marB="28575" anchor="t">
                    <a:solidFill>
                      <a:srgbClr val="F4F5F6"/>
                    </a:solidFill>
                  </a:tcPr>
                </a:tc>
                <a:tc>
                  <a:txBody>
                    <a:bodyPr>
                      <a:noAutofit/>
                    </a:bodyPr>
                    <a:lstStyle/>
                    <a:p>
                      <a:pPr algn="ctr"/>
                      <a:r>
                        <a:rPr sz="1313" b="0">
                          <a:solidFill>
                            <a:srgbClr val="70757C"/>
                          </a:solidFill>
                          <a:latin typeface="Carlito"/>
                          <a:ea typeface="Carlito"/>
                          <a:cs typeface="Carlito"/>
                        </a:rPr>
                        <a:t>B</a:t>
                      </a:r>
                    </a:p>
                  </a:txBody>
                  <a:tcPr marL="76200" marR="76200" marT="28575" marB="28575" anchor="ctr">
                    <a:solidFill>
                      <a:srgbClr val="F4F5F6"/>
                    </a:solidFill>
                  </a:tcPr>
                </a:tc>
                <a:tc>
                  <a:txBody>
                    <a:bodyPr>
                      <a:noAutofit/>
                    </a:bodyPr>
                    <a:lstStyle/>
                    <a:p>
                      <a:pPr algn="ctr"/>
                      <a:r>
                        <a:rPr sz="1313" b="1">
                          <a:solidFill>
                            <a:srgbClr val="946125"/>
                          </a:solidFill>
                          <a:latin typeface="Carlito"/>
                          <a:ea typeface="Carlito"/>
                          <a:cs typeface="Carlito"/>
                        </a:rPr>
                        <a:t>W</a:t>
                      </a:r>
                    </a:p>
                  </a:txBody>
                  <a:tcPr marL="76200" marR="76200" marT="28575" marB="28575" anchor="ctr">
                    <a:solidFill>
                      <a:srgbClr val="FFF0DC"/>
                    </a:solidFill>
                  </a:tcPr>
                </a:tc>
              </a:tr>
              <a:tr h="390525">
                <a:tc>
                  <a:txBody>
                    <a:bodyPr>
                      <a:noAutofit/>
                    </a:bodyPr>
                    <a:lstStyle/>
                    <a:p>
                      <a:r>
                        <a:rPr sz="1313" b="0">
                          <a:solidFill>
                            <a:srgbClr val="30343A"/>
                          </a:solidFill>
                          <a:latin typeface="Carlito"/>
                          <a:ea typeface="Carlito"/>
                          <a:cs typeface="Carlito"/>
                        </a:rPr>
                        <a:t>Canonical data modelling</a:t>
                      </a:r>
                    </a:p>
                  </a:txBody>
                  <a:tcPr marL="76200" marR="76200" marT="28575" marB="28575" anchor="t">
                    <a:solidFill>
                      <a:srgbClr val="FFFFFF"/>
                    </a:solidFill>
                  </a:tcPr>
                </a:tc>
                <a:tc>
                  <a:txBody>
                    <a:bodyPr>
                      <a:noAutofit/>
                    </a:bodyPr>
                    <a:lstStyle/>
                    <a:p>
                      <a:pPr algn="ctr"/>
                      <a:r>
                        <a:rPr sz="1313" b="0">
                          <a:solidFill>
                            <a:srgbClr val="70757C"/>
                          </a:solidFill>
                          <a:latin typeface="Carlito"/>
                          <a:ea typeface="Carlito"/>
                          <a:cs typeface="Carlito"/>
                        </a:rPr>
                        <a:t>B</a:t>
                      </a:r>
                    </a:p>
                  </a:txBody>
                  <a:tcPr marL="76200" marR="76200" marT="28575" marB="28575" anchor="ctr">
                    <a:solidFill>
                      <a:srgbClr val="FFFFFF"/>
                    </a:solidFill>
                  </a:tcPr>
                </a:tc>
                <a:tc>
                  <a:txBody>
                    <a:bodyPr>
                      <a:noAutofit/>
                    </a:bodyPr>
                    <a:lstStyle/>
                    <a:p>
                      <a:pPr algn="ctr"/>
                      <a:r>
                        <a:rPr sz="1313" b="1">
                          <a:solidFill>
                            <a:srgbClr val="70757C"/>
                          </a:solidFill>
                          <a:latin typeface="Carlito"/>
                          <a:ea typeface="Carlito"/>
                          <a:cs typeface="Carlito"/>
                        </a:rPr>
                        <a:t>Y</a:t>
                      </a:r>
                    </a:p>
                  </a:txBody>
                  <a:tcPr marL="76200" marR="76200" marT="28575" marB="28575" anchor="ctr">
                    <a:solidFill>
                      <a:srgbClr val="FFFFFF"/>
                    </a:solidFill>
                  </a:tcPr>
                </a:tc>
              </a:tr>
            </a:tbl>
          </a:graphicData>
        </a:graphic>
      </p:graphicFrame>
      <p:sp>
        <p:nvSpPr>
          <p:cNvPr id="26" name="text">
            <a:extLst xmlns:a="http://schemas.openxmlformats.org/drawingml/2006/main">
              <a:ext uri="{FF2B5EF4-FFF2-40B4-BE49-F238E27FC236}">
                <a16:creationId xmlns:a16="http://schemas.microsoft.com/office/drawing/2014/main" id="{8D83BB17-8E25-48C4-8E09-3DD8F7F2E95D}"/>
              </a:ext>
            </a:extLst>
          </p:cNvPr>
          <p:cNvSpPr>
            <a:spLocks xmlns:a="http://schemas.openxmlformats.org/drawingml/2006/main" noGrp="1"/>
          </p:cNvSpPr>
          <p:nvPr/>
        </p:nvSpPr>
        <p:spPr>
          <a:xfrm xmlns:a="http://schemas.openxmlformats.org/drawingml/2006/main">
            <a:off x="5267325" y="2562225"/>
            <a:ext cx="47053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1632"/>
                </a:solidFill>
                <a:latin typeface="Carlito"/>
                <a:ea typeface="Carlito"/>
                <a:cs typeface="Carlito"/>
              </a:defRPr>
            </a:pPr>
            <a:r>
              <a:rPr sz="2100" b="1">
                <a:solidFill>
                  <a:srgbClr val="A91632"/>
                </a:solidFill>
                <a:latin typeface="Carlito"/>
                <a:ea typeface="Carlito"/>
                <a:cs typeface="Carlito"/>
              </a:rPr>
              <a:t>API Lifecycle Management (cont.)</a:t>
            </a:r>
          </a:p>
        </p:txBody>
      </p:sp>
      <p:graphicFrame>
        <p:nvGraphicFramePr>
          <p:cNvPr id="57" name=""/>
          <p:cNvGraphicFramePr/>
          <p:nvPr/>
        </p:nvGraphicFramePr>
        <p:xfrm>
          <a:off xmlns:a="http://schemas.openxmlformats.org/drawingml/2006/main" x="5267325" y="2971800"/>
          <a:ext xmlns:a="http://schemas.openxmlformats.org/drawingml/2006/main" cx="4705350" cy="4257675"/>
        </p:xfrm>
        <a:graphic xmlns:a="http://schemas.openxmlformats.org/drawingml/2006/main">
          <a:graphicData uri="http://schemas.openxmlformats.org/drawingml/2006/table">
            <a:tbl>
              <a:tblPr firstRow="0" bandRow="0"/>
              <a:tblGrid>
                <a:gridCol w="3657600"/>
                <a:gridCol w="514350"/>
                <a:gridCol w="533400"/>
              </a:tblGrid>
              <a:tr h="352425">
                <a:tc>
                  <a:txBody>
                    <a:bodyPr>
                      <a:noAutofit/>
                    </a:bodyPr>
                    <a:lstStyle/>
                    <a:p>
                      <a:r>
                        <a:rPr sz="1275" b="1">
                          <a:solidFill>
                            <a:srgbClr val="FFFFFF"/>
                          </a:solidFill>
                          <a:latin typeface="Carlito"/>
                          <a:ea typeface="Carlito"/>
                          <a:cs typeface="Carlito"/>
                        </a:rPr>
                        <a:t>Capability</a:t>
                      </a:r>
                    </a:p>
                  </a:txBody>
                  <a:tcPr marL="76200" marR="76200" marT="28575" marB="28575" anchor="t">
                    <a:solidFill>
                      <a:srgbClr val="BE1738"/>
                    </a:solidFill>
                  </a:tcPr>
                </a:tc>
                <a:tc>
                  <a:txBody>
                    <a:bodyPr>
                      <a:noAutofit/>
                    </a:bodyPr>
                    <a:lstStyle/>
                    <a:p>
                      <a:r>
                        <a:rPr sz="1275" b="1">
                          <a:solidFill>
                            <a:srgbClr val="FFFFFF"/>
                          </a:solidFill>
                          <a:latin typeface="Carlito"/>
                          <a:ea typeface="Carlito"/>
                          <a:cs typeface="Carlito"/>
                        </a:rPr>
                        <a:t>Role</a:t>
                      </a:r>
                    </a:p>
                  </a:txBody>
                  <a:tcPr marL="76200" marR="76200" marT="28575" marB="28575" anchor="t">
                    <a:solidFill>
                      <a:srgbClr val="BE1738"/>
                    </a:solidFill>
                  </a:tcPr>
                </a:tc>
                <a:tc>
                  <a:txBody>
                    <a:bodyPr>
                      <a:noAutofit/>
                    </a:bodyPr>
                    <a:lstStyle/>
                    <a:p>
                      <a:r>
                        <a:rPr sz="1163" b="1">
                          <a:solidFill>
                            <a:srgbClr val="FFFFFF"/>
                          </a:solidFill>
                          <a:latin typeface="Carlito"/>
                          <a:ea typeface="Carlito"/>
                          <a:cs typeface="Carlito"/>
                        </a:rPr>
                        <a:t>State</a:t>
                      </a:r>
                    </a:p>
                  </a:txBody>
                  <a:tcPr marL="76200" marR="76200" marT="28575" marB="28575" anchor="t">
                    <a:solidFill>
                      <a:srgbClr val="BE1738"/>
                    </a:solidFill>
                  </a:tcPr>
                </a:tc>
              </a:tr>
              <a:tr h="390525">
                <a:tc>
                  <a:txBody>
                    <a:bodyPr>
                      <a:noAutofit/>
                    </a:bodyPr>
                    <a:lstStyle/>
                    <a:p>
                      <a:r>
                        <a:rPr sz="1313" b="0">
                          <a:solidFill>
                            <a:srgbClr val="30343A"/>
                          </a:solidFill>
                          <a:latin typeface="Carlito"/>
                          <a:ea typeface="Carlito"/>
                          <a:cs typeface="Carlito"/>
                        </a:rPr>
                        <a:t>MCP server build and packaging tooling</a:t>
                      </a:r>
                    </a:p>
                  </a:txBody>
                  <a:tcPr marL="76200" marR="76200" marT="28575" marB="28575" anchor="t">
                    <a:solidFill>
                      <a:srgbClr val="FFFFFF"/>
                    </a:solidFill>
                  </a:tcPr>
                </a:tc>
                <a:tc>
                  <a:txBody>
                    <a:bodyPr>
                      <a:noAutofit/>
                    </a:bodyPr>
                    <a:lstStyle/>
                    <a:p>
                      <a:pPr algn="ctr"/>
                      <a:r>
                        <a:rPr sz="1313" b="0">
                          <a:solidFill>
                            <a:srgbClr val="70757C"/>
                          </a:solidFill>
                          <a:latin typeface="Carlito"/>
                          <a:ea typeface="Carlito"/>
                          <a:cs typeface="Carlito"/>
                        </a:rPr>
                        <a:t>P</a:t>
                      </a:r>
                    </a:p>
                  </a:txBody>
                  <a:tcPr marL="76200" marR="76200" marT="28575" marB="28575" anchor="ctr">
                    <a:solidFill>
                      <a:srgbClr val="FFFFFF"/>
                    </a:solidFill>
                  </a:tcPr>
                </a:tc>
                <a:tc>
                  <a:txBody>
                    <a:bodyPr>
                      <a:noAutofit/>
                    </a:bodyPr>
                    <a:lstStyle/>
                    <a:p>
                      <a:pPr algn="ctr"/>
                      <a:r>
                        <a:rPr sz="1313" b="1">
                          <a:solidFill>
                            <a:srgbClr val="70757C"/>
                          </a:solidFill>
                          <a:latin typeface="Carlito"/>
                          <a:ea typeface="Carlito"/>
                          <a:cs typeface="Carlito"/>
                        </a:rPr>
                        <a:t>Y</a:t>
                      </a:r>
                    </a:p>
                  </a:txBody>
                  <a:tcPr marL="76200" marR="76200" marT="28575" marB="28575" anchor="ctr">
                    <a:solidFill>
                      <a:srgbClr val="FFFFFF"/>
                    </a:solidFill>
                  </a:tcPr>
                </a:tc>
              </a:tr>
              <a:tr h="390525">
                <a:tc>
                  <a:txBody>
                    <a:bodyPr>
                      <a:noAutofit/>
                    </a:bodyPr>
                    <a:lstStyle/>
                    <a:p>
                      <a:r>
                        <a:rPr sz="1313" b="0">
                          <a:solidFill>
                            <a:srgbClr val="30343A"/>
                          </a:solidFill>
                          <a:latin typeface="Carlito"/>
                          <a:ea typeface="Carlito"/>
                          <a:cs typeface="Carlito"/>
                        </a:rPr>
                        <a:t>Tool contract testing</a:t>
                      </a:r>
                    </a:p>
                  </a:txBody>
                  <a:tcPr marL="76200" marR="76200" marT="28575" marB="28575" anchor="t">
                    <a:solidFill>
                      <a:srgbClr val="F4F5F6"/>
                    </a:solidFill>
                  </a:tcPr>
                </a:tc>
                <a:tc>
                  <a:txBody>
                    <a:bodyPr>
                      <a:noAutofit/>
                    </a:bodyPr>
                    <a:lstStyle/>
                    <a:p>
                      <a:pPr algn="ctr"/>
                      <a:r>
                        <a:rPr sz="1313" b="0">
                          <a:solidFill>
                            <a:srgbClr val="70757C"/>
                          </a:solidFill>
                          <a:latin typeface="Carlito"/>
                          <a:ea typeface="Carlito"/>
                          <a:cs typeface="Carlito"/>
                        </a:rPr>
                        <a:t>B</a:t>
                      </a:r>
                    </a:p>
                  </a:txBody>
                  <a:tcPr marL="76200" marR="76200" marT="28575" marB="28575" anchor="ctr">
                    <a:solidFill>
                      <a:srgbClr val="F4F5F6"/>
                    </a:solidFill>
                  </a:tcPr>
                </a:tc>
                <a:tc>
                  <a:txBody>
                    <a:bodyPr>
                      <a:noAutofit/>
                    </a:bodyPr>
                    <a:lstStyle/>
                    <a:p>
                      <a:pPr algn="ctr"/>
                      <a:r>
                        <a:rPr sz="1313" b="1">
                          <a:solidFill>
                            <a:srgbClr val="70757C"/>
                          </a:solidFill>
                          <a:latin typeface="Carlito"/>
                          <a:ea typeface="Carlito"/>
                          <a:cs typeface="Carlito"/>
                        </a:rPr>
                        <a:t>Y</a:t>
                      </a:r>
                    </a:p>
                  </a:txBody>
                  <a:tcPr marL="76200" marR="76200" marT="28575" marB="28575" anchor="ctr">
                    <a:solidFill>
                      <a:srgbClr val="FFFFFF"/>
                    </a:solidFill>
                  </a:tcPr>
                </a:tc>
              </a:tr>
              <a:tr h="390525">
                <a:tc>
                  <a:txBody>
                    <a:bodyPr>
                      <a:noAutofit/>
                    </a:bodyPr>
                    <a:lstStyle/>
                    <a:p>
                      <a:r>
                        <a:rPr sz="1313" b="0">
                          <a:solidFill>
                            <a:srgbClr val="30343A"/>
                          </a:solidFill>
                          <a:latin typeface="Carlito"/>
                          <a:ea typeface="Carlito"/>
                          <a:cs typeface="Carlito"/>
                        </a:rPr>
                        <a:t>Agent interaction observability</a:t>
                      </a:r>
                    </a:p>
                  </a:txBody>
                  <a:tcPr marL="76200" marR="76200" marT="28575" marB="28575" anchor="t">
                    <a:solidFill>
                      <a:srgbClr val="FFFFFF"/>
                    </a:solidFill>
                  </a:tcPr>
                </a:tc>
                <a:tc>
                  <a:txBody>
                    <a:bodyPr>
                      <a:noAutofit/>
                    </a:bodyPr>
                    <a:lstStyle/>
                    <a:p>
                      <a:pPr algn="ctr"/>
                      <a:r>
                        <a:rPr sz="1313" b="0">
                          <a:solidFill>
                            <a:srgbClr val="70757C"/>
                          </a:solidFill>
                          <a:latin typeface="Carlito"/>
                          <a:ea typeface="Carlito"/>
                          <a:cs typeface="Carlito"/>
                        </a:rPr>
                        <a:t>B</a:t>
                      </a:r>
                    </a:p>
                  </a:txBody>
                  <a:tcPr marL="76200" marR="76200" marT="28575" marB="28575" anchor="ctr">
                    <a:solidFill>
                      <a:srgbClr val="FFFFFF"/>
                    </a:solidFill>
                  </a:tcPr>
                </a:tc>
                <a:tc>
                  <a:txBody>
                    <a:bodyPr>
                      <a:noAutofit/>
                    </a:bodyPr>
                    <a:lstStyle/>
                    <a:p>
                      <a:pPr algn="ctr"/>
                      <a:r>
                        <a:rPr sz="1313" b="1">
                          <a:solidFill>
                            <a:srgbClr val="70757C"/>
                          </a:solidFill>
                          <a:latin typeface="Carlito"/>
                          <a:ea typeface="Carlito"/>
                          <a:cs typeface="Carlito"/>
                        </a:rPr>
                        <a:t>Y</a:t>
                      </a:r>
                    </a:p>
                  </a:txBody>
                  <a:tcPr marL="76200" marR="76200" marT="28575" marB="28575" anchor="ctr">
                    <a:solidFill>
                      <a:srgbClr val="FFFFFF"/>
                    </a:solidFill>
                  </a:tcPr>
                </a:tc>
              </a:tr>
              <a:tr h="390525">
                <a:tc>
                  <a:txBody>
                    <a:bodyPr>
                      <a:noAutofit/>
                    </a:bodyPr>
                    <a:lstStyle/>
                    <a:p>
                      <a:r>
                        <a:rPr sz="1313" b="0">
                          <a:solidFill>
                            <a:srgbClr val="30343A"/>
                          </a:solidFill>
                          <a:latin typeface="Carlito"/>
                          <a:ea typeface="Carlito"/>
                          <a:cs typeface="Carlito"/>
                        </a:rPr>
                        <a:t>MCP version and deprecation management</a:t>
                      </a:r>
                    </a:p>
                  </a:txBody>
                  <a:tcPr marL="76200" marR="76200" marT="28575" marB="28575" anchor="t">
                    <a:solidFill>
                      <a:srgbClr val="F4F5F6"/>
                    </a:solidFill>
                  </a:tcPr>
                </a:tc>
                <a:tc>
                  <a:txBody>
                    <a:bodyPr>
                      <a:noAutofit/>
                    </a:bodyPr>
                    <a:lstStyle/>
                    <a:p>
                      <a:pPr algn="ctr"/>
                      <a:r>
                        <a:rPr sz="1313" b="0">
                          <a:solidFill>
                            <a:srgbClr val="70757C"/>
                          </a:solidFill>
                          <a:latin typeface="Carlito"/>
                          <a:ea typeface="Carlito"/>
                          <a:cs typeface="Carlito"/>
                        </a:rPr>
                        <a:t>B</a:t>
                      </a:r>
                    </a:p>
                  </a:txBody>
                  <a:tcPr marL="76200" marR="76200" marT="28575" marB="28575" anchor="ctr">
                    <a:solidFill>
                      <a:srgbClr val="F4F5F6"/>
                    </a:solidFill>
                  </a:tcPr>
                </a:tc>
                <a:tc>
                  <a:txBody>
                    <a:bodyPr>
                      <a:noAutofit/>
                    </a:bodyPr>
                    <a:lstStyle/>
                    <a:p>
                      <a:pPr algn="ctr"/>
                      <a:r>
                        <a:rPr sz="1313" b="1">
                          <a:solidFill>
                            <a:srgbClr val="70757C"/>
                          </a:solidFill>
                          <a:latin typeface="Carlito"/>
                          <a:ea typeface="Carlito"/>
                          <a:cs typeface="Carlito"/>
                        </a:rPr>
                        <a:t>Y</a:t>
                      </a:r>
                    </a:p>
                  </a:txBody>
                  <a:tcPr marL="76200" marR="76200" marT="28575" marB="28575" anchor="ctr">
                    <a:solidFill>
                      <a:srgbClr val="FFFFFF"/>
                    </a:solidFill>
                  </a:tcPr>
                </a:tc>
              </a:tr>
              <a:tr h="390525">
                <a:tc>
                  <a:txBody>
                    <a:bodyPr>
                      <a:noAutofit/>
                    </a:bodyPr>
                    <a:lstStyle/>
                    <a:p>
                      <a:r>
                        <a:rPr sz="1313" b="0">
                          <a:solidFill>
                            <a:srgbClr val="30343A"/>
                          </a:solidFill>
                          <a:latin typeface="Carlito"/>
                          <a:ea typeface="Carlito"/>
                          <a:cs typeface="Carlito"/>
                        </a:rPr>
                        <a:t>Source code management</a:t>
                      </a:r>
                    </a:p>
                  </a:txBody>
                  <a:tcPr marL="76200" marR="76200" marT="28575" marB="28575" anchor="t">
                    <a:solidFill>
                      <a:srgbClr val="FFFFFF"/>
                    </a:solidFill>
                  </a:tcPr>
                </a:tc>
                <a:tc>
                  <a:txBody>
                    <a:bodyPr>
                      <a:noAutofit/>
                    </a:bodyPr>
                    <a:lstStyle/>
                    <a:p>
                      <a:pPr algn="ctr"/>
                      <a:r>
                        <a:rPr sz="1313" b="0">
                          <a:solidFill>
                            <a:srgbClr val="70757C"/>
                          </a:solidFill>
                          <a:latin typeface="Carlito"/>
                          <a:ea typeface="Carlito"/>
                          <a:cs typeface="Carlito"/>
                        </a:rPr>
                        <a:t>B</a:t>
                      </a:r>
                    </a:p>
                  </a:txBody>
                  <a:tcPr marL="76200" marR="76200" marT="28575" marB="28575" anchor="ctr">
                    <a:solidFill>
                      <a:srgbClr val="FFFFFF"/>
                    </a:solidFill>
                  </a:tcPr>
                </a:tc>
                <a:tc>
                  <a:txBody>
                    <a:bodyPr>
                      <a:noAutofit/>
                    </a:bodyPr>
                    <a:lstStyle/>
                    <a:p>
                      <a:pPr algn="ctr"/>
                      <a:r>
                        <a:rPr sz="1313" b="1">
                          <a:solidFill>
                            <a:srgbClr val="70757C"/>
                          </a:solidFill>
                          <a:latin typeface="Carlito"/>
                          <a:ea typeface="Carlito"/>
                          <a:cs typeface="Carlito"/>
                        </a:rPr>
                        <a:t>Y</a:t>
                      </a:r>
                    </a:p>
                  </a:txBody>
                  <a:tcPr marL="76200" marR="76200" marT="28575" marB="28575" anchor="ctr">
                    <a:solidFill>
                      <a:srgbClr val="FFFFFF"/>
                    </a:solidFill>
                  </a:tcPr>
                </a:tc>
              </a:tr>
              <a:tr h="390525">
                <a:tc>
                  <a:txBody>
                    <a:bodyPr>
                      <a:noAutofit/>
                    </a:bodyPr>
                    <a:lstStyle/>
                    <a:p>
                      <a:r>
                        <a:rPr sz="1313" b="0">
                          <a:solidFill>
                            <a:srgbClr val="30343A"/>
                          </a:solidFill>
                          <a:latin typeface="Carlito"/>
                          <a:ea typeface="Carlito"/>
                          <a:cs typeface="Carlito"/>
                        </a:rPr>
                        <a:t>Code quality</a:t>
                      </a:r>
                    </a:p>
                  </a:txBody>
                  <a:tcPr marL="76200" marR="76200" marT="28575" marB="28575" anchor="t">
                    <a:solidFill>
                      <a:srgbClr val="F4F5F6"/>
                    </a:solidFill>
                  </a:tcPr>
                </a:tc>
                <a:tc>
                  <a:txBody>
                    <a:bodyPr>
                      <a:noAutofit/>
                    </a:bodyPr>
                    <a:lstStyle/>
                    <a:p>
                      <a:pPr algn="ctr"/>
                      <a:r>
                        <a:rPr sz="1313" b="0">
                          <a:solidFill>
                            <a:srgbClr val="70757C"/>
                          </a:solidFill>
                          <a:latin typeface="Carlito"/>
                          <a:ea typeface="Carlito"/>
                          <a:cs typeface="Carlito"/>
                        </a:rPr>
                        <a:t>B</a:t>
                      </a:r>
                    </a:p>
                  </a:txBody>
                  <a:tcPr marL="76200" marR="76200" marT="28575" marB="28575" anchor="ctr">
                    <a:solidFill>
                      <a:srgbClr val="F4F5F6"/>
                    </a:solidFill>
                  </a:tcPr>
                </a:tc>
                <a:tc>
                  <a:txBody>
                    <a:bodyPr>
                      <a:noAutofit/>
                    </a:bodyPr>
                    <a:lstStyle/>
                    <a:p>
                      <a:pPr algn="ctr"/>
                      <a:r>
                        <a:rPr sz="1313" b="1">
                          <a:solidFill>
                            <a:srgbClr val="70757C"/>
                          </a:solidFill>
                          <a:latin typeface="Carlito"/>
                          <a:ea typeface="Carlito"/>
                          <a:cs typeface="Carlito"/>
                        </a:rPr>
                        <a:t>Y</a:t>
                      </a:r>
                    </a:p>
                  </a:txBody>
                  <a:tcPr marL="76200" marR="76200" marT="28575" marB="28575" anchor="ctr">
                    <a:solidFill>
                      <a:srgbClr val="FFFFFF"/>
                    </a:solidFill>
                  </a:tcPr>
                </a:tc>
              </a:tr>
              <a:tr h="390525">
                <a:tc>
                  <a:txBody>
                    <a:bodyPr>
                      <a:noAutofit/>
                    </a:bodyPr>
                    <a:lstStyle/>
                    <a:p>
                      <a:r>
                        <a:rPr sz="1313" b="0">
                          <a:solidFill>
                            <a:srgbClr val="30343A"/>
                          </a:solidFill>
                          <a:latin typeface="Carlito"/>
                          <a:ea typeface="Carlito"/>
                          <a:cs typeface="Carlito"/>
                        </a:rPr>
                        <a:t>Security scanning</a:t>
                      </a:r>
                    </a:p>
                  </a:txBody>
                  <a:tcPr marL="76200" marR="76200" marT="28575" marB="28575" anchor="t">
                    <a:solidFill>
                      <a:srgbClr val="FFFFFF"/>
                    </a:solidFill>
                  </a:tcPr>
                </a:tc>
                <a:tc>
                  <a:txBody>
                    <a:bodyPr>
                      <a:noAutofit/>
                    </a:bodyPr>
                    <a:lstStyle/>
                    <a:p>
                      <a:pPr algn="ctr"/>
                      <a:r>
                        <a:rPr sz="1313" b="0">
                          <a:solidFill>
                            <a:srgbClr val="70757C"/>
                          </a:solidFill>
                          <a:latin typeface="Carlito"/>
                          <a:ea typeface="Carlito"/>
                          <a:cs typeface="Carlito"/>
                        </a:rPr>
                        <a:t>B</a:t>
                      </a:r>
                    </a:p>
                  </a:txBody>
                  <a:tcPr marL="76200" marR="76200" marT="28575" marB="28575" anchor="ctr">
                    <a:solidFill>
                      <a:srgbClr val="FFFFFF"/>
                    </a:solidFill>
                  </a:tcPr>
                </a:tc>
                <a:tc>
                  <a:txBody>
                    <a:bodyPr>
                      <a:noAutofit/>
                    </a:bodyPr>
                    <a:lstStyle/>
                    <a:p>
                      <a:pPr algn="ctr"/>
                      <a:r>
                        <a:rPr sz="1313" b="1">
                          <a:solidFill>
                            <a:srgbClr val="70757C"/>
                          </a:solidFill>
                          <a:latin typeface="Carlito"/>
                          <a:ea typeface="Carlito"/>
                          <a:cs typeface="Carlito"/>
                        </a:rPr>
                        <a:t>Y</a:t>
                      </a:r>
                    </a:p>
                  </a:txBody>
                  <a:tcPr marL="76200" marR="76200" marT="28575" marB="28575" anchor="ctr">
                    <a:solidFill>
                      <a:srgbClr val="FFFFFF"/>
                    </a:solidFill>
                  </a:tcPr>
                </a:tc>
              </a:tr>
              <a:tr h="390525">
                <a:tc>
                  <a:txBody>
                    <a:bodyPr>
                      <a:noAutofit/>
                    </a:bodyPr>
                    <a:lstStyle/>
                    <a:p>
                      <a:r>
                        <a:rPr sz="1313" b="0">
                          <a:solidFill>
                            <a:srgbClr val="30343A"/>
                          </a:solidFill>
                          <a:latin typeface="Carlito"/>
                          <a:ea typeface="Carlito"/>
                          <a:cs typeface="Carlito"/>
                        </a:rPr>
                        <a:t>Event and notification management</a:t>
                      </a:r>
                    </a:p>
                  </a:txBody>
                  <a:tcPr marL="76200" marR="76200" marT="28575" marB="28575" anchor="t">
                    <a:solidFill>
                      <a:srgbClr val="F4F5F6"/>
                    </a:solidFill>
                  </a:tcPr>
                </a:tc>
                <a:tc>
                  <a:txBody>
                    <a:bodyPr>
                      <a:noAutofit/>
                    </a:bodyPr>
                    <a:lstStyle/>
                    <a:p>
                      <a:pPr algn="ctr"/>
                      <a:r>
                        <a:rPr sz="1313" b="0">
                          <a:solidFill>
                            <a:srgbClr val="70757C"/>
                          </a:solidFill>
                          <a:latin typeface="Carlito"/>
                          <a:ea typeface="Carlito"/>
                          <a:cs typeface="Carlito"/>
                        </a:rPr>
                        <a:t>B</a:t>
                      </a:r>
                    </a:p>
                  </a:txBody>
                  <a:tcPr marL="76200" marR="76200" marT="28575" marB="28575" anchor="ctr">
                    <a:solidFill>
                      <a:srgbClr val="F4F5F6"/>
                    </a:solidFill>
                  </a:tcPr>
                </a:tc>
                <a:tc>
                  <a:txBody>
                    <a:bodyPr>
                      <a:noAutofit/>
                    </a:bodyPr>
                    <a:lstStyle/>
                    <a:p>
                      <a:pPr algn="ctr"/>
                      <a:r>
                        <a:rPr sz="1313" b="1">
                          <a:solidFill>
                            <a:srgbClr val="70757C"/>
                          </a:solidFill>
                          <a:latin typeface="Carlito"/>
                          <a:ea typeface="Carlito"/>
                          <a:cs typeface="Carlito"/>
                        </a:rPr>
                        <a:t>Y</a:t>
                      </a:r>
                    </a:p>
                  </a:txBody>
                  <a:tcPr marL="76200" marR="76200" marT="28575" marB="28575" anchor="ctr">
                    <a:solidFill>
                      <a:srgbClr val="FFFFFF"/>
                    </a:solidFill>
                  </a:tcPr>
                </a:tc>
              </a:tr>
              <a:tr h="390525">
                <a:tc>
                  <a:txBody>
                    <a:bodyPr>
                      <a:noAutofit/>
                    </a:bodyPr>
                    <a:lstStyle/>
                    <a:p>
                      <a:r>
                        <a:rPr sz="1313" b="0">
                          <a:solidFill>
                            <a:srgbClr val="30343A"/>
                          </a:solidFill>
                          <a:latin typeface="Carlito"/>
                          <a:ea typeface="Carlito"/>
                          <a:cs typeface="Carlito"/>
                        </a:rPr>
                        <a:t>Incident and problem management for APIs</a:t>
                      </a:r>
                    </a:p>
                  </a:txBody>
                  <a:tcPr marL="76200" marR="76200" marT="28575" marB="28575" anchor="t">
                    <a:solidFill>
                      <a:srgbClr val="FFFFFF"/>
                    </a:solidFill>
                  </a:tcPr>
                </a:tc>
                <a:tc>
                  <a:txBody>
                    <a:bodyPr>
                      <a:noAutofit/>
                    </a:bodyPr>
                    <a:lstStyle/>
                    <a:p>
                      <a:pPr algn="ctr"/>
                      <a:r>
                        <a:rPr sz="1313" b="0">
                          <a:solidFill>
                            <a:srgbClr val="70757C"/>
                          </a:solidFill>
                          <a:latin typeface="Carlito"/>
                          <a:ea typeface="Carlito"/>
                          <a:cs typeface="Carlito"/>
                        </a:rPr>
                        <a:t>B</a:t>
                      </a:r>
                    </a:p>
                  </a:txBody>
                  <a:tcPr marL="76200" marR="76200" marT="28575" marB="28575" anchor="ctr">
                    <a:solidFill>
                      <a:srgbClr val="FFFFFF"/>
                    </a:solidFill>
                  </a:tcPr>
                </a:tc>
                <a:tc>
                  <a:txBody>
                    <a:bodyPr>
                      <a:noAutofit/>
                    </a:bodyPr>
                    <a:lstStyle/>
                    <a:p>
                      <a:pPr algn="ctr"/>
                      <a:r>
                        <a:rPr sz="1313" b="1">
                          <a:solidFill>
                            <a:srgbClr val="70757C"/>
                          </a:solidFill>
                          <a:latin typeface="Carlito"/>
                          <a:ea typeface="Carlito"/>
                          <a:cs typeface="Carlito"/>
                        </a:rPr>
                        <a:t>Y</a:t>
                      </a:r>
                    </a:p>
                  </a:txBody>
                  <a:tcPr marL="76200" marR="76200" marT="28575" marB="28575" anchor="ctr">
                    <a:solidFill>
                      <a:srgbClr val="FFFFFF"/>
                    </a:solidFill>
                  </a:tcPr>
                </a:tc>
              </a:tr>
              <a:tr h="390525">
                <a:tc>
                  <a:txBody>
                    <a:bodyPr>
                      <a:noAutofit/>
                    </a:bodyPr>
                    <a:lstStyle/>
                    <a:p>
                      <a:r>
                        <a:rPr sz="1313" b="0">
                          <a:solidFill>
                            <a:srgbClr val="30343A"/>
                          </a:solidFill>
                          <a:latin typeface="Carlito"/>
                          <a:ea typeface="Carlito"/>
                          <a:cs typeface="Carlito"/>
                        </a:rPr>
                        <a:t>Functional, performance and security testing</a:t>
                      </a:r>
                    </a:p>
                  </a:txBody>
                  <a:tcPr marL="76200" marR="76200" marT="28575" marB="28575" anchor="t">
                    <a:solidFill>
                      <a:srgbClr val="F4F5F6"/>
                    </a:solidFill>
                  </a:tcPr>
                </a:tc>
                <a:tc>
                  <a:txBody>
                    <a:bodyPr>
                      <a:noAutofit/>
                    </a:bodyPr>
                    <a:lstStyle/>
                    <a:p>
                      <a:pPr algn="ctr"/>
                      <a:r>
                        <a:rPr sz="1313" b="0">
                          <a:solidFill>
                            <a:srgbClr val="70757C"/>
                          </a:solidFill>
                          <a:latin typeface="Carlito"/>
                          <a:ea typeface="Carlito"/>
                          <a:cs typeface="Carlito"/>
                        </a:rPr>
                        <a:t>B</a:t>
                      </a:r>
                    </a:p>
                  </a:txBody>
                  <a:tcPr marL="76200" marR="76200" marT="28575" marB="28575" anchor="ctr">
                    <a:solidFill>
                      <a:srgbClr val="F4F5F6"/>
                    </a:solidFill>
                  </a:tcPr>
                </a:tc>
                <a:tc>
                  <a:txBody>
                    <a:bodyPr>
                      <a:noAutofit/>
                    </a:bodyPr>
                    <a:lstStyle/>
                    <a:p>
                      <a:pPr algn="ctr"/>
                      <a:r>
                        <a:rPr sz="1313" b="1">
                          <a:solidFill>
                            <a:srgbClr val="70757C"/>
                          </a:solidFill>
                          <a:latin typeface="Carlito"/>
                          <a:ea typeface="Carlito"/>
                          <a:cs typeface="Carlito"/>
                        </a:rPr>
                        <a:t>Y</a:t>
                      </a:r>
                    </a:p>
                  </a:txBody>
                  <a:tcPr marL="76200" marR="76200" marT="28575" marB="28575" anchor="ctr">
                    <a:solidFill>
                      <a:srgbClr val="FFFFFF"/>
                    </a:solidFill>
                  </a:tcPr>
                </a:tc>
              </a:tr>
            </a:tbl>
          </a:graphicData>
        </a:graphic>
      </p:graphicFrame>
      <p:sp>
        <p:nvSpPr>
          <p:cNvPr id="28" name="text">
            <a:extLst xmlns:a="http://schemas.openxmlformats.org/drawingml/2006/main">
              <a:ext uri="{FF2B5EF4-FFF2-40B4-BE49-F238E27FC236}">
                <a16:creationId xmlns:a16="http://schemas.microsoft.com/office/drawing/2014/main" id="{649431C1-E040-4EA9-926B-F7FBFED38455}"/>
              </a:ext>
            </a:extLst>
          </p:cNvPr>
          <p:cNvSpPr>
            <a:spLocks xmlns:a="http://schemas.openxmlformats.org/drawingml/2006/main" noGrp="1"/>
          </p:cNvSpPr>
          <p:nvPr/>
        </p:nvSpPr>
        <p:spPr>
          <a:xfrm xmlns:a="http://schemas.openxmlformats.org/drawingml/2006/main">
            <a:off x="10191750" y="2562225"/>
            <a:ext cx="47053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1632"/>
                </a:solidFill>
                <a:latin typeface="Carlito"/>
                <a:ea typeface="Carlito"/>
                <a:cs typeface="Carlito"/>
              </a:defRPr>
            </a:pPr>
            <a:r>
              <a:rPr sz="2100" b="1">
                <a:solidFill>
                  <a:srgbClr val="A91632"/>
                </a:solidFill>
                <a:latin typeface="Carlito"/>
                <a:ea typeface="Carlito"/>
                <a:cs typeface="Carlito"/>
              </a:rPr>
              <a:t>Governance</a:t>
            </a:r>
          </a:p>
        </p:txBody>
      </p:sp>
      <p:graphicFrame>
        <p:nvGraphicFramePr>
          <p:cNvPr id="59" name=""/>
          <p:cNvGraphicFramePr/>
          <p:nvPr/>
        </p:nvGraphicFramePr>
        <p:xfrm>
          <a:off xmlns:a="http://schemas.openxmlformats.org/drawingml/2006/main" x="10191750" y="2971800"/>
          <a:ext xmlns:a="http://schemas.openxmlformats.org/drawingml/2006/main" cx="4705350" cy="4648200"/>
        </p:xfrm>
        <a:graphic xmlns:a="http://schemas.openxmlformats.org/drawingml/2006/main">
          <a:graphicData uri="http://schemas.openxmlformats.org/drawingml/2006/table">
            <a:tbl>
              <a:tblPr firstRow="0" bandRow="0"/>
              <a:tblGrid>
                <a:gridCol w="3657600"/>
                <a:gridCol w="514350"/>
                <a:gridCol w="533400"/>
              </a:tblGrid>
              <a:tr h="352425">
                <a:tc>
                  <a:txBody>
                    <a:bodyPr>
                      <a:noAutofit/>
                    </a:bodyPr>
                    <a:lstStyle/>
                    <a:p>
                      <a:r>
                        <a:rPr sz="1275" b="1">
                          <a:solidFill>
                            <a:srgbClr val="FFFFFF"/>
                          </a:solidFill>
                          <a:latin typeface="Carlito"/>
                          <a:ea typeface="Carlito"/>
                          <a:cs typeface="Carlito"/>
                        </a:rPr>
                        <a:t>Capability</a:t>
                      </a:r>
                    </a:p>
                  </a:txBody>
                  <a:tcPr marL="76200" marR="76200" marT="28575" marB="28575" anchor="t">
                    <a:solidFill>
                      <a:srgbClr val="BE1738"/>
                    </a:solidFill>
                  </a:tcPr>
                </a:tc>
                <a:tc>
                  <a:txBody>
                    <a:bodyPr>
                      <a:noAutofit/>
                    </a:bodyPr>
                    <a:lstStyle/>
                    <a:p>
                      <a:r>
                        <a:rPr sz="1275" b="1">
                          <a:solidFill>
                            <a:srgbClr val="FFFFFF"/>
                          </a:solidFill>
                          <a:latin typeface="Carlito"/>
                          <a:ea typeface="Carlito"/>
                          <a:cs typeface="Carlito"/>
                        </a:rPr>
                        <a:t>Role</a:t>
                      </a:r>
                    </a:p>
                  </a:txBody>
                  <a:tcPr marL="76200" marR="76200" marT="28575" marB="28575" anchor="t">
                    <a:solidFill>
                      <a:srgbClr val="BE1738"/>
                    </a:solidFill>
                  </a:tcPr>
                </a:tc>
                <a:tc>
                  <a:txBody>
                    <a:bodyPr>
                      <a:noAutofit/>
                    </a:bodyPr>
                    <a:lstStyle/>
                    <a:p>
                      <a:r>
                        <a:rPr sz="1163" b="1">
                          <a:solidFill>
                            <a:srgbClr val="FFFFFF"/>
                          </a:solidFill>
                          <a:latin typeface="Carlito"/>
                          <a:ea typeface="Carlito"/>
                          <a:cs typeface="Carlito"/>
                        </a:rPr>
                        <a:t>State</a:t>
                      </a:r>
                    </a:p>
                  </a:txBody>
                  <a:tcPr marL="76200" marR="76200" marT="28575" marB="28575" anchor="t">
                    <a:solidFill>
                      <a:srgbClr val="BE1738"/>
                    </a:solidFill>
                  </a:tcPr>
                </a:tc>
              </a:tr>
              <a:tr h="390525">
                <a:tc>
                  <a:txBody>
                    <a:bodyPr>
                      <a:noAutofit/>
                    </a:bodyPr>
                    <a:lstStyle/>
                    <a:p>
                      <a:r>
                        <a:rPr sz="1313" b="0">
                          <a:solidFill>
                            <a:srgbClr val="30343A"/>
                          </a:solidFill>
                          <a:latin typeface="Carlito"/>
                          <a:ea typeface="Carlito"/>
                          <a:cs typeface="Carlito"/>
                        </a:rPr>
                        <a:t>Standards, naming and style-guide management</a:t>
                      </a:r>
                    </a:p>
                  </a:txBody>
                  <a:tcPr marL="76200" marR="76200" marT="28575" marB="28575" anchor="t">
                    <a:solidFill>
                      <a:srgbClr val="FFFFFF"/>
                    </a:solidFill>
                  </a:tcPr>
                </a:tc>
                <a:tc>
                  <a:txBody>
                    <a:bodyPr>
                      <a:noAutofit/>
                    </a:bodyPr>
                    <a:lstStyle/>
                    <a:p>
                      <a:pPr algn="ctr"/>
                      <a:r>
                        <a:rPr sz="1313" b="0">
                          <a:solidFill>
                            <a:srgbClr val="70757C"/>
                          </a:solidFill>
                          <a:latin typeface="Carlito"/>
                          <a:ea typeface="Carlito"/>
                          <a:cs typeface="Carlito"/>
                        </a:rPr>
                        <a:t>B</a:t>
                      </a:r>
                    </a:p>
                  </a:txBody>
                  <a:tcPr marL="76200" marR="76200" marT="28575" marB="28575" anchor="ctr">
                    <a:solidFill>
                      <a:srgbClr val="FFFFFF"/>
                    </a:solidFill>
                  </a:tcPr>
                </a:tc>
                <a:tc>
                  <a:txBody>
                    <a:bodyPr>
                      <a:noAutofit/>
                    </a:bodyPr>
                    <a:lstStyle/>
                    <a:p>
                      <a:pPr algn="ctr"/>
                      <a:r>
                        <a:rPr sz="1313" b="1">
                          <a:solidFill>
                            <a:srgbClr val="288C87"/>
                          </a:solidFill>
                          <a:latin typeface="Carlito"/>
                          <a:ea typeface="Carlito"/>
                          <a:cs typeface="Carlito"/>
                        </a:rPr>
                        <a:t>E</a:t>
                      </a:r>
                    </a:p>
                  </a:txBody>
                  <a:tcPr marL="76200" marR="76200" marT="28575" marB="28575" anchor="ctr">
                    <a:solidFill>
                      <a:srgbClr val="E8F4F2"/>
                    </a:solidFill>
                  </a:tcPr>
                </a:tc>
              </a:tr>
              <a:tr h="390525">
                <a:tc>
                  <a:txBody>
                    <a:bodyPr>
                      <a:noAutofit/>
                    </a:bodyPr>
                    <a:lstStyle/>
                    <a:p>
                      <a:r>
                        <a:rPr sz="1313" b="0">
                          <a:solidFill>
                            <a:srgbClr val="30343A"/>
                          </a:solidFill>
                          <a:latin typeface="Carlito"/>
                          <a:ea typeface="Carlito"/>
                          <a:cs typeface="Carlito"/>
                        </a:rPr>
                        <a:t>API strategy and target-state architecture</a:t>
                      </a:r>
                    </a:p>
                  </a:txBody>
                  <a:tcPr marL="76200" marR="76200" marT="28575" marB="28575" anchor="t">
                    <a:solidFill>
                      <a:srgbClr val="F4F5F6"/>
                    </a:solidFill>
                  </a:tcPr>
                </a:tc>
                <a:tc>
                  <a:txBody>
                    <a:bodyPr>
                      <a:noAutofit/>
                    </a:bodyPr>
                    <a:lstStyle/>
                    <a:p>
                      <a:pPr algn="ctr"/>
                      <a:r>
                        <a:rPr sz="1313" b="0">
                          <a:solidFill>
                            <a:srgbClr val="70757C"/>
                          </a:solidFill>
                          <a:latin typeface="Carlito"/>
                          <a:ea typeface="Carlito"/>
                          <a:cs typeface="Carlito"/>
                        </a:rPr>
                        <a:t>B</a:t>
                      </a:r>
                    </a:p>
                  </a:txBody>
                  <a:tcPr marL="76200" marR="76200" marT="28575" marB="28575" anchor="ctr">
                    <a:solidFill>
                      <a:srgbClr val="F4F5F6"/>
                    </a:solidFill>
                  </a:tcPr>
                </a:tc>
                <a:tc>
                  <a:txBody>
                    <a:bodyPr>
                      <a:noAutofit/>
                    </a:bodyPr>
                    <a:lstStyle/>
                    <a:p>
                      <a:pPr algn="ctr"/>
                      <a:r>
                        <a:rPr sz="1313" b="1">
                          <a:solidFill>
                            <a:srgbClr val="946125"/>
                          </a:solidFill>
                          <a:latin typeface="Carlito"/>
                          <a:ea typeface="Carlito"/>
                          <a:cs typeface="Carlito"/>
                        </a:rPr>
                        <a:t>W</a:t>
                      </a:r>
                    </a:p>
                  </a:txBody>
                  <a:tcPr marL="76200" marR="76200" marT="28575" marB="28575" anchor="ctr">
                    <a:solidFill>
                      <a:srgbClr val="FFF0DC"/>
                    </a:solidFill>
                  </a:tcPr>
                </a:tc>
              </a:tr>
              <a:tr h="390525">
                <a:tc>
                  <a:txBody>
                    <a:bodyPr>
                      <a:noAutofit/>
                    </a:bodyPr>
                    <a:lstStyle/>
                    <a:p>
                      <a:r>
                        <a:rPr sz="1313" b="0">
                          <a:solidFill>
                            <a:srgbClr val="30343A"/>
                          </a:solidFill>
                          <a:latin typeface="Carlito"/>
                          <a:ea typeface="Carlito"/>
                          <a:cs typeface="Carlito"/>
                        </a:rPr>
                        <a:t>API intake and demand governance</a:t>
                      </a:r>
                    </a:p>
                  </a:txBody>
                  <a:tcPr marL="76200" marR="76200" marT="28575" marB="28575" anchor="t">
                    <a:solidFill>
                      <a:srgbClr val="FFFFFF"/>
                    </a:solidFill>
                  </a:tcPr>
                </a:tc>
                <a:tc>
                  <a:txBody>
                    <a:bodyPr>
                      <a:noAutofit/>
                    </a:bodyPr>
                    <a:lstStyle/>
                    <a:p>
                      <a:pPr algn="ctr"/>
                      <a:r>
                        <a:rPr sz="1313" b="0">
                          <a:solidFill>
                            <a:srgbClr val="70757C"/>
                          </a:solidFill>
                          <a:latin typeface="Carlito"/>
                          <a:ea typeface="Carlito"/>
                          <a:cs typeface="Carlito"/>
                        </a:rPr>
                        <a:t>C</a:t>
                      </a:r>
                    </a:p>
                  </a:txBody>
                  <a:tcPr marL="76200" marR="76200" marT="28575" marB="28575" anchor="ctr">
                    <a:solidFill>
                      <a:srgbClr val="FFFFFF"/>
                    </a:solidFill>
                  </a:tcPr>
                </a:tc>
                <a:tc>
                  <a:txBody>
                    <a:bodyPr>
                      <a:noAutofit/>
                    </a:bodyPr>
                    <a:lstStyle/>
                    <a:p>
                      <a:pPr algn="ctr"/>
                      <a:r>
                        <a:rPr sz="1313" b="1">
                          <a:solidFill>
                            <a:srgbClr val="946125"/>
                          </a:solidFill>
                          <a:latin typeface="Carlito"/>
                          <a:ea typeface="Carlito"/>
                          <a:cs typeface="Carlito"/>
                        </a:rPr>
                        <a:t>W</a:t>
                      </a:r>
                    </a:p>
                  </a:txBody>
                  <a:tcPr marL="76200" marR="76200" marT="28575" marB="28575" anchor="ctr">
                    <a:solidFill>
                      <a:srgbClr val="FFF0DC"/>
                    </a:solidFill>
                  </a:tcPr>
                </a:tc>
              </a:tr>
              <a:tr h="390525">
                <a:tc>
                  <a:txBody>
                    <a:bodyPr>
                      <a:noAutofit/>
                    </a:bodyPr>
                    <a:lstStyle/>
                    <a:p>
                      <a:r>
                        <a:rPr sz="1313" b="0">
                          <a:solidFill>
                            <a:srgbClr val="30343A"/>
                          </a:solidFill>
                          <a:latin typeface="Carlito"/>
                          <a:ea typeface="Carlito"/>
                          <a:cs typeface="Carlito"/>
                        </a:rPr>
                        <a:t>API lifecycle governance</a:t>
                      </a:r>
                    </a:p>
                  </a:txBody>
                  <a:tcPr marL="76200" marR="76200" marT="28575" marB="28575" anchor="t">
                    <a:solidFill>
                      <a:srgbClr val="F4F5F6"/>
                    </a:solidFill>
                  </a:tcPr>
                </a:tc>
                <a:tc>
                  <a:txBody>
                    <a:bodyPr>
                      <a:noAutofit/>
                    </a:bodyPr>
                    <a:lstStyle/>
                    <a:p>
                      <a:pPr algn="ctr"/>
                      <a:r>
                        <a:rPr sz="1313" b="0">
                          <a:solidFill>
                            <a:srgbClr val="70757C"/>
                          </a:solidFill>
                          <a:latin typeface="Carlito"/>
                          <a:ea typeface="Carlito"/>
                          <a:cs typeface="Carlito"/>
                        </a:rPr>
                        <a:t>B</a:t>
                      </a:r>
                    </a:p>
                  </a:txBody>
                  <a:tcPr marL="76200" marR="76200" marT="28575" marB="28575" anchor="ctr">
                    <a:solidFill>
                      <a:srgbClr val="F4F5F6"/>
                    </a:solidFill>
                  </a:tcPr>
                </a:tc>
                <a:tc>
                  <a:txBody>
                    <a:bodyPr>
                      <a:noAutofit/>
                    </a:bodyPr>
                    <a:lstStyle/>
                    <a:p>
                      <a:pPr algn="ctr"/>
                      <a:r>
                        <a:rPr sz="1313" b="1">
                          <a:solidFill>
                            <a:srgbClr val="946125"/>
                          </a:solidFill>
                          <a:latin typeface="Carlito"/>
                          <a:ea typeface="Carlito"/>
                          <a:cs typeface="Carlito"/>
                        </a:rPr>
                        <a:t>W</a:t>
                      </a:r>
                    </a:p>
                  </a:txBody>
                  <a:tcPr marL="76200" marR="76200" marT="28575" marB="28575" anchor="ctr">
                    <a:solidFill>
                      <a:srgbClr val="FFF0DC"/>
                    </a:solidFill>
                  </a:tcPr>
                </a:tc>
              </a:tr>
              <a:tr h="390525">
                <a:tc>
                  <a:txBody>
                    <a:bodyPr>
                      <a:noAutofit/>
                    </a:bodyPr>
                    <a:lstStyle/>
                    <a:p>
                      <a:r>
                        <a:rPr sz="1313" b="0">
                          <a:solidFill>
                            <a:srgbClr val="30343A"/>
                          </a:solidFill>
                          <a:latin typeface="Carlito"/>
                          <a:ea typeface="Carlito"/>
                          <a:cs typeface="Carlito"/>
                        </a:rPr>
                        <a:t>Adoption, reuse and cost KPI governance</a:t>
                      </a:r>
                    </a:p>
                  </a:txBody>
                  <a:tcPr marL="76200" marR="76200" marT="28575" marB="28575" anchor="t">
                    <a:solidFill>
                      <a:srgbClr val="FFFFFF"/>
                    </a:solidFill>
                  </a:tcPr>
                </a:tc>
                <a:tc>
                  <a:txBody>
                    <a:bodyPr>
                      <a:noAutofit/>
                    </a:bodyPr>
                    <a:lstStyle/>
                    <a:p>
                      <a:pPr algn="ctr"/>
                      <a:r>
                        <a:rPr sz="1313" b="0">
                          <a:solidFill>
                            <a:srgbClr val="70757C"/>
                          </a:solidFill>
                          <a:latin typeface="Carlito"/>
                          <a:ea typeface="Carlito"/>
                          <a:cs typeface="Carlito"/>
                        </a:rPr>
                        <a:t>B</a:t>
                      </a:r>
                    </a:p>
                  </a:txBody>
                  <a:tcPr marL="76200" marR="76200" marT="28575" marB="28575" anchor="ctr">
                    <a:solidFill>
                      <a:srgbClr val="FFFFFF"/>
                    </a:solidFill>
                  </a:tcPr>
                </a:tc>
                <a:tc>
                  <a:txBody>
                    <a:bodyPr>
                      <a:noAutofit/>
                    </a:bodyPr>
                    <a:lstStyle/>
                    <a:p>
                      <a:pPr algn="ctr"/>
                      <a:r>
                        <a:rPr sz="1313" b="1">
                          <a:solidFill>
                            <a:srgbClr val="946125"/>
                          </a:solidFill>
                          <a:latin typeface="Carlito"/>
                          <a:ea typeface="Carlito"/>
                          <a:cs typeface="Carlito"/>
                        </a:rPr>
                        <a:t>W</a:t>
                      </a:r>
                    </a:p>
                  </a:txBody>
                  <a:tcPr marL="76200" marR="76200" marT="28575" marB="28575" anchor="ctr">
                    <a:solidFill>
                      <a:srgbClr val="FFF0DC"/>
                    </a:solidFill>
                  </a:tcPr>
                </a:tc>
              </a:tr>
              <a:tr h="390525">
                <a:tc>
                  <a:txBody>
                    <a:bodyPr>
                      <a:noAutofit/>
                    </a:bodyPr>
                    <a:lstStyle/>
                    <a:p>
                      <a:r>
                        <a:rPr sz="1313" b="0">
                          <a:solidFill>
                            <a:srgbClr val="30343A"/>
                          </a:solidFill>
                          <a:latin typeface="Carlito"/>
                          <a:ea typeface="Carlito"/>
                          <a:cs typeface="Carlito"/>
                        </a:rPr>
                        <a:t>Investment and portfolio rationalisation</a:t>
                      </a:r>
                    </a:p>
                  </a:txBody>
                  <a:tcPr marL="76200" marR="76200" marT="28575" marB="28575" anchor="t">
                    <a:solidFill>
                      <a:srgbClr val="F4F5F6"/>
                    </a:solidFill>
                  </a:tcPr>
                </a:tc>
                <a:tc>
                  <a:txBody>
                    <a:bodyPr>
                      <a:noAutofit/>
                    </a:bodyPr>
                    <a:lstStyle/>
                    <a:p>
                      <a:pPr algn="ctr"/>
                      <a:r>
                        <a:rPr sz="1313" b="0">
                          <a:solidFill>
                            <a:srgbClr val="70757C"/>
                          </a:solidFill>
                          <a:latin typeface="Carlito"/>
                          <a:ea typeface="Carlito"/>
                          <a:cs typeface="Carlito"/>
                        </a:rPr>
                        <a:t>B</a:t>
                      </a:r>
                    </a:p>
                  </a:txBody>
                  <a:tcPr marL="76200" marR="76200" marT="28575" marB="28575" anchor="ctr">
                    <a:solidFill>
                      <a:srgbClr val="F4F5F6"/>
                    </a:solidFill>
                  </a:tcPr>
                </a:tc>
                <a:tc>
                  <a:txBody>
                    <a:bodyPr>
                      <a:noAutofit/>
                    </a:bodyPr>
                    <a:lstStyle/>
                    <a:p>
                      <a:pPr algn="ctr"/>
                      <a:r>
                        <a:rPr sz="1313" b="1">
                          <a:solidFill>
                            <a:srgbClr val="946125"/>
                          </a:solidFill>
                          <a:latin typeface="Carlito"/>
                          <a:ea typeface="Carlito"/>
                          <a:cs typeface="Carlito"/>
                        </a:rPr>
                        <a:t>W</a:t>
                      </a:r>
                    </a:p>
                  </a:txBody>
                  <a:tcPr marL="76200" marR="76200" marT="28575" marB="28575" anchor="ctr">
                    <a:solidFill>
                      <a:srgbClr val="FFF0DC"/>
                    </a:solidFill>
                  </a:tcPr>
                </a:tc>
              </a:tr>
              <a:tr h="390525">
                <a:tc>
                  <a:txBody>
                    <a:bodyPr>
                      <a:noAutofit/>
                    </a:bodyPr>
                    <a:lstStyle/>
                    <a:p>
                      <a:r>
                        <a:rPr sz="1313" b="0">
                          <a:solidFill>
                            <a:srgbClr val="30343A"/>
                          </a:solidFill>
                          <a:latin typeface="Carlito"/>
                          <a:ea typeface="Carlito"/>
                          <a:cs typeface="Carlito"/>
                        </a:rPr>
                        <a:t>Protocol version and standards watch</a:t>
                      </a:r>
                    </a:p>
                  </a:txBody>
                  <a:tcPr marL="76200" marR="76200" marT="28575" marB="28575" anchor="t">
                    <a:solidFill>
                      <a:srgbClr val="FFFFFF"/>
                    </a:solidFill>
                  </a:tcPr>
                </a:tc>
                <a:tc>
                  <a:txBody>
                    <a:bodyPr>
                      <a:noAutofit/>
                    </a:bodyPr>
                    <a:lstStyle/>
                    <a:p>
                      <a:pPr algn="ctr"/>
                      <a:r>
                        <a:rPr sz="1313" b="0">
                          <a:solidFill>
                            <a:srgbClr val="70757C"/>
                          </a:solidFill>
                          <a:latin typeface="Carlito"/>
                          <a:ea typeface="Carlito"/>
                          <a:cs typeface="Carlito"/>
                        </a:rPr>
                        <a:t>B</a:t>
                      </a:r>
                    </a:p>
                  </a:txBody>
                  <a:tcPr marL="76200" marR="76200" marT="28575" marB="28575" anchor="ctr">
                    <a:solidFill>
                      <a:srgbClr val="FFFFFF"/>
                    </a:solidFill>
                  </a:tcPr>
                </a:tc>
                <a:tc>
                  <a:txBody>
                    <a:bodyPr>
                      <a:noAutofit/>
                    </a:bodyPr>
                    <a:lstStyle/>
                    <a:p>
                      <a:pPr algn="ctr"/>
                      <a:r>
                        <a:rPr sz="1313" b="1">
                          <a:solidFill>
                            <a:srgbClr val="946125"/>
                          </a:solidFill>
                          <a:latin typeface="Carlito"/>
                          <a:ea typeface="Carlito"/>
                          <a:cs typeface="Carlito"/>
                        </a:rPr>
                        <a:t>W</a:t>
                      </a:r>
                    </a:p>
                  </a:txBody>
                  <a:tcPr marL="76200" marR="76200" marT="28575" marB="28575" anchor="ctr">
                    <a:solidFill>
                      <a:srgbClr val="FFF0DC"/>
                    </a:solidFill>
                  </a:tcPr>
                </a:tc>
              </a:tr>
              <a:tr h="390525">
                <a:tc>
                  <a:txBody>
                    <a:bodyPr>
                      <a:noAutofit/>
                    </a:bodyPr>
                    <a:lstStyle/>
                    <a:p>
                      <a:r>
                        <a:rPr sz="1313" b="0">
                          <a:solidFill>
                            <a:srgbClr val="30343A"/>
                          </a:solidFill>
                          <a:latin typeface="Carlito"/>
                          <a:ea typeface="Carlito"/>
                          <a:cs typeface="Carlito"/>
                        </a:rPr>
                        <a:t>API portfolio and catalogue governance</a:t>
                      </a:r>
                    </a:p>
                  </a:txBody>
                  <a:tcPr marL="76200" marR="76200" marT="28575" marB="28575" anchor="t">
                    <a:solidFill>
                      <a:srgbClr val="F4F5F6"/>
                    </a:solidFill>
                  </a:tcPr>
                </a:tc>
                <a:tc>
                  <a:txBody>
                    <a:bodyPr>
                      <a:noAutofit/>
                    </a:bodyPr>
                    <a:lstStyle/>
                    <a:p>
                      <a:pPr algn="ctr"/>
                      <a:r>
                        <a:rPr sz="1313" b="0">
                          <a:solidFill>
                            <a:srgbClr val="70757C"/>
                          </a:solidFill>
                          <a:latin typeface="Carlito"/>
                          <a:ea typeface="Carlito"/>
                          <a:cs typeface="Carlito"/>
                        </a:rPr>
                        <a:t>P</a:t>
                      </a:r>
                    </a:p>
                  </a:txBody>
                  <a:tcPr marL="76200" marR="76200" marT="28575" marB="28575" anchor="ctr">
                    <a:solidFill>
                      <a:srgbClr val="F4F5F6"/>
                    </a:solidFill>
                  </a:tcPr>
                </a:tc>
                <a:tc>
                  <a:txBody>
                    <a:bodyPr>
                      <a:noAutofit/>
                    </a:bodyPr>
                    <a:lstStyle/>
                    <a:p>
                      <a:pPr algn="ctr"/>
                      <a:r>
                        <a:rPr sz="1313" b="1">
                          <a:solidFill>
                            <a:srgbClr val="946125"/>
                          </a:solidFill>
                          <a:latin typeface="Carlito"/>
                          <a:ea typeface="Carlito"/>
                          <a:cs typeface="Carlito"/>
                        </a:rPr>
                        <a:t>W</a:t>
                      </a:r>
                    </a:p>
                  </a:txBody>
                  <a:tcPr marL="76200" marR="76200" marT="28575" marB="28575" anchor="ctr">
                    <a:solidFill>
                      <a:srgbClr val="FFF0DC"/>
                    </a:solidFill>
                  </a:tcPr>
                </a:tc>
              </a:tr>
              <a:tr h="390525">
                <a:tc>
                  <a:txBody>
                    <a:bodyPr>
                      <a:noAutofit/>
                    </a:bodyPr>
                    <a:lstStyle/>
                    <a:p>
                      <a:r>
                        <a:rPr sz="1313" b="0">
                          <a:solidFill>
                            <a:srgbClr val="30343A"/>
                          </a:solidFill>
                          <a:latin typeface="Carlito"/>
                          <a:ea typeface="Carlito"/>
                          <a:cs typeface="Carlito"/>
                        </a:rPr>
                        <a:t>API governance and review management</a:t>
                      </a:r>
                    </a:p>
                  </a:txBody>
                  <a:tcPr marL="76200" marR="76200" marT="28575" marB="28575" anchor="t">
                    <a:solidFill>
                      <a:srgbClr val="FFFFFF"/>
                    </a:solidFill>
                  </a:tcPr>
                </a:tc>
                <a:tc>
                  <a:txBody>
                    <a:bodyPr>
                      <a:noAutofit/>
                    </a:bodyPr>
                    <a:lstStyle/>
                    <a:p>
                      <a:pPr algn="ctr"/>
                      <a:r>
                        <a:rPr sz="1313" b="0">
                          <a:solidFill>
                            <a:srgbClr val="70757C"/>
                          </a:solidFill>
                          <a:latin typeface="Carlito"/>
                          <a:ea typeface="Carlito"/>
                          <a:cs typeface="Carlito"/>
                        </a:rPr>
                        <a:t>B</a:t>
                      </a:r>
                    </a:p>
                  </a:txBody>
                  <a:tcPr marL="76200" marR="76200" marT="28575" marB="28575" anchor="ctr">
                    <a:solidFill>
                      <a:srgbClr val="FFFFFF"/>
                    </a:solidFill>
                  </a:tcPr>
                </a:tc>
                <a:tc>
                  <a:txBody>
                    <a:bodyPr>
                      <a:noAutofit/>
                    </a:bodyPr>
                    <a:lstStyle/>
                    <a:p>
                      <a:pPr algn="ctr"/>
                      <a:r>
                        <a:rPr sz="1313" b="1">
                          <a:solidFill>
                            <a:srgbClr val="946125"/>
                          </a:solidFill>
                          <a:latin typeface="Carlito"/>
                          <a:ea typeface="Carlito"/>
                          <a:cs typeface="Carlito"/>
                        </a:rPr>
                        <a:t>W</a:t>
                      </a:r>
                    </a:p>
                  </a:txBody>
                  <a:tcPr marL="76200" marR="76200" marT="28575" marB="28575" anchor="ctr">
                    <a:solidFill>
                      <a:srgbClr val="FFF0DC"/>
                    </a:solidFill>
                  </a:tcPr>
                </a:tc>
              </a:tr>
              <a:tr h="390525">
                <a:tc>
                  <a:txBody>
                    <a:bodyPr>
                      <a:noAutofit/>
                    </a:bodyPr>
                    <a:lstStyle/>
                    <a:p>
                      <a:r>
                        <a:rPr sz="1313" b="0">
                          <a:solidFill>
                            <a:srgbClr val="30343A"/>
                          </a:solidFill>
                          <a:latin typeface="Carlito"/>
                          <a:ea typeface="Carlito"/>
                          <a:cs typeface="Carlito"/>
                        </a:rPr>
                        <a:t>Agent audit trail and explainability oversight</a:t>
                      </a:r>
                    </a:p>
                  </a:txBody>
                  <a:tcPr marL="76200" marR="76200" marT="28575" marB="28575" anchor="t">
                    <a:solidFill>
                      <a:srgbClr val="F4F5F6"/>
                    </a:solidFill>
                  </a:tcPr>
                </a:tc>
                <a:tc>
                  <a:txBody>
                    <a:bodyPr>
                      <a:noAutofit/>
                    </a:bodyPr>
                    <a:lstStyle/>
                    <a:p>
                      <a:pPr algn="ctr"/>
                      <a:r>
                        <a:rPr sz="1313" b="0">
                          <a:solidFill>
                            <a:srgbClr val="70757C"/>
                          </a:solidFill>
                          <a:latin typeface="Carlito"/>
                          <a:ea typeface="Carlito"/>
                          <a:cs typeface="Carlito"/>
                        </a:rPr>
                        <a:t>B</a:t>
                      </a:r>
                    </a:p>
                  </a:txBody>
                  <a:tcPr marL="76200" marR="76200" marT="28575" marB="28575" anchor="ctr">
                    <a:solidFill>
                      <a:srgbClr val="F4F5F6"/>
                    </a:solidFill>
                  </a:tcPr>
                </a:tc>
                <a:tc>
                  <a:txBody>
                    <a:bodyPr>
                      <a:noAutofit/>
                    </a:bodyPr>
                    <a:lstStyle/>
                    <a:p>
                      <a:pPr algn="ctr"/>
                      <a:r>
                        <a:rPr sz="1313" b="1">
                          <a:solidFill>
                            <a:srgbClr val="70757C"/>
                          </a:solidFill>
                          <a:latin typeface="Carlito"/>
                          <a:ea typeface="Carlito"/>
                          <a:cs typeface="Carlito"/>
                        </a:rPr>
                        <a:t>Y</a:t>
                      </a:r>
                    </a:p>
                  </a:txBody>
                  <a:tcPr marL="76200" marR="76200" marT="28575" marB="28575" anchor="ctr">
                    <a:solidFill>
                      <a:srgbClr val="FFFFFF"/>
                    </a:solidFill>
                  </a:tcPr>
                </a:tc>
              </a:tr>
              <a:tr h="390525">
                <a:tc>
                  <a:txBody>
                    <a:bodyPr>
                      <a:noAutofit/>
                    </a:bodyPr>
                    <a:lstStyle/>
                    <a:p>
                      <a:r>
                        <a:rPr sz="1313" b="0">
                          <a:solidFill>
                            <a:srgbClr val="30343A"/>
                          </a:solidFill>
                          <a:latin typeface="Carlito"/>
                          <a:ea typeface="Carlito"/>
                          <a:cs typeface="Carlito"/>
                        </a:rPr>
                        <a:t>FinOps</a:t>
                      </a:r>
                    </a:p>
                  </a:txBody>
                  <a:tcPr marL="76200" marR="76200" marT="28575" marB="28575" anchor="t">
                    <a:solidFill>
                      <a:srgbClr val="FFFFFF"/>
                    </a:solidFill>
                  </a:tcPr>
                </a:tc>
                <a:tc>
                  <a:txBody>
                    <a:bodyPr>
                      <a:noAutofit/>
                    </a:bodyPr>
                    <a:lstStyle/>
                    <a:p>
                      <a:pPr algn="ctr"/>
                      <a:r>
                        <a:rPr sz="1313" b="0">
                          <a:solidFill>
                            <a:srgbClr val="70757C"/>
                          </a:solidFill>
                          <a:latin typeface="Carlito"/>
                          <a:ea typeface="Carlito"/>
                          <a:cs typeface="Carlito"/>
                        </a:rPr>
                        <a:t>B</a:t>
                      </a:r>
                    </a:p>
                  </a:txBody>
                  <a:tcPr marL="76200" marR="76200" marT="28575" marB="28575" anchor="ctr">
                    <a:solidFill>
                      <a:srgbClr val="FFFFFF"/>
                    </a:solidFill>
                  </a:tcPr>
                </a:tc>
                <a:tc>
                  <a:txBody>
                    <a:bodyPr>
                      <a:noAutofit/>
                    </a:bodyPr>
                    <a:lstStyle/>
                    <a:p>
                      <a:pPr algn="ctr"/>
                      <a:r>
                        <a:rPr sz="1313" b="1">
                          <a:solidFill>
                            <a:srgbClr val="70757C"/>
                          </a:solidFill>
                          <a:latin typeface="Carlito"/>
                          <a:ea typeface="Carlito"/>
                          <a:cs typeface="Carlito"/>
                        </a:rPr>
                        <a:t>Y</a:t>
                      </a:r>
                    </a:p>
                  </a:txBody>
                  <a:tcPr marL="76200" marR="76200" marT="28575" marB="28575" anchor="ctr">
                    <a:solidFill>
                      <a:srgbClr val="FFFFFF"/>
                    </a:solidFill>
                  </a:tcPr>
                </a:tc>
              </a:tr>
            </a:tbl>
          </a:graphicData>
        </a:graphic>
      </p:graphicFrame>
      <p:sp>
        <p:nvSpPr>
          <p:cNvPr id="30" name="text">
            <a:extLst xmlns:a="http://schemas.openxmlformats.org/drawingml/2006/main">
              <a:ext uri="{FF2B5EF4-FFF2-40B4-BE49-F238E27FC236}">
                <a16:creationId xmlns:a16="http://schemas.microsoft.com/office/drawing/2014/main" id="{DCCBBA34-926A-43B1-A401-EFC2A4963EE9}"/>
              </a:ext>
            </a:extLst>
          </p:cNvPr>
          <p:cNvSpPr>
            <a:spLocks xmlns:a="http://schemas.openxmlformats.org/drawingml/2006/main" noGrp="1"/>
          </p:cNvSpPr>
          <p:nvPr/>
        </p:nvSpPr>
        <p:spPr>
          <a:xfrm xmlns:a="http://schemas.openxmlformats.org/drawingml/2006/main">
            <a:off x="361950" y="7905750"/>
            <a:ext cx="1445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70757C"/>
                </a:solidFill>
                <a:latin typeface="Carlito"/>
                <a:ea typeface="Carlito"/>
                <a:cs typeface="Carlito"/>
              </a:defRPr>
            </a:pPr>
            <a:r>
              <a:rPr sz="1350" b="0">
                <a:solidFill>
                  <a:srgbClr val="70757C"/>
                </a:solidFill>
                <a:latin typeface="Carlito"/>
                <a:ea typeface="Carlito"/>
                <a:cs typeface="Carlito"/>
              </a:rPr>
              <a:t>Source statuses retained. Consumer requirements validation and reuse assessment are explicit target requirements whose maturity needs assessment.</a:t>
            </a:r>
          </a:p>
        </p:txBody>
      </p:sp>
    </p:spTree>
    <p:extLst>
      <p:ext uri="{BB962C8B-B14F-4D97-AF65-F5344CB8AC3E}">
        <p14:creationId xmlns:p14="http://schemas.microsoft.com/office/powerpoint/2010/main" val="15099105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2026-09-13T21:57:32.7310000Z</dcterms:created>
  <dcterms:modified xsi:type="dcterms:W3CDTF">2026-09-13T21:57:32.7310000Z</dcterms:modified>
</coreProperties>
</file>