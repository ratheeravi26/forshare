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b68c0369234a38" /><Relationship Type="http://schemas.openxmlformats.org/officeDocument/2006/relationships/extended-properties" Target="/docProps/app.xml" Id="Ra6c4789cff7f4d41" /><Relationship Type="http://schemas.openxmlformats.org/officeDocument/2006/relationships/officeDocument" Target="/ppt/presentation.xml" Id="Rd40fad2f71a943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0edc264e54d7e"/>
  </p:sldMasterIdLst>
  <p:notesMasterIdLst>
    <p:notesMasterId xmlns:r="http://schemas.openxmlformats.org/officeDocument/2006/relationships" r:id="Rbe65c951b5f14c35"/>
  </p:notesMasterIdLst>
  <p:sldIdLst>
    <p:sldId xmlns:r="http://schemas.openxmlformats.org/officeDocument/2006/relationships" id="256" r:id="Re593457bd4324d8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183323369a4669" /><Relationship Type="http://schemas.openxmlformats.org/officeDocument/2006/relationships/slideMaster" Target="/ppt/slideMasters/slideMaster1.xml" Id="Rf110edc264e54d7e" /><Relationship Type="http://schemas.openxmlformats.org/officeDocument/2006/relationships/notesMaster" Target="/ppt/notesMasters/notesMaster1.xml" Id="Rbe65c951b5f14c35" /><Relationship Type="http://schemas.openxmlformats.org/officeDocument/2006/relationships/presProps" Target="/ppt/presProps.xml" Id="Rb010e8265b994f2a" /><Relationship Type="http://schemas.openxmlformats.org/officeDocument/2006/relationships/tableStyles" Target="/ppt/tableStyles.xml" Id="R7079545ac28d4ba7" /><Relationship Type="http://schemas.openxmlformats.org/officeDocument/2006/relationships/slide" Target="/ppt/slides/slide1.xml" Id="Re593457bd4324d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7695e93b847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d0bd8c4f848b5" /><Relationship Type="http://schemas.openxmlformats.org/officeDocument/2006/relationships/notesMaster" Target="/ppt/notesMasters/notesMaster1.xml" Id="Racad406c761344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Authoritative identity-domain mapping proposed for Board review. External client people EXT-ADM, EXT-USR-S, EXT-USR-M and EXT-USR-NB belong to CIAM. Workforce identities INT-MOD-CLI, INT-MOD-IMP, INT-MOD-ADM and INT-MOD-SFT belong to IDAM, including when they access CIAM or a represented client context. For impersonation the current workforce actor remains an IDAM identity and the represented client remains a CIAM identity. Workforce credentials must not be copied into CIAM. NHI-SCM-API is an external client integration registration governed through CIAM and a supporting workload registry. NHI-SWF-SYS is CIAM-governed when client-owned. Its ownership is not established by the supplied baseline: a Euroclear-owned engine belongs to internal workload identity governance under the enterprise IDAM model or designated workload registry, not a workforce user directory. The right column only describes client-owned integrations. TRN-UAM-JIT is a legacy UAM state transitioning to CIAM, not a separate permanent target persona. Source: Euroclear_B2B_CIAM_Persona_Validation.docx v0.2 and persona scope supplied in the conversation. Shared context is client access context, not a claim that all workforce accounts are CIAM-governed. Commercial and transition attributes are CIAM attributes. Entity labels are family aggregates and require approved legal-entity mappings. Privileged access controls are outside the identity-domain classification shown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408e300e844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2d768c7f44a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8f381215e46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fca3e4cb445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7e7ed61d44a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729dd4d3b4e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0FA6FAC-3DE1-498E-8A83-5A5BF416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753AE5-2B8B-4390-9997-A0E43FC03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38D2662-3EAA-4729-865F-354F0AE4CF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05DF40-31F6-4D6C-AB3F-D7843F3A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FC9BD0-F70F-4F3A-BFF7-8C49A2E75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8C0A5A0-DA69-48C2-A0E7-21807D5C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14BBEEA-C628-4347-9580-25B116FDD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FA6729E-8F31-40A2-9273-19DBF38106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1C3A178-4DEF-4754-A8EE-71B57CDA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963319-F531-4007-BA32-6BADB41A9E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B8A5A7-3F27-495E-8342-C0F63AD5CD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BC3841-9159-48CB-B241-DA26A3D4E6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EFAC36B-FFDA-43F0-937F-C41FD2D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2594F5-1939-419A-B2B5-67281FCA8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32FE7C-03FC-422E-A561-DBF114133A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6b37aab3e1446c" /><Relationship Type="http://schemas.openxmlformats.org/officeDocument/2006/relationships/slideLayout" Target="/ppt/slideLayouts/slideLayout1.xml" Id="R62f6fa5bc9ba479d" /><Relationship Type="http://schemas.openxmlformats.org/officeDocument/2006/relationships/slideLayout" Target="/ppt/slideLayouts/slideLayout2.xml" Id="R1cfab8ae91fa43bc" /><Relationship Type="http://schemas.openxmlformats.org/officeDocument/2006/relationships/slideLayout" Target="/ppt/slideLayouts/slideLayout3.xml" Id="Re2d91592eaab49d1" /><Relationship Type="http://schemas.openxmlformats.org/officeDocument/2006/relationships/slideLayout" Target="/ppt/slideLayouts/slideLayout4.xml" Id="Rd1a58ba7b5764bce" /><Relationship Type="http://schemas.openxmlformats.org/officeDocument/2006/relationships/slideLayout" Target="/ppt/slideLayouts/slideLayout5.xml" Id="R664aec6d264449ab" /><Relationship Type="http://schemas.openxmlformats.org/officeDocument/2006/relationships/slideLayout" Target="/ppt/slideLayouts/slideLayout6.xml" Id="R654a5169f73246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f6fa5bc9ba479d"/>
    <p:sldLayoutId xmlns:r="http://schemas.openxmlformats.org/officeDocument/2006/relationships" id="2147483650" r:id="R1cfab8ae91fa43bc"/>
    <p:sldLayoutId xmlns:r="http://schemas.openxmlformats.org/officeDocument/2006/relationships" id="2147483651" r:id="Re2d91592eaab49d1"/>
    <p:sldLayoutId xmlns:r="http://schemas.openxmlformats.org/officeDocument/2006/relationships" id="2147483652" r:id="Rd1a58ba7b5764bce"/>
    <p:sldLayoutId xmlns:r="http://schemas.openxmlformats.org/officeDocument/2006/relationships" id="2147483653" r:id="R664aec6d264449ab"/>
    <p:sldLayoutId xmlns:r="http://schemas.openxmlformats.org/officeDocument/2006/relationships" id="2147483654" r:id="R654a5169f73246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4ede14786145e2" /><Relationship Type="http://schemas.openxmlformats.org/officeDocument/2006/relationships/notesSlide" Target="/ppt/notesSlides/notesSlide1.xml" Id="R4e7ba7c3091b47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text-1">
            <a:extLst xmlns:a="http://schemas.openxmlformats.org/drawingml/2006/main">
              <a:ext uri="{FF2B5EF4-FFF2-40B4-BE49-F238E27FC236}">
                <a16:creationId xmlns:a16="http://schemas.microsoft.com/office/drawing/2014/main" id="{93301D1A-B11A-4357-9288-5C60E8B7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381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EUROCLEAR B2B CIAM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0187B69-E9EC-4AA3-8A7E-36A0AA17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3825" b="1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Persona landscape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D496FDD-A30F-4BB7-A432-7E26968A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Identity ownership remains distinct from the service or client context being accessed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922CE79-13A8-4812-9634-2D176E2F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36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609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C6090"/>
                </a:solidFill>
                <a:latin typeface="Calibri"/>
                <a:ea typeface="Calibri"/>
                <a:cs typeface="Calibri"/>
              </a:rPr>
              <a:t>CIAM</a:t>
            </a:r>
          </a:p>
        </p:txBody>
      </p:sp>
      <p:sp>
        <p:nvSpPr>
          <p:cNvPr id="5" name="line-5">
            <a:extLst xmlns:a="http://schemas.openxmlformats.org/drawingml/2006/main">
              <a:ext uri="{FF2B5EF4-FFF2-40B4-BE49-F238E27FC236}">
                <a16:creationId xmlns:a16="http://schemas.microsoft.com/office/drawing/2014/main" id="{8DB3DBB3-5EC7-49FA-94B4-C2BE4DCA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436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C6090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1F406CC-D73C-4B4C-82A7-F5FC7473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19300"/>
            <a:ext cx="436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C8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87C80"/>
                </a:solidFill>
                <a:latin typeface="Calibri"/>
                <a:ea typeface="Calibri"/>
                <a:cs typeface="Calibri"/>
              </a:rPr>
              <a:t>IDAM</a:t>
            </a:r>
          </a:p>
        </p:txBody>
      </p:sp>
      <p:sp>
        <p:nvSpPr>
          <p:cNvPr id="7" name="line-7">
            <a:extLst xmlns:a="http://schemas.openxmlformats.org/drawingml/2006/main">
              <a:ext uri="{FF2B5EF4-FFF2-40B4-BE49-F238E27FC236}">
                <a16:creationId xmlns:a16="http://schemas.microsoft.com/office/drawing/2014/main" id="{B015FB30-4EBC-4DE6-99CA-04A9B9A0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52700"/>
            <a:ext cx="436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87C80"/>
            </a:solidFill>
          </a:ln>
        </p:spPr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860A65D-4B87-4EDD-ACEB-A35DCD4D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019300"/>
            <a:ext cx="441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609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C6090"/>
                </a:solidFill>
                <a:latin typeface="Calibri"/>
                <a:ea typeface="Calibri"/>
                <a:cs typeface="Calibri"/>
              </a:rPr>
              <a:t>CIAM</a:t>
            </a:r>
          </a:p>
        </p:txBody>
      </p:sp>
      <p:sp>
        <p:nvSpPr>
          <p:cNvPr id="9" name="line-9">
            <a:extLst xmlns:a="http://schemas.openxmlformats.org/drawingml/2006/main">
              <a:ext uri="{FF2B5EF4-FFF2-40B4-BE49-F238E27FC236}">
                <a16:creationId xmlns:a16="http://schemas.microsoft.com/office/drawing/2014/main" id="{FD3754E7-088E-4F3A-A6EE-C134F5E5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5270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C6090"/>
            </a:solidFill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DAAF68FB-3701-496E-B017-A2A99459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External client people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B8313857-5517-45D9-9245-28347DC4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717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Euroclear workforce identities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3CF1EFB7-5CEA-42AA-88C4-82B607A7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717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Client-owned integrations*</a:t>
            </a:r>
          </a:p>
        </p:txBody>
      </p:sp>
      <p:sp>
        <p:nvSpPr>
          <p:cNvPr id="13" name="region-13">
            <a:extLst xmlns:a="http://schemas.openxmlformats.org/drawingml/2006/main">
              <a:ext uri="{FF2B5EF4-FFF2-40B4-BE49-F238E27FC236}">
                <a16:creationId xmlns:a16="http://schemas.microsoft.com/office/drawing/2014/main" id="{9846BA1F-129F-4E87-8E38-108A7AB2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81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90"/>
          </a:solidFill>
          <a:ln xmlns:a="http://schemas.openxmlformats.org/drawingml/2006/main" w="0">
            <a:noFill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5D58F5F1-BD55-4ED2-86F3-8142AE0C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15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609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C6090"/>
                </a:solidFill>
                <a:latin typeface="Calibri"/>
                <a:ea typeface="Calibri"/>
                <a:cs typeface="Calibri"/>
              </a:rPr>
              <a:t>Client User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3AD231FF-5F55-463D-9A7E-C47D352C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152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Single or multiple legal entities</a:t>
            </a:r>
          </a:p>
          <a:p xmlns:a="http://schemas.openxmlformats.org/drawingml/2006/main">
            <a:pPr>
              <a:defRPr sz="180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Institutional, observer or test access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170AE1AC-C72E-4DDF-BE17-DEE1E5CE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15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EXT-USR-S   /   EXT-USR-M</a:t>
            </a:r>
          </a:p>
        </p:txBody>
      </p:sp>
      <p:sp>
        <p:nvSpPr>
          <p:cNvPr id="17" name="region-17">
            <a:extLst xmlns:a="http://schemas.openxmlformats.org/drawingml/2006/main">
              <a:ext uri="{FF2B5EF4-FFF2-40B4-BE49-F238E27FC236}">
                <a16:creationId xmlns:a16="http://schemas.microsoft.com/office/drawing/2014/main" id="{3B43A3D9-240E-456F-81DF-F358B418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7275"/>
            <a:ext cx="381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90"/>
          </a:solidFill>
          <a:ln xmlns:a="http://schemas.openxmlformats.org/drawingml/2006/main" w="0">
            <a:noFill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2611D0F1-6EDA-4303-8483-5F54AFBA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415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609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C6090"/>
                </a:solidFill>
                <a:latin typeface="Calibri"/>
                <a:ea typeface="Calibri"/>
                <a:cs typeface="Calibri"/>
              </a:rPr>
              <a:t>Delegated Administrator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34072764-5EF3-41AA-B57B-85258C6B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4152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Manages client organisation users</a:t>
            </a:r>
          </a:p>
          <a:p xmlns:a="http://schemas.openxmlformats.org/drawingml/2006/main">
            <a:pPr>
              <a:defRPr sz="180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and approved entitlement assignments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DF9D68D8-00E2-47E5-987B-250D4B6E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415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EXT-ADM</a:t>
            </a:r>
          </a:p>
        </p:txBody>
      </p:sp>
      <p:sp>
        <p:nvSpPr>
          <p:cNvPr id="21" name="region-21">
            <a:extLst xmlns:a="http://schemas.openxmlformats.org/drawingml/2006/main">
              <a:ext uri="{FF2B5EF4-FFF2-40B4-BE49-F238E27FC236}">
                <a16:creationId xmlns:a16="http://schemas.microsoft.com/office/drawing/2014/main" id="{FFD48771-13D5-4EA4-A34C-5DE2F950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4325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0"/>
          </a:solidFill>
          <a:ln xmlns:a="http://schemas.openxmlformats.org/drawingml/2006/main" w="0">
            <a:noFill/>
          </a:ln>
        </p:spPr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1CD3F60E-7302-43C6-9749-12A75C8D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C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C80"/>
                </a:solidFill>
                <a:latin typeface="Calibri"/>
                <a:ea typeface="Calibri"/>
                <a:cs typeface="Calibri"/>
              </a:rPr>
              <a:t>Workforce Operator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7E6B266F-E8E5-4B86-9B85-0F4649D1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4152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Client simulation and support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022CEB2F-2703-48B0-AB4A-02979159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415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INT-MOD-CLI   /   INT-MOD-IMP</a:t>
            </a:r>
          </a:p>
        </p:txBody>
      </p:sp>
      <p:sp>
        <p:nvSpPr>
          <p:cNvPr id="25" name="region-25">
            <a:extLst xmlns:a="http://schemas.openxmlformats.org/drawingml/2006/main">
              <a:ext uri="{FF2B5EF4-FFF2-40B4-BE49-F238E27FC236}">
                <a16:creationId xmlns:a16="http://schemas.microsoft.com/office/drawing/2014/main" id="{D45FFA4E-2395-4C3B-B77F-A99D3194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76750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0"/>
          </a:solidFill>
          <a:ln xmlns:a="http://schemas.openxmlformats.org/drawingml/2006/main" w="0">
            <a:noFill/>
          </a:ln>
        </p:spPr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607C1EEB-1EC3-484D-B636-010AF23B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38650"/>
            <a:ext cx="415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C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C80"/>
                </a:solidFill>
                <a:latin typeface="Calibri"/>
                <a:ea typeface="Calibri"/>
                <a:cs typeface="Calibri"/>
              </a:rPr>
              <a:t>Business Administrator</a:t>
            </a:r>
          </a:p>
        </p:txBody>
      </p:sp>
      <p:sp>
        <p:nvSpPr>
          <p:cNvPr id="27" name="text-27">
            <a:extLst xmlns:a="http://schemas.openxmlformats.org/drawingml/2006/main">
              <a:ext uri="{FF2B5EF4-FFF2-40B4-BE49-F238E27FC236}">
                <a16:creationId xmlns:a16="http://schemas.microsoft.com/office/drawing/2014/main" id="{E72ACA63-5D8B-43EC-B158-B3A27E5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29175"/>
            <a:ext cx="4152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Client and entitlement governance</a:t>
            </a:r>
          </a:p>
        </p:txBody>
      </p:sp>
      <p:sp>
        <p:nvSpPr>
          <p:cNvPr id="28" name="text-28">
            <a:extLst xmlns:a="http://schemas.openxmlformats.org/drawingml/2006/main">
              <a:ext uri="{FF2B5EF4-FFF2-40B4-BE49-F238E27FC236}">
                <a16:creationId xmlns:a16="http://schemas.microsoft.com/office/drawing/2014/main" id="{4B3E7738-F966-431A-941D-94790EE9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86375"/>
            <a:ext cx="415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INT-MOD-ADM</a:t>
            </a:r>
          </a:p>
        </p:txBody>
      </p:sp>
      <p:sp>
        <p:nvSpPr>
          <p:cNvPr id="29" name="region-29">
            <a:extLst xmlns:a="http://schemas.openxmlformats.org/drawingml/2006/main">
              <a:ext uri="{FF2B5EF4-FFF2-40B4-BE49-F238E27FC236}">
                <a16:creationId xmlns:a16="http://schemas.microsoft.com/office/drawing/2014/main" id="{9E545085-5325-4041-8563-E4E4957A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2452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0"/>
          </a:solidFill>
          <a:ln xmlns:a="http://schemas.openxmlformats.org/drawingml/2006/main" w="0">
            <a:noFill/>
          </a:ln>
        </p:spPr>
      </p:sp>
      <p:sp>
        <p:nvSpPr>
          <p:cNvPr id="30" name="text-30">
            <a:extLst xmlns:a="http://schemas.openxmlformats.org/drawingml/2006/main">
              <a:ext uri="{FF2B5EF4-FFF2-40B4-BE49-F238E27FC236}">
                <a16:creationId xmlns:a16="http://schemas.microsoft.com/office/drawing/2014/main" id="{54B3E033-E501-4182-BE8B-2CF4BBA4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86425"/>
            <a:ext cx="415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C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C80"/>
                </a:solidFill>
                <a:latin typeface="Calibri"/>
                <a:ea typeface="Calibri"/>
                <a:cs typeface="Calibri"/>
              </a:rPr>
              <a:t>Platform Administrator</a:t>
            </a:r>
          </a:p>
        </p:txBody>
      </p:sp>
      <p:sp>
        <p:nvSpPr>
          <p:cNvPr id="31" name="text-31">
            <a:extLst xmlns:a="http://schemas.openxmlformats.org/drawingml/2006/main">
              <a:ext uri="{FF2B5EF4-FFF2-40B4-BE49-F238E27FC236}">
                <a16:creationId xmlns:a16="http://schemas.microsoft.com/office/drawing/2014/main" id="{50B4353D-5BE1-4047-BA46-B26F40A3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7695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Privileged CIAM platform operations</a:t>
            </a:r>
          </a:p>
        </p:txBody>
      </p:sp>
      <p:sp>
        <p:nvSpPr>
          <p:cNvPr id="32" name="text-32">
            <a:extLst xmlns:a="http://schemas.openxmlformats.org/drawingml/2006/main">
              <a:ext uri="{FF2B5EF4-FFF2-40B4-BE49-F238E27FC236}">
                <a16:creationId xmlns:a16="http://schemas.microsoft.com/office/drawing/2014/main" id="{F7C3649D-B5C4-412B-961F-6DC5995C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38900"/>
            <a:ext cx="415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INT-MOD-SFT</a:t>
            </a:r>
          </a:p>
        </p:txBody>
      </p:sp>
      <p:sp>
        <p:nvSpPr>
          <p:cNvPr id="33" name="region-33">
            <a:extLst xmlns:a="http://schemas.openxmlformats.org/drawingml/2006/main">
              <a:ext uri="{FF2B5EF4-FFF2-40B4-BE49-F238E27FC236}">
                <a16:creationId xmlns:a16="http://schemas.microsoft.com/office/drawing/2014/main" id="{FB4C5252-BE37-4F41-B598-61B89E2D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43250"/>
            <a:ext cx="38100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90"/>
          </a:solidFill>
          <a:ln xmlns:a="http://schemas.openxmlformats.org/drawingml/2006/main" w="0">
            <a:noFill/>
          </a:ln>
        </p:spPr>
      </p:sp>
      <p:sp>
        <p:nvSpPr>
          <p:cNvPr id="34" name="text-34">
            <a:extLst xmlns:a="http://schemas.openxmlformats.org/drawingml/2006/main">
              <a:ext uri="{FF2B5EF4-FFF2-40B4-BE49-F238E27FC236}">
                <a16:creationId xmlns:a16="http://schemas.microsoft.com/office/drawing/2014/main" id="{48E2969D-95D6-4E95-9CFF-950BA2EA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05150"/>
            <a:ext cx="4210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609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C6090"/>
                </a:solidFill>
                <a:latin typeface="Calibri"/>
                <a:ea typeface="Calibri"/>
                <a:cs typeface="Calibri"/>
              </a:rPr>
              <a:t>Non Human Workload</a:t>
            </a:r>
          </a:p>
        </p:txBody>
      </p:sp>
      <p:sp>
        <p:nvSpPr>
          <p:cNvPr id="35" name="text-35">
            <a:extLst xmlns:a="http://schemas.openxmlformats.org/drawingml/2006/main">
              <a:ext uri="{FF2B5EF4-FFF2-40B4-BE49-F238E27FC236}">
                <a16:creationId xmlns:a16="http://schemas.microsoft.com/office/drawing/2014/main" id="{2F733C52-3DA5-4F54-8542-D4E1E85C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790950"/>
            <a:ext cx="4210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Financial processing</a:t>
            </a:r>
          </a:p>
        </p:txBody>
      </p:sp>
      <p:sp>
        <p:nvSpPr>
          <p:cNvPr id="36" name="text-36">
            <a:extLst xmlns:a="http://schemas.openxmlformats.org/drawingml/2006/main">
              <a:ext uri="{FF2B5EF4-FFF2-40B4-BE49-F238E27FC236}">
                <a16:creationId xmlns:a16="http://schemas.microsoft.com/office/drawing/2014/main" id="{8B574995-7081-43B2-A4FE-48C3A93C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910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Clearing and settlement automation</a:t>
            </a:r>
          </a:p>
        </p:txBody>
      </p:sp>
      <p:sp>
        <p:nvSpPr>
          <p:cNvPr id="37" name="text-37">
            <a:extLst xmlns:a="http://schemas.openxmlformats.org/drawingml/2006/main">
              <a:ext uri="{FF2B5EF4-FFF2-40B4-BE49-F238E27FC236}">
                <a16:creationId xmlns:a16="http://schemas.microsoft.com/office/drawing/2014/main" id="{2807C517-8F41-4E57-A512-51CE5212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686300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NHI-SWF-SYS</a:t>
            </a:r>
          </a:p>
        </p:txBody>
      </p:sp>
      <p:sp>
        <p:nvSpPr>
          <p:cNvPr id="38" name="text-38">
            <a:extLst xmlns:a="http://schemas.openxmlformats.org/drawingml/2006/main">
              <a:ext uri="{FF2B5EF4-FFF2-40B4-BE49-F238E27FC236}">
                <a16:creationId xmlns:a16="http://schemas.microsoft.com/office/drawing/2014/main" id="{F17C0C35-11CA-4301-90A0-D2E31A81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4210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Identity provisioning</a:t>
            </a:r>
          </a:p>
        </p:txBody>
      </p:sp>
      <p:sp>
        <p:nvSpPr>
          <p:cNvPr id="39" name="text-39">
            <a:extLst xmlns:a="http://schemas.openxmlformats.org/drawingml/2006/main">
              <a:ext uri="{FF2B5EF4-FFF2-40B4-BE49-F238E27FC236}">
                <a16:creationId xmlns:a16="http://schemas.microsoft.com/office/drawing/2014/main" id="{8A49949D-2506-400B-AC3B-D484E42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705475"/>
            <a:ext cx="4210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Client SCIM integration</a:t>
            </a:r>
          </a:p>
        </p:txBody>
      </p:sp>
      <p:sp>
        <p:nvSpPr>
          <p:cNvPr id="40" name="text-40">
            <a:extLst xmlns:a="http://schemas.openxmlformats.org/drawingml/2006/main">
              <a:ext uri="{FF2B5EF4-FFF2-40B4-BE49-F238E27FC236}">
                <a16:creationId xmlns:a16="http://schemas.microsoft.com/office/drawing/2014/main" id="{4E3FF8F4-2267-4C90-ABA2-8C5FD306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115050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NHI-SCM-API</a:t>
            </a:r>
          </a:p>
        </p:txBody>
      </p:sp>
      <p:sp>
        <p:nvSpPr>
          <p:cNvPr id="41" name="text-41">
            <a:extLst xmlns:a="http://schemas.openxmlformats.org/drawingml/2006/main">
              <a:ext uri="{FF2B5EF4-FFF2-40B4-BE49-F238E27FC236}">
                <a16:creationId xmlns:a16="http://schemas.microsoft.com/office/drawing/2014/main" id="{F1F4F4EF-EE95-4CFE-B451-5FE3BC56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43725"/>
            <a:ext cx="140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Client access context and CIAM lifecycle attributes</a:t>
            </a:r>
          </a:p>
        </p:txBody>
      </p:sp>
      <p:sp>
        <p:nvSpPr>
          <p:cNvPr id="42" name="region-42">
            <a:extLst xmlns:a="http://schemas.openxmlformats.org/drawingml/2006/main">
              <a:ext uri="{FF2B5EF4-FFF2-40B4-BE49-F238E27FC236}">
                <a16:creationId xmlns:a16="http://schemas.microsoft.com/office/drawing/2014/main" id="{CA2EFA0B-861A-4001-9347-35C2ECD0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62825"/>
            <a:ext cx="1409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43" name="text-43">
            <a:extLst xmlns:a="http://schemas.openxmlformats.org/drawingml/2006/main">
              <a:ext uri="{FF2B5EF4-FFF2-40B4-BE49-F238E27FC236}">
                <a16:creationId xmlns:a16="http://schemas.microsoft.com/office/drawing/2014/main" id="{2E531D31-E024-4E1F-A549-9489C65C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866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CLIENT ORGANISATION</a:t>
            </a:r>
          </a:p>
        </p:txBody>
      </p:sp>
      <p:sp>
        <p:nvSpPr>
          <p:cNvPr id="44" name="text-44">
            <a:extLst xmlns:a="http://schemas.openxmlformats.org/drawingml/2006/main">
              <a:ext uri="{FF2B5EF4-FFF2-40B4-BE49-F238E27FC236}">
                <a16:creationId xmlns:a16="http://schemas.microsoft.com/office/drawing/2014/main" id="{C5F47298-4FD6-489E-BED4-9350266B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Institution and delegated mandate</a:t>
            </a:r>
          </a:p>
        </p:txBody>
      </p:sp>
      <p:sp>
        <p:nvSpPr>
          <p:cNvPr id="45" name="text-45">
            <a:extLst xmlns:a="http://schemas.openxmlformats.org/drawingml/2006/main">
              <a:ext uri="{FF2B5EF4-FFF2-40B4-BE49-F238E27FC236}">
                <a16:creationId xmlns:a16="http://schemas.microsoft.com/office/drawing/2014/main" id="{76727678-5B97-4583-B108-DA981EE0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4866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ENTITY MEMBERSHIPS</a:t>
            </a:r>
          </a:p>
        </p:txBody>
      </p:sp>
      <p:sp>
        <p:nvSpPr>
          <p:cNvPr id="46" name="text-46">
            <a:extLst xmlns:a="http://schemas.openxmlformats.org/drawingml/2006/main">
              <a:ext uri="{FF2B5EF4-FFF2-40B4-BE49-F238E27FC236}">
                <a16:creationId xmlns:a16="http://schemas.microsoft.com/office/drawing/2014/main" id="{E954ED59-0ACB-487C-A91A-D3BA8F02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810500"/>
            <a:ext cx="321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EB   ESES   EUI   Nordics</a:t>
            </a:r>
          </a:p>
        </p:txBody>
      </p:sp>
      <p:sp>
        <p:nvSpPr>
          <p:cNvPr id="47" name="text-47">
            <a:extLst xmlns:a="http://schemas.openxmlformats.org/drawingml/2006/main">
              <a:ext uri="{FF2B5EF4-FFF2-40B4-BE49-F238E27FC236}">
                <a16:creationId xmlns:a16="http://schemas.microsoft.com/office/drawing/2014/main" id="{9EE1DC6F-CAF0-4C3C-9146-FE7656DE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4866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CIAM COMMERCIAL PROFILE</a:t>
            </a:r>
          </a:p>
        </p:txBody>
      </p:sp>
      <p:sp>
        <p:nvSpPr>
          <p:cNvPr id="48" name="text-48">
            <a:extLst xmlns:a="http://schemas.openxmlformats.org/drawingml/2006/main">
              <a:ext uri="{FF2B5EF4-FFF2-40B4-BE49-F238E27FC236}">
                <a16:creationId xmlns:a16="http://schemas.microsoft.com/office/drawing/2014/main" id="{574D7C1F-9CD9-491B-BC0B-08104D34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772400"/>
            <a:ext cx="3219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Billable / Non-Billable</a:t>
            </a:r>
          </a:p>
        </p:txBody>
      </p:sp>
      <p:sp>
        <p:nvSpPr>
          <p:cNvPr id="49" name="text-49">
            <a:extLst xmlns:a="http://schemas.openxmlformats.org/drawingml/2006/main">
              <a:ext uri="{FF2B5EF4-FFF2-40B4-BE49-F238E27FC236}">
                <a16:creationId xmlns:a16="http://schemas.microsoft.com/office/drawing/2014/main" id="{25CFC4FD-4FE1-4BDB-BB6A-7DEF9755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048625"/>
            <a:ext cx="3219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EXT-USR-NB</a:t>
            </a:r>
          </a:p>
        </p:txBody>
      </p:sp>
      <p:sp>
        <p:nvSpPr>
          <p:cNvPr id="50" name="text-50">
            <a:extLst xmlns:a="http://schemas.openxmlformats.org/drawingml/2006/main">
              <a:ext uri="{FF2B5EF4-FFF2-40B4-BE49-F238E27FC236}">
                <a16:creationId xmlns:a16="http://schemas.microsoft.com/office/drawing/2014/main" id="{A2E5CF94-80A0-4100-B7C4-6731781F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486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CIAM TRANSITION STATE</a:t>
            </a:r>
          </a:p>
        </p:txBody>
      </p:sp>
      <p:sp>
        <p:nvSpPr>
          <p:cNvPr id="51" name="text-51">
            <a:extLst xmlns:a="http://schemas.openxmlformats.org/drawingml/2006/main">
              <a:ext uri="{FF2B5EF4-FFF2-40B4-BE49-F238E27FC236}">
                <a16:creationId xmlns:a16="http://schemas.microsoft.com/office/drawing/2014/main" id="{8A731C94-605B-40DB-B03A-538524E2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7724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D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42D40"/>
                </a:solidFill>
                <a:latin typeface="Calibri"/>
                <a:ea typeface="Calibri"/>
                <a:cs typeface="Calibri"/>
              </a:rPr>
              <a:t>Legacy UAM coexistence</a:t>
            </a:r>
          </a:p>
        </p:txBody>
      </p:sp>
      <p:sp>
        <p:nvSpPr>
          <p:cNvPr id="52" name="text-52">
            <a:extLst xmlns:a="http://schemas.openxmlformats.org/drawingml/2006/main">
              <a:ext uri="{FF2B5EF4-FFF2-40B4-BE49-F238E27FC236}">
                <a16:creationId xmlns:a16="http://schemas.microsoft.com/office/drawing/2014/main" id="{ACA4A3FB-6352-46B3-AB44-D4D1B017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048625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TRN-UAM-JIT</a:t>
            </a:r>
          </a:p>
        </p:txBody>
      </p:sp>
      <p:sp>
        <p:nvSpPr>
          <p:cNvPr id="53" name="text-53">
            <a:extLst xmlns:a="http://schemas.openxmlformats.org/drawingml/2006/main">
              <a:ext uri="{FF2B5EF4-FFF2-40B4-BE49-F238E27FC236}">
                <a16:creationId xmlns:a16="http://schemas.microsoft.com/office/drawing/2014/main" id="{2D6A8CCC-FEE3-4722-949B-30952F9D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62950"/>
            <a:ext cx="1409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3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67083"/>
                </a:solidFill>
                <a:latin typeface="Calibri"/>
                <a:ea typeface="Calibri"/>
                <a:cs typeface="Calibri"/>
              </a:rPr>
              <a:t>* Confirm financial system ownership. Euroclear-owned engines use internal workload identity governance.</a:t>
            </a:r>
          </a:p>
        </p:txBody>
      </p:sp>
    </p:spTree>
    <p:extLst>
      <p:ext uri="{BB962C8B-B14F-4D97-AF65-F5344CB8AC3E}">
        <p14:creationId xmlns:p14="http://schemas.microsoft.com/office/powerpoint/2010/main" val="234317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2026-10-07T19:51:36.4270000Z</dcterms:created>
  <dcterms:modified xsi:type="dcterms:W3CDTF">2026-10-07T19:51:36.4270000Z</dcterms:modified>
</coreProperties>
</file>