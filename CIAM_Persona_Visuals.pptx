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af7d76e5f44ea0" /><Relationship Type="http://schemas.openxmlformats.org/officeDocument/2006/relationships/extended-properties" Target="/docProps/app.xml" Id="R4bdf310ccd6048d3" /><Relationship Type="http://schemas.openxmlformats.org/officeDocument/2006/relationships/officeDocument" Target="/ppt/presentation.xml" Id="R72c7a65410f64dc1" /></Relationships>
</file>

<file path=ppt/presentation.xml><?xml version="1.0" encoding="utf-8"?>
<p:presentation xmlns:p="http://schemas.openxmlformats.org/presentationml/2006/main">
  <p:sldMasterIdLst>
    <p:sldMasterId xmlns:r="http://schemas.openxmlformats.org/officeDocument/2006/relationships" id="2147483648" r:id="Rb9802bfc4eb84125"/>
  </p:sldMasterIdLst>
  <p:notesMasterIdLst>
    <p:notesMasterId xmlns:r="http://schemas.openxmlformats.org/officeDocument/2006/relationships" r:id="R3a9a33d6300945de"/>
  </p:notesMasterIdLst>
  <p:sldIdLst>
    <p:sldId xmlns:r="http://schemas.openxmlformats.org/officeDocument/2006/relationships" id="256" r:id="R7b068281296e425e"/>
    <p:sldId xmlns:r="http://schemas.openxmlformats.org/officeDocument/2006/relationships" id="257" r:id="Rac5c142efbe9479a"/>
    <p:sldId xmlns:r="http://schemas.openxmlformats.org/officeDocument/2006/relationships" id="258" r:id="R2545cfa2a54140fd"/>
    <p:sldId xmlns:r="http://schemas.openxmlformats.org/officeDocument/2006/relationships" id="259" r:id="R7e03eb8bbc384f8b"/>
    <p:sldId xmlns:r="http://schemas.openxmlformats.org/officeDocument/2006/relationships" id="260" r:id="Ra4e395ffb0684bb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1542886d444cfc" /><Relationship Type="http://schemas.openxmlformats.org/officeDocument/2006/relationships/slideMaster" Target="/ppt/slideMasters/slideMaster1.xml" Id="Rb9802bfc4eb84125" /><Relationship Type="http://schemas.openxmlformats.org/officeDocument/2006/relationships/notesMaster" Target="/ppt/notesMasters/notesMaster1.xml" Id="R3a9a33d6300945de" /><Relationship Type="http://schemas.openxmlformats.org/officeDocument/2006/relationships/presProps" Target="/ppt/presProps.xml" Id="R03e36314d06a42e7" /><Relationship Type="http://schemas.openxmlformats.org/officeDocument/2006/relationships/tableStyles" Target="/ppt/tableStyles.xml" Id="R83e55c0cf1304483" /><Relationship Type="http://schemas.openxmlformats.org/officeDocument/2006/relationships/slide" Target="/ppt/slides/slide1.xml" Id="R7b068281296e425e" /><Relationship Type="http://schemas.openxmlformats.org/officeDocument/2006/relationships/slide" Target="/ppt/slides/slide2.xml" Id="Rac5c142efbe9479a" /><Relationship Type="http://schemas.openxmlformats.org/officeDocument/2006/relationships/slide" Target="/ppt/slides/slide3.xml" Id="R2545cfa2a54140fd" /><Relationship Type="http://schemas.openxmlformats.org/officeDocument/2006/relationships/slide" Target="/ppt/slides/slide4.xml" Id="R7e03eb8bbc384f8b" /><Relationship Type="http://schemas.openxmlformats.org/officeDocument/2006/relationships/slide" Target="/ppt/slides/slide5.xml" Id="Ra4e395ffb0684b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f6b5139bb44a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c705197eab4c64" /><Relationship Type="http://schemas.openxmlformats.org/officeDocument/2006/relationships/notesMaster" Target="/ppt/notesMasters/notesMaster1.xml" Id="R66bba7ad38824a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d5cfc7c2e64849" /><Relationship Type="http://schemas.openxmlformats.org/officeDocument/2006/relationships/notesMaster" Target="/ppt/notesMasters/notesMaster1.xml" Id="R9f964c68388e4c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a407e7422041ba" /><Relationship Type="http://schemas.openxmlformats.org/officeDocument/2006/relationships/notesMaster" Target="/ppt/notesMasters/notesMaster1.xml" Id="R0eb78f9047d046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c3c0de37894a00" /><Relationship Type="http://schemas.openxmlformats.org/officeDocument/2006/relationships/notesMaster" Target="/ppt/notesMasters/notesMaster1.xml" Id="Rdeb9107955c445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b27bb83f08424f" /><Relationship Type="http://schemas.openxmlformats.org/officeDocument/2006/relationships/notesMaster" Target="/ppt/notesMasters/notesMaster1.xml" Id="Rda1a9f0ec9a844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Euroclear_B2B_CIAM_Persona_Validation.docx, Sections 1 and 4–6, version 0.2. The lane colours indicate identity domain, not risk or privilege ranking. Read the core family first, then the baseline mappings. EXT-USR-NB can coexist with either single- or multi-entity access. TRN-UAM-JIT applies only to eligible legacy identities. NHI-APP-SVC remains a proposed additional profile after discovery.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Persona Validation v0.2, Sections 3 and 7. This example is fictional. The external subject is a multi-entity user with a scoped Non-Billable classification and a legacy coexistence state. Billing is scoped to an entity/service relationship and never grants a role. Authentication evidence belongs to the session, whereas entity memberships and commercial classification belong to governed records. AAL3 is a proposed target for EXT-USR-M and requires verified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Persona Validation v0.2, Section 3. These combinations are mathematical model possibilities, not counts or evidence that the cohorts exist. Exact means the membership set equals the row label, with no additional in-scope family. EB intersection ESES is inclusive and covers the four highlighted rows. Family grouping cannot replace legal-entity-specific grants.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Persona Validation v0.2, Sections 5–8. Logical target responsibilities only, not a deployed topology. Workforce federation shares trusted authentication evidence and approved identity references rather than copying workforce passwords into CIAM. Proposed support policy validates the operator, client context, active ticket and rights before exchange. RFC 8693 https://www.rfc-editor.org/rfc/rfc8693.html defines act but does not authorise impersonation. Actors remain distinct from represented subjects. The act claim is an object. Use act.sub and act.iss to identify the workforce operator and domain. Platform administration follows a separate privileged management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Persona Validation v0.2, Sections 4–9. Human AAL targets require full implementation evidence. NIST SP 800-63B-4 https://pages.nist.gov/800-63-4/sp800-63b.html Sections 2 and Appendix B. AAL2 requires two factors, TOTP alone is insufficient, synced passkeys cannot meet AAL3, and AAL3 requires phishing resistance and non-exportable keys. For machines use separate controls. RFC 8705 https://www.rfc-editor.org/rfc/rfc8705.html defines distinct mTLS client authentication and certificate-bound token mechanisms. RFC 7523 https://www.rfc-editor.org/rfc/rfc7523.html client authentication alone does not sender-constrain the resulting access token. SWIFT native controls must be assessed for the specific service. Board decisions align to D01–D05 in the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bbac58f379467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5daf84310f945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bd0c2e711e5461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348959985542e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b34aac903904ec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0e6b80ddcf948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E2F051B-4F4E-4556-BBD3-046B289DA423}"/>
              </a:ext>
            </a:extLst>
          </p:cNvPr>
          <p:cNvSpPr>
            <a:spLocks xmlns:a="http://schemas.openxmlformats.org/drawingml/2006/main" noGrp="1"/>
          </p:cNvSpPr>
          <p:nvPr/>
        </p:nvSpPr>
        <p:spPr>
          <a:xfrm xmlns:a="http://schemas.openxmlformats.org/drawingml/2006/main">
            <a:off x="7239000" y="2762250"/>
            <a:ext cx="762000" cy="47625"/>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5670561-8901-4432-9205-4830C8344BC7}"/>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F094F58C-3FA8-4142-811A-D87EFE02D79D}"/>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8A0E8A77-C015-4DDD-B34D-B040165BBA32}"/>
              </a:ext>
            </a:extLst>
          </p:cNvPr>
          <p:cNvSpPr>
            <a:spLocks xmlns:a="http://schemas.openxmlformats.org/drawingml/2006/main" noGrp="1"/>
          </p:cNvSpPr>
          <p:nvPr/>
        </p:nvSpPr>
        <p:spPr>
          <a:xfrm xmlns:a="http://schemas.openxmlformats.org/drawingml/2006/main">
            <a:off x="7239000" y="3095625"/>
            <a:ext cx="762000" cy="47625"/>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4C2C2358-5082-415C-B27E-2427EA85F794}"/>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89CEA41-AD76-4C7C-8AC6-FFB23387BB02}"/>
              </a:ext>
            </a:extLst>
          </p:cNvPr>
          <p:cNvSpPr>
            <a:spLocks xmlns:a="http://schemas.openxmlformats.org/drawingml/2006/main" noGrp="1"/>
          </p:cNvSpPr>
          <p:nvPr/>
        </p:nvSpPr>
        <p:spPr>
          <a:xfrm xmlns:a="http://schemas.openxmlformats.org/drawingml/2006/main">
            <a:off x="857250" y="1905000"/>
            <a:ext cx="762000" cy="47625"/>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23600AD-1B10-4639-8A67-9793C186E06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B7E13C16-6E60-4AE9-B9AF-96D134ED00A5}"/>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882B9469-575C-46A4-9A11-F9416BB9583A}"/>
              </a:ext>
            </a:extLst>
          </p:cNvPr>
          <p:cNvSpPr>
            <a:spLocks xmlns:a="http://schemas.openxmlformats.org/drawingml/2006/main" noGrp="1"/>
          </p:cNvSpPr>
          <p:nvPr/>
        </p:nvSpPr>
        <p:spPr>
          <a:xfrm xmlns:a="http://schemas.openxmlformats.org/drawingml/2006/main">
            <a:off x="857250" y="1905000"/>
            <a:ext cx="762000" cy="47625"/>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6D98E37-FD6F-4A58-B5B0-593FA90A0C6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FD2A5487-1953-4173-AB59-39E2412246C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531D9CF9-14C5-4252-A597-F93FCDFE93FB}"/>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4F69311-DA51-4000-84FA-7465BA3894DE}"/>
              </a:ext>
            </a:extLst>
          </p:cNvPr>
          <p:cNvSpPr>
            <a:spLocks xmlns:a="http://schemas.openxmlformats.org/drawingml/2006/main" noGrp="1"/>
          </p:cNvSpPr>
          <p:nvPr/>
        </p:nvSpPr>
        <p:spPr>
          <a:xfrm xmlns:a="http://schemas.openxmlformats.org/drawingml/2006/main">
            <a:off x="857250" y="1905000"/>
            <a:ext cx="762000" cy="47625"/>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15E8861-F9CD-4113-A8F3-BFCE402B397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AF2E8D41-6FDB-4026-B706-CE1847912264}"/>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c4f3479ea34629" /><Relationship Type="http://schemas.openxmlformats.org/officeDocument/2006/relationships/slideLayout" Target="/ppt/slideLayouts/slideLayout1.xml" Id="R2f121c4266814ea5" /><Relationship Type="http://schemas.openxmlformats.org/officeDocument/2006/relationships/slideLayout" Target="/ppt/slideLayouts/slideLayout2.xml" Id="Raf524e8b26b142fc" /><Relationship Type="http://schemas.openxmlformats.org/officeDocument/2006/relationships/slideLayout" Target="/ppt/slideLayouts/slideLayout3.xml" Id="R7443ce16772e41bc" /><Relationship Type="http://schemas.openxmlformats.org/officeDocument/2006/relationships/slideLayout" Target="/ppt/slideLayouts/slideLayout4.xml" Id="R8bd98aeb53aa462d" /><Relationship Type="http://schemas.openxmlformats.org/officeDocument/2006/relationships/slideLayout" Target="/ppt/slideLayouts/slideLayout5.xml" Id="R22df7b817da7480f" /><Relationship Type="http://schemas.openxmlformats.org/officeDocument/2006/relationships/slideLayout" Target="/ppt/slideLayouts/slideLayout6.xml" Id="R09a54c6f146f47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121c4266814ea5"/>
    <p:sldLayoutId xmlns:r="http://schemas.openxmlformats.org/officeDocument/2006/relationships" id="2147483650" r:id="Raf524e8b26b142fc"/>
    <p:sldLayoutId xmlns:r="http://schemas.openxmlformats.org/officeDocument/2006/relationships" id="2147483651" r:id="R7443ce16772e41bc"/>
    <p:sldLayoutId xmlns:r="http://schemas.openxmlformats.org/officeDocument/2006/relationships" id="2147483652" r:id="R8bd98aeb53aa462d"/>
    <p:sldLayoutId xmlns:r="http://schemas.openxmlformats.org/officeDocument/2006/relationships" id="2147483653" r:id="R22df7b817da7480f"/>
    <p:sldLayoutId xmlns:r="http://schemas.openxmlformats.org/officeDocument/2006/relationships" id="2147483654" r:id="R09a54c6f146f47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faecaeee89a43a5" /><Relationship Type="http://schemas.openxmlformats.org/officeDocument/2006/relationships/notesSlide" Target="/ppt/notesSlides/notesSlide1.xml" Id="R652f1007cdb24d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612404cd004488a" /><Relationship Type="http://schemas.openxmlformats.org/officeDocument/2006/relationships/notesSlide" Target="/ppt/notesSlides/notesSlide2.xml" Id="R9461b0bdd93f4c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5a9dac9999c448d" /><Relationship Type="http://schemas.openxmlformats.org/officeDocument/2006/relationships/notesSlide" Target="/ppt/notesSlides/notesSlide3.xml" Id="R6038c2f8e4e944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036652b09cf4da4" /><Relationship Type="http://schemas.openxmlformats.org/officeDocument/2006/relationships/notesSlide" Target="/ppt/notesSlides/notesSlide4.xml" Id="Re707d6bb68ac46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1f497f7737e4085" /><Relationship Type="http://schemas.openxmlformats.org/officeDocument/2006/relationships/notesSlide" Target="/ppt/notesSlides/notesSlide5.xml" Id="Rd10c509af479416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label-1">
            <a:extLst xmlns:a="http://schemas.openxmlformats.org/drawingml/2006/main">
              <a:ext uri="{FF2B5EF4-FFF2-40B4-BE49-F238E27FC236}">
                <a16:creationId xmlns:a16="http://schemas.microsoft.com/office/drawing/2014/main" id="{8F6BB441-FDFD-4886-94B0-DD52ABC00886}"/>
              </a:ext>
            </a:extLst>
          </p:cNvPr>
          <p:cNvSpPr>
            <a:spLocks xmlns:a="http://schemas.openxmlformats.org/drawingml/2006/main" noGrp="1"/>
          </p:cNvSpPr>
          <p:nvPr/>
        </p:nvSpPr>
        <p:spPr>
          <a:xfrm xmlns:a="http://schemas.openxmlformats.org/drawingml/2006/main">
            <a:off x="571500" y="26670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476074"/>
                </a:solidFill>
                <a:latin typeface="Calibri"/>
                <a:ea typeface="Calibri"/>
                <a:cs typeface="Calibri"/>
              </a:defRPr>
            </a:pPr>
            <a:r>
              <a:rPr sz="1275" b="1">
                <a:solidFill>
                  <a:srgbClr val="476074"/>
                </a:solidFill>
                <a:latin typeface="Calibri"/>
                <a:ea typeface="Calibri"/>
                <a:cs typeface="Calibri"/>
              </a:rPr>
              <a:t>EUROCLEAR B2B CIAM</a:t>
            </a:r>
          </a:p>
        </p:txBody>
      </p:sp>
      <p:sp>
        <p:nvSpPr>
          <p:cNvPr id="2" name="label-2">
            <a:extLst xmlns:a="http://schemas.openxmlformats.org/drawingml/2006/main">
              <a:ext uri="{FF2B5EF4-FFF2-40B4-BE49-F238E27FC236}">
                <a16:creationId xmlns:a16="http://schemas.microsoft.com/office/drawing/2014/main" id="{A9BCD45F-869F-43C6-93F5-147808A693B1}"/>
              </a:ext>
            </a:extLst>
          </p:cNvPr>
          <p:cNvSpPr>
            <a:spLocks xmlns:a="http://schemas.openxmlformats.org/drawingml/2006/main" noGrp="1"/>
          </p:cNvSpPr>
          <p:nvPr/>
        </p:nvSpPr>
        <p:spPr>
          <a:xfrm xmlns:a="http://schemas.openxmlformats.org/drawingml/2006/main">
            <a:off x="571500" y="638175"/>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93E"/>
                </a:solidFill>
                <a:latin typeface="Calibri"/>
                <a:ea typeface="Calibri"/>
                <a:cs typeface="Calibri"/>
              </a:defRPr>
            </a:pPr>
            <a:r>
              <a:rPr sz="3300" b="1">
                <a:solidFill>
                  <a:srgbClr val="10293E"/>
                </a:solidFill>
                <a:latin typeface="Calibri"/>
                <a:ea typeface="Calibri"/>
                <a:cs typeface="Calibri"/>
              </a:rPr>
              <a:t>The universe of personas</a:t>
            </a:r>
          </a:p>
        </p:txBody>
      </p:sp>
      <p:sp>
        <p:nvSpPr>
          <p:cNvPr id="3" name="label-3">
            <a:extLst xmlns:a="http://schemas.openxmlformats.org/drawingml/2006/main">
              <a:ext uri="{FF2B5EF4-FFF2-40B4-BE49-F238E27FC236}">
                <a16:creationId xmlns:a16="http://schemas.microsoft.com/office/drawing/2014/main" id="{32E61ACA-E2BA-42EE-B5B8-3E5FD1C881C2}"/>
              </a:ext>
            </a:extLst>
          </p:cNvPr>
          <p:cNvSpPr>
            <a:spLocks xmlns:a="http://schemas.openxmlformats.org/drawingml/2006/main" noGrp="1"/>
          </p:cNvSpPr>
          <p:nvPr/>
        </p:nvSpPr>
        <p:spPr>
          <a:xfrm xmlns:a="http://schemas.openxmlformats.org/drawingml/2006/main">
            <a:off x="571500" y="1247775"/>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76074"/>
                </a:solidFill>
                <a:latin typeface="Calibri"/>
                <a:ea typeface="Calibri"/>
                <a:cs typeface="Calibri"/>
              </a:defRPr>
            </a:pPr>
            <a:r>
              <a:rPr sz="1725" b="0">
                <a:solidFill>
                  <a:srgbClr val="476074"/>
                </a:solidFill>
                <a:latin typeface="Calibri"/>
                <a:ea typeface="Calibri"/>
                <a:cs typeface="Calibri"/>
              </a:rPr>
              <a:t>Six core families retain all 11 baseline identifiers as personas, profiles, modes or a migration state.</a:t>
            </a:r>
          </a:p>
        </p:txBody>
      </p:sp>
      <p:sp>
        <p:nvSpPr>
          <p:cNvPr id="4" name="rule-4">
            <a:extLst xmlns:a="http://schemas.openxmlformats.org/drawingml/2006/main">
              <a:ext uri="{FF2B5EF4-FFF2-40B4-BE49-F238E27FC236}">
                <a16:creationId xmlns:a16="http://schemas.microsoft.com/office/drawing/2014/main" id="{54B0EA01-0B11-4786-8D13-B821E9BF2F52}"/>
              </a:ext>
            </a:extLst>
          </p:cNvPr>
          <p:cNvSpPr>
            <a:spLocks xmlns:a="http://schemas.openxmlformats.org/drawingml/2006/main" noGrp="1"/>
          </p:cNvSpPr>
          <p:nvPr/>
        </p:nvSpPr>
        <p:spPr>
          <a:xfrm xmlns:a="http://schemas.openxmlformats.org/drawingml/2006/main">
            <a:off x="571500" y="7858125"/>
            <a:ext cx="14097000" cy="0"/>
          </a:xfrm>
          <a:prstGeom xmlns:a="http://schemas.openxmlformats.org/drawingml/2006/main" prst="line">
            <a:avLst/>
          </a:prstGeom>
          <a:noFill xmlns:a="http://schemas.openxmlformats.org/drawingml/2006/main"/>
          <a:ln xmlns:a="http://schemas.openxmlformats.org/drawingml/2006/main" w="12383">
            <a:solidFill>
              <a:srgbClr val="CBD5DD"/>
            </a:solidFill>
          </a:ln>
        </p:spPr>
      </p:sp>
      <p:sp>
        <p:nvSpPr>
          <p:cNvPr id="5" name="label-5">
            <a:extLst xmlns:a="http://schemas.openxmlformats.org/drawingml/2006/main">
              <a:ext uri="{FF2B5EF4-FFF2-40B4-BE49-F238E27FC236}">
                <a16:creationId xmlns:a16="http://schemas.microsoft.com/office/drawing/2014/main" id="{3C045A3F-3D98-40EF-A10B-7B468EC618D8}"/>
              </a:ext>
            </a:extLst>
          </p:cNvPr>
          <p:cNvSpPr>
            <a:spLocks xmlns:a="http://schemas.openxmlformats.org/drawingml/2006/main" noGrp="1"/>
          </p:cNvSpPr>
          <p:nvPr/>
        </p:nvSpPr>
        <p:spPr>
          <a:xfrm xmlns:a="http://schemas.openxmlformats.org/drawingml/2006/main">
            <a:off x="571500" y="8058150"/>
            <a:ext cx="1314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76074"/>
                </a:solidFill>
                <a:latin typeface="Calibri"/>
                <a:ea typeface="Calibri"/>
                <a:cs typeface="Calibri"/>
              </a:defRPr>
            </a:pPr>
            <a:r>
              <a:rPr sz="1275" b="0">
                <a:solidFill>
                  <a:srgbClr val="476074"/>
                </a:solidFill>
                <a:latin typeface="Calibri"/>
                <a:ea typeface="Calibri"/>
                <a:cs typeface="Calibri"/>
              </a:rPr>
              <a:t>Proposed persona model   7 October 2026   Companion to Deliverable 1 v0.2</a:t>
            </a:r>
          </a:p>
        </p:txBody>
      </p:sp>
      <p:sp>
        <p:nvSpPr>
          <p:cNvPr id="6" name="label-6">
            <a:extLst xmlns:a="http://schemas.openxmlformats.org/drawingml/2006/main">
              <a:ext uri="{FF2B5EF4-FFF2-40B4-BE49-F238E27FC236}">
                <a16:creationId xmlns:a16="http://schemas.microsoft.com/office/drawing/2014/main" id="{3AF54E24-F40C-474E-AC41-123F013A53BB}"/>
              </a:ext>
            </a:extLst>
          </p:cNvPr>
          <p:cNvSpPr>
            <a:spLocks xmlns:a="http://schemas.openxmlformats.org/drawingml/2006/main" noGrp="1"/>
          </p:cNvSpPr>
          <p:nvPr/>
        </p:nvSpPr>
        <p:spPr>
          <a:xfrm xmlns:a="http://schemas.openxmlformats.org/drawingml/2006/main">
            <a:off x="14144625" y="8039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6074"/>
                </a:solidFill>
                <a:latin typeface="Calibri"/>
                <a:ea typeface="Calibri"/>
                <a:cs typeface="Calibri"/>
              </a:defRPr>
            </a:pPr>
            <a:r>
              <a:rPr sz="1350" b="0">
                <a:solidFill>
                  <a:srgbClr val="476074"/>
                </a:solidFill>
                <a:latin typeface="Calibri"/>
                <a:ea typeface="Calibri"/>
                <a:cs typeface="Calibri"/>
              </a:rPr>
              <a:t>1</a:t>
            </a:r>
          </a:p>
        </p:txBody>
      </p:sp>
      <p:sp>
        <p:nvSpPr>
          <p:cNvPr id="7" name="label-7">
            <a:extLst xmlns:a="http://schemas.openxmlformats.org/drawingml/2006/main">
              <a:ext uri="{FF2B5EF4-FFF2-40B4-BE49-F238E27FC236}">
                <a16:creationId xmlns:a16="http://schemas.microsoft.com/office/drawing/2014/main" id="{481B9E00-3879-491F-9B4B-4CA8B2400725}"/>
              </a:ext>
            </a:extLst>
          </p:cNvPr>
          <p:cNvSpPr>
            <a:spLocks xmlns:a="http://schemas.openxmlformats.org/drawingml/2006/main" noGrp="1"/>
          </p:cNvSpPr>
          <p:nvPr/>
        </p:nvSpPr>
        <p:spPr>
          <a:xfrm xmlns:a="http://schemas.openxmlformats.org/drawingml/2006/main">
            <a:off x="571500" y="1838325"/>
            <a:ext cx="4514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E5A88"/>
                </a:solidFill>
                <a:latin typeface="Calibri"/>
                <a:ea typeface="Calibri"/>
                <a:cs typeface="Calibri"/>
              </a:defRPr>
            </a:pPr>
            <a:r>
              <a:rPr sz="2175" b="1">
                <a:solidFill>
                  <a:srgbClr val="1E5A88"/>
                </a:solidFill>
                <a:latin typeface="Calibri"/>
                <a:ea typeface="Calibri"/>
                <a:cs typeface="Calibri"/>
              </a:rPr>
              <a:t>External client people</a:t>
            </a:r>
          </a:p>
        </p:txBody>
      </p:sp>
      <p:sp>
        <p:nvSpPr>
          <p:cNvPr id="8" name="rule-8">
            <a:extLst xmlns:a="http://schemas.openxmlformats.org/drawingml/2006/main">
              <a:ext uri="{FF2B5EF4-FFF2-40B4-BE49-F238E27FC236}">
                <a16:creationId xmlns:a16="http://schemas.microsoft.com/office/drawing/2014/main" id="{7E9B7122-E0ED-4A17-B24A-3E6C8914B491}"/>
              </a:ext>
            </a:extLst>
          </p:cNvPr>
          <p:cNvSpPr>
            <a:spLocks xmlns:a="http://schemas.openxmlformats.org/drawingml/2006/main" noGrp="1"/>
          </p:cNvSpPr>
          <p:nvPr/>
        </p:nvSpPr>
        <p:spPr>
          <a:xfrm xmlns:a="http://schemas.openxmlformats.org/drawingml/2006/main">
            <a:off x="571500" y="2257425"/>
            <a:ext cx="4514850" cy="0"/>
          </a:xfrm>
          <a:prstGeom xmlns:a="http://schemas.openxmlformats.org/drawingml/2006/main" prst="line">
            <a:avLst/>
          </a:prstGeom>
          <a:noFill xmlns:a="http://schemas.openxmlformats.org/drawingml/2006/main"/>
          <a:ln xmlns:a="http://schemas.openxmlformats.org/drawingml/2006/main" w="12383">
            <a:solidFill>
              <a:srgbClr val="1E5A88"/>
            </a:solidFill>
          </a:ln>
        </p:spPr>
      </p:sp>
      <p:sp>
        <p:nvSpPr>
          <p:cNvPr id="9" name="label-9">
            <a:extLst xmlns:a="http://schemas.openxmlformats.org/drawingml/2006/main">
              <a:ext uri="{FF2B5EF4-FFF2-40B4-BE49-F238E27FC236}">
                <a16:creationId xmlns:a16="http://schemas.microsoft.com/office/drawing/2014/main" id="{5AAFA727-A1FB-436C-BA55-1FD7C5CE56B3}"/>
              </a:ext>
            </a:extLst>
          </p:cNvPr>
          <p:cNvSpPr>
            <a:spLocks xmlns:a="http://schemas.openxmlformats.org/drawingml/2006/main" noGrp="1"/>
          </p:cNvSpPr>
          <p:nvPr/>
        </p:nvSpPr>
        <p:spPr>
          <a:xfrm xmlns:a="http://schemas.openxmlformats.org/drawingml/2006/main">
            <a:off x="5362575" y="1838325"/>
            <a:ext cx="4514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D83"/>
                </a:solidFill>
                <a:latin typeface="Calibri"/>
                <a:ea typeface="Calibri"/>
                <a:cs typeface="Calibri"/>
              </a:defRPr>
            </a:pPr>
            <a:r>
              <a:rPr sz="2175" b="1">
                <a:solidFill>
                  <a:srgbClr val="087D83"/>
                </a:solidFill>
                <a:latin typeface="Calibri"/>
                <a:ea typeface="Calibri"/>
                <a:cs typeface="Calibri"/>
              </a:rPr>
              <a:t>Euroclear workforce</a:t>
            </a:r>
          </a:p>
        </p:txBody>
      </p:sp>
      <p:sp>
        <p:nvSpPr>
          <p:cNvPr id="10" name="rule-10">
            <a:extLst xmlns:a="http://schemas.openxmlformats.org/drawingml/2006/main">
              <a:ext uri="{FF2B5EF4-FFF2-40B4-BE49-F238E27FC236}">
                <a16:creationId xmlns:a16="http://schemas.microsoft.com/office/drawing/2014/main" id="{49CC667B-25A0-4D31-BB11-3E9204F8799B}"/>
              </a:ext>
            </a:extLst>
          </p:cNvPr>
          <p:cNvSpPr>
            <a:spLocks xmlns:a="http://schemas.openxmlformats.org/drawingml/2006/main" noGrp="1"/>
          </p:cNvSpPr>
          <p:nvPr/>
        </p:nvSpPr>
        <p:spPr>
          <a:xfrm xmlns:a="http://schemas.openxmlformats.org/drawingml/2006/main">
            <a:off x="5362575" y="2257425"/>
            <a:ext cx="4514850" cy="0"/>
          </a:xfrm>
          <a:prstGeom xmlns:a="http://schemas.openxmlformats.org/drawingml/2006/main" prst="line">
            <a:avLst/>
          </a:prstGeom>
          <a:noFill xmlns:a="http://schemas.openxmlformats.org/drawingml/2006/main"/>
          <a:ln xmlns:a="http://schemas.openxmlformats.org/drawingml/2006/main" w="12383">
            <a:solidFill>
              <a:srgbClr val="087D83"/>
            </a:solidFill>
          </a:ln>
        </p:spPr>
      </p:sp>
      <p:sp>
        <p:nvSpPr>
          <p:cNvPr id="11" name="label-11">
            <a:extLst xmlns:a="http://schemas.openxmlformats.org/drawingml/2006/main">
              <a:ext uri="{FF2B5EF4-FFF2-40B4-BE49-F238E27FC236}">
                <a16:creationId xmlns:a16="http://schemas.microsoft.com/office/drawing/2014/main" id="{D33713C3-072F-492A-BE6E-6747C877FCD3}"/>
              </a:ext>
            </a:extLst>
          </p:cNvPr>
          <p:cNvSpPr>
            <a:spLocks xmlns:a="http://schemas.openxmlformats.org/drawingml/2006/main" noGrp="1"/>
          </p:cNvSpPr>
          <p:nvPr/>
        </p:nvSpPr>
        <p:spPr>
          <a:xfrm xmlns:a="http://schemas.openxmlformats.org/drawingml/2006/main">
            <a:off x="10153650" y="1838325"/>
            <a:ext cx="4514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665596"/>
                </a:solidFill>
                <a:latin typeface="Calibri"/>
                <a:ea typeface="Calibri"/>
                <a:cs typeface="Calibri"/>
              </a:defRPr>
            </a:pPr>
            <a:r>
              <a:rPr sz="2175" b="1">
                <a:solidFill>
                  <a:srgbClr val="665596"/>
                </a:solidFill>
                <a:latin typeface="Calibri"/>
                <a:ea typeface="Calibri"/>
                <a:cs typeface="Calibri"/>
              </a:rPr>
              <a:t>Non human workloads</a:t>
            </a:r>
          </a:p>
        </p:txBody>
      </p:sp>
      <p:sp>
        <p:nvSpPr>
          <p:cNvPr id="12" name="rule-12">
            <a:extLst xmlns:a="http://schemas.openxmlformats.org/drawingml/2006/main">
              <a:ext uri="{FF2B5EF4-FFF2-40B4-BE49-F238E27FC236}">
                <a16:creationId xmlns:a16="http://schemas.microsoft.com/office/drawing/2014/main" id="{09657AD6-C922-4F25-91E9-3EC4A7CAC80E}"/>
              </a:ext>
            </a:extLst>
          </p:cNvPr>
          <p:cNvSpPr>
            <a:spLocks xmlns:a="http://schemas.openxmlformats.org/drawingml/2006/main" noGrp="1"/>
          </p:cNvSpPr>
          <p:nvPr/>
        </p:nvSpPr>
        <p:spPr>
          <a:xfrm xmlns:a="http://schemas.openxmlformats.org/drawingml/2006/main">
            <a:off x="10153650" y="2257425"/>
            <a:ext cx="4514850" cy="0"/>
          </a:xfrm>
          <a:prstGeom xmlns:a="http://schemas.openxmlformats.org/drawingml/2006/main" prst="line">
            <a:avLst/>
          </a:prstGeom>
          <a:noFill xmlns:a="http://schemas.openxmlformats.org/drawingml/2006/main"/>
          <a:ln xmlns:a="http://schemas.openxmlformats.org/drawingml/2006/main" w="12383">
            <a:solidFill>
              <a:srgbClr val="665596"/>
            </a:solidFill>
          </a:ln>
        </p:spPr>
      </p:sp>
      <p:sp>
        <p:nvSpPr>
          <p:cNvPr id="13" name="node-13">
            <a:extLst xmlns:a="http://schemas.openxmlformats.org/drawingml/2006/main">
              <a:ext uri="{FF2B5EF4-FFF2-40B4-BE49-F238E27FC236}">
                <a16:creationId xmlns:a16="http://schemas.microsoft.com/office/drawing/2014/main" id="{C21EBE93-828B-4FD7-AF0C-877A2CFC74AF}"/>
              </a:ext>
            </a:extLst>
          </p:cNvPr>
          <p:cNvSpPr>
            <a:spLocks xmlns:a="http://schemas.openxmlformats.org/drawingml/2006/main" noGrp="1"/>
          </p:cNvSpPr>
          <p:nvPr/>
        </p:nvSpPr>
        <p:spPr>
          <a:xfrm xmlns:a="http://schemas.openxmlformats.org/drawingml/2006/main">
            <a:off x="571500" y="2457450"/>
            <a:ext cx="4514850" cy="2590800"/>
          </a:xfrm>
          <a:prstGeom xmlns:a="http://schemas.openxmlformats.org/drawingml/2006/main" prst="rect">
            <a:avLst/>
          </a:prstGeom>
          <a:solidFill xmlns:a="http://schemas.openxmlformats.org/drawingml/2006/main">
            <a:srgbClr val="EDF4FA"/>
          </a:solidFill>
          <a:ln xmlns:a="http://schemas.openxmlformats.org/drawingml/2006/main" w="14288">
            <a:solidFill>
              <a:srgbClr val="1E5A88"/>
            </a:solidFill>
            <a:prstDash val="solid"/>
          </a:ln>
        </p:spPr>
      </p:sp>
      <p:sp>
        <p:nvSpPr>
          <p:cNvPr id="14" name="label-14">
            <a:extLst xmlns:a="http://schemas.openxmlformats.org/drawingml/2006/main">
              <a:ext uri="{FF2B5EF4-FFF2-40B4-BE49-F238E27FC236}">
                <a16:creationId xmlns:a16="http://schemas.microsoft.com/office/drawing/2014/main" id="{4D790772-B6B0-4927-ADC9-BF9F0FF207C2}"/>
              </a:ext>
            </a:extLst>
          </p:cNvPr>
          <p:cNvSpPr>
            <a:spLocks xmlns:a="http://schemas.openxmlformats.org/drawingml/2006/main" noGrp="1"/>
          </p:cNvSpPr>
          <p:nvPr/>
        </p:nvSpPr>
        <p:spPr>
          <a:xfrm xmlns:a="http://schemas.openxmlformats.org/drawingml/2006/main">
            <a:off x="742950" y="2590800"/>
            <a:ext cx="417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E5A88"/>
                </a:solidFill>
                <a:latin typeface="Calibri"/>
                <a:ea typeface="Calibri"/>
                <a:cs typeface="Calibri"/>
              </a:defRPr>
            </a:pPr>
            <a:r>
              <a:rPr sz="2025" b="1">
                <a:solidFill>
                  <a:srgbClr val="1E5A88"/>
                </a:solidFill>
                <a:latin typeface="Calibri"/>
                <a:ea typeface="Calibri"/>
                <a:cs typeface="Calibri"/>
              </a:rPr>
              <a:t>External Client User</a:t>
            </a:r>
          </a:p>
        </p:txBody>
      </p:sp>
      <p:sp>
        <p:nvSpPr>
          <p:cNvPr id="15" name="label-15">
            <a:extLst xmlns:a="http://schemas.openxmlformats.org/drawingml/2006/main">
              <a:ext uri="{FF2B5EF4-FFF2-40B4-BE49-F238E27FC236}">
                <a16:creationId xmlns:a16="http://schemas.microsoft.com/office/drawing/2014/main" id="{78FAB911-1BDD-4989-A599-FBA26007EE15}"/>
              </a:ext>
            </a:extLst>
          </p:cNvPr>
          <p:cNvSpPr>
            <a:spLocks xmlns:a="http://schemas.openxmlformats.org/drawingml/2006/main" noGrp="1"/>
          </p:cNvSpPr>
          <p:nvPr/>
        </p:nvSpPr>
        <p:spPr>
          <a:xfrm xmlns:a="http://schemas.openxmlformats.org/drawingml/2006/main">
            <a:off x="742950" y="3057525"/>
            <a:ext cx="417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93E"/>
                </a:solidFill>
                <a:latin typeface="Calibri"/>
                <a:ea typeface="Calibri"/>
                <a:cs typeface="Calibri"/>
              </a:defRPr>
            </a:pPr>
            <a:r>
              <a:rPr sz="1725" b="0">
                <a:solidFill>
                  <a:srgbClr val="10293E"/>
                </a:solidFill>
                <a:latin typeface="Calibri"/>
                <a:ea typeface="Calibri"/>
                <a:cs typeface="Calibri"/>
              </a:rPr>
              <a:t>EXT-USR-S   Single entity profile</a:t>
            </a:r>
          </a:p>
        </p:txBody>
      </p:sp>
      <p:sp>
        <p:nvSpPr>
          <p:cNvPr id="16" name="label-16">
            <a:extLst xmlns:a="http://schemas.openxmlformats.org/drawingml/2006/main">
              <a:ext uri="{FF2B5EF4-FFF2-40B4-BE49-F238E27FC236}">
                <a16:creationId xmlns:a16="http://schemas.microsoft.com/office/drawing/2014/main" id="{0F951906-56CC-4178-85CE-ECC76CE6648C}"/>
              </a:ext>
            </a:extLst>
          </p:cNvPr>
          <p:cNvSpPr>
            <a:spLocks xmlns:a="http://schemas.openxmlformats.org/drawingml/2006/main" noGrp="1"/>
          </p:cNvSpPr>
          <p:nvPr/>
        </p:nvSpPr>
        <p:spPr>
          <a:xfrm xmlns:a="http://schemas.openxmlformats.org/drawingml/2006/main">
            <a:off x="742950" y="3495675"/>
            <a:ext cx="417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93E"/>
                </a:solidFill>
                <a:latin typeface="Calibri"/>
                <a:ea typeface="Calibri"/>
                <a:cs typeface="Calibri"/>
              </a:defRPr>
            </a:pPr>
            <a:r>
              <a:rPr sz="1725" b="0">
                <a:solidFill>
                  <a:srgbClr val="10293E"/>
                </a:solidFill>
                <a:latin typeface="Calibri"/>
                <a:ea typeface="Calibri"/>
                <a:cs typeface="Calibri"/>
              </a:rPr>
              <a:t>EXT-USR-M   Multi entity profile</a:t>
            </a:r>
          </a:p>
        </p:txBody>
      </p:sp>
      <p:sp>
        <p:nvSpPr>
          <p:cNvPr id="17" name="label-17">
            <a:extLst xmlns:a="http://schemas.openxmlformats.org/drawingml/2006/main">
              <a:ext uri="{FF2B5EF4-FFF2-40B4-BE49-F238E27FC236}">
                <a16:creationId xmlns:a16="http://schemas.microsoft.com/office/drawing/2014/main" id="{5CB7F4AC-81BC-46BE-BEFA-20669491F60D}"/>
              </a:ext>
            </a:extLst>
          </p:cNvPr>
          <p:cNvSpPr>
            <a:spLocks xmlns:a="http://schemas.openxmlformats.org/drawingml/2006/main" noGrp="1"/>
          </p:cNvSpPr>
          <p:nvPr/>
        </p:nvSpPr>
        <p:spPr>
          <a:xfrm xmlns:a="http://schemas.openxmlformats.org/drawingml/2006/main">
            <a:off x="742950" y="3933825"/>
            <a:ext cx="417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93E"/>
                </a:solidFill>
                <a:latin typeface="Calibri"/>
                <a:ea typeface="Calibri"/>
                <a:cs typeface="Calibri"/>
              </a:defRPr>
            </a:pPr>
            <a:r>
              <a:rPr sz="1725" b="0">
                <a:solidFill>
                  <a:srgbClr val="10293E"/>
                </a:solidFill>
                <a:latin typeface="Calibri"/>
                <a:ea typeface="Calibri"/>
                <a:cs typeface="Calibri"/>
              </a:rPr>
              <a:t>EXT-USR-NB   Non-Billable profile</a:t>
            </a:r>
          </a:p>
        </p:txBody>
      </p:sp>
      <p:sp>
        <p:nvSpPr>
          <p:cNvPr id="18" name="node-18">
            <a:extLst xmlns:a="http://schemas.openxmlformats.org/drawingml/2006/main">
              <a:ext uri="{FF2B5EF4-FFF2-40B4-BE49-F238E27FC236}">
                <a16:creationId xmlns:a16="http://schemas.microsoft.com/office/drawing/2014/main" id="{E789804C-B87C-4DD3-9477-C8B8985E324D}"/>
              </a:ext>
            </a:extLst>
          </p:cNvPr>
          <p:cNvSpPr>
            <a:spLocks xmlns:a="http://schemas.openxmlformats.org/drawingml/2006/main" noGrp="1"/>
          </p:cNvSpPr>
          <p:nvPr/>
        </p:nvSpPr>
        <p:spPr>
          <a:xfrm xmlns:a="http://schemas.openxmlformats.org/drawingml/2006/main">
            <a:off x="571500" y="5238750"/>
            <a:ext cx="4514850" cy="1390650"/>
          </a:xfrm>
          <a:prstGeom xmlns:a="http://schemas.openxmlformats.org/drawingml/2006/main" prst="rect">
            <a:avLst/>
          </a:prstGeom>
          <a:solidFill xmlns:a="http://schemas.openxmlformats.org/drawingml/2006/main">
            <a:srgbClr val="EDF4FA"/>
          </a:solidFill>
          <a:ln xmlns:a="http://schemas.openxmlformats.org/drawingml/2006/main" w="14288">
            <a:solidFill>
              <a:srgbClr val="1E5A88"/>
            </a:solidFill>
            <a:prstDash val="solid"/>
          </a:ln>
        </p:spPr>
      </p:sp>
      <p:sp>
        <p:nvSpPr>
          <p:cNvPr id="19" name="label-19">
            <a:extLst xmlns:a="http://schemas.openxmlformats.org/drawingml/2006/main">
              <a:ext uri="{FF2B5EF4-FFF2-40B4-BE49-F238E27FC236}">
                <a16:creationId xmlns:a16="http://schemas.microsoft.com/office/drawing/2014/main" id="{5DE11F9F-94F5-46EF-8A6F-B96CB09A6F46}"/>
              </a:ext>
            </a:extLst>
          </p:cNvPr>
          <p:cNvSpPr>
            <a:spLocks xmlns:a="http://schemas.openxmlformats.org/drawingml/2006/main" noGrp="1"/>
          </p:cNvSpPr>
          <p:nvPr/>
        </p:nvSpPr>
        <p:spPr>
          <a:xfrm xmlns:a="http://schemas.openxmlformats.org/drawingml/2006/main">
            <a:off x="742950" y="5372100"/>
            <a:ext cx="417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E5A88"/>
                </a:solidFill>
                <a:latin typeface="Calibri"/>
                <a:ea typeface="Calibri"/>
                <a:cs typeface="Calibri"/>
              </a:defRPr>
            </a:pPr>
            <a:r>
              <a:rPr sz="2025" b="1">
                <a:solidFill>
                  <a:srgbClr val="1E5A88"/>
                </a:solidFill>
                <a:latin typeface="Calibri"/>
                <a:ea typeface="Calibri"/>
                <a:cs typeface="Calibri"/>
              </a:rPr>
              <a:t>Delegated Client Administrator</a:t>
            </a:r>
          </a:p>
        </p:txBody>
      </p:sp>
      <p:sp>
        <p:nvSpPr>
          <p:cNvPr id="20" name="label-20">
            <a:extLst xmlns:a="http://schemas.openxmlformats.org/drawingml/2006/main">
              <a:ext uri="{FF2B5EF4-FFF2-40B4-BE49-F238E27FC236}">
                <a16:creationId xmlns:a16="http://schemas.microsoft.com/office/drawing/2014/main" id="{23EF9F91-4FA2-4C97-9452-696F50B7572E}"/>
              </a:ext>
            </a:extLst>
          </p:cNvPr>
          <p:cNvSpPr>
            <a:spLocks xmlns:a="http://schemas.openxmlformats.org/drawingml/2006/main" noGrp="1"/>
          </p:cNvSpPr>
          <p:nvPr/>
        </p:nvSpPr>
        <p:spPr>
          <a:xfrm xmlns:a="http://schemas.openxmlformats.org/drawingml/2006/main">
            <a:off x="742950" y="5838825"/>
            <a:ext cx="417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93E"/>
                </a:solidFill>
                <a:latin typeface="Calibri"/>
                <a:ea typeface="Calibri"/>
                <a:cs typeface="Calibri"/>
              </a:defRPr>
            </a:pPr>
            <a:r>
              <a:rPr sz="1725" b="0">
                <a:solidFill>
                  <a:srgbClr val="10293E"/>
                </a:solidFill>
                <a:latin typeface="Calibri"/>
                <a:ea typeface="Calibri"/>
                <a:cs typeface="Calibri"/>
              </a:rPr>
              <a:t>EXT-ADM   Organisation administration</a:t>
            </a:r>
          </a:p>
        </p:txBody>
      </p:sp>
      <p:sp>
        <p:nvSpPr>
          <p:cNvPr id="21" name="node-21">
            <a:extLst xmlns:a="http://schemas.openxmlformats.org/drawingml/2006/main">
              <a:ext uri="{FF2B5EF4-FFF2-40B4-BE49-F238E27FC236}">
                <a16:creationId xmlns:a16="http://schemas.microsoft.com/office/drawing/2014/main" id="{72FC05F7-08A6-4CDF-ACF4-3B78E5126B15}"/>
              </a:ext>
            </a:extLst>
          </p:cNvPr>
          <p:cNvSpPr>
            <a:spLocks xmlns:a="http://schemas.openxmlformats.org/drawingml/2006/main" noGrp="1"/>
          </p:cNvSpPr>
          <p:nvPr/>
        </p:nvSpPr>
        <p:spPr>
          <a:xfrm xmlns:a="http://schemas.openxmlformats.org/drawingml/2006/main">
            <a:off x="5362575" y="2457450"/>
            <a:ext cx="4514850" cy="1619250"/>
          </a:xfrm>
          <a:prstGeom xmlns:a="http://schemas.openxmlformats.org/drawingml/2006/main" prst="rect">
            <a:avLst/>
          </a:prstGeom>
          <a:solidFill xmlns:a="http://schemas.openxmlformats.org/drawingml/2006/main">
            <a:srgbClr val="EAF6F5"/>
          </a:solidFill>
          <a:ln xmlns:a="http://schemas.openxmlformats.org/drawingml/2006/main" w="14288">
            <a:solidFill>
              <a:srgbClr val="087D83"/>
            </a:solidFill>
            <a:prstDash val="solid"/>
          </a:ln>
        </p:spPr>
      </p:sp>
      <p:sp>
        <p:nvSpPr>
          <p:cNvPr id="22" name="label-22">
            <a:extLst xmlns:a="http://schemas.openxmlformats.org/drawingml/2006/main">
              <a:ext uri="{FF2B5EF4-FFF2-40B4-BE49-F238E27FC236}">
                <a16:creationId xmlns:a16="http://schemas.microsoft.com/office/drawing/2014/main" id="{102D17F3-C6AF-4F06-9443-D520FDFFD67C}"/>
              </a:ext>
            </a:extLst>
          </p:cNvPr>
          <p:cNvSpPr>
            <a:spLocks xmlns:a="http://schemas.openxmlformats.org/drawingml/2006/main" noGrp="1"/>
          </p:cNvSpPr>
          <p:nvPr/>
        </p:nvSpPr>
        <p:spPr>
          <a:xfrm xmlns:a="http://schemas.openxmlformats.org/drawingml/2006/main">
            <a:off x="5534025" y="2590800"/>
            <a:ext cx="417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D83"/>
                </a:solidFill>
                <a:latin typeface="Calibri"/>
                <a:ea typeface="Calibri"/>
                <a:cs typeface="Calibri"/>
              </a:defRPr>
            </a:pPr>
            <a:r>
              <a:rPr sz="2025" b="1">
                <a:solidFill>
                  <a:srgbClr val="087D83"/>
                </a:solidFill>
                <a:latin typeface="Calibri"/>
                <a:ea typeface="Calibri"/>
                <a:cs typeface="Calibri"/>
              </a:rPr>
              <a:t>Workforce Operator</a:t>
            </a:r>
          </a:p>
        </p:txBody>
      </p:sp>
      <p:sp>
        <p:nvSpPr>
          <p:cNvPr id="23" name="label-23">
            <a:extLst xmlns:a="http://schemas.openxmlformats.org/drawingml/2006/main">
              <a:ext uri="{FF2B5EF4-FFF2-40B4-BE49-F238E27FC236}">
                <a16:creationId xmlns:a16="http://schemas.microsoft.com/office/drawing/2014/main" id="{BD50A204-69C4-4BCC-97E4-5AD7B474C49C}"/>
              </a:ext>
            </a:extLst>
          </p:cNvPr>
          <p:cNvSpPr>
            <a:spLocks xmlns:a="http://schemas.openxmlformats.org/drawingml/2006/main" noGrp="1"/>
          </p:cNvSpPr>
          <p:nvPr/>
        </p:nvSpPr>
        <p:spPr>
          <a:xfrm xmlns:a="http://schemas.openxmlformats.org/drawingml/2006/main">
            <a:off x="5534025" y="3057525"/>
            <a:ext cx="417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93E"/>
                </a:solidFill>
                <a:latin typeface="Calibri"/>
                <a:ea typeface="Calibri"/>
                <a:cs typeface="Calibri"/>
              </a:defRPr>
            </a:pPr>
            <a:r>
              <a:rPr sz="1725" b="0">
                <a:solidFill>
                  <a:srgbClr val="10293E"/>
                </a:solidFill>
                <a:latin typeface="Calibri"/>
                <a:ea typeface="Calibri"/>
                <a:cs typeface="Calibri"/>
              </a:rPr>
              <a:t>INT-MOD-CLI   Simulated client mode</a:t>
            </a:r>
          </a:p>
        </p:txBody>
      </p:sp>
      <p:sp>
        <p:nvSpPr>
          <p:cNvPr id="24" name="label-24">
            <a:extLst xmlns:a="http://schemas.openxmlformats.org/drawingml/2006/main">
              <a:ext uri="{FF2B5EF4-FFF2-40B4-BE49-F238E27FC236}">
                <a16:creationId xmlns:a16="http://schemas.microsoft.com/office/drawing/2014/main" id="{36E1A014-32CD-4A32-9B00-13F98453A113}"/>
              </a:ext>
            </a:extLst>
          </p:cNvPr>
          <p:cNvSpPr>
            <a:spLocks xmlns:a="http://schemas.openxmlformats.org/drawingml/2006/main" noGrp="1"/>
          </p:cNvSpPr>
          <p:nvPr/>
        </p:nvSpPr>
        <p:spPr>
          <a:xfrm xmlns:a="http://schemas.openxmlformats.org/drawingml/2006/main">
            <a:off x="5534025" y="3495675"/>
            <a:ext cx="417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93E"/>
                </a:solidFill>
                <a:latin typeface="Calibri"/>
                <a:ea typeface="Calibri"/>
                <a:cs typeface="Calibri"/>
              </a:defRPr>
            </a:pPr>
            <a:r>
              <a:rPr sz="1725" b="0">
                <a:solidFill>
                  <a:srgbClr val="10293E"/>
                </a:solidFill>
                <a:latin typeface="Calibri"/>
                <a:ea typeface="Calibri"/>
                <a:cs typeface="Calibri"/>
              </a:rPr>
              <a:t>INT-MOD-IMP   Represented client mode</a:t>
            </a:r>
          </a:p>
        </p:txBody>
      </p:sp>
      <p:sp>
        <p:nvSpPr>
          <p:cNvPr id="25" name="node-25">
            <a:extLst xmlns:a="http://schemas.openxmlformats.org/drawingml/2006/main">
              <a:ext uri="{FF2B5EF4-FFF2-40B4-BE49-F238E27FC236}">
                <a16:creationId xmlns:a16="http://schemas.microsoft.com/office/drawing/2014/main" id="{A84B3B5D-05BA-425A-9E95-99A2E7979411}"/>
              </a:ext>
            </a:extLst>
          </p:cNvPr>
          <p:cNvSpPr>
            <a:spLocks xmlns:a="http://schemas.openxmlformats.org/drawingml/2006/main" noGrp="1"/>
          </p:cNvSpPr>
          <p:nvPr/>
        </p:nvSpPr>
        <p:spPr>
          <a:xfrm xmlns:a="http://schemas.openxmlformats.org/drawingml/2006/main">
            <a:off x="5362575" y="4267200"/>
            <a:ext cx="4514850" cy="1076325"/>
          </a:xfrm>
          <a:prstGeom xmlns:a="http://schemas.openxmlformats.org/drawingml/2006/main" prst="rect">
            <a:avLst/>
          </a:prstGeom>
          <a:solidFill xmlns:a="http://schemas.openxmlformats.org/drawingml/2006/main">
            <a:srgbClr val="EAF6F5"/>
          </a:solidFill>
          <a:ln xmlns:a="http://schemas.openxmlformats.org/drawingml/2006/main" w="14288">
            <a:solidFill>
              <a:srgbClr val="087D83"/>
            </a:solidFill>
            <a:prstDash val="solid"/>
          </a:ln>
        </p:spPr>
      </p:sp>
      <p:sp>
        <p:nvSpPr>
          <p:cNvPr id="26" name="label-26">
            <a:extLst xmlns:a="http://schemas.openxmlformats.org/drawingml/2006/main">
              <a:ext uri="{FF2B5EF4-FFF2-40B4-BE49-F238E27FC236}">
                <a16:creationId xmlns:a16="http://schemas.microsoft.com/office/drawing/2014/main" id="{77B54AF7-364E-4FE8-A9DE-9E3DC6A41B62}"/>
              </a:ext>
            </a:extLst>
          </p:cNvPr>
          <p:cNvSpPr>
            <a:spLocks xmlns:a="http://schemas.openxmlformats.org/drawingml/2006/main" noGrp="1"/>
          </p:cNvSpPr>
          <p:nvPr/>
        </p:nvSpPr>
        <p:spPr>
          <a:xfrm xmlns:a="http://schemas.openxmlformats.org/drawingml/2006/main">
            <a:off x="5534025" y="4400550"/>
            <a:ext cx="417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D83"/>
                </a:solidFill>
                <a:latin typeface="Calibri"/>
                <a:ea typeface="Calibri"/>
                <a:cs typeface="Calibri"/>
              </a:defRPr>
            </a:pPr>
            <a:r>
              <a:rPr sz="2025" b="1">
                <a:solidFill>
                  <a:srgbClr val="087D83"/>
                </a:solidFill>
                <a:latin typeface="Calibri"/>
                <a:ea typeface="Calibri"/>
                <a:cs typeface="Calibri"/>
              </a:rPr>
              <a:t>Internal Business Administrator</a:t>
            </a:r>
          </a:p>
        </p:txBody>
      </p:sp>
      <p:sp>
        <p:nvSpPr>
          <p:cNvPr id="27" name="label-27">
            <a:extLst xmlns:a="http://schemas.openxmlformats.org/drawingml/2006/main">
              <a:ext uri="{FF2B5EF4-FFF2-40B4-BE49-F238E27FC236}">
                <a16:creationId xmlns:a16="http://schemas.microsoft.com/office/drawing/2014/main" id="{7678A1EF-A665-4B21-A607-3E64E76A167D}"/>
              </a:ext>
            </a:extLst>
          </p:cNvPr>
          <p:cNvSpPr>
            <a:spLocks xmlns:a="http://schemas.openxmlformats.org/drawingml/2006/main" noGrp="1"/>
          </p:cNvSpPr>
          <p:nvPr/>
        </p:nvSpPr>
        <p:spPr>
          <a:xfrm xmlns:a="http://schemas.openxmlformats.org/drawingml/2006/main">
            <a:off x="5534025" y="4867275"/>
            <a:ext cx="417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93E"/>
                </a:solidFill>
                <a:latin typeface="Calibri"/>
                <a:ea typeface="Calibri"/>
                <a:cs typeface="Calibri"/>
              </a:defRPr>
            </a:pPr>
            <a:r>
              <a:rPr sz="1725" b="0">
                <a:solidFill>
                  <a:srgbClr val="10293E"/>
                </a:solidFill>
                <a:latin typeface="Calibri"/>
                <a:ea typeface="Calibri"/>
                <a:cs typeface="Calibri"/>
              </a:rPr>
              <a:t>INT-MOD-ADM</a:t>
            </a:r>
          </a:p>
        </p:txBody>
      </p:sp>
      <p:sp>
        <p:nvSpPr>
          <p:cNvPr id="28" name="node-28">
            <a:extLst xmlns:a="http://schemas.openxmlformats.org/drawingml/2006/main">
              <a:ext uri="{FF2B5EF4-FFF2-40B4-BE49-F238E27FC236}">
                <a16:creationId xmlns:a16="http://schemas.microsoft.com/office/drawing/2014/main" id="{D3EA5C90-4A6D-40F6-9C6D-2C025138EE62}"/>
              </a:ext>
            </a:extLst>
          </p:cNvPr>
          <p:cNvSpPr>
            <a:spLocks xmlns:a="http://schemas.openxmlformats.org/drawingml/2006/main" noGrp="1"/>
          </p:cNvSpPr>
          <p:nvPr/>
        </p:nvSpPr>
        <p:spPr>
          <a:xfrm xmlns:a="http://schemas.openxmlformats.org/drawingml/2006/main">
            <a:off x="5362575" y="5534025"/>
            <a:ext cx="4514850" cy="1095375"/>
          </a:xfrm>
          <a:prstGeom xmlns:a="http://schemas.openxmlformats.org/drawingml/2006/main" prst="rect">
            <a:avLst/>
          </a:prstGeom>
          <a:solidFill xmlns:a="http://schemas.openxmlformats.org/drawingml/2006/main">
            <a:srgbClr val="EAF6F5"/>
          </a:solidFill>
          <a:ln xmlns:a="http://schemas.openxmlformats.org/drawingml/2006/main" w="14288">
            <a:solidFill>
              <a:srgbClr val="087D83"/>
            </a:solidFill>
            <a:prstDash val="solid"/>
          </a:ln>
        </p:spPr>
      </p:sp>
      <p:sp>
        <p:nvSpPr>
          <p:cNvPr id="29" name="label-29">
            <a:extLst xmlns:a="http://schemas.openxmlformats.org/drawingml/2006/main">
              <a:ext uri="{FF2B5EF4-FFF2-40B4-BE49-F238E27FC236}">
                <a16:creationId xmlns:a16="http://schemas.microsoft.com/office/drawing/2014/main" id="{E576896D-5959-48ED-A547-C2E91659C893}"/>
              </a:ext>
            </a:extLst>
          </p:cNvPr>
          <p:cNvSpPr>
            <a:spLocks xmlns:a="http://schemas.openxmlformats.org/drawingml/2006/main" noGrp="1"/>
          </p:cNvSpPr>
          <p:nvPr/>
        </p:nvSpPr>
        <p:spPr>
          <a:xfrm xmlns:a="http://schemas.openxmlformats.org/drawingml/2006/main">
            <a:off x="5534025" y="5667375"/>
            <a:ext cx="417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D83"/>
                </a:solidFill>
                <a:latin typeface="Calibri"/>
                <a:ea typeface="Calibri"/>
                <a:cs typeface="Calibri"/>
              </a:defRPr>
            </a:pPr>
            <a:r>
              <a:rPr sz="2025" b="1">
                <a:solidFill>
                  <a:srgbClr val="087D83"/>
                </a:solidFill>
                <a:latin typeface="Calibri"/>
                <a:ea typeface="Calibri"/>
                <a:cs typeface="Calibri"/>
              </a:rPr>
              <a:t>Platform Administrator</a:t>
            </a:r>
          </a:p>
        </p:txBody>
      </p:sp>
      <p:sp>
        <p:nvSpPr>
          <p:cNvPr id="30" name="label-30">
            <a:extLst xmlns:a="http://schemas.openxmlformats.org/drawingml/2006/main">
              <a:ext uri="{FF2B5EF4-FFF2-40B4-BE49-F238E27FC236}">
                <a16:creationId xmlns:a16="http://schemas.microsoft.com/office/drawing/2014/main" id="{FD33381B-FD64-4BEF-98EE-73CAF4C638A1}"/>
              </a:ext>
            </a:extLst>
          </p:cNvPr>
          <p:cNvSpPr>
            <a:spLocks xmlns:a="http://schemas.openxmlformats.org/drawingml/2006/main" noGrp="1"/>
          </p:cNvSpPr>
          <p:nvPr/>
        </p:nvSpPr>
        <p:spPr>
          <a:xfrm xmlns:a="http://schemas.openxmlformats.org/drawingml/2006/main">
            <a:off x="5534025" y="6134100"/>
            <a:ext cx="417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93E"/>
                </a:solidFill>
                <a:latin typeface="Calibri"/>
                <a:ea typeface="Calibri"/>
                <a:cs typeface="Calibri"/>
              </a:defRPr>
            </a:pPr>
            <a:r>
              <a:rPr sz="1725" b="0">
                <a:solidFill>
                  <a:srgbClr val="10293E"/>
                </a:solidFill>
                <a:latin typeface="Calibri"/>
                <a:ea typeface="Calibri"/>
                <a:cs typeface="Calibri"/>
              </a:rPr>
              <a:t>INT-MOD-SFT   PAM governed</a:t>
            </a:r>
          </a:p>
        </p:txBody>
      </p:sp>
      <p:sp>
        <p:nvSpPr>
          <p:cNvPr id="31" name="node-31">
            <a:extLst xmlns:a="http://schemas.openxmlformats.org/drawingml/2006/main">
              <a:ext uri="{FF2B5EF4-FFF2-40B4-BE49-F238E27FC236}">
                <a16:creationId xmlns:a16="http://schemas.microsoft.com/office/drawing/2014/main" id="{2FC7E541-D5A6-470E-9B58-9D695FC6D5B8}"/>
              </a:ext>
            </a:extLst>
          </p:cNvPr>
          <p:cNvSpPr>
            <a:spLocks xmlns:a="http://schemas.openxmlformats.org/drawingml/2006/main" noGrp="1"/>
          </p:cNvSpPr>
          <p:nvPr/>
        </p:nvSpPr>
        <p:spPr>
          <a:xfrm xmlns:a="http://schemas.openxmlformats.org/drawingml/2006/main">
            <a:off x="10153650" y="2457450"/>
            <a:ext cx="4514850" cy="4171950"/>
          </a:xfrm>
          <a:prstGeom xmlns:a="http://schemas.openxmlformats.org/drawingml/2006/main" prst="rect">
            <a:avLst/>
          </a:prstGeom>
          <a:solidFill xmlns:a="http://schemas.openxmlformats.org/drawingml/2006/main">
            <a:srgbClr val="F2EEF7"/>
          </a:solidFill>
          <a:ln xmlns:a="http://schemas.openxmlformats.org/drawingml/2006/main" w="14288">
            <a:solidFill>
              <a:srgbClr val="665596"/>
            </a:solidFill>
            <a:prstDash val="solid"/>
          </a:ln>
        </p:spPr>
      </p:sp>
      <p:sp>
        <p:nvSpPr>
          <p:cNvPr id="32" name="label-32">
            <a:extLst xmlns:a="http://schemas.openxmlformats.org/drawingml/2006/main">
              <a:ext uri="{FF2B5EF4-FFF2-40B4-BE49-F238E27FC236}">
                <a16:creationId xmlns:a16="http://schemas.microsoft.com/office/drawing/2014/main" id="{83159474-BBDE-4371-B636-C1C48773882F}"/>
              </a:ext>
            </a:extLst>
          </p:cNvPr>
          <p:cNvSpPr>
            <a:spLocks xmlns:a="http://schemas.openxmlformats.org/drawingml/2006/main" noGrp="1"/>
          </p:cNvSpPr>
          <p:nvPr/>
        </p:nvSpPr>
        <p:spPr>
          <a:xfrm xmlns:a="http://schemas.openxmlformats.org/drawingml/2006/main">
            <a:off x="10325100" y="2590800"/>
            <a:ext cx="417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665596"/>
                </a:solidFill>
                <a:latin typeface="Calibri"/>
                <a:ea typeface="Calibri"/>
                <a:cs typeface="Calibri"/>
              </a:defRPr>
            </a:pPr>
            <a:r>
              <a:rPr sz="2025" b="1">
                <a:solidFill>
                  <a:srgbClr val="665596"/>
                </a:solidFill>
                <a:latin typeface="Calibri"/>
                <a:ea typeface="Calibri"/>
                <a:cs typeface="Calibri"/>
              </a:rPr>
              <a:t>Non Human Workload</a:t>
            </a:r>
          </a:p>
        </p:txBody>
      </p:sp>
      <p:sp>
        <p:nvSpPr>
          <p:cNvPr id="33" name="label-33">
            <a:extLst xmlns:a="http://schemas.openxmlformats.org/drawingml/2006/main">
              <a:ext uri="{FF2B5EF4-FFF2-40B4-BE49-F238E27FC236}">
                <a16:creationId xmlns:a16="http://schemas.microsoft.com/office/drawing/2014/main" id="{1DB6DE32-E36C-4371-92E3-F5C73D14E976}"/>
              </a:ext>
            </a:extLst>
          </p:cNvPr>
          <p:cNvSpPr>
            <a:spLocks xmlns:a="http://schemas.openxmlformats.org/drawingml/2006/main" noGrp="1"/>
          </p:cNvSpPr>
          <p:nvPr/>
        </p:nvSpPr>
        <p:spPr>
          <a:xfrm xmlns:a="http://schemas.openxmlformats.org/drawingml/2006/main">
            <a:off x="10325100" y="3057525"/>
            <a:ext cx="417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93E"/>
                </a:solidFill>
                <a:latin typeface="Calibri"/>
                <a:ea typeface="Calibri"/>
                <a:cs typeface="Calibri"/>
              </a:defRPr>
            </a:pPr>
            <a:r>
              <a:rPr sz="1725" b="0">
                <a:solidFill>
                  <a:srgbClr val="10293E"/>
                </a:solidFill>
                <a:latin typeface="Calibri"/>
                <a:ea typeface="Calibri"/>
                <a:cs typeface="Calibri"/>
              </a:rPr>
              <a:t>NHI-SWF-SYS   Financial system</a:t>
            </a:r>
          </a:p>
        </p:txBody>
      </p:sp>
      <p:sp>
        <p:nvSpPr>
          <p:cNvPr id="34" name="label-34">
            <a:extLst xmlns:a="http://schemas.openxmlformats.org/drawingml/2006/main">
              <a:ext uri="{FF2B5EF4-FFF2-40B4-BE49-F238E27FC236}">
                <a16:creationId xmlns:a16="http://schemas.microsoft.com/office/drawing/2014/main" id="{83FBF895-C5BE-410E-BB29-464CAE464730}"/>
              </a:ext>
            </a:extLst>
          </p:cNvPr>
          <p:cNvSpPr>
            <a:spLocks xmlns:a="http://schemas.openxmlformats.org/drawingml/2006/main" noGrp="1"/>
          </p:cNvSpPr>
          <p:nvPr/>
        </p:nvSpPr>
        <p:spPr>
          <a:xfrm xmlns:a="http://schemas.openxmlformats.org/drawingml/2006/main">
            <a:off x="10325100" y="3495675"/>
            <a:ext cx="417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93E"/>
                </a:solidFill>
                <a:latin typeface="Calibri"/>
                <a:ea typeface="Calibri"/>
                <a:cs typeface="Calibri"/>
              </a:defRPr>
            </a:pPr>
            <a:r>
              <a:rPr sz="1725" b="0">
                <a:solidFill>
                  <a:srgbClr val="10293E"/>
                </a:solidFill>
                <a:latin typeface="Calibri"/>
                <a:ea typeface="Calibri"/>
                <a:cs typeface="Calibri"/>
              </a:rPr>
              <a:t>NHI-SCM-API   SCIM provisioning client</a:t>
            </a:r>
          </a:p>
        </p:txBody>
      </p:sp>
      <p:sp>
        <p:nvSpPr>
          <p:cNvPr id="35" name="label-35">
            <a:extLst xmlns:a="http://schemas.openxmlformats.org/drawingml/2006/main">
              <a:ext uri="{FF2B5EF4-FFF2-40B4-BE49-F238E27FC236}">
                <a16:creationId xmlns:a16="http://schemas.microsoft.com/office/drawing/2014/main" id="{BAD6DE11-06C5-4D48-899A-6942637F8681}"/>
              </a:ext>
            </a:extLst>
          </p:cNvPr>
          <p:cNvSpPr>
            <a:spLocks xmlns:a="http://schemas.openxmlformats.org/drawingml/2006/main" noGrp="1"/>
          </p:cNvSpPr>
          <p:nvPr/>
        </p:nvSpPr>
        <p:spPr>
          <a:xfrm xmlns:a="http://schemas.openxmlformats.org/drawingml/2006/main">
            <a:off x="10325100" y="4953000"/>
            <a:ext cx="4171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76074"/>
                </a:solidFill>
                <a:latin typeface="Calibri"/>
                <a:ea typeface="Calibri"/>
                <a:cs typeface="Calibri"/>
              </a:defRPr>
            </a:pPr>
            <a:r>
              <a:rPr sz="1725" b="0">
                <a:solidFill>
                  <a:srgbClr val="476074"/>
                </a:solidFill>
                <a:latin typeface="Calibri"/>
                <a:ea typeface="Calibri"/>
                <a:cs typeface="Calibri"/>
              </a:rPr>
              <a:t>Additional service and automation</a:t>
            </a:r>
          </a:p>
          <a:p xmlns:a="http://schemas.openxmlformats.org/drawingml/2006/main">
            <a:pPr algn="l">
              <a:defRPr sz="1725" b="0">
                <a:solidFill>
                  <a:srgbClr val="476074"/>
                </a:solidFill>
                <a:latin typeface="Calibri"/>
                <a:ea typeface="Calibri"/>
                <a:cs typeface="Calibri"/>
              </a:defRPr>
            </a:pPr>
            <a:r>
              <a:rPr sz="1725" b="0">
                <a:solidFill>
                  <a:srgbClr val="476074"/>
                </a:solidFill>
                <a:latin typeface="Calibri"/>
                <a:ea typeface="Calibri"/>
                <a:cs typeface="Calibri"/>
              </a:rPr>
              <a:t>profiles require discovery confirmation.</a:t>
            </a:r>
          </a:p>
        </p:txBody>
      </p:sp>
      <p:sp>
        <p:nvSpPr>
          <p:cNvPr id="36" name="node-36">
            <a:extLst xmlns:a="http://schemas.openxmlformats.org/drawingml/2006/main">
              <a:ext uri="{FF2B5EF4-FFF2-40B4-BE49-F238E27FC236}">
                <a16:creationId xmlns:a16="http://schemas.microsoft.com/office/drawing/2014/main" id="{2D417ECB-FBB3-4F72-B20A-7D94E1CE7F52}"/>
              </a:ext>
            </a:extLst>
          </p:cNvPr>
          <p:cNvSpPr>
            <a:spLocks xmlns:a="http://schemas.openxmlformats.org/drawingml/2006/main" noGrp="1"/>
          </p:cNvSpPr>
          <p:nvPr/>
        </p:nvSpPr>
        <p:spPr>
          <a:xfrm xmlns:a="http://schemas.openxmlformats.org/drawingml/2006/main">
            <a:off x="571500" y="6886575"/>
            <a:ext cx="14097000" cy="723900"/>
          </a:xfrm>
          <a:prstGeom xmlns:a="http://schemas.openxmlformats.org/drawingml/2006/main" prst="rect">
            <a:avLst/>
          </a:prstGeom>
          <a:noFill xmlns:a="http://schemas.openxmlformats.org/drawingml/2006/main"/>
          <a:ln xmlns:a="http://schemas.openxmlformats.org/drawingml/2006/main" w="14288">
            <a:solidFill>
              <a:srgbClr val="476074"/>
            </a:solidFill>
            <a:prstDash val="dash"/>
          </a:ln>
        </p:spPr>
      </p:sp>
      <p:sp>
        <p:nvSpPr>
          <p:cNvPr id="37" name="label-37">
            <a:extLst xmlns:a="http://schemas.openxmlformats.org/drawingml/2006/main">
              <a:ext uri="{FF2B5EF4-FFF2-40B4-BE49-F238E27FC236}">
                <a16:creationId xmlns:a16="http://schemas.microsoft.com/office/drawing/2014/main" id="{50A200FB-4054-428B-A34F-476E7999B491}"/>
              </a:ext>
            </a:extLst>
          </p:cNvPr>
          <p:cNvSpPr>
            <a:spLocks xmlns:a="http://schemas.openxmlformats.org/drawingml/2006/main" noGrp="1"/>
          </p:cNvSpPr>
          <p:nvPr/>
        </p:nvSpPr>
        <p:spPr>
          <a:xfrm xmlns:a="http://schemas.openxmlformats.org/drawingml/2006/main">
            <a:off x="742950" y="7029450"/>
            <a:ext cx="2076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0293E"/>
                </a:solidFill>
                <a:latin typeface="Calibri"/>
                <a:ea typeface="Calibri"/>
                <a:cs typeface="Calibri"/>
              </a:defRPr>
            </a:pPr>
            <a:r>
              <a:rPr sz="1875" b="1">
                <a:solidFill>
                  <a:srgbClr val="10293E"/>
                </a:solidFill>
                <a:latin typeface="Calibri"/>
                <a:ea typeface="Calibri"/>
                <a:cs typeface="Calibri"/>
              </a:rPr>
              <a:t>TRN-UAM-JIT</a:t>
            </a:r>
          </a:p>
        </p:txBody>
      </p:sp>
      <p:sp>
        <p:nvSpPr>
          <p:cNvPr id="38" name="label-38">
            <a:extLst xmlns:a="http://schemas.openxmlformats.org/drawingml/2006/main">
              <a:ext uri="{FF2B5EF4-FFF2-40B4-BE49-F238E27FC236}">
                <a16:creationId xmlns:a16="http://schemas.microsoft.com/office/drawing/2014/main" id="{49873A9D-F2CF-462C-B645-A7D1603BB245}"/>
              </a:ext>
            </a:extLst>
          </p:cNvPr>
          <p:cNvSpPr>
            <a:spLocks xmlns:a="http://schemas.openxmlformats.org/drawingml/2006/main" noGrp="1"/>
          </p:cNvSpPr>
          <p:nvPr/>
        </p:nvSpPr>
        <p:spPr>
          <a:xfrm xmlns:a="http://schemas.openxmlformats.org/drawingml/2006/main">
            <a:off x="3000375" y="7048500"/>
            <a:ext cx="1133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293E"/>
                </a:solidFill>
                <a:latin typeface="Calibri"/>
                <a:ea typeface="Calibri"/>
                <a:cs typeface="Calibri"/>
              </a:defRPr>
            </a:pPr>
            <a:r>
              <a:rPr sz="1800" b="0">
                <a:solidFill>
                  <a:srgbClr val="10293E"/>
                </a:solidFill>
                <a:latin typeface="Calibri"/>
                <a:ea typeface="Calibri"/>
                <a:cs typeface="Calibri"/>
              </a:rPr>
              <a:t>Migration state on an eligible legacy identity. Its underlying persona and access controls still apply.</a:t>
            </a:r>
          </a:p>
        </p:txBody>
      </p:sp>
    </p:spTree>
    <p:extLst>
      <p:ext uri="{BB962C8B-B14F-4D97-AF65-F5344CB8AC3E}">
        <p14:creationId xmlns:p14="http://schemas.microsoft.com/office/powerpoint/2010/main" val="8956900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2" name=""/>
          <p:cNvCxnSpPr>
            <a:stCxn xmlns:a="http://schemas.openxmlformats.org/drawingml/2006/main" id="7" idx="3"/>
            <a:endCxn xmlns:a="http://schemas.openxmlformats.org/drawingml/2006/main" id="12" idx="1"/>
          </p:cNvCxnSpPr>
          <p:nvPr/>
        </p:nvCxnSpPr>
        <p:spPr>
          <a:xfrm xmlns:a="http://schemas.openxmlformats.org/drawingml/2006/main">
            <a:off x="4638675" y="3895725"/>
            <a:ext cx="876300" cy="0"/>
          </a:xfrm>
          <a:prstGeom xmlns:a="http://schemas.openxmlformats.org/drawingml/2006/main" prst="straightConnector1">
            <a:avLst/>
          </a:prstGeom>
          <a:ln xmlns:a="http://schemas.openxmlformats.org/drawingml/2006/main" w="19050">
            <a:solidFill>
              <a:srgbClr val="476074"/>
            </a:solidFill>
            <a:tailEnd type="triangle" w="sm" len="sm"/>
          </a:ln>
        </p:spPr>
      </p:cxnSp>
      <p:sp>
        <p:nvSpPr>
          <p:cNvPr id="23" name="label-39">
            <a:extLst xmlns:a="http://schemas.openxmlformats.org/drawingml/2006/main">
              <a:ext uri="{FF2B5EF4-FFF2-40B4-BE49-F238E27FC236}">
                <a16:creationId xmlns:a16="http://schemas.microsoft.com/office/drawing/2014/main" id="{AC6A76B2-E65E-4A03-A9E1-98D7ECA708A1}"/>
              </a:ext>
            </a:extLst>
          </p:cNvPr>
          <p:cNvSpPr>
            <a:spLocks xmlns:a="http://schemas.openxmlformats.org/drawingml/2006/main" noGrp="1"/>
          </p:cNvSpPr>
          <p:nvPr/>
        </p:nvSpPr>
        <p:spPr>
          <a:xfrm xmlns:a="http://schemas.openxmlformats.org/drawingml/2006/main">
            <a:off x="571500" y="26670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476074"/>
                </a:solidFill>
                <a:latin typeface="Calibri"/>
                <a:ea typeface="Calibri"/>
                <a:cs typeface="Calibri"/>
              </a:defRPr>
            </a:pPr>
            <a:r>
              <a:rPr sz="1275" b="1">
                <a:solidFill>
                  <a:srgbClr val="476074"/>
                </a:solidFill>
                <a:latin typeface="Calibri"/>
                <a:ea typeface="Calibri"/>
                <a:cs typeface="Calibri"/>
              </a:rPr>
              <a:t>EUROCLEAR B2B CIAM</a:t>
            </a:r>
          </a:p>
        </p:txBody>
      </p:sp>
      <p:sp>
        <p:nvSpPr>
          <p:cNvPr id="2" name="label-40">
            <a:extLst xmlns:a="http://schemas.openxmlformats.org/drawingml/2006/main">
              <a:ext uri="{FF2B5EF4-FFF2-40B4-BE49-F238E27FC236}">
                <a16:creationId xmlns:a16="http://schemas.microsoft.com/office/drawing/2014/main" id="{84D945EC-AE1E-42EB-9CC0-CB08AFF04A2D}"/>
              </a:ext>
            </a:extLst>
          </p:cNvPr>
          <p:cNvSpPr>
            <a:spLocks xmlns:a="http://schemas.openxmlformats.org/drawingml/2006/main" noGrp="1"/>
          </p:cNvSpPr>
          <p:nvPr/>
        </p:nvSpPr>
        <p:spPr>
          <a:xfrm xmlns:a="http://schemas.openxmlformats.org/drawingml/2006/main">
            <a:off x="571500" y="638175"/>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93E"/>
                </a:solidFill>
                <a:latin typeface="Calibri"/>
                <a:ea typeface="Calibri"/>
                <a:cs typeface="Calibri"/>
              </a:defRPr>
            </a:pPr>
            <a:r>
              <a:rPr sz="3300" b="1">
                <a:solidFill>
                  <a:srgbClr val="10293E"/>
                </a:solidFill>
                <a:latin typeface="Calibri"/>
                <a:ea typeface="Calibri"/>
                <a:cs typeface="Calibri"/>
              </a:rPr>
              <a:t>Persona context and independent dimensions</a:t>
            </a:r>
          </a:p>
        </p:txBody>
      </p:sp>
      <p:sp>
        <p:nvSpPr>
          <p:cNvPr id="3" name="label-41">
            <a:extLst xmlns:a="http://schemas.openxmlformats.org/drawingml/2006/main">
              <a:ext uri="{FF2B5EF4-FFF2-40B4-BE49-F238E27FC236}">
                <a16:creationId xmlns:a16="http://schemas.microsoft.com/office/drawing/2014/main" id="{D3CF2C6D-3E66-48EB-A63A-4AE59883ADF2}"/>
              </a:ext>
            </a:extLst>
          </p:cNvPr>
          <p:cNvSpPr>
            <a:spLocks xmlns:a="http://schemas.openxmlformats.org/drawingml/2006/main" noGrp="1"/>
          </p:cNvSpPr>
          <p:nvPr/>
        </p:nvSpPr>
        <p:spPr>
          <a:xfrm xmlns:a="http://schemas.openxmlformats.org/drawingml/2006/main">
            <a:off x="571500" y="1247775"/>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76074"/>
                </a:solidFill>
                <a:latin typeface="Calibri"/>
                <a:ea typeface="Calibri"/>
                <a:cs typeface="Calibri"/>
              </a:defRPr>
            </a:pPr>
            <a:r>
              <a:rPr sz="1725" b="0">
                <a:solidFill>
                  <a:srgbClr val="476074"/>
                </a:solidFill>
                <a:latin typeface="Calibri"/>
                <a:ea typeface="Calibri"/>
                <a:cs typeface="Calibri"/>
              </a:rPr>
              <a:t>One identity can carry several profiles and states without creating several independent identities.</a:t>
            </a:r>
          </a:p>
        </p:txBody>
      </p:sp>
      <p:sp>
        <p:nvSpPr>
          <p:cNvPr id="4" name="rule-42">
            <a:extLst xmlns:a="http://schemas.openxmlformats.org/drawingml/2006/main">
              <a:ext uri="{FF2B5EF4-FFF2-40B4-BE49-F238E27FC236}">
                <a16:creationId xmlns:a16="http://schemas.microsoft.com/office/drawing/2014/main" id="{2160EE20-8B01-44F6-B42F-D79C76FE7E0E}"/>
              </a:ext>
            </a:extLst>
          </p:cNvPr>
          <p:cNvSpPr>
            <a:spLocks xmlns:a="http://schemas.openxmlformats.org/drawingml/2006/main" noGrp="1"/>
          </p:cNvSpPr>
          <p:nvPr/>
        </p:nvSpPr>
        <p:spPr>
          <a:xfrm xmlns:a="http://schemas.openxmlformats.org/drawingml/2006/main">
            <a:off x="571500" y="7858125"/>
            <a:ext cx="14097000" cy="0"/>
          </a:xfrm>
          <a:prstGeom xmlns:a="http://schemas.openxmlformats.org/drawingml/2006/main" prst="line">
            <a:avLst/>
          </a:prstGeom>
          <a:noFill xmlns:a="http://schemas.openxmlformats.org/drawingml/2006/main"/>
          <a:ln xmlns:a="http://schemas.openxmlformats.org/drawingml/2006/main" w="12383">
            <a:solidFill>
              <a:srgbClr val="CBD5DD"/>
            </a:solidFill>
          </a:ln>
        </p:spPr>
      </p:sp>
      <p:sp>
        <p:nvSpPr>
          <p:cNvPr id="5" name="label-43">
            <a:extLst xmlns:a="http://schemas.openxmlformats.org/drawingml/2006/main">
              <a:ext uri="{FF2B5EF4-FFF2-40B4-BE49-F238E27FC236}">
                <a16:creationId xmlns:a16="http://schemas.microsoft.com/office/drawing/2014/main" id="{551BC265-8A20-4BD7-B2BA-23C65AC646CA}"/>
              </a:ext>
            </a:extLst>
          </p:cNvPr>
          <p:cNvSpPr>
            <a:spLocks xmlns:a="http://schemas.openxmlformats.org/drawingml/2006/main" noGrp="1"/>
          </p:cNvSpPr>
          <p:nvPr/>
        </p:nvSpPr>
        <p:spPr>
          <a:xfrm xmlns:a="http://schemas.openxmlformats.org/drawingml/2006/main">
            <a:off x="571500" y="8058150"/>
            <a:ext cx="1314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76074"/>
                </a:solidFill>
                <a:latin typeface="Calibri"/>
                <a:ea typeface="Calibri"/>
                <a:cs typeface="Calibri"/>
              </a:defRPr>
            </a:pPr>
            <a:r>
              <a:rPr sz="1275" b="0">
                <a:solidFill>
                  <a:srgbClr val="476074"/>
                </a:solidFill>
                <a:latin typeface="Calibri"/>
                <a:ea typeface="Calibri"/>
                <a:cs typeface="Calibri"/>
              </a:rPr>
              <a:t>Proposed persona model   7 October 2026   Companion to Deliverable 1 v0.2</a:t>
            </a:r>
          </a:p>
        </p:txBody>
      </p:sp>
      <p:sp>
        <p:nvSpPr>
          <p:cNvPr id="6" name="label-44">
            <a:extLst xmlns:a="http://schemas.openxmlformats.org/drawingml/2006/main">
              <a:ext uri="{FF2B5EF4-FFF2-40B4-BE49-F238E27FC236}">
                <a16:creationId xmlns:a16="http://schemas.microsoft.com/office/drawing/2014/main" id="{133F11C9-89B2-44A7-828F-CF737491EB16}"/>
              </a:ext>
            </a:extLst>
          </p:cNvPr>
          <p:cNvSpPr>
            <a:spLocks xmlns:a="http://schemas.openxmlformats.org/drawingml/2006/main" noGrp="1"/>
          </p:cNvSpPr>
          <p:nvPr/>
        </p:nvSpPr>
        <p:spPr>
          <a:xfrm xmlns:a="http://schemas.openxmlformats.org/drawingml/2006/main">
            <a:off x="14144625" y="8039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6074"/>
                </a:solidFill>
                <a:latin typeface="Calibri"/>
                <a:ea typeface="Calibri"/>
                <a:cs typeface="Calibri"/>
              </a:defRPr>
            </a:pPr>
            <a:r>
              <a:rPr sz="1350" b="0">
                <a:solidFill>
                  <a:srgbClr val="476074"/>
                </a:solidFill>
                <a:latin typeface="Calibri"/>
                <a:ea typeface="Calibri"/>
                <a:cs typeface="Calibri"/>
              </a:rPr>
              <a:t>2</a:t>
            </a:r>
          </a:p>
        </p:txBody>
      </p:sp>
      <p:sp>
        <p:nvSpPr>
          <p:cNvPr id="7" name="node-45">
            <a:extLst xmlns:a="http://schemas.openxmlformats.org/drawingml/2006/main">
              <a:ext uri="{FF2B5EF4-FFF2-40B4-BE49-F238E27FC236}">
                <a16:creationId xmlns:a16="http://schemas.microsoft.com/office/drawing/2014/main" id="{4EEB11F2-B998-4B08-A2BF-057489D7EA85}"/>
              </a:ext>
            </a:extLst>
          </p:cNvPr>
          <p:cNvSpPr>
            <a:spLocks xmlns:a="http://schemas.openxmlformats.org/drawingml/2006/main" noGrp="1"/>
          </p:cNvSpPr>
          <p:nvPr/>
        </p:nvSpPr>
        <p:spPr>
          <a:xfrm xmlns:a="http://schemas.openxmlformats.org/drawingml/2006/main">
            <a:off x="571500" y="2133600"/>
            <a:ext cx="4067175" cy="3524250"/>
          </a:xfrm>
          <a:prstGeom xmlns:a="http://schemas.openxmlformats.org/drawingml/2006/main" prst="rect">
            <a:avLst/>
          </a:prstGeom>
          <a:solidFill xmlns:a="http://schemas.openxmlformats.org/drawingml/2006/main">
            <a:srgbClr val="EDF4FA"/>
          </a:solidFill>
          <a:ln xmlns:a="http://schemas.openxmlformats.org/drawingml/2006/main" w="14288">
            <a:solidFill>
              <a:srgbClr val="1E5A88"/>
            </a:solidFill>
            <a:prstDash val="solid"/>
          </a:ln>
        </p:spPr>
      </p:sp>
      <p:sp>
        <p:nvSpPr>
          <p:cNvPr id="8" name="label-46">
            <a:extLst xmlns:a="http://schemas.openxmlformats.org/drawingml/2006/main">
              <a:ext uri="{FF2B5EF4-FFF2-40B4-BE49-F238E27FC236}">
                <a16:creationId xmlns:a16="http://schemas.microsoft.com/office/drawing/2014/main" id="{23BAD30A-BF00-48CE-A3F7-36BCC30EAB7D}"/>
              </a:ext>
            </a:extLst>
          </p:cNvPr>
          <p:cNvSpPr>
            <a:spLocks xmlns:a="http://schemas.openxmlformats.org/drawingml/2006/main" noGrp="1"/>
          </p:cNvSpPr>
          <p:nvPr/>
        </p:nvSpPr>
        <p:spPr>
          <a:xfrm xmlns:a="http://schemas.openxmlformats.org/drawingml/2006/main">
            <a:off x="781050" y="2324100"/>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E5A88"/>
                </a:solidFill>
                <a:latin typeface="Calibri"/>
                <a:ea typeface="Calibri"/>
                <a:cs typeface="Calibri"/>
              </a:defRPr>
            </a:pPr>
            <a:r>
              <a:rPr sz="1350" b="1">
                <a:solidFill>
                  <a:srgbClr val="1E5A88"/>
                </a:solidFill>
                <a:latin typeface="Calibri"/>
                <a:ea typeface="Calibri"/>
                <a:cs typeface="Calibri"/>
              </a:rPr>
              <a:t>CORE IDENTITY</a:t>
            </a:r>
          </a:p>
        </p:txBody>
      </p:sp>
      <p:sp>
        <p:nvSpPr>
          <p:cNvPr id="9" name="label-47">
            <a:extLst xmlns:a="http://schemas.openxmlformats.org/drawingml/2006/main">
              <a:ext uri="{FF2B5EF4-FFF2-40B4-BE49-F238E27FC236}">
                <a16:creationId xmlns:a16="http://schemas.microsoft.com/office/drawing/2014/main" id="{909B1D19-DC3D-4C1F-8D54-2692AEBFA192}"/>
              </a:ext>
            </a:extLst>
          </p:cNvPr>
          <p:cNvSpPr>
            <a:spLocks xmlns:a="http://schemas.openxmlformats.org/drawingml/2006/main" noGrp="1"/>
          </p:cNvSpPr>
          <p:nvPr/>
        </p:nvSpPr>
        <p:spPr>
          <a:xfrm xmlns:a="http://schemas.openxmlformats.org/drawingml/2006/main">
            <a:off x="781050" y="2752725"/>
            <a:ext cx="361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E5A88"/>
                </a:solidFill>
                <a:latin typeface="Calibri"/>
                <a:ea typeface="Calibri"/>
                <a:cs typeface="Calibri"/>
              </a:defRPr>
            </a:pPr>
            <a:r>
              <a:rPr sz="2400" b="1">
                <a:solidFill>
                  <a:srgbClr val="1E5A88"/>
                </a:solidFill>
                <a:latin typeface="Calibri"/>
                <a:ea typeface="Calibri"/>
                <a:cs typeface="Calibri"/>
              </a:rPr>
              <a:t>External Client User</a:t>
            </a:r>
          </a:p>
        </p:txBody>
      </p:sp>
      <p:sp>
        <p:nvSpPr>
          <p:cNvPr id="10" name="label-48">
            <a:extLst xmlns:a="http://schemas.openxmlformats.org/drawingml/2006/main">
              <a:ext uri="{FF2B5EF4-FFF2-40B4-BE49-F238E27FC236}">
                <a16:creationId xmlns:a16="http://schemas.microsoft.com/office/drawing/2014/main" id="{FB755480-A3F5-4651-9AE7-1542C520BC12}"/>
              </a:ext>
            </a:extLst>
          </p:cNvPr>
          <p:cNvSpPr>
            <a:spLocks xmlns:a="http://schemas.openxmlformats.org/drawingml/2006/main" noGrp="1"/>
          </p:cNvSpPr>
          <p:nvPr/>
        </p:nvSpPr>
        <p:spPr>
          <a:xfrm xmlns:a="http://schemas.openxmlformats.org/drawingml/2006/main">
            <a:off x="781050" y="3609975"/>
            <a:ext cx="35623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93E"/>
                </a:solidFill>
                <a:latin typeface="Calibri"/>
                <a:ea typeface="Calibri"/>
                <a:cs typeface="Calibri"/>
              </a:defRPr>
            </a:pPr>
            <a:r>
              <a:rPr sz="1875" b="0">
                <a:solidFill>
                  <a:srgbClr val="10293E"/>
                </a:solidFill>
                <a:latin typeface="Calibri"/>
                <a:ea typeface="Calibri"/>
                <a:cs typeface="Calibri"/>
              </a:rPr>
              <a:t>Subject ID</a:t>
            </a:r>
          </a:p>
          <a:p xmlns:a="http://schemas.openxmlformats.org/drawingml/2006/main">
            <a:pPr algn="l">
              <a:defRPr sz="1875" b="0">
                <a:solidFill>
                  <a:srgbClr val="10293E"/>
                </a:solidFill>
                <a:latin typeface="Calibri"/>
                <a:ea typeface="Calibri"/>
                <a:cs typeface="Calibri"/>
              </a:defRPr>
            </a:pPr>
            <a:r>
              <a:rPr sz="1875" b="0">
                <a:solidFill>
                  <a:srgbClr val="10293E"/>
                </a:solidFill>
                <a:latin typeface="Calibri"/>
                <a:ea typeface="Calibri"/>
                <a:cs typeface="Calibri"/>
              </a:rPr>
              <a:t>Client organisation membership</a:t>
            </a:r>
          </a:p>
          <a:p xmlns:a="http://schemas.openxmlformats.org/drawingml/2006/main">
            <a:pPr algn="l">
              <a:defRPr sz="1875" b="0">
                <a:solidFill>
                  <a:srgbClr val="10293E"/>
                </a:solidFill>
                <a:latin typeface="Calibri"/>
                <a:ea typeface="Calibri"/>
                <a:cs typeface="Calibri"/>
              </a:defRPr>
            </a:pPr>
            <a:r>
              <a:rPr sz="1875" b="0">
                <a:solidFill>
                  <a:srgbClr val="10293E"/>
                </a:solidFill>
                <a:latin typeface="Calibri"/>
                <a:ea typeface="Calibri"/>
                <a:cs typeface="Calibri"/>
              </a:rPr>
              <a:t>Identity domain and issuer</a:t>
            </a:r>
          </a:p>
        </p:txBody>
      </p:sp>
      <p:graphicFrame>
        <p:nvGraphicFramePr>
          <p:cNvPr id="33" name=""/>
          <p:cNvGraphicFramePr/>
          <p:nvPr/>
        </p:nvGraphicFramePr>
        <p:xfrm>
          <a:off xmlns:a="http://schemas.openxmlformats.org/drawingml/2006/main" x="5514975" y="2133600"/>
          <a:ext xmlns:a="http://schemas.openxmlformats.org/drawingml/2006/main" cx="9153525" cy="3524250"/>
        </p:xfrm>
        <a:graphic xmlns:a="http://schemas.openxmlformats.org/drawingml/2006/main">
          <a:graphicData uri="http://schemas.openxmlformats.org/drawingml/2006/table">
            <a:tbl>
              <a:tblPr firstRow="0" bandRow="0"/>
              <a:tblGrid>
                <a:gridCol w="2762250"/>
                <a:gridCol w="6391275"/>
              </a:tblGrid>
              <a:tr h="587375">
                <a:tc>
                  <a:txBody>
                    <a:bodyPr lIns="95250" tIns="47625" rIns="95250" bIns="47625">
                      <a:noAutofit/>
                    </a:bodyPr>
                    <a:lstStyle/>
                    <a:p>
                      <a:pPr algn="l"/>
                      <a:r>
                        <a:rPr sz="1800" b="1">
                          <a:solidFill>
                            <a:srgbClr val="FFFFFF"/>
                          </a:solidFill>
                          <a:latin typeface="Calibri"/>
                          <a:ea typeface="Calibri"/>
                          <a:cs typeface="Calibri"/>
                        </a:rPr>
                        <a:t>Dimension</a:t>
                      </a:r>
                    </a:p>
                  </a:txBody>
                  <a:tcPr marL="91440" marR="91440" marT="45720" marB="45720" anchor="ctr">
                    <a:solidFill>
                      <a:srgbClr val="10293E"/>
                    </a:solidFill>
                  </a:tcPr>
                </a:tc>
                <a:tc>
                  <a:txBody>
                    <a:bodyPr lIns="95250" tIns="47625" rIns="95250" bIns="47625">
                      <a:noAutofit/>
                    </a:bodyPr>
                    <a:lstStyle/>
                    <a:p>
                      <a:pPr algn="ctr"/>
                      <a:r>
                        <a:rPr sz="1800" b="1">
                          <a:solidFill>
                            <a:srgbClr val="FFFFFF"/>
                          </a:solidFill>
                          <a:latin typeface="Calibri"/>
                          <a:ea typeface="Calibri"/>
                          <a:cs typeface="Calibri"/>
                        </a:rPr>
                        <a:t>Governed context</a:t>
                      </a:r>
                    </a:p>
                  </a:txBody>
                  <a:tcPr marL="91440" marR="91440" marT="45720" marB="45720" anchor="ctr">
                    <a:solidFill>
                      <a:srgbClr val="10293E"/>
                    </a:solidFill>
                  </a:tcPr>
                </a:tc>
              </a:tr>
              <a:tr h="587375">
                <a:tc>
                  <a:txBody>
                    <a:bodyPr lIns="95250" tIns="47625" rIns="95250" bIns="47625">
                      <a:noAutofit/>
                    </a:bodyPr>
                    <a:lstStyle/>
                    <a:p>
                      <a:pPr algn="l"/>
                      <a:r>
                        <a:rPr sz="1800" b="0">
                          <a:solidFill>
                            <a:srgbClr val="10293E"/>
                          </a:solidFill>
                          <a:latin typeface="Calibri"/>
                          <a:ea typeface="Calibri"/>
                          <a:cs typeface="Calibri"/>
                        </a:rPr>
                        <a:t>Entity access</a:t>
                      </a:r>
                    </a:p>
                  </a:txBody>
                  <a:tcPr marL="91440" marR="91440" marT="45720" marB="45720" anchor="ctr">
                    <a:solidFill>
                      <a:srgbClr val="FFFFFF"/>
                    </a:solidFill>
                  </a:tcPr>
                </a:tc>
                <a:tc>
                  <a:txBody>
                    <a:bodyPr lIns="152400" tIns="47625" rIns="114300" bIns="47625">
                      <a:noAutofit/>
                    </a:bodyPr>
                    <a:lstStyle/>
                    <a:p>
                      <a:pPr algn="l"/>
                      <a:r>
                        <a:rPr sz="1800" b="0">
                          <a:solidFill>
                            <a:srgbClr val="10293E"/>
                          </a:solidFill>
                          <a:latin typeface="Calibri"/>
                          <a:ea typeface="Calibri"/>
                          <a:cs typeface="Calibri"/>
                        </a:rPr>
                        <a:t>Single or multi entity memberships</a:t>
                      </a:r>
                    </a:p>
                  </a:txBody>
                  <a:tcPr marL="91440" marR="91440" marT="45720" marB="45720" anchor="ctr">
                    <a:solidFill>
                      <a:srgbClr val="FFFFFF"/>
                    </a:solidFill>
                  </a:tcPr>
                </a:tc>
              </a:tr>
              <a:tr h="587375">
                <a:tc>
                  <a:txBody>
                    <a:bodyPr lIns="95250" tIns="47625" rIns="95250" bIns="47625">
                      <a:noAutofit/>
                    </a:bodyPr>
                    <a:lstStyle/>
                    <a:p>
                      <a:pPr algn="l"/>
                      <a:r>
                        <a:rPr sz="1800" b="0">
                          <a:solidFill>
                            <a:srgbClr val="10293E"/>
                          </a:solidFill>
                          <a:latin typeface="Calibri"/>
                          <a:ea typeface="Calibri"/>
                          <a:cs typeface="Calibri"/>
                        </a:rPr>
                        <a:t>Commercial relationship</a:t>
                      </a:r>
                    </a:p>
                  </a:txBody>
                  <a:tcPr marL="91440" marR="91440" marT="45720" marB="45720" anchor="ctr">
                    <a:solidFill>
                      <a:srgbClr val="F4F6F8"/>
                    </a:solidFill>
                  </a:tcPr>
                </a:tc>
                <a:tc>
                  <a:txBody>
                    <a:bodyPr lIns="152400" tIns="47625" rIns="114300" bIns="47625">
                      <a:noAutofit/>
                    </a:bodyPr>
                    <a:lstStyle/>
                    <a:p>
                      <a:pPr algn="l"/>
                      <a:r>
                        <a:rPr sz="1800" b="0">
                          <a:solidFill>
                            <a:srgbClr val="10293E"/>
                          </a:solidFill>
                          <a:latin typeface="Calibri"/>
                          <a:ea typeface="Calibri"/>
                          <a:cs typeface="Calibri"/>
                        </a:rPr>
                        <a:t>Billable or Non-Billable by scope</a:t>
                      </a:r>
                    </a:p>
                  </a:txBody>
                  <a:tcPr marL="91440" marR="91440" marT="45720" marB="45720" anchor="ctr">
                    <a:solidFill>
                      <a:srgbClr val="F4F6F8"/>
                    </a:solidFill>
                  </a:tcPr>
                </a:tc>
              </a:tr>
              <a:tr h="587375">
                <a:tc>
                  <a:txBody>
                    <a:bodyPr lIns="95250" tIns="47625" rIns="95250" bIns="47625">
                      <a:noAutofit/>
                    </a:bodyPr>
                    <a:lstStyle/>
                    <a:p>
                      <a:pPr algn="l"/>
                      <a:r>
                        <a:rPr sz="1800" b="0">
                          <a:solidFill>
                            <a:srgbClr val="10293E"/>
                          </a:solidFill>
                          <a:latin typeface="Calibri"/>
                          <a:ea typeface="Calibri"/>
                          <a:cs typeface="Calibri"/>
                        </a:rPr>
                        <a:t>Operating mode</a:t>
                      </a:r>
                    </a:p>
                  </a:txBody>
                  <a:tcPr marL="91440" marR="91440" marT="45720" marB="45720" anchor="ctr">
                    <a:solidFill>
                      <a:srgbClr val="FFFFFF"/>
                    </a:solidFill>
                  </a:tcPr>
                </a:tc>
                <a:tc>
                  <a:txBody>
                    <a:bodyPr lIns="152400" tIns="47625" rIns="114300" bIns="47625">
                      <a:noAutofit/>
                    </a:bodyPr>
                    <a:lstStyle/>
                    <a:p>
                      <a:pPr algn="l"/>
                      <a:r>
                        <a:rPr sz="1800" b="0">
                          <a:solidFill>
                            <a:srgbClr val="10293E"/>
                          </a:solidFill>
                          <a:latin typeface="Calibri"/>
                          <a:ea typeface="Calibri"/>
                          <a:cs typeface="Calibri"/>
                        </a:rPr>
                        <a:t>Self, simulated or represented client</a:t>
                      </a:r>
                    </a:p>
                  </a:txBody>
                  <a:tcPr marL="91440" marR="91440" marT="45720" marB="45720" anchor="ctr">
                    <a:solidFill>
                      <a:srgbClr val="FFFFFF"/>
                    </a:solidFill>
                  </a:tcPr>
                </a:tc>
              </a:tr>
              <a:tr h="587375">
                <a:tc>
                  <a:txBody>
                    <a:bodyPr lIns="95250" tIns="47625" rIns="95250" bIns="47625">
                      <a:noAutofit/>
                    </a:bodyPr>
                    <a:lstStyle/>
                    <a:p>
                      <a:pPr algn="l"/>
                      <a:r>
                        <a:rPr sz="1800" b="0">
                          <a:solidFill>
                            <a:srgbClr val="10293E"/>
                          </a:solidFill>
                          <a:latin typeface="Calibri"/>
                          <a:ea typeface="Calibri"/>
                          <a:cs typeface="Calibri"/>
                        </a:rPr>
                        <a:t>Lifecycle and migration</a:t>
                      </a:r>
                    </a:p>
                  </a:txBody>
                  <a:tcPr marL="91440" marR="91440" marT="45720" marB="45720" anchor="ctr">
                    <a:solidFill>
                      <a:srgbClr val="F4F6F8"/>
                    </a:solidFill>
                  </a:tcPr>
                </a:tc>
                <a:tc>
                  <a:txBody>
                    <a:bodyPr lIns="152400" tIns="47625" rIns="114300" bIns="47625">
                      <a:noAutofit/>
                    </a:bodyPr>
                    <a:lstStyle/>
                    <a:p>
                      <a:pPr algn="l"/>
                      <a:r>
                        <a:rPr sz="1800" b="0">
                          <a:solidFill>
                            <a:srgbClr val="10293E"/>
                          </a:solidFill>
                          <a:latin typeface="Calibri"/>
                          <a:ea typeface="Calibri"/>
                          <a:cs typeface="Calibri"/>
                        </a:rPr>
                        <a:t>Active, suspended or UAM coexistence</a:t>
                      </a:r>
                    </a:p>
                  </a:txBody>
                  <a:tcPr marL="91440" marR="91440" marT="45720" marB="45720" anchor="ctr">
                    <a:solidFill>
                      <a:srgbClr val="F4F6F8"/>
                    </a:solidFill>
                  </a:tcPr>
                </a:tc>
              </a:tr>
              <a:tr h="587375">
                <a:tc>
                  <a:txBody>
                    <a:bodyPr lIns="95250" tIns="47625" rIns="95250" bIns="47625">
                      <a:noAutofit/>
                    </a:bodyPr>
                    <a:lstStyle/>
                    <a:p>
                      <a:pPr algn="l"/>
                      <a:r>
                        <a:rPr sz="1800" b="0">
                          <a:solidFill>
                            <a:srgbClr val="10293E"/>
                          </a:solidFill>
                          <a:latin typeface="Calibri"/>
                          <a:ea typeface="Calibri"/>
                          <a:cs typeface="Calibri"/>
                        </a:rPr>
                        <a:t>Session evidence</a:t>
                      </a:r>
                    </a:p>
                  </a:txBody>
                  <a:tcPr marL="91440" marR="91440" marT="45720" marB="45720" anchor="ctr">
                    <a:solidFill>
                      <a:srgbClr val="FFFFFF"/>
                    </a:solidFill>
                  </a:tcPr>
                </a:tc>
                <a:tc>
                  <a:txBody>
                    <a:bodyPr lIns="152400" tIns="47625" rIns="114300" bIns="47625">
                      <a:noAutofit/>
                    </a:bodyPr>
                    <a:lstStyle/>
                    <a:p>
                      <a:pPr algn="l"/>
                      <a:r>
                        <a:rPr sz="1800" b="0">
                          <a:solidFill>
                            <a:srgbClr val="10293E"/>
                          </a:solidFill>
                          <a:latin typeface="Calibri"/>
                          <a:ea typeface="Calibri"/>
                          <a:cs typeface="Calibri"/>
                        </a:rPr>
                        <a:t>Authentication method, time and assurance</a:t>
                      </a:r>
                    </a:p>
                  </a:txBody>
                  <a:tcPr marL="91440" marR="91440" marT="45720" marB="45720" anchor="ctr">
                    <a:solidFill>
                      <a:srgbClr val="FFFFFF"/>
                    </a:solidFill>
                  </a:tcPr>
                </a:tc>
              </a:tr>
            </a:tbl>
          </a:graphicData>
        </a:graphic>
      </p:graphicFrame>
      <p:sp>
        <p:nvSpPr>
          <p:cNvPr id="12" name="node-49">
            <a:extLst xmlns:a="http://schemas.openxmlformats.org/drawingml/2006/main">
              <a:ext uri="{FF2B5EF4-FFF2-40B4-BE49-F238E27FC236}">
                <a16:creationId xmlns:a16="http://schemas.microsoft.com/office/drawing/2014/main" id="{A91B0565-0540-4F4B-9B76-61B2932D5F8D}"/>
              </a:ext>
            </a:extLst>
          </p:cNvPr>
          <p:cNvSpPr>
            <a:spLocks xmlns:a="http://schemas.openxmlformats.org/drawingml/2006/main" noGrp="1"/>
          </p:cNvSpPr>
          <p:nvPr/>
        </p:nvSpPr>
        <p:spPr>
          <a:xfrm xmlns:a="http://schemas.openxmlformats.org/drawingml/2006/main">
            <a:off x="5514975" y="2133600"/>
            <a:ext cx="9525" cy="3524250"/>
          </a:xfrm>
          <a:prstGeom xmlns:a="http://schemas.openxmlformats.org/drawingml/2006/main" prst="rect">
            <a:avLst/>
          </a:prstGeom>
          <a:noFill xmlns:a="http://schemas.openxmlformats.org/drawingml/2006/main"/>
          <a:ln xmlns:a="http://schemas.openxmlformats.org/drawingml/2006/main" w="14288">
            <a:noFill/>
            <a:prstDash val="solid"/>
          </a:ln>
        </p:spPr>
      </p:sp>
      <p:sp>
        <p:nvSpPr>
          <p:cNvPr id="14" name="label-50">
            <a:extLst xmlns:a="http://schemas.openxmlformats.org/drawingml/2006/main">
              <a:ext uri="{FF2B5EF4-FFF2-40B4-BE49-F238E27FC236}">
                <a16:creationId xmlns:a16="http://schemas.microsoft.com/office/drawing/2014/main" id="{7E03432F-4CE8-47F1-A3EB-3B634928385C}"/>
              </a:ext>
            </a:extLst>
          </p:cNvPr>
          <p:cNvSpPr>
            <a:spLocks xmlns:a="http://schemas.openxmlformats.org/drawingml/2006/main" noGrp="1"/>
          </p:cNvSpPr>
          <p:nvPr/>
        </p:nvSpPr>
        <p:spPr>
          <a:xfrm xmlns:a="http://schemas.openxmlformats.org/drawingml/2006/main">
            <a:off x="571500" y="6057900"/>
            <a:ext cx="1409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6074"/>
                </a:solidFill>
                <a:latin typeface="Calibri"/>
                <a:ea typeface="Calibri"/>
                <a:cs typeface="Calibri"/>
              </a:defRPr>
            </a:pPr>
            <a:r>
              <a:rPr sz="1425" b="1">
                <a:solidFill>
                  <a:srgbClr val="476074"/>
                </a:solidFill>
                <a:latin typeface="Calibri"/>
                <a:ea typeface="Calibri"/>
                <a:cs typeface="Calibri"/>
              </a:rPr>
              <a:t>ILLUSTRATIVE COMBINATION</a:t>
            </a:r>
          </a:p>
        </p:txBody>
      </p:sp>
      <p:sp>
        <p:nvSpPr>
          <p:cNvPr id="15" name="label-51">
            <a:extLst xmlns:a="http://schemas.openxmlformats.org/drawingml/2006/main">
              <a:ext uri="{FF2B5EF4-FFF2-40B4-BE49-F238E27FC236}">
                <a16:creationId xmlns:a16="http://schemas.microsoft.com/office/drawing/2014/main" id="{3643B503-B458-4516-B764-D723EF7D3BB2}"/>
              </a:ext>
            </a:extLst>
          </p:cNvPr>
          <p:cNvSpPr>
            <a:spLocks xmlns:a="http://schemas.openxmlformats.org/drawingml/2006/main" noGrp="1"/>
          </p:cNvSpPr>
          <p:nvPr/>
        </p:nvSpPr>
        <p:spPr>
          <a:xfrm xmlns:a="http://schemas.openxmlformats.org/drawingml/2006/main">
            <a:off x="571500" y="6515100"/>
            <a:ext cx="3676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E5A88"/>
                </a:solidFill>
                <a:latin typeface="Calibri"/>
                <a:ea typeface="Calibri"/>
                <a:cs typeface="Calibri"/>
              </a:defRPr>
            </a:pPr>
            <a:r>
              <a:rPr sz="2325" b="1">
                <a:solidFill>
                  <a:srgbClr val="1E5A88"/>
                </a:solidFill>
                <a:latin typeface="Calibri"/>
                <a:ea typeface="Calibri"/>
                <a:cs typeface="Calibri"/>
              </a:rPr>
              <a:t>External Client User</a:t>
            </a:r>
          </a:p>
        </p:txBody>
      </p:sp>
      <p:sp>
        <p:nvSpPr>
          <p:cNvPr id="16" name="label-52">
            <a:extLst xmlns:a="http://schemas.openxmlformats.org/drawingml/2006/main">
              <a:ext uri="{FF2B5EF4-FFF2-40B4-BE49-F238E27FC236}">
                <a16:creationId xmlns:a16="http://schemas.microsoft.com/office/drawing/2014/main" id="{9E87D41D-10B4-44B1-B0F9-EDD106CBF75C}"/>
              </a:ext>
            </a:extLst>
          </p:cNvPr>
          <p:cNvSpPr>
            <a:spLocks xmlns:a="http://schemas.openxmlformats.org/drawingml/2006/main" noGrp="1"/>
          </p:cNvSpPr>
          <p:nvPr/>
        </p:nvSpPr>
        <p:spPr>
          <a:xfrm xmlns:a="http://schemas.openxmlformats.org/drawingml/2006/main">
            <a:off x="4524375" y="6534150"/>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0293E"/>
                </a:solidFill>
                <a:latin typeface="Calibri"/>
                <a:ea typeface="Calibri"/>
                <a:cs typeface="Calibri"/>
              </a:defRPr>
            </a:pPr>
            <a:r>
              <a:rPr sz="2025" b="1">
                <a:solidFill>
                  <a:srgbClr val="10293E"/>
                </a:solidFill>
                <a:latin typeface="Calibri"/>
                <a:ea typeface="Calibri"/>
                <a:cs typeface="Calibri"/>
              </a:rPr>
              <a:t>EXT-USR-M</a:t>
            </a:r>
          </a:p>
        </p:txBody>
      </p:sp>
      <p:sp>
        <p:nvSpPr>
          <p:cNvPr id="17" name="label-53">
            <a:extLst xmlns:a="http://schemas.openxmlformats.org/drawingml/2006/main">
              <a:ext uri="{FF2B5EF4-FFF2-40B4-BE49-F238E27FC236}">
                <a16:creationId xmlns:a16="http://schemas.microsoft.com/office/drawing/2014/main" id="{9219EFF8-3C3D-4046-AEE1-F882A1A317AC}"/>
              </a:ext>
            </a:extLst>
          </p:cNvPr>
          <p:cNvSpPr>
            <a:spLocks xmlns:a="http://schemas.openxmlformats.org/drawingml/2006/main" noGrp="1"/>
          </p:cNvSpPr>
          <p:nvPr/>
        </p:nvSpPr>
        <p:spPr>
          <a:xfrm xmlns:a="http://schemas.openxmlformats.org/drawingml/2006/main">
            <a:off x="4524375" y="6943725"/>
            <a:ext cx="3028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293E"/>
                </a:solidFill>
                <a:latin typeface="Calibri"/>
                <a:ea typeface="Calibri"/>
                <a:cs typeface="Calibri"/>
              </a:defRPr>
            </a:pPr>
            <a:r>
              <a:rPr sz="1800" b="0">
                <a:solidFill>
                  <a:srgbClr val="10293E"/>
                </a:solidFill>
                <a:latin typeface="Calibri"/>
                <a:ea typeface="Calibri"/>
                <a:cs typeface="Calibri"/>
              </a:rPr>
              <a:t>EB + ESES + EUI</a:t>
            </a:r>
          </a:p>
        </p:txBody>
      </p:sp>
      <p:sp>
        <p:nvSpPr>
          <p:cNvPr id="18" name="label-54">
            <a:extLst xmlns:a="http://schemas.openxmlformats.org/drawingml/2006/main">
              <a:ext uri="{FF2B5EF4-FFF2-40B4-BE49-F238E27FC236}">
                <a16:creationId xmlns:a16="http://schemas.microsoft.com/office/drawing/2014/main" id="{118187E2-7CE7-4A2A-B0A3-96B366BD76A8}"/>
              </a:ext>
            </a:extLst>
          </p:cNvPr>
          <p:cNvSpPr>
            <a:spLocks xmlns:a="http://schemas.openxmlformats.org/drawingml/2006/main" noGrp="1"/>
          </p:cNvSpPr>
          <p:nvPr/>
        </p:nvSpPr>
        <p:spPr>
          <a:xfrm xmlns:a="http://schemas.openxmlformats.org/drawingml/2006/main">
            <a:off x="8077200" y="653415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0293E"/>
                </a:solidFill>
                <a:latin typeface="Calibri"/>
                <a:ea typeface="Calibri"/>
                <a:cs typeface="Calibri"/>
              </a:defRPr>
            </a:pPr>
            <a:r>
              <a:rPr sz="2025" b="1">
                <a:solidFill>
                  <a:srgbClr val="10293E"/>
                </a:solidFill>
                <a:latin typeface="Calibri"/>
                <a:ea typeface="Calibri"/>
                <a:cs typeface="Calibri"/>
              </a:rPr>
              <a:t>EXT-USR-NB</a:t>
            </a:r>
          </a:p>
        </p:txBody>
      </p:sp>
      <p:sp>
        <p:nvSpPr>
          <p:cNvPr id="19" name="label-55">
            <a:extLst xmlns:a="http://schemas.openxmlformats.org/drawingml/2006/main">
              <a:ext uri="{FF2B5EF4-FFF2-40B4-BE49-F238E27FC236}">
                <a16:creationId xmlns:a16="http://schemas.microsoft.com/office/drawing/2014/main" id="{B14DD38E-2D6A-4F7D-8536-3FF18FDF2D1E}"/>
              </a:ext>
            </a:extLst>
          </p:cNvPr>
          <p:cNvSpPr>
            <a:spLocks xmlns:a="http://schemas.openxmlformats.org/drawingml/2006/main" noGrp="1"/>
          </p:cNvSpPr>
          <p:nvPr/>
        </p:nvSpPr>
        <p:spPr>
          <a:xfrm xmlns:a="http://schemas.openxmlformats.org/drawingml/2006/main">
            <a:off x="8077200" y="6943725"/>
            <a:ext cx="2914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93E"/>
                </a:solidFill>
                <a:latin typeface="Calibri"/>
                <a:ea typeface="Calibri"/>
                <a:cs typeface="Calibri"/>
              </a:defRPr>
            </a:pPr>
            <a:r>
              <a:rPr sz="1725" b="0">
                <a:solidFill>
                  <a:srgbClr val="10293E"/>
                </a:solidFill>
                <a:latin typeface="Calibri"/>
                <a:ea typeface="Calibri"/>
                <a:cs typeface="Calibri"/>
              </a:rPr>
              <a:t>Non-Billable for a stated service</a:t>
            </a:r>
          </a:p>
        </p:txBody>
      </p:sp>
      <p:sp>
        <p:nvSpPr>
          <p:cNvPr id="20" name="label-56">
            <a:extLst xmlns:a="http://schemas.openxmlformats.org/drawingml/2006/main">
              <a:ext uri="{FF2B5EF4-FFF2-40B4-BE49-F238E27FC236}">
                <a16:creationId xmlns:a16="http://schemas.microsoft.com/office/drawing/2014/main" id="{50579CA6-3952-4295-81D0-1EED77094214}"/>
              </a:ext>
            </a:extLst>
          </p:cNvPr>
          <p:cNvSpPr>
            <a:spLocks xmlns:a="http://schemas.openxmlformats.org/drawingml/2006/main" noGrp="1"/>
          </p:cNvSpPr>
          <p:nvPr/>
        </p:nvSpPr>
        <p:spPr>
          <a:xfrm xmlns:a="http://schemas.openxmlformats.org/drawingml/2006/main">
            <a:off x="11668125" y="65341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0293E"/>
                </a:solidFill>
                <a:latin typeface="Calibri"/>
                <a:ea typeface="Calibri"/>
                <a:cs typeface="Calibri"/>
              </a:defRPr>
            </a:pPr>
            <a:r>
              <a:rPr sz="2025" b="1">
                <a:solidFill>
                  <a:srgbClr val="10293E"/>
                </a:solidFill>
                <a:latin typeface="Calibri"/>
                <a:ea typeface="Calibri"/>
                <a:cs typeface="Calibri"/>
              </a:rPr>
              <a:t>TRN-UAM-JIT</a:t>
            </a:r>
          </a:p>
        </p:txBody>
      </p:sp>
      <p:sp>
        <p:nvSpPr>
          <p:cNvPr id="21" name="label-57">
            <a:extLst xmlns:a="http://schemas.openxmlformats.org/drawingml/2006/main">
              <a:ext uri="{FF2B5EF4-FFF2-40B4-BE49-F238E27FC236}">
                <a16:creationId xmlns:a16="http://schemas.microsoft.com/office/drawing/2014/main" id="{0D27A059-9F95-4058-85CF-08583AE89ABE}"/>
              </a:ext>
            </a:extLst>
          </p:cNvPr>
          <p:cNvSpPr>
            <a:spLocks xmlns:a="http://schemas.openxmlformats.org/drawingml/2006/main" noGrp="1"/>
          </p:cNvSpPr>
          <p:nvPr/>
        </p:nvSpPr>
        <p:spPr>
          <a:xfrm xmlns:a="http://schemas.openxmlformats.org/drawingml/2006/main">
            <a:off x="11668125" y="694372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93E"/>
                </a:solidFill>
                <a:latin typeface="Calibri"/>
                <a:ea typeface="Calibri"/>
                <a:cs typeface="Calibri"/>
              </a:defRPr>
            </a:pPr>
            <a:r>
              <a:rPr sz="1725" b="0">
                <a:solidFill>
                  <a:srgbClr val="10293E"/>
                </a:solidFill>
                <a:latin typeface="Calibri"/>
                <a:ea typeface="Calibri"/>
                <a:cs typeface="Calibri"/>
              </a:rPr>
              <a:t>Legacy coexistence state</a:t>
            </a:r>
          </a:p>
        </p:txBody>
      </p:sp>
    </p:spTree>
    <p:extLst>
      <p:ext uri="{BB962C8B-B14F-4D97-AF65-F5344CB8AC3E}">
        <p14:creationId xmlns:p14="http://schemas.microsoft.com/office/powerpoint/2010/main" val="21414243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abel-58">
            <a:extLst xmlns:a="http://schemas.openxmlformats.org/drawingml/2006/main">
              <a:ext uri="{FF2B5EF4-FFF2-40B4-BE49-F238E27FC236}">
                <a16:creationId xmlns:a16="http://schemas.microsoft.com/office/drawing/2014/main" id="{98614FAD-E79C-4E96-A3D2-9CFA26521782}"/>
              </a:ext>
            </a:extLst>
          </p:cNvPr>
          <p:cNvSpPr>
            <a:spLocks xmlns:a="http://schemas.openxmlformats.org/drawingml/2006/main" noGrp="1"/>
          </p:cNvSpPr>
          <p:nvPr/>
        </p:nvSpPr>
        <p:spPr>
          <a:xfrm xmlns:a="http://schemas.openxmlformats.org/drawingml/2006/main">
            <a:off x="571500" y="26670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476074"/>
                </a:solidFill>
                <a:latin typeface="Calibri"/>
                <a:ea typeface="Calibri"/>
                <a:cs typeface="Calibri"/>
              </a:defRPr>
            </a:pPr>
            <a:r>
              <a:rPr sz="1275" b="1">
                <a:solidFill>
                  <a:srgbClr val="476074"/>
                </a:solidFill>
                <a:latin typeface="Calibri"/>
                <a:ea typeface="Calibri"/>
                <a:cs typeface="Calibri"/>
              </a:rPr>
              <a:t>EUROCLEAR B2B CIAM</a:t>
            </a:r>
          </a:p>
        </p:txBody>
      </p:sp>
      <p:sp>
        <p:nvSpPr>
          <p:cNvPr id="2" name="label-59">
            <a:extLst xmlns:a="http://schemas.openxmlformats.org/drawingml/2006/main">
              <a:ext uri="{FF2B5EF4-FFF2-40B4-BE49-F238E27FC236}">
                <a16:creationId xmlns:a16="http://schemas.microsoft.com/office/drawing/2014/main" id="{D6F97E0F-35D1-4D18-A23C-C1A204E46EA3}"/>
              </a:ext>
            </a:extLst>
          </p:cNvPr>
          <p:cNvSpPr>
            <a:spLocks xmlns:a="http://schemas.openxmlformats.org/drawingml/2006/main" noGrp="1"/>
          </p:cNvSpPr>
          <p:nvPr/>
        </p:nvSpPr>
        <p:spPr>
          <a:xfrm xmlns:a="http://schemas.openxmlformats.org/drawingml/2006/main">
            <a:off x="571500" y="638175"/>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93E"/>
                </a:solidFill>
                <a:latin typeface="Calibri"/>
                <a:ea typeface="Calibri"/>
                <a:cs typeface="Calibri"/>
              </a:defRPr>
            </a:pPr>
            <a:r>
              <a:rPr sz="3300" b="1">
                <a:solidFill>
                  <a:srgbClr val="10293E"/>
                </a:solidFill>
                <a:latin typeface="Calibri"/>
                <a:ea typeface="Calibri"/>
                <a:cs typeface="Calibri"/>
              </a:rPr>
              <a:t>Client population combinations</a:t>
            </a:r>
          </a:p>
        </p:txBody>
      </p:sp>
      <p:sp>
        <p:nvSpPr>
          <p:cNvPr id="3" name="label-60">
            <a:extLst xmlns:a="http://schemas.openxmlformats.org/drawingml/2006/main">
              <a:ext uri="{FF2B5EF4-FFF2-40B4-BE49-F238E27FC236}">
                <a16:creationId xmlns:a16="http://schemas.microsoft.com/office/drawing/2014/main" id="{9855DEB3-8513-46DC-91D3-9BFDC86357AD}"/>
              </a:ext>
            </a:extLst>
          </p:cNvPr>
          <p:cNvSpPr>
            <a:spLocks xmlns:a="http://schemas.openxmlformats.org/drawingml/2006/main" noGrp="1"/>
          </p:cNvSpPr>
          <p:nvPr/>
        </p:nvSpPr>
        <p:spPr>
          <a:xfrm xmlns:a="http://schemas.openxmlformats.org/drawingml/2006/main">
            <a:off x="571500" y="1247775"/>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76074"/>
                </a:solidFill>
                <a:latin typeface="Calibri"/>
                <a:ea typeface="Calibri"/>
                <a:cs typeface="Calibri"/>
              </a:defRPr>
            </a:pPr>
            <a:r>
              <a:rPr sz="1725" b="0">
                <a:solidFill>
                  <a:srgbClr val="476074"/>
                </a:solidFill>
                <a:latin typeface="Calibri"/>
                <a:ea typeface="Calibri"/>
                <a:cs typeface="Calibri"/>
              </a:rPr>
              <a:t>The four supplied families produce 15 possible non-empty exact cohorts. Actual populations require confirmation.</a:t>
            </a:r>
          </a:p>
        </p:txBody>
      </p:sp>
      <p:sp>
        <p:nvSpPr>
          <p:cNvPr id="4" name="rule-61">
            <a:extLst xmlns:a="http://schemas.openxmlformats.org/drawingml/2006/main">
              <a:ext uri="{FF2B5EF4-FFF2-40B4-BE49-F238E27FC236}">
                <a16:creationId xmlns:a16="http://schemas.microsoft.com/office/drawing/2014/main" id="{80012993-34EE-4EB5-BC0A-C3C02F827E2D}"/>
              </a:ext>
            </a:extLst>
          </p:cNvPr>
          <p:cNvSpPr>
            <a:spLocks xmlns:a="http://schemas.openxmlformats.org/drawingml/2006/main" noGrp="1"/>
          </p:cNvSpPr>
          <p:nvPr/>
        </p:nvSpPr>
        <p:spPr>
          <a:xfrm xmlns:a="http://schemas.openxmlformats.org/drawingml/2006/main">
            <a:off x="571500" y="7858125"/>
            <a:ext cx="14097000" cy="0"/>
          </a:xfrm>
          <a:prstGeom xmlns:a="http://schemas.openxmlformats.org/drawingml/2006/main" prst="line">
            <a:avLst/>
          </a:prstGeom>
          <a:noFill xmlns:a="http://schemas.openxmlformats.org/drawingml/2006/main"/>
          <a:ln xmlns:a="http://schemas.openxmlformats.org/drawingml/2006/main" w="12383">
            <a:solidFill>
              <a:srgbClr val="CBD5DD"/>
            </a:solidFill>
          </a:ln>
        </p:spPr>
      </p:sp>
      <p:sp>
        <p:nvSpPr>
          <p:cNvPr id="5" name="label-62">
            <a:extLst xmlns:a="http://schemas.openxmlformats.org/drawingml/2006/main">
              <a:ext uri="{FF2B5EF4-FFF2-40B4-BE49-F238E27FC236}">
                <a16:creationId xmlns:a16="http://schemas.microsoft.com/office/drawing/2014/main" id="{B9BF3CF5-BE66-4EF1-8BFC-4B0D1EC49F16}"/>
              </a:ext>
            </a:extLst>
          </p:cNvPr>
          <p:cNvSpPr>
            <a:spLocks xmlns:a="http://schemas.openxmlformats.org/drawingml/2006/main" noGrp="1"/>
          </p:cNvSpPr>
          <p:nvPr/>
        </p:nvSpPr>
        <p:spPr>
          <a:xfrm xmlns:a="http://schemas.openxmlformats.org/drawingml/2006/main">
            <a:off x="571500" y="8058150"/>
            <a:ext cx="1314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76074"/>
                </a:solidFill>
                <a:latin typeface="Calibri"/>
                <a:ea typeface="Calibri"/>
                <a:cs typeface="Calibri"/>
              </a:defRPr>
            </a:pPr>
            <a:r>
              <a:rPr sz="1275" b="0">
                <a:solidFill>
                  <a:srgbClr val="476074"/>
                </a:solidFill>
                <a:latin typeface="Calibri"/>
                <a:ea typeface="Calibri"/>
                <a:cs typeface="Calibri"/>
              </a:rPr>
              <a:t>Proposed persona model   7 October 2026   Companion to Deliverable 1 v0.2</a:t>
            </a:r>
          </a:p>
        </p:txBody>
      </p:sp>
      <p:sp>
        <p:nvSpPr>
          <p:cNvPr id="6" name="label-63">
            <a:extLst xmlns:a="http://schemas.openxmlformats.org/drawingml/2006/main">
              <a:ext uri="{FF2B5EF4-FFF2-40B4-BE49-F238E27FC236}">
                <a16:creationId xmlns:a16="http://schemas.microsoft.com/office/drawing/2014/main" id="{7F837F37-FCD7-419C-B247-FBD83AB20723}"/>
              </a:ext>
            </a:extLst>
          </p:cNvPr>
          <p:cNvSpPr>
            <a:spLocks xmlns:a="http://schemas.openxmlformats.org/drawingml/2006/main" noGrp="1"/>
          </p:cNvSpPr>
          <p:nvPr/>
        </p:nvSpPr>
        <p:spPr>
          <a:xfrm xmlns:a="http://schemas.openxmlformats.org/drawingml/2006/main">
            <a:off x="14144625" y="8039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6074"/>
                </a:solidFill>
                <a:latin typeface="Calibri"/>
                <a:ea typeface="Calibri"/>
                <a:cs typeface="Calibri"/>
              </a:defRPr>
            </a:pPr>
            <a:r>
              <a:rPr sz="1350" b="0">
                <a:solidFill>
                  <a:srgbClr val="476074"/>
                </a:solidFill>
                <a:latin typeface="Calibri"/>
                <a:ea typeface="Calibri"/>
                <a:cs typeface="Calibri"/>
              </a:rPr>
              <a:t>3</a:t>
            </a:r>
          </a:p>
        </p:txBody>
      </p:sp>
      <p:graphicFrame>
        <p:nvGraphicFramePr>
          <p:cNvPr id="22" name=""/>
          <p:cNvGraphicFramePr/>
          <p:nvPr/>
        </p:nvGraphicFramePr>
        <p:xfrm>
          <a:off xmlns:a="http://schemas.openxmlformats.org/drawingml/2006/main" x="571500" y="1895475"/>
          <a:ext xmlns:a="http://schemas.openxmlformats.org/drawingml/2006/main" cx="10363200" cy="5762625"/>
        </p:xfrm>
        <a:graphic xmlns:a="http://schemas.openxmlformats.org/drawingml/2006/main">
          <a:graphicData uri="http://schemas.openxmlformats.org/drawingml/2006/table">
            <a:tbl>
              <a:tblPr firstRow="0" bandRow="0"/>
              <a:tblGrid>
                <a:gridCol w="5324475"/>
                <a:gridCol w="1095375"/>
                <a:gridCol w="1200150"/>
                <a:gridCol w="1095375"/>
                <a:gridCol w="1647825"/>
              </a:tblGrid>
              <a:tr h="360164">
                <a:tc>
                  <a:txBody>
                    <a:bodyPr lIns="95250" tIns="47625" rIns="95250" bIns="47625">
                      <a:noAutofit/>
                    </a:bodyPr>
                    <a:lstStyle/>
                    <a:p>
                      <a:pPr algn="l"/>
                      <a:r>
                        <a:rPr sz="1725" b="1">
                          <a:solidFill>
                            <a:srgbClr val="FFFFFF"/>
                          </a:solidFill>
                          <a:latin typeface="Calibri"/>
                          <a:ea typeface="Calibri"/>
                          <a:cs typeface="Calibri"/>
                        </a:rPr>
                        <a:t>Exact membership set</a:t>
                      </a:r>
                    </a:p>
                  </a:txBody>
                  <a:tcPr marL="91440" marR="91440" marT="45720" marB="45720" anchor="ctr">
                    <a:solidFill>
                      <a:srgbClr val="10293E"/>
                    </a:solidFill>
                  </a:tcPr>
                </a:tc>
                <a:tc>
                  <a:txBody>
                    <a:bodyPr lIns="95250" tIns="47625" rIns="95250" bIns="47625">
                      <a:noAutofit/>
                    </a:bodyPr>
                    <a:lstStyle/>
                    <a:p>
                      <a:pPr algn="ctr"/>
                      <a:r>
                        <a:rPr sz="1725" b="1">
                          <a:solidFill>
                            <a:srgbClr val="FFFFFF"/>
                          </a:solidFill>
                          <a:latin typeface="Calibri"/>
                          <a:ea typeface="Calibri"/>
                          <a:cs typeface="Calibri"/>
                        </a:rPr>
                        <a:t>EB</a:t>
                      </a:r>
                    </a:p>
                  </a:txBody>
                  <a:tcPr marL="91440" marR="91440" marT="45720" marB="45720" anchor="ctr">
                    <a:solidFill>
                      <a:srgbClr val="10293E"/>
                    </a:solidFill>
                  </a:tcPr>
                </a:tc>
                <a:tc>
                  <a:txBody>
                    <a:bodyPr lIns="95250" tIns="47625" rIns="95250" bIns="47625">
                      <a:noAutofit/>
                    </a:bodyPr>
                    <a:lstStyle/>
                    <a:p>
                      <a:pPr algn="ctr"/>
                      <a:r>
                        <a:rPr sz="1725" b="1">
                          <a:solidFill>
                            <a:srgbClr val="FFFFFF"/>
                          </a:solidFill>
                          <a:latin typeface="Calibri"/>
                          <a:ea typeface="Calibri"/>
                          <a:cs typeface="Calibri"/>
                        </a:rPr>
                        <a:t>ESES</a:t>
                      </a:r>
                    </a:p>
                  </a:txBody>
                  <a:tcPr marL="91440" marR="91440" marT="45720" marB="45720" anchor="ctr">
                    <a:solidFill>
                      <a:srgbClr val="10293E"/>
                    </a:solidFill>
                  </a:tcPr>
                </a:tc>
                <a:tc>
                  <a:txBody>
                    <a:bodyPr lIns="95250" tIns="47625" rIns="95250" bIns="47625">
                      <a:noAutofit/>
                    </a:bodyPr>
                    <a:lstStyle/>
                    <a:p>
                      <a:pPr algn="ctr"/>
                      <a:r>
                        <a:rPr sz="1725" b="1">
                          <a:solidFill>
                            <a:srgbClr val="FFFFFF"/>
                          </a:solidFill>
                          <a:latin typeface="Calibri"/>
                          <a:ea typeface="Calibri"/>
                          <a:cs typeface="Calibri"/>
                        </a:rPr>
                        <a:t>EUI</a:t>
                      </a:r>
                    </a:p>
                  </a:txBody>
                  <a:tcPr marL="91440" marR="91440" marT="45720" marB="45720" anchor="ctr">
                    <a:solidFill>
                      <a:srgbClr val="10293E"/>
                    </a:solidFill>
                  </a:tcPr>
                </a:tc>
                <a:tc>
                  <a:txBody>
                    <a:bodyPr lIns="95250" tIns="47625" rIns="95250" bIns="47625">
                      <a:noAutofit/>
                    </a:bodyPr>
                    <a:lstStyle/>
                    <a:p>
                      <a:pPr algn="ctr"/>
                      <a:r>
                        <a:rPr sz="1725" b="1">
                          <a:solidFill>
                            <a:srgbClr val="FFFFFF"/>
                          </a:solidFill>
                          <a:latin typeface="Calibri"/>
                          <a:ea typeface="Calibri"/>
                          <a:cs typeface="Calibri"/>
                        </a:rPr>
                        <a:t>Nordics</a:t>
                      </a:r>
                    </a:p>
                  </a:txBody>
                  <a:tcPr marL="91440" marR="91440" marT="45720" marB="45720" anchor="ctr">
                    <a:solidFill>
                      <a:srgbClr val="10293E"/>
                    </a:solidFill>
                  </a:tcPr>
                </a:tc>
              </a:tr>
              <a:tr h="360164">
                <a:tc>
                  <a:txBody>
                    <a:bodyPr lIns="95250" tIns="47625" rIns="95250" bIns="47625">
                      <a:noAutofit/>
                    </a:bodyPr>
                    <a:lstStyle/>
                    <a:p>
                      <a:pPr algn="l"/>
                      <a:r>
                        <a:rPr sz="1725" b="0">
                          <a:solidFill>
                            <a:srgbClr val="10293E"/>
                          </a:solidFill>
                          <a:latin typeface="Calibri"/>
                          <a:ea typeface="Calibri"/>
                          <a:cs typeface="Calibri"/>
                        </a:rPr>
                        <a:t>EB</a:t>
                      </a:r>
                    </a:p>
                  </a:txBody>
                  <a:tcPr marL="91440" marR="91440" marT="45720" marB="45720" anchor="ctr">
                    <a:solidFill>
                      <a:srgbClr val="FFFFFF"/>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FFFFF"/>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FFFFF"/>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FFFFF"/>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FFFFF"/>
                    </a:solidFill>
                  </a:tcPr>
                </a:tc>
              </a:tr>
              <a:tr h="360164">
                <a:tc>
                  <a:txBody>
                    <a:bodyPr lIns="95250" tIns="47625" rIns="95250" bIns="47625">
                      <a:noAutofit/>
                    </a:bodyPr>
                    <a:lstStyle/>
                    <a:p>
                      <a:pPr algn="l"/>
                      <a:r>
                        <a:rPr sz="1725" b="0">
                          <a:solidFill>
                            <a:srgbClr val="10293E"/>
                          </a:solidFill>
                          <a:latin typeface="Calibri"/>
                          <a:ea typeface="Calibri"/>
                          <a:cs typeface="Calibri"/>
                        </a:rPr>
                        <a:t>ESES</a:t>
                      </a:r>
                    </a:p>
                  </a:txBody>
                  <a:tcPr marL="91440" marR="91440" marT="45720" marB="45720" anchor="ctr">
                    <a:solidFill>
                      <a:srgbClr val="F4F6F8"/>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4F6F8"/>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4F6F8"/>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4F6F8"/>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4F6F8"/>
                    </a:solidFill>
                  </a:tcPr>
                </a:tc>
              </a:tr>
              <a:tr h="360164">
                <a:tc>
                  <a:txBody>
                    <a:bodyPr lIns="95250" tIns="47625" rIns="95250" bIns="47625">
                      <a:noAutofit/>
                    </a:bodyPr>
                    <a:lstStyle/>
                    <a:p>
                      <a:pPr algn="l"/>
                      <a:r>
                        <a:rPr sz="1725" b="0">
                          <a:solidFill>
                            <a:srgbClr val="10293E"/>
                          </a:solidFill>
                          <a:latin typeface="Calibri"/>
                          <a:ea typeface="Calibri"/>
                          <a:cs typeface="Calibri"/>
                        </a:rPr>
                        <a:t>EUI</a:t>
                      </a:r>
                    </a:p>
                  </a:txBody>
                  <a:tcPr marL="91440" marR="91440" marT="45720" marB="45720" anchor="ctr">
                    <a:solidFill>
                      <a:srgbClr val="FFFFFF"/>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FFFFF"/>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FFFFF"/>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FFFFF"/>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FFFFF"/>
                    </a:solidFill>
                  </a:tcPr>
                </a:tc>
              </a:tr>
              <a:tr h="360164">
                <a:tc>
                  <a:txBody>
                    <a:bodyPr lIns="95250" tIns="47625" rIns="95250" bIns="47625">
                      <a:noAutofit/>
                    </a:bodyPr>
                    <a:lstStyle/>
                    <a:p>
                      <a:pPr algn="l"/>
                      <a:r>
                        <a:rPr sz="1725" b="0">
                          <a:solidFill>
                            <a:srgbClr val="10293E"/>
                          </a:solidFill>
                          <a:latin typeface="Calibri"/>
                          <a:ea typeface="Calibri"/>
                          <a:cs typeface="Calibri"/>
                        </a:rPr>
                        <a:t>Nordics</a:t>
                      </a:r>
                    </a:p>
                  </a:txBody>
                  <a:tcPr marL="91440" marR="91440" marT="45720" marB="45720" anchor="ctr">
                    <a:solidFill>
                      <a:srgbClr val="F4F6F8"/>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4F6F8"/>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4F6F8"/>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4F6F8"/>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4F6F8"/>
                    </a:solidFill>
                  </a:tcPr>
                </a:tc>
              </a:tr>
              <a:tr h="360164">
                <a:tc>
                  <a:txBody>
                    <a:bodyPr lIns="95250" tIns="47625" rIns="95250" bIns="47625">
                      <a:noAutofit/>
                    </a:bodyPr>
                    <a:lstStyle/>
                    <a:p>
                      <a:pPr algn="l"/>
                      <a:r>
                        <a:rPr sz="1725" b="0">
                          <a:solidFill>
                            <a:srgbClr val="10293E"/>
                          </a:solidFill>
                          <a:latin typeface="Calibri"/>
                          <a:ea typeface="Calibri"/>
                          <a:cs typeface="Calibri"/>
                        </a:rPr>
                        <a:t>EB + ESES</a:t>
                      </a:r>
                    </a:p>
                  </a:txBody>
                  <a:tcPr marL="91440" marR="91440" marT="45720" marB="45720" anchor="ctr">
                    <a:solidFill>
                      <a:srgbClr val="E2F0FA"/>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E2F0FA"/>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E2F0FA"/>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E2F0FA"/>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E2F0FA"/>
                    </a:solidFill>
                  </a:tcPr>
                </a:tc>
              </a:tr>
              <a:tr h="360164">
                <a:tc>
                  <a:txBody>
                    <a:bodyPr lIns="95250" tIns="47625" rIns="95250" bIns="47625">
                      <a:noAutofit/>
                    </a:bodyPr>
                    <a:lstStyle/>
                    <a:p>
                      <a:pPr algn="l"/>
                      <a:r>
                        <a:rPr sz="1725" b="0">
                          <a:solidFill>
                            <a:srgbClr val="10293E"/>
                          </a:solidFill>
                          <a:latin typeface="Calibri"/>
                          <a:ea typeface="Calibri"/>
                          <a:cs typeface="Calibri"/>
                        </a:rPr>
                        <a:t>EB + EUI</a:t>
                      </a:r>
                    </a:p>
                  </a:txBody>
                  <a:tcPr marL="91440" marR="91440" marT="45720" marB="45720" anchor="ctr">
                    <a:solidFill>
                      <a:srgbClr val="F4F6F8"/>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4F6F8"/>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4F6F8"/>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4F6F8"/>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4F6F8"/>
                    </a:solidFill>
                  </a:tcPr>
                </a:tc>
              </a:tr>
              <a:tr h="360164">
                <a:tc>
                  <a:txBody>
                    <a:bodyPr lIns="95250" tIns="47625" rIns="95250" bIns="47625">
                      <a:noAutofit/>
                    </a:bodyPr>
                    <a:lstStyle/>
                    <a:p>
                      <a:pPr algn="l"/>
                      <a:r>
                        <a:rPr sz="1725" b="0">
                          <a:solidFill>
                            <a:srgbClr val="10293E"/>
                          </a:solidFill>
                          <a:latin typeface="Calibri"/>
                          <a:ea typeface="Calibri"/>
                          <a:cs typeface="Calibri"/>
                        </a:rPr>
                        <a:t>EB + Nordics</a:t>
                      </a:r>
                    </a:p>
                  </a:txBody>
                  <a:tcPr marL="91440" marR="91440" marT="45720" marB="45720" anchor="ctr">
                    <a:solidFill>
                      <a:srgbClr val="FFFFFF"/>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FFFFF"/>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FFFFF"/>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FFFFF"/>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FFFFF"/>
                    </a:solidFill>
                  </a:tcPr>
                </a:tc>
              </a:tr>
              <a:tr h="360164">
                <a:tc>
                  <a:txBody>
                    <a:bodyPr lIns="95250" tIns="47625" rIns="95250" bIns="47625">
                      <a:noAutofit/>
                    </a:bodyPr>
                    <a:lstStyle/>
                    <a:p>
                      <a:pPr algn="l"/>
                      <a:r>
                        <a:rPr sz="1725" b="0">
                          <a:solidFill>
                            <a:srgbClr val="10293E"/>
                          </a:solidFill>
                          <a:latin typeface="Calibri"/>
                          <a:ea typeface="Calibri"/>
                          <a:cs typeface="Calibri"/>
                        </a:rPr>
                        <a:t>ESES + EUI</a:t>
                      </a:r>
                    </a:p>
                  </a:txBody>
                  <a:tcPr marL="91440" marR="91440" marT="45720" marB="45720" anchor="ctr">
                    <a:solidFill>
                      <a:srgbClr val="F4F6F8"/>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4F6F8"/>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4F6F8"/>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4F6F8"/>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4F6F8"/>
                    </a:solidFill>
                  </a:tcPr>
                </a:tc>
              </a:tr>
              <a:tr h="360164">
                <a:tc>
                  <a:txBody>
                    <a:bodyPr lIns="95250" tIns="47625" rIns="95250" bIns="47625">
                      <a:noAutofit/>
                    </a:bodyPr>
                    <a:lstStyle/>
                    <a:p>
                      <a:pPr algn="l"/>
                      <a:r>
                        <a:rPr sz="1725" b="0">
                          <a:solidFill>
                            <a:srgbClr val="10293E"/>
                          </a:solidFill>
                          <a:latin typeface="Calibri"/>
                          <a:ea typeface="Calibri"/>
                          <a:cs typeface="Calibri"/>
                        </a:rPr>
                        <a:t>ESES + Nordics</a:t>
                      </a:r>
                    </a:p>
                  </a:txBody>
                  <a:tcPr marL="91440" marR="91440" marT="45720" marB="45720" anchor="ctr">
                    <a:solidFill>
                      <a:srgbClr val="FFFFFF"/>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FFFFF"/>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FFFFF"/>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FFFFF"/>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FFFFF"/>
                    </a:solidFill>
                  </a:tcPr>
                </a:tc>
              </a:tr>
              <a:tr h="360164">
                <a:tc>
                  <a:txBody>
                    <a:bodyPr lIns="95250" tIns="47625" rIns="95250" bIns="47625">
                      <a:noAutofit/>
                    </a:bodyPr>
                    <a:lstStyle/>
                    <a:p>
                      <a:pPr algn="l"/>
                      <a:r>
                        <a:rPr sz="1725" b="0">
                          <a:solidFill>
                            <a:srgbClr val="10293E"/>
                          </a:solidFill>
                          <a:latin typeface="Calibri"/>
                          <a:ea typeface="Calibri"/>
                          <a:cs typeface="Calibri"/>
                        </a:rPr>
                        <a:t>EUI + Nordics</a:t>
                      </a:r>
                    </a:p>
                  </a:txBody>
                  <a:tcPr marL="91440" marR="91440" marT="45720" marB="45720" anchor="ctr">
                    <a:solidFill>
                      <a:srgbClr val="F4F6F8"/>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4F6F8"/>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4F6F8"/>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4F6F8"/>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4F6F8"/>
                    </a:solidFill>
                  </a:tcPr>
                </a:tc>
              </a:tr>
              <a:tr h="360164">
                <a:tc>
                  <a:txBody>
                    <a:bodyPr lIns="95250" tIns="47625" rIns="95250" bIns="47625">
                      <a:noAutofit/>
                    </a:bodyPr>
                    <a:lstStyle/>
                    <a:p>
                      <a:pPr algn="l"/>
                      <a:r>
                        <a:rPr sz="1725" b="0">
                          <a:solidFill>
                            <a:srgbClr val="10293E"/>
                          </a:solidFill>
                          <a:latin typeface="Calibri"/>
                          <a:ea typeface="Calibri"/>
                          <a:cs typeface="Calibri"/>
                        </a:rPr>
                        <a:t>EB + ESES + EUI</a:t>
                      </a:r>
                    </a:p>
                  </a:txBody>
                  <a:tcPr marL="91440" marR="91440" marT="45720" marB="45720" anchor="ctr">
                    <a:solidFill>
                      <a:srgbClr val="E2F0FA"/>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E2F0FA"/>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E2F0FA"/>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E2F0FA"/>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E2F0FA"/>
                    </a:solidFill>
                  </a:tcPr>
                </a:tc>
              </a:tr>
              <a:tr h="360164">
                <a:tc>
                  <a:txBody>
                    <a:bodyPr lIns="95250" tIns="47625" rIns="95250" bIns="47625">
                      <a:noAutofit/>
                    </a:bodyPr>
                    <a:lstStyle/>
                    <a:p>
                      <a:pPr algn="l"/>
                      <a:r>
                        <a:rPr sz="1725" b="0">
                          <a:solidFill>
                            <a:srgbClr val="10293E"/>
                          </a:solidFill>
                          <a:latin typeface="Calibri"/>
                          <a:ea typeface="Calibri"/>
                          <a:cs typeface="Calibri"/>
                        </a:rPr>
                        <a:t>EB + ESES + Nordics</a:t>
                      </a:r>
                    </a:p>
                  </a:txBody>
                  <a:tcPr marL="91440" marR="91440" marT="45720" marB="45720" anchor="ctr">
                    <a:solidFill>
                      <a:srgbClr val="E2F0FA"/>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E2F0FA"/>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E2F0FA"/>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E2F0FA"/>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E2F0FA"/>
                    </a:solidFill>
                  </a:tcPr>
                </a:tc>
              </a:tr>
              <a:tr h="360164">
                <a:tc>
                  <a:txBody>
                    <a:bodyPr lIns="95250" tIns="47625" rIns="95250" bIns="47625">
                      <a:noAutofit/>
                    </a:bodyPr>
                    <a:lstStyle/>
                    <a:p>
                      <a:pPr algn="l"/>
                      <a:r>
                        <a:rPr sz="1725" b="0">
                          <a:solidFill>
                            <a:srgbClr val="10293E"/>
                          </a:solidFill>
                          <a:latin typeface="Calibri"/>
                          <a:ea typeface="Calibri"/>
                          <a:cs typeface="Calibri"/>
                        </a:rPr>
                        <a:t>EB + EUI + Nordics</a:t>
                      </a:r>
                    </a:p>
                  </a:txBody>
                  <a:tcPr marL="91440" marR="91440" marT="45720" marB="45720" anchor="ctr">
                    <a:solidFill>
                      <a:srgbClr val="FFFFFF"/>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FFFFF"/>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FFFFF"/>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FFFFF"/>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FFFFF"/>
                    </a:solidFill>
                  </a:tcPr>
                </a:tc>
              </a:tr>
              <a:tr h="360164">
                <a:tc>
                  <a:txBody>
                    <a:bodyPr lIns="95250" tIns="47625" rIns="95250" bIns="47625">
                      <a:noAutofit/>
                    </a:bodyPr>
                    <a:lstStyle/>
                    <a:p>
                      <a:pPr algn="l"/>
                      <a:r>
                        <a:rPr sz="1725" b="0">
                          <a:solidFill>
                            <a:srgbClr val="10293E"/>
                          </a:solidFill>
                          <a:latin typeface="Calibri"/>
                          <a:ea typeface="Calibri"/>
                          <a:cs typeface="Calibri"/>
                        </a:rPr>
                        <a:t>ESES + EUI + Nordics</a:t>
                      </a:r>
                    </a:p>
                  </a:txBody>
                  <a:tcPr marL="91440" marR="91440" marT="45720" marB="45720" anchor="ctr">
                    <a:solidFill>
                      <a:srgbClr val="F4F6F8"/>
                    </a:solidFill>
                  </a:tcPr>
                </a:tc>
                <a:tc>
                  <a:txBody>
                    <a:bodyPr lIns="95250" tIns="47625" rIns="95250" bIns="47625">
                      <a:noAutofit/>
                    </a:bodyPr>
                    <a:lstStyle/>
                    <a:p>
                      <a:r>
                        <a:rPr sz="1725" b="0">
                          <a:solidFill>
                            <a:srgbClr val="10293E"/>
                          </a:solidFill>
                          <a:latin typeface="Calibri"/>
                          <a:ea typeface="Calibri"/>
                          <a:cs typeface="Calibri"/>
                        </a:rPr>
                        <a:t/>
                      </a:r>
                    </a:p>
                  </a:txBody>
                  <a:tcPr marL="91440" marR="91440" marT="45720" marB="45720" anchor="ctr">
                    <a:solidFill>
                      <a:srgbClr val="F4F6F8"/>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4F6F8"/>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4F6F8"/>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F4F6F8"/>
                    </a:solidFill>
                  </a:tcPr>
                </a:tc>
              </a:tr>
              <a:tr h="360164">
                <a:tc>
                  <a:txBody>
                    <a:bodyPr lIns="95250" tIns="47625" rIns="95250" bIns="47625">
                      <a:noAutofit/>
                    </a:bodyPr>
                    <a:lstStyle/>
                    <a:p>
                      <a:pPr algn="l"/>
                      <a:r>
                        <a:rPr sz="1725" b="0">
                          <a:solidFill>
                            <a:srgbClr val="10293E"/>
                          </a:solidFill>
                          <a:latin typeface="Calibri"/>
                          <a:ea typeface="Calibri"/>
                          <a:cs typeface="Calibri"/>
                        </a:rPr>
                        <a:t>EB + ESES + EUI + Nordics</a:t>
                      </a:r>
                    </a:p>
                  </a:txBody>
                  <a:tcPr marL="91440" marR="91440" marT="45720" marB="45720" anchor="ctr">
                    <a:solidFill>
                      <a:srgbClr val="E2F0FA"/>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E2F0FA"/>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E2F0FA"/>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E2F0FA"/>
                    </a:solidFill>
                  </a:tcPr>
                </a:tc>
                <a:tc>
                  <a:txBody>
                    <a:bodyPr lIns="95250" tIns="47625" rIns="95250" bIns="47625">
                      <a:noAutofit/>
                    </a:bodyPr>
                    <a:lstStyle/>
                    <a:p>
                      <a:pPr algn="ctr"/>
                      <a:r>
                        <a:rPr sz="1725" b="0">
                          <a:solidFill>
                            <a:srgbClr val="10293E"/>
                          </a:solidFill>
                          <a:latin typeface="Calibri"/>
                          <a:ea typeface="Calibri"/>
                          <a:cs typeface="Calibri"/>
                        </a:rPr>
                        <a:t>Yes</a:t>
                      </a:r>
                    </a:p>
                  </a:txBody>
                  <a:tcPr marL="91440" marR="91440" marT="45720" marB="45720" anchor="ctr">
                    <a:solidFill>
                      <a:srgbClr val="E2F0FA"/>
                    </a:solidFill>
                  </a:tcPr>
                </a:tc>
              </a:tr>
            </a:tbl>
          </a:graphicData>
        </a:graphic>
      </p:graphicFrame>
      <p:sp>
        <p:nvSpPr>
          <p:cNvPr id="8" name="label-64">
            <a:extLst xmlns:a="http://schemas.openxmlformats.org/drawingml/2006/main">
              <a:ext uri="{FF2B5EF4-FFF2-40B4-BE49-F238E27FC236}">
                <a16:creationId xmlns:a16="http://schemas.microsoft.com/office/drawing/2014/main" id="{22264641-D300-4D25-B070-F2EE04DDD48C}"/>
              </a:ext>
            </a:extLst>
          </p:cNvPr>
          <p:cNvSpPr>
            <a:spLocks xmlns:a="http://schemas.openxmlformats.org/drawingml/2006/main" noGrp="1"/>
          </p:cNvSpPr>
          <p:nvPr/>
        </p:nvSpPr>
        <p:spPr>
          <a:xfrm xmlns:a="http://schemas.openxmlformats.org/drawingml/2006/main">
            <a:off x="11430000" y="20955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E5A88"/>
                </a:solidFill>
                <a:latin typeface="Calibri"/>
                <a:ea typeface="Calibri"/>
                <a:cs typeface="Calibri"/>
              </a:defRPr>
            </a:pPr>
            <a:r>
              <a:rPr sz="1575" b="1">
                <a:solidFill>
                  <a:srgbClr val="1E5A88"/>
                </a:solidFill>
                <a:latin typeface="Calibri"/>
                <a:ea typeface="Calibri"/>
                <a:cs typeface="Calibri"/>
              </a:rPr>
              <a:t>INCLUSIVE INTERSECTION</a:t>
            </a:r>
          </a:p>
        </p:txBody>
      </p:sp>
      <p:sp>
        <p:nvSpPr>
          <p:cNvPr id="9" name="label-65">
            <a:extLst xmlns:a="http://schemas.openxmlformats.org/drawingml/2006/main">
              <a:ext uri="{FF2B5EF4-FFF2-40B4-BE49-F238E27FC236}">
                <a16:creationId xmlns:a16="http://schemas.microsoft.com/office/drawing/2014/main" id="{5AEF0548-5D2F-42DF-B326-05142934F092}"/>
              </a:ext>
            </a:extLst>
          </p:cNvPr>
          <p:cNvSpPr>
            <a:spLocks xmlns:a="http://schemas.openxmlformats.org/drawingml/2006/main" noGrp="1"/>
          </p:cNvSpPr>
          <p:nvPr/>
        </p:nvSpPr>
        <p:spPr>
          <a:xfrm xmlns:a="http://schemas.openxmlformats.org/drawingml/2006/main">
            <a:off x="11430000" y="26955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E5A88"/>
                </a:solidFill>
                <a:latin typeface="Calibri"/>
                <a:ea typeface="Calibri"/>
                <a:cs typeface="Calibri"/>
              </a:defRPr>
            </a:pPr>
            <a:r>
              <a:rPr sz="2850" b="1">
                <a:solidFill>
                  <a:srgbClr val="1E5A88"/>
                </a:solidFill>
                <a:latin typeface="Calibri"/>
                <a:ea typeface="Calibri"/>
                <a:cs typeface="Calibri"/>
              </a:rPr>
              <a:t>EB ∩ ESES</a:t>
            </a:r>
          </a:p>
        </p:txBody>
      </p:sp>
      <p:sp>
        <p:nvSpPr>
          <p:cNvPr id="10" name="label-66">
            <a:extLst xmlns:a="http://schemas.openxmlformats.org/drawingml/2006/main">
              <a:ext uri="{FF2B5EF4-FFF2-40B4-BE49-F238E27FC236}">
                <a16:creationId xmlns:a16="http://schemas.microsoft.com/office/drawing/2014/main" id="{77FF927E-2AE1-4756-87F9-7576B6818C85}"/>
              </a:ext>
            </a:extLst>
          </p:cNvPr>
          <p:cNvSpPr>
            <a:spLocks xmlns:a="http://schemas.openxmlformats.org/drawingml/2006/main" noGrp="1"/>
          </p:cNvSpPr>
          <p:nvPr/>
        </p:nvSpPr>
        <p:spPr>
          <a:xfrm xmlns:a="http://schemas.openxmlformats.org/drawingml/2006/main">
            <a:off x="11430000" y="3400425"/>
            <a:ext cx="3238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293E"/>
                </a:solidFill>
                <a:latin typeface="Calibri"/>
                <a:ea typeface="Calibri"/>
                <a:cs typeface="Calibri"/>
              </a:defRPr>
            </a:pPr>
            <a:r>
              <a:rPr sz="1800" b="0">
                <a:solidFill>
                  <a:srgbClr val="10293E"/>
                </a:solidFill>
                <a:latin typeface="Calibri"/>
                <a:ea typeface="Calibri"/>
                <a:cs typeface="Calibri"/>
              </a:rPr>
              <a:t>Includes every highlighted row,</a:t>
            </a:r>
          </a:p>
          <a:p xmlns:a="http://schemas.openxmlformats.org/drawingml/2006/main">
            <a:pPr algn="l">
              <a:defRPr sz="1800" b="0">
                <a:solidFill>
                  <a:srgbClr val="10293E"/>
                </a:solidFill>
                <a:latin typeface="Calibri"/>
                <a:ea typeface="Calibri"/>
                <a:cs typeface="Calibri"/>
              </a:defRPr>
            </a:pPr>
            <a:r>
              <a:rPr sz="1800" b="0">
                <a:solidFill>
                  <a:srgbClr val="10293E"/>
                </a:solidFill>
                <a:latin typeface="Calibri"/>
                <a:ea typeface="Calibri"/>
                <a:cs typeface="Calibri"/>
              </a:rPr>
              <a:t>even with EUI or Nordics</a:t>
            </a:r>
          </a:p>
          <a:p xmlns:a="http://schemas.openxmlformats.org/drawingml/2006/main">
            <a:pPr algn="l">
              <a:defRPr sz="1800" b="0">
                <a:solidFill>
                  <a:srgbClr val="10293E"/>
                </a:solidFill>
                <a:latin typeface="Calibri"/>
                <a:ea typeface="Calibri"/>
                <a:cs typeface="Calibri"/>
              </a:defRPr>
            </a:pPr>
            <a:r>
              <a:rPr sz="1800" b="0">
                <a:solidFill>
                  <a:srgbClr val="10293E"/>
                </a:solidFill>
                <a:latin typeface="Calibri"/>
                <a:ea typeface="Calibri"/>
                <a:cs typeface="Calibri"/>
              </a:rPr>
              <a:t>membership.</a:t>
            </a:r>
          </a:p>
        </p:txBody>
      </p:sp>
      <p:sp>
        <p:nvSpPr>
          <p:cNvPr id="11" name="rule-67">
            <a:extLst xmlns:a="http://schemas.openxmlformats.org/drawingml/2006/main">
              <a:ext uri="{FF2B5EF4-FFF2-40B4-BE49-F238E27FC236}">
                <a16:creationId xmlns:a16="http://schemas.microsoft.com/office/drawing/2014/main" id="{E14E3D98-D87B-4939-95E9-8AF5F27E7F14}"/>
              </a:ext>
            </a:extLst>
          </p:cNvPr>
          <p:cNvSpPr>
            <a:spLocks xmlns:a="http://schemas.openxmlformats.org/drawingml/2006/main" noGrp="1"/>
          </p:cNvSpPr>
          <p:nvPr/>
        </p:nvSpPr>
        <p:spPr>
          <a:xfrm xmlns:a="http://schemas.openxmlformats.org/drawingml/2006/main">
            <a:off x="11430000" y="5010150"/>
            <a:ext cx="3238500" cy="0"/>
          </a:xfrm>
          <a:prstGeom xmlns:a="http://schemas.openxmlformats.org/drawingml/2006/main" prst="line">
            <a:avLst/>
          </a:prstGeom>
          <a:noFill xmlns:a="http://schemas.openxmlformats.org/drawingml/2006/main"/>
          <a:ln xmlns:a="http://schemas.openxmlformats.org/drawingml/2006/main" w="12383">
            <a:solidFill>
              <a:srgbClr val="CBD5DD"/>
            </a:solidFill>
          </a:ln>
        </p:spPr>
      </p:sp>
      <p:sp>
        <p:nvSpPr>
          <p:cNvPr id="12" name="label-68">
            <a:extLst xmlns:a="http://schemas.openxmlformats.org/drawingml/2006/main">
              <a:ext uri="{FF2B5EF4-FFF2-40B4-BE49-F238E27FC236}">
                <a16:creationId xmlns:a16="http://schemas.microsoft.com/office/drawing/2014/main" id="{D93C7C57-4EBB-4CD9-8D52-CC16CA6C536C}"/>
              </a:ext>
            </a:extLst>
          </p:cNvPr>
          <p:cNvSpPr>
            <a:spLocks xmlns:a="http://schemas.openxmlformats.org/drawingml/2006/main" noGrp="1"/>
          </p:cNvSpPr>
          <p:nvPr/>
        </p:nvSpPr>
        <p:spPr>
          <a:xfrm xmlns:a="http://schemas.openxmlformats.org/drawingml/2006/main">
            <a:off x="11430000" y="52482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0293E"/>
                </a:solidFill>
                <a:latin typeface="Calibri"/>
                <a:ea typeface="Calibri"/>
                <a:cs typeface="Calibri"/>
              </a:defRPr>
            </a:pPr>
            <a:r>
              <a:rPr sz="1575" b="1">
                <a:solidFill>
                  <a:srgbClr val="10293E"/>
                </a:solidFill>
                <a:latin typeface="Calibri"/>
                <a:ea typeface="Calibri"/>
                <a:cs typeface="Calibri"/>
              </a:rPr>
              <a:t>EXACT COHORT</a:t>
            </a:r>
          </a:p>
        </p:txBody>
      </p:sp>
      <p:sp>
        <p:nvSpPr>
          <p:cNvPr id="13" name="label-69">
            <a:extLst xmlns:a="http://schemas.openxmlformats.org/drawingml/2006/main">
              <a:ext uri="{FF2B5EF4-FFF2-40B4-BE49-F238E27FC236}">
                <a16:creationId xmlns:a16="http://schemas.microsoft.com/office/drawing/2014/main" id="{D8709AE7-75CA-4909-BC0B-7344925ABE85}"/>
              </a:ext>
            </a:extLst>
          </p:cNvPr>
          <p:cNvSpPr>
            <a:spLocks xmlns:a="http://schemas.openxmlformats.org/drawingml/2006/main" noGrp="1"/>
          </p:cNvSpPr>
          <p:nvPr/>
        </p:nvSpPr>
        <p:spPr>
          <a:xfrm xmlns:a="http://schemas.openxmlformats.org/drawingml/2006/main">
            <a:off x="11430000" y="5686425"/>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93E"/>
                </a:solidFill>
                <a:latin typeface="Calibri"/>
                <a:ea typeface="Calibri"/>
                <a:cs typeface="Calibri"/>
              </a:defRPr>
            </a:pPr>
            <a:r>
              <a:rPr sz="2325" b="1">
                <a:solidFill>
                  <a:srgbClr val="10293E"/>
                </a:solidFill>
                <a:latin typeface="Calibri"/>
                <a:ea typeface="Calibri"/>
                <a:cs typeface="Calibri"/>
              </a:rPr>
              <a:t>EB + ESES</a:t>
            </a:r>
          </a:p>
        </p:txBody>
      </p:sp>
      <p:sp>
        <p:nvSpPr>
          <p:cNvPr id="14" name="label-70">
            <a:extLst xmlns:a="http://schemas.openxmlformats.org/drawingml/2006/main">
              <a:ext uri="{FF2B5EF4-FFF2-40B4-BE49-F238E27FC236}">
                <a16:creationId xmlns:a16="http://schemas.microsoft.com/office/drawing/2014/main" id="{8D3477AC-BD8B-4A6C-8908-108119018F48}"/>
              </a:ext>
            </a:extLst>
          </p:cNvPr>
          <p:cNvSpPr>
            <a:spLocks xmlns:a="http://schemas.openxmlformats.org/drawingml/2006/main" noGrp="1"/>
          </p:cNvSpPr>
          <p:nvPr/>
        </p:nvSpPr>
        <p:spPr>
          <a:xfrm xmlns:a="http://schemas.openxmlformats.org/drawingml/2006/main">
            <a:off x="11430000" y="622935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293E"/>
                </a:solidFill>
                <a:latin typeface="Calibri"/>
                <a:ea typeface="Calibri"/>
                <a:cs typeface="Calibri"/>
              </a:defRPr>
            </a:pPr>
            <a:r>
              <a:rPr sz="1800" b="0">
                <a:solidFill>
                  <a:srgbClr val="10293E"/>
                </a:solidFill>
                <a:latin typeface="Calibri"/>
                <a:ea typeface="Calibri"/>
                <a:cs typeface="Calibri"/>
              </a:rPr>
              <a:t>Contains only these two</a:t>
            </a:r>
          </a:p>
          <a:p xmlns:a="http://schemas.openxmlformats.org/drawingml/2006/main">
            <a:pPr algn="l">
              <a:defRPr sz="1800" b="0">
                <a:solidFill>
                  <a:srgbClr val="10293E"/>
                </a:solidFill>
                <a:latin typeface="Calibri"/>
                <a:ea typeface="Calibri"/>
                <a:cs typeface="Calibri"/>
              </a:defRPr>
            </a:pPr>
            <a:r>
              <a:rPr sz="1800" b="0">
                <a:solidFill>
                  <a:srgbClr val="10293E"/>
                </a:solidFill>
                <a:latin typeface="Calibri"/>
                <a:ea typeface="Calibri"/>
                <a:cs typeface="Calibri"/>
              </a:rPr>
              <a:t>family memberships.</a:t>
            </a:r>
          </a:p>
        </p:txBody>
      </p:sp>
      <p:sp>
        <p:nvSpPr>
          <p:cNvPr id="15" name="label-71">
            <a:extLst xmlns:a="http://schemas.openxmlformats.org/drawingml/2006/main">
              <a:ext uri="{FF2B5EF4-FFF2-40B4-BE49-F238E27FC236}">
                <a16:creationId xmlns:a16="http://schemas.microsoft.com/office/drawing/2014/main" id="{FA3055CF-8226-4259-80F5-8EFA83A4B466}"/>
              </a:ext>
            </a:extLst>
          </p:cNvPr>
          <p:cNvSpPr>
            <a:spLocks xmlns:a="http://schemas.openxmlformats.org/drawingml/2006/main" noGrp="1"/>
          </p:cNvSpPr>
          <p:nvPr/>
        </p:nvSpPr>
        <p:spPr>
          <a:xfrm xmlns:a="http://schemas.openxmlformats.org/drawingml/2006/main">
            <a:off x="11430000" y="7191375"/>
            <a:ext cx="323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476074"/>
                </a:solidFill>
                <a:latin typeface="Calibri"/>
                <a:ea typeface="Calibri"/>
                <a:cs typeface="Calibri"/>
              </a:defRPr>
            </a:pPr>
            <a:r>
              <a:rPr sz="1650" b="0">
                <a:solidFill>
                  <a:srgbClr val="476074"/>
                </a:solidFill>
                <a:latin typeface="Calibri"/>
                <a:ea typeface="Calibri"/>
                <a:cs typeface="Calibri"/>
              </a:rPr>
              <a:t>Entity grants remain explicit</a:t>
            </a:r>
          </a:p>
          <a:p xmlns:a="http://schemas.openxmlformats.org/drawingml/2006/main">
            <a:pPr algn="l">
              <a:defRPr sz="1650" b="0">
                <a:solidFill>
                  <a:srgbClr val="476074"/>
                </a:solidFill>
                <a:latin typeface="Calibri"/>
                <a:ea typeface="Calibri"/>
                <a:cs typeface="Calibri"/>
              </a:defRPr>
            </a:pPr>
            <a:r>
              <a:rPr sz="1650" b="0">
                <a:solidFill>
                  <a:srgbClr val="476074"/>
                </a:solidFill>
                <a:latin typeface="Calibri"/>
                <a:ea typeface="Calibri"/>
                <a:cs typeface="Calibri"/>
              </a:rPr>
              <a:t>inside each family.</a:t>
            </a:r>
          </a:p>
        </p:txBody>
      </p:sp>
    </p:spTree>
    <p:extLst>
      <p:ext uri="{BB962C8B-B14F-4D97-AF65-F5344CB8AC3E}">
        <p14:creationId xmlns:p14="http://schemas.microsoft.com/office/powerpoint/2010/main" val="6639014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4" name=""/>
          <p:cNvCxnSpPr>
            <a:stCxn xmlns:a="http://schemas.openxmlformats.org/drawingml/2006/main" id="27" idx="3"/>
            <a:endCxn xmlns:a="http://schemas.openxmlformats.org/drawingml/2006/main" id="29" idx="1"/>
          </p:cNvCxnSpPr>
          <p:nvPr/>
        </p:nvCxnSpPr>
        <p:spPr>
          <a:xfrm xmlns:a="http://schemas.openxmlformats.org/drawingml/2006/main">
            <a:off x="10086975" y="6448425"/>
            <a:ext cx="1390650" cy="0"/>
          </a:xfrm>
          <a:prstGeom xmlns:a="http://schemas.openxmlformats.org/drawingml/2006/main" prst="straightConnector1">
            <a:avLst/>
          </a:prstGeom>
          <a:ln xmlns:a="http://schemas.openxmlformats.org/drawingml/2006/main" w="19050">
            <a:solidFill>
              <a:srgbClr val="087D83"/>
            </a:solidFill>
            <a:tailEnd type="triangle" w="sm" len="sm"/>
          </a:ln>
        </p:spPr>
      </p:cxnSp>
      <p:cxnSp>
        <p:nvCxnSpPr>
          <p:cNvPr id="35" name=""/>
          <p:cNvCxnSpPr>
            <a:stCxn xmlns:a="http://schemas.openxmlformats.org/drawingml/2006/main" id="25" idx="3"/>
            <a:endCxn xmlns:a="http://schemas.openxmlformats.org/drawingml/2006/main" id="27" idx="1"/>
          </p:cNvCxnSpPr>
          <p:nvPr/>
        </p:nvCxnSpPr>
        <p:spPr>
          <a:xfrm xmlns:a="http://schemas.openxmlformats.org/drawingml/2006/main">
            <a:off x="4248150" y="6448425"/>
            <a:ext cx="1419225" cy="0"/>
          </a:xfrm>
          <a:prstGeom xmlns:a="http://schemas.openxmlformats.org/drawingml/2006/main" prst="straightConnector1">
            <a:avLst/>
          </a:prstGeom>
          <a:ln xmlns:a="http://schemas.openxmlformats.org/drawingml/2006/main" w="19050">
            <a:solidFill>
              <a:srgbClr val="087D83"/>
            </a:solidFill>
            <a:tailEnd type="triangle" w="sm" len="sm"/>
          </a:ln>
        </p:spPr>
      </p:cxnSp>
      <p:cxnSp>
        <p:nvCxnSpPr>
          <p:cNvPr id="36" name=""/>
          <p:cNvCxnSpPr>
            <a:stCxn xmlns:a="http://schemas.openxmlformats.org/drawingml/2006/main" id="13" idx="3"/>
            <a:endCxn xmlns:a="http://schemas.openxmlformats.org/drawingml/2006/main" id="16" idx="1"/>
          </p:cNvCxnSpPr>
          <p:nvPr/>
        </p:nvCxnSpPr>
        <p:spPr>
          <a:xfrm xmlns:a="http://schemas.openxmlformats.org/drawingml/2006/main">
            <a:off x="10086975" y="3624263"/>
            <a:ext cx="1390650" cy="0"/>
          </a:xfrm>
          <a:prstGeom xmlns:a="http://schemas.openxmlformats.org/drawingml/2006/main" prst="straightConnector1">
            <a:avLst/>
          </a:prstGeom>
          <a:ln xmlns:a="http://schemas.openxmlformats.org/drawingml/2006/main" w="19050">
            <a:solidFill>
              <a:srgbClr val="476074"/>
            </a:solidFill>
            <a:tailEnd type="triangle" w="sm" len="sm"/>
          </a:ln>
        </p:spPr>
      </p:cxnSp>
      <p:cxnSp>
        <p:nvCxnSpPr>
          <p:cNvPr id="37" name=""/>
          <p:cNvCxnSpPr>
            <a:stCxn xmlns:a="http://schemas.openxmlformats.org/drawingml/2006/main" id="10" idx="3"/>
            <a:endCxn xmlns:a="http://schemas.openxmlformats.org/drawingml/2006/main" id="13" idx="1"/>
          </p:cNvCxnSpPr>
          <p:nvPr/>
        </p:nvCxnSpPr>
        <p:spPr>
          <a:xfrm xmlns:a="http://schemas.openxmlformats.org/drawingml/2006/main" flipV="1">
            <a:off x="4248150" y="3624263"/>
            <a:ext cx="1419225" cy="819150"/>
          </a:xfrm>
          <a:prstGeom xmlns:a="http://schemas.openxmlformats.org/drawingml/2006/main" prst="bentConnector3">
            <a:avLst>
              <a:gd name="adj1" fmla="val 50000"/>
            </a:avLst>
          </a:prstGeom>
          <a:ln xmlns:a="http://schemas.openxmlformats.org/drawingml/2006/main" w="19050">
            <a:solidFill>
              <a:srgbClr val="087D83"/>
            </a:solidFill>
            <a:tailEnd type="triangle" w="sm" len="sm"/>
          </a:ln>
        </p:spPr>
      </p:cxnSp>
      <p:cxnSp>
        <p:nvCxnSpPr>
          <p:cNvPr id="38" name=""/>
          <p:cNvCxnSpPr>
            <a:stCxn xmlns:a="http://schemas.openxmlformats.org/drawingml/2006/main" id="7" idx="3"/>
            <a:endCxn xmlns:a="http://schemas.openxmlformats.org/drawingml/2006/main" id="13" idx="1"/>
          </p:cNvCxnSpPr>
          <p:nvPr/>
        </p:nvCxnSpPr>
        <p:spPr>
          <a:xfrm xmlns:a="http://schemas.openxmlformats.org/drawingml/2006/main">
            <a:off x="4248150" y="2781300"/>
            <a:ext cx="1419225" cy="842963"/>
          </a:xfrm>
          <a:prstGeom xmlns:a="http://schemas.openxmlformats.org/drawingml/2006/main" prst="bentConnector3">
            <a:avLst>
              <a:gd name="adj1" fmla="val 50000"/>
            </a:avLst>
          </a:prstGeom>
          <a:ln xmlns:a="http://schemas.openxmlformats.org/drawingml/2006/main" w="19050">
            <a:solidFill>
              <a:srgbClr val="1E5A88"/>
            </a:solidFill>
            <a:tailEnd type="triangle" w="sm" len="sm"/>
          </a:ln>
        </p:spPr>
      </p:cxnSp>
      <p:sp>
        <p:nvSpPr>
          <p:cNvPr id="39" name="label-72">
            <a:extLst xmlns:a="http://schemas.openxmlformats.org/drawingml/2006/main">
              <a:ext uri="{FF2B5EF4-FFF2-40B4-BE49-F238E27FC236}">
                <a16:creationId xmlns:a16="http://schemas.microsoft.com/office/drawing/2014/main" id="{1B7E9A5A-1E15-4BA6-A85A-05D1ADB6B68D}"/>
              </a:ext>
            </a:extLst>
          </p:cNvPr>
          <p:cNvSpPr>
            <a:spLocks xmlns:a="http://schemas.openxmlformats.org/drawingml/2006/main" noGrp="1"/>
          </p:cNvSpPr>
          <p:nvPr/>
        </p:nvSpPr>
        <p:spPr>
          <a:xfrm xmlns:a="http://schemas.openxmlformats.org/drawingml/2006/main">
            <a:off x="571500" y="26670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476074"/>
                </a:solidFill>
                <a:latin typeface="Calibri"/>
                <a:ea typeface="Calibri"/>
                <a:cs typeface="Calibri"/>
              </a:defRPr>
            </a:pPr>
            <a:r>
              <a:rPr sz="1275" b="1">
                <a:solidFill>
                  <a:srgbClr val="476074"/>
                </a:solidFill>
                <a:latin typeface="Calibri"/>
                <a:ea typeface="Calibri"/>
                <a:cs typeface="Calibri"/>
              </a:rPr>
              <a:t>EUROCLEAR B2B CIAM</a:t>
            </a:r>
          </a:p>
        </p:txBody>
      </p:sp>
      <p:sp>
        <p:nvSpPr>
          <p:cNvPr id="2" name="label-73">
            <a:extLst xmlns:a="http://schemas.openxmlformats.org/drawingml/2006/main">
              <a:ext uri="{FF2B5EF4-FFF2-40B4-BE49-F238E27FC236}">
                <a16:creationId xmlns:a16="http://schemas.microsoft.com/office/drawing/2014/main" id="{F25C159F-39D9-4444-BD74-BBE67346827B}"/>
              </a:ext>
            </a:extLst>
          </p:cNvPr>
          <p:cNvSpPr>
            <a:spLocks xmlns:a="http://schemas.openxmlformats.org/drawingml/2006/main" noGrp="1"/>
          </p:cNvSpPr>
          <p:nvPr/>
        </p:nvSpPr>
        <p:spPr>
          <a:xfrm xmlns:a="http://schemas.openxmlformats.org/drawingml/2006/main">
            <a:off x="571500" y="638175"/>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93E"/>
                </a:solidFill>
                <a:latin typeface="Calibri"/>
                <a:ea typeface="Calibri"/>
                <a:cs typeface="Calibri"/>
              </a:defRPr>
            </a:pPr>
            <a:r>
              <a:rPr sz="3300" b="1">
                <a:solidFill>
                  <a:srgbClr val="10293E"/>
                </a:solidFill>
                <a:latin typeface="Calibri"/>
                <a:ea typeface="Calibri"/>
                <a:cs typeface="Calibri"/>
              </a:rPr>
              <a:t>Identity authority and domain boundaries</a:t>
            </a:r>
          </a:p>
        </p:txBody>
      </p:sp>
      <p:sp>
        <p:nvSpPr>
          <p:cNvPr id="3" name="label-74">
            <a:extLst xmlns:a="http://schemas.openxmlformats.org/drawingml/2006/main">
              <a:ext uri="{FF2B5EF4-FFF2-40B4-BE49-F238E27FC236}">
                <a16:creationId xmlns:a16="http://schemas.microsoft.com/office/drawing/2014/main" id="{F02BB70C-564D-4C07-9DD6-0F0D07CC9693}"/>
              </a:ext>
            </a:extLst>
          </p:cNvPr>
          <p:cNvSpPr>
            <a:spLocks xmlns:a="http://schemas.openxmlformats.org/drawingml/2006/main" noGrp="1"/>
          </p:cNvSpPr>
          <p:nvPr/>
        </p:nvSpPr>
        <p:spPr>
          <a:xfrm xmlns:a="http://schemas.openxmlformats.org/drawingml/2006/main">
            <a:off x="571500" y="1247775"/>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76074"/>
                </a:solidFill>
                <a:latin typeface="Calibri"/>
                <a:ea typeface="Calibri"/>
                <a:cs typeface="Calibri"/>
              </a:defRPr>
            </a:pPr>
            <a:r>
              <a:rPr sz="1725" b="0">
                <a:solidFill>
                  <a:srgbClr val="476074"/>
                </a:solidFill>
                <a:latin typeface="Calibri"/>
                <a:ea typeface="Calibri"/>
                <a:cs typeface="Calibri"/>
              </a:rPr>
              <a:t>CIAM evaluates external access while workforce IDAM and PAM retain their own identity and privilege authorities.</a:t>
            </a:r>
          </a:p>
        </p:txBody>
      </p:sp>
      <p:sp>
        <p:nvSpPr>
          <p:cNvPr id="4" name="rule-75">
            <a:extLst xmlns:a="http://schemas.openxmlformats.org/drawingml/2006/main">
              <a:ext uri="{FF2B5EF4-FFF2-40B4-BE49-F238E27FC236}">
                <a16:creationId xmlns:a16="http://schemas.microsoft.com/office/drawing/2014/main" id="{14EEF177-EBF3-428A-A3EA-A3987291159C}"/>
              </a:ext>
            </a:extLst>
          </p:cNvPr>
          <p:cNvSpPr>
            <a:spLocks xmlns:a="http://schemas.openxmlformats.org/drawingml/2006/main" noGrp="1"/>
          </p:cNvSpPr>
          <p:nvPr/>
        </p:nvSpPr>
        <p:spPr>
          <a:xfrm xmlns:a="http://schemas.openxmlformats.org/drawingml/2006/main">
            <a:off x="571500" y="7858125"/>
            <a:ext cx="14097000" cy="0"/>
          </a:xfrm>
          <a:prstGeom xmlns:a="http://schemas.openxmlformats.org/drawingml/2006/main" prst="line">
            <a:avLst/>
          </a:prstGeom>
          <a:noFill xmlns:a="http://schemas.openxmlformats.org/drawingml/2006/main"/>
          <a:ln xmlns:a="http://schemas.openxmlformats.org/drawingml/2006/main" w="12383">
            <a:solidFill>
              <a:srgbClr val="CBD5DD"/>
            </a:solidFill>
          </a:ln>
        </p:spPr>
      </p:sp>
      <p:sp>
        <p:nvSpPr>
          <p:cNvPr id="5" name="label-76">
            <a:extLst xmlns:a="http://schemas.openxmlformats.org/drawingml/2006/main">
              <a:ext uri="{FF2B5EF4-FFF2-40B4-BE49-F238E27FC236}">
                <a16:creationId xmlns:a16="http://schemas.microsoft.com/office/drawing/2014/main" id="{2C3A649B-B58D-4806-A17E-687FAE1B2F22}"/>
              </a:ext>
            </a:extLst>
          </p:cNvPr>
          <p:cNvSpPr>
            <a:spLocks xmlns:a="http://schemas.openxmlformats.org/drawingml/2006/main" noGrp="1"/>
          </p:cNvSpPr>
          <p:nvPr/>
        </p:nvSpPr>
        <p:spPr>
          <a:xfrm xmlns:a="http://schemas.openxmlformats.org/drawingml/2006/main">
            <a:off x="571500" y="8058150"/>
            <a:ext cx="1314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76074"/>
                </a:solidFill>
                <a:latin typeface="Calibri"/>
                <a:ea typeface="Calibri"/>
                <a:cs typeface="Calibri"/>
              </a:defRPr>
            </a:pPr>
            <a:r>
              <a:rPr sz="1275" b="0">
                <a:solidFill>
                  <a:srgbClr val="476074"/>
                </a:solidFill>
                <a:latin typeface="Calibri"/>
                <a:ea typeface="Calibri"/>
                <a:cs typeface="Calibri"/>
              </a:rPr>
              <a:t>Proposed persona model   7 October 2026   Companion to Deliverable 1 v0.2</a:t>
            </a:r>
          </a:p>
        </p:txBody>
      </p:sp>
      <p:sp>
        <p:nvSpPr>
          <p:cNvPr id="6" name="label-77">
            <a:extLst xmlns:a="http://schemas.openxmlformats.org/drawingml/2006/main">
              <a:ext uri="{FF2B5EF4-FFF2-40B4-BE49-F238E27FC236}">
                <a16:creationId xmlns:a16="http://schemas.microsoft.com/office/drawing/2014/main" id="{7265EFB2-B177-4B63-977F-4944029C79B0}"/>
              </a:ext>
            </a:extLst>
          </p:cNvPr>
          <p:cNvSpPr>
            <a:spLocks xmlns:a="http://schemas.openxmlformats.org/drawingml/2006/main" noGrp="1"/>
          </p:cNvSpPr>
          <p:nvPr/>
        </p:nvSpPr>
        <p:spPr>
          <a:xfrm xmlns:a="http://schemas.openxmlformats.org/drawingml/2006/main">
            <a:off x="14144625" y="8039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6074"/>
                </a:solidFill>
                <a:latin typeface="Calibri"/>
                <a:ea typeface="Calibri"/>
                <a:cs typeface="Calibri"/>
              </a:defRPr>
            </a:pPr>
            <a:r>
              <a:rPr sz="1350" b="0">
                <a:solidFill>
                  <a:srgbClr val="476074"/>
                </a:solidFill>
                <a:latin typeface="Calibri"/>
                <a:ea typeface="Calibri"/>
                <a:cs typeface="Calibri"/>
              </a:rPr>
              <a:t>4</a:t>
            </a:r>
          </a:p>
        </p:txBody>
      </p:sp>
      <p:sp>
        <p:nvSpPr>
          <p:cNvPr id="7" name="node-78">
            <a:extLst xmlns:a="http://schemas.openxmlformats.org/drawingml/2006/main">
              <a:ext uri="{FF2B5EF4-FFF2-40B4-BE49-F238E27FC236}">
                <a16:creationId xmlns:a16="http://schemas.microsoft.com/office/drawing/2014/main" id="{064A565B-A273-45F9-8B0D-0AB6BFD18C82}"/>
              </a:ext>
            </a:extLst>
          </p:cNvPr>
          <p:cNvSpPr>
            <a:spLocks xmlns:a="http://schemas.openxmlformats.org/drawingml/2006/main" noGrp="1"/>
          </p:cNvSpPr>
          <p:nvPr/>
        </p:nvSpPr>
        <p:spPr>
          <a:xfrm xmlns:a="http://schemas.openxmlformats.org/drawingml/2006/main">
            <a:off x="571500" y="2105025"/>
            <a:ext cx="3676650" cy="1352550"/>
          </a:xfrm>
          <a:prstGeom xmlns:a="http://schemas.openxmlformats.org/drawingml/2006/main" prst="rect">
            <a:avLst/>
          </a:prstGeom>
          <a:solidFill xmlns:a="http://schemas.openxmlformats.org/drawingml/2006/main">
            <a:srgbClr val="EDF4FA"/>
          </a:solidFill>
          <a:ln xmlns:a="http://schemas.openxmlformats.org/drawingml/2006/main" w="14288">
            <a:solidFill>
              <a:srgbClr val="1E5A88"/>
            </a:solidFill>
            <a:prstDash val="solid"/>
          </a:ln>
        </p:spPr>
      </p:sp>
      <p:sp>
        <p:nvSpPr>
          <p:cNvPr id="8" name="label-79">
            <a:extLst xmlns:a="http://schemas.openxmlformats.org/drawingml/2006/main">
              <a:ext uri="{FF2B5EF4-FFF2-40B4-BE49-F238E27FC236}">
                <a16:creationId xmlns:a16="http://schemas.microsoft.com/office/drawing/2014/main" id="{B5F19E87-EF03-49D2-B291-5653992DA046}"/>
              </a:ext>
            </a:extLst>
          </p:cNvPr>
          <p:cNvSpPr>
            <a:spLocks xmlns:a="http://schemas.openxmlformats.org/drawingml/2006/main" noGrp="1"/>
          </p:cNvSpPr>
          <p:nvPr/>
        </p:nvSpPr>
        <p:spPr>
          <a:xfrm xmlns:a="http://schemas.openxmlformats.org/drawingml/2006/main">
            <a:off x="762000" y="2286000"/>
            <a:ext cx="331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E5A88"/>
                </a:solidFill>
                <a:latin typeface="Calibri"/>
                <a:ea typeface="Calibri"/>
                <a:cs typeface="Calibri"/>
              </a:defRPr>
            </a:pPr>
            <a:r>
              <a:rPr sz="2175" b="1">
                <a:solidFill>
                  <a:srgbClr val="1E5A88"/>
                </a:solidFill>
                <a:latin typeface="Calibri"/>
                <a:ea typeface="Calibri"/>
                <a:cs typeface="Calibri"/>
              </a:rPr>
              <a:t>Client identity</a:t>
            </a:r>
          </a:p>
        </p:txBody>
      </p:sp>
      <p:sp>
        <p:nvSpPr>
          <p:cNvPr id="9" name="label-80">
            <a:extLst xmlns:a="http://schemas.openxmlformats.org/drawingml/2006/main">
              <a:ext uri="{FF2B5EF4-FFF2-40B4-BE49-F238E27FC236}">
                <a16:creationId xmlns:a16="http://schemas.microsoft.com/office/drawing/2014/main" id="{DC6F1769-5144-4F87-BBBA-C30CF4235C56}"/>
              </a:ext>
            </a:extLst>
          </p:cNvPr>
          <p:cNvSpPr>
            <a:spLocks xmlns:a="http://schemas.openxmlformats.org/drawingml/2006/main" noGrp="1"/>
          </p:cNvSpPr>
          <p:nvPr/>
        </p:nvSpPr>
        <p:spPr>
          <a:xfrm xmlns:a="http://schemas.openxmlformats.org/drawingml/2006/main">
            <a:off x="762000" y="2790825"/>
            <a:ext cx="331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293E"/>
                </a:solidFill>
                <a:latin typeface="Calibri"/>
                <a:ea typeface="Calibri"/>
                <a:cs typeface="Calibri"/>
              </a:defRPr>
            </a:pPr>
            <a:r>
              <a:rPr sz="1800" b="0">
                <a:solidFill>
                  <a:srgbClr val="10293E"/>
                </a:solidFill>
                <a:latin typeface="Calibri"/>
                <a:ea typeface="Calibri"/>
                <a:cs typeface="Calibri"/>
              </a:rPr>
              <a:t>Direct CIAM or approved</a:t>
            </a:r>
          </a:p>
          <a:p xmlns:a="http://schemas.openxmlformats.org/drawingml/2006/main">
            <a:pPr algn="l">
              <a:defRPr sz="1800" b="0">
                <a:solidFill>
                  <a:srgbClr val="10293E"/>
                </a:solidFill>
                <a:latin typeface="Calibri"/>
                <a:ea typeface="Calibri"/>
                <a:cs typeface="Calibri"/>
              </a:defRPr>
            </a:pPr>
            <a:r>
              <a:rPr sz="1800" b="0">
                <a:solidFill>
                  <a:srgbClr val="10293E"/>
                </a:solidFill>
                <a:latin typeface="Calibri"/>
                <a:ea typeface="Calibri"/>
                <a:cs typeface="Calibri"/>
              </a:rPr>
              <a:t>B2B federation</a:t>
            </a:r>
          </a:p>
        </p:txBody>
      </p:sp>
      <p:sp>
        <p:nvSpPr>
          <p:cNvPr id="10" name="node-81">
            <a:extLst xmlns:a="http://schemas.openxmlformats.org/drawingml/2006/main">
              <a:ext uri="{FF2B5EF4-FFF2-40B4-BE49-F238E27FC236}">
                <a16:creationId xmlns:a16="http://schemas.microsoft.com/office/drawing/2014/main" id="{B393B036-A6F7-443F-91B0-DF8CDDBE0894}"/>
              </a:ext>
            </a:extLst>
          </p:cNvPr>
          <p:cNvSpPr>
            <a:spLocks xmlns:a="http://schemas.openxmlformats.org/drawingml/2006/main" noGrp="1"/>
          </p:cNvSpPr>
          <p:nvPr/>
        </p:nvSpPr>
        <p:spPr>
          <a:xfrm xmlns:a="http://schemas.openxmlformats.org/drawingml/2006/main">
            <a:off x="571500" y="3743325"/>
            <a:ext cx="3676650" cy="1400175"/>
          </a:xfrm>
          <a:prstGeom xmlns:a="http://schemas.openxmlformats.org/drawingml/2006/main" prst="rect">
            <a:avLst/>
          </a:prstGeom>
          <a:solidFill xmlns:a="http://schemas.openxmlformats.org/drawingml/2006/main">
            <a:srgbClr val="EAF6F5"/>
          </a:solidFill>
          <a:ln xmlns:a="http://schemas.openxmlformats.org/drawingml/2006/main" w="14288">
            <a:solidFill>
              <a:srgbClr val="087D83"/>
            </a:solidFill>
            <a:prstDash val="solid"/>
          </a:ln>
        </p:spPr>
      </p:sp>
      <p:sp>
        <p:nvSpPr>
          <p:cNvPr id="11" name="label-82">
            <a:extLst xmlns:a="http://schemas.openxmlformats.org/drawingml/2006/main">
              <a:ext uri="{FF2B5EF4-FFF2-40B4-BE49-F238E27FC236}">
                <a16:creationId xmlns:a16="http://schemas.microsoft.com/office/drawing/2014/main" id="{CE399108-F52C-4D2B-997E-DDEB13F6787D}"/>
              </a:ext>
            </a:extLst>
          </p:cNvPr>
          <p:cNvSpPr>
            <a:spLocks xmlns:a="http://schemas.openxmlformats.org/drawingml/2006/main" noGrp="1"/>
          </p:cNvSpPr>
          <p:nvPr/>
        </p:nvSpPr>
        <p:spPr>
          <a:xfrm xmlns:a="http://schemas.openxmlformats.org/drawingml/2006/main">
            <a:off x="762000" y="3924300"/>
            <a:ext cx="331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D83"/>
                </a:solidFill>
                <a:latin typeface="Calibri"/>
                <a:ea typeface="Calibri"/>
                <a:cs typeface="Calibri"/>
              </a:defRPr>
            </a:pPr>
            <a:r>
              <a:rPr sz="2175" b="1">
                <a:solidFill>
                  <a:srgbClr val="087D83"/>
                </a:solidFill>
                <a:latin typeface="Calibri"/>
                <a:ea typeface="Calibri"/>
                <a:cs typeface="Calibri"/>
              </a:rPr>
              <a:t>Workforce IDAM</a:t>
            </a:r>
          </a:p>
        </p:txBody>
      </p:sp>
      <p:sp>
        <p:nvSpPr>
          <p:cNvPr id="12" name="label-83">
            <a:extLst xmlns:a="http://schemas.openxmlformats.org/drawingml/2006/main">
              <a:ext uri="{FF2B5EF4-FFF2-40B4-BE49-F238E27FC236}">
                <a16:creationId xmlns:a16="http://schemas.microsoft.com/office/drawing/2014/main" id="{D4DB6D90-275E-4DD7-837C-6563845DA3CE}"/>
              </a:ext>
            </a:extLst>
          </p:cNvPr>
          <p:cNvSpPr>
            <a:spLocks xmlns:a="http://schemas.openxmlformats.org/drawingml/2006/main" noGrp="1"/>
          </p:cNvSpPr>
          <p:nvPr/>
        </p:nvSpPr>
        <p:spPr>
          <a:xfrm xmlns:a="http://schemas.openxmlformats.org/drawingml/2006/main">
            <a:off x="762000" y="4429125"/>
            <a:ext cx="33147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293E"/>
                </a:solidFill>
                <a:latin typeface="Calibri"/>
                <a:ea typeface="Calibri"/>
                <a:cs typeface="Calibri"/>
              </a:defRPr>
            </a:pPr>
            <a:r>
              <a:rPr sz="1800" b="0">
                <a:solidFill>
                  <a:srgbClr val="10293E"/>
                </a:solidFill>
                <a:latin typeface="Calibri"/>
                <a:ea typeface="Calibri"/>
                <a:cs typeface="Calibri"/>
              </a:rPr>
              <a:t>Operator authentication</a:t>
            </a:r>
          </a:p>
          <a:p xmlns:a="http://schemas.openxmlformats.org/drawingml/2006/main">
            <a:pPr algn="l">
              <a:defRPr sz="1800" b="0">
                <a:solidFill>
                  <a:srgbClr val="10293E"/>
                </a:solidFill>
                <a:latin typeface="Calibri"/>
                <a:ea typeface="Calibri"/>
                <a:cs typeface="Calibri"/>
              </a:defRPr>
            </a:pPr>
            <a:r>
              <a:rPr sz="1800" b="0">
                <a:solidFill>
                  <a:srgbClr val="10293E"/>
                </a:solidFill>
                <a:latin typeface="Calibri"/>
                <a:ea typeface="Calibri"/>
                <a:cs typeface="Calibri"/>
              </a:rPr>
              <a:t>and employment status</a:t>
            </a:r>
          </a:p>
        </p:txBody>
      </p:sp>
      <p:sp>
        <p:nvSpPr>
          <p:cNvPr id="13" name="node-84">
            <a:extLst xmlns:a="http://schemas.openxmlformats.org/drawingml/2006/main">
              <a:ext uri="{FF2B5EF4-FFF2-40B4-BE49-F238E27FC236}">
                <a16:creationId xmlns:a16="http://schemas.microsoft.com/office/drawing/2014/main" id="{8A75392E-82E6-4017-BCC4-4F3EC8DF7492}"/>
              </a:ext>
            </a:extLst>
          </p:cNvPr>
          <p:cNvSpPr>
            <a:spLocks xmlns:a="http://schemas.openxmlformats.org/drawingml/2006/main" noGrp="1"/>
          </p:cNvSpPr>
          <p:nvPr/>
        </p:nvSpPr>
        <p:spPr>
          <a:xfrm xmlns:a="http://schemas.openxmlformats.org/drawingml/2006/main">
            <a:off x="5667375" y="2105025"/>
            <a:ext cx="4419600" cy="3038475"/>
          </a:xfrm>
          <a:prstGeom xmlns:a="http://schemas.openxmlformats.org/drawingml/2006/main" prst="rect">
            <a:avLst/>
          </a:prstGeom>
          <a:noFill xmlns:a="http://schemas.openxmlformats.org/drawingml/2006/main"/>
          <a:ln xmlns:a="http://schemas.openxmlformats.org/drawingml/2006/main" w="14288">
            <a:solidFill>
              <a:srgbClr val="CBD5DD"/>
            </a:solidFill>
            <a:prstDash val="solid"/>
          </a:ln>
        </p:spPr>
      </p:sp>
      <p:sp>
        <p:nvSpPr>
          <p:cNvPr id="14" name="label-85">
            <a:extLst xmlns:a="http://schemas.openxmlformats.org/drawingml/2006/main">
              <a:ext uri="{FF2B5EF4-FFF2-40B4-BE49-F238E27FC236}">
                <a16:creationId xmlns:a16="http://schemas.microsoft.com/office/drawing/2014/main" id="{A6AF1492-232C-4167-8CB8-4E6BD4E290B7}"/>
              </a:ext>
            </a:extLst>
          </p:cNvPr>
          <p:cNvSpPr>
            <a:spLocks xmlns:a="http://schemas.openxmlformats.org/drawingml/2006/main" noGrp="1"/>
          </p:cNvSpPr>
          <p:nvPr/>
        </p:nvSpPr>
        <p:spPr>
          <a:xfrm xmlns:a="http://schemas.openxmlformats.org/drawingml/2006/main">
            <a:off x="5876925" y="2314575"/>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93E"/>
                </a:solidFill>
                <a:latin typeface="Calibri"/>
                <a:ea typeface="Calibri"/>
                <a:cs typeface="Calibri"/>
              </a:defRPr>
            </a:pPr>
            <a:r>
              <a:rPr sz="2325" b="1">
                <a:solidFill>
                  <a:srgbClr val="10293E"/>
                </a:solidFill>
                <a:latin typeface="Calibri"/>
                <a:ea typeface="Calibri"/>
                <a:cs typeface="Calibri"/>
              </a:rPr>
              <a:t>CIAM context services</a:t>
            </a:r>
          </a:p>
        </p:txBody>
      </p:sp>
      <p:sp>
        <p:nvSpPr>
          <p:cNvPr id="15" name="label-86">
            <a:extLst xmlns:a="http://schemas.openxmlformats.org/drawingml/2006/main">
              <a:ext uri="{FF2B5EF4-FFF2-40B4-BE49-F238E27FC236}">
                <a16:creationId xmlns:a16="http://schemas.microsoft.com/office/drawing/2014/main" id="{C8F175BF-CCED-4772-BC05-FD134E828C18}"/>
              </a:ext>
            </a:extLst>
          </p:cNvPr>
          <p:cNvSpPr>
            <a:spLocks xmlns:a="http://schemas.openxmlformats.org/drawingml/2006/main" noGrp="1"/>
          </p:cNvSpPr>
          <p:nvPr/>
        </p:nvSpPr>
        <p:spPr>
          <a:xfrm xmlns:a="http://schemas.openxmlformats.org/drawingml/2006/main">
            <a:off x="5876925" y="3038475"/>
            <a:ext cx="4000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93E"/>
                </a:solidFill>
                <a:latin typeface="Calibri"/>
                <a:ea typeface="Calibri"/>
                <a:cs typeface="Calibri"/>
              </a:defRPr>
            </a:pPr>
            <a:r>
              <a:rPr sz="1875" b="0">
                <a:solidFill>
                  <a:srgbClr val="10293E"/>
                </a:solidFill>
                <a:latin typeface="Calibri"/>
                <a:ea typeface="Calibri"/>
                <a:cs typeface="Calibri"/>
              </a:rPr>
              <a:t>Customer identity relationships</a:t>
            </a:r>
          </a:p>
          <a:p xmlns:a="http://schemas.openxmlformats.org/drawingml/2006/main">
            <a:pPr algn="l">
              <a:defRPr sz="1875" b="0">
                <a:solidFill>
                  <a:srgbClr val="10293E"/>
                </a:solidFill>
                <a:latin typeface="Calibri"/>
                <a:ea typeface="Calibri"/>
                <a:cs typeface="Calibri"/>
              </a:defRPr>
            </a:pPr>
            <a:r>
              <a:rPr sz="1875" b="0">
                <a:solidFill>
                  <a:srgbClr val="10293E"/>
                </a:solidFill>
                <a:latin typeface="Calibri"/>
                <a:ea typeface="Calibri"/>
                <a:cs typeface="Calibri"/>
              </a:rPr>
              <a:t>Federation and exchange policy</a:t>
            </a:r>
          </a:p>
          <a:p xmlns:a="http://schemas.openxmlformats.org/drawingml/2006/main">
            <a:pPr algn="l">
              <a:defRPr sz="1875" b="0">
                <a:solidFill>
                  <a:srgbClr val="10293E"/>
                </a:solidFill>
                <a:latin typeface="Calibri"/>
                <a:ea typeface="Calibri"/>
                <a:cs typeface="Calibri"/>
              </a:defRPr>
            </a:pPr>
            <a:r>
              <a:rPr sz="1875" b="0">
                <a:solidFill>
                  <a:srgbClr val="10293E"/>
                </a:solidFill>
                <a:latin typeface="Calibri"/>
                <a:ea typeface="Calibri"/>
                <a:cs typeface="Calibri"/>
              </a:rPr>
              <a:t>Scoped external entitlements</a:t>
            </a:r>
          </a:p>
          <a:p xmlns:a="http://schemas.openxmlformats.org/drawingml/2006/main">
            <a:pPr algn="l">
              <a:defRPr sz="1875" b="0">
                <a:solidFill>
                  <a:srgbClr val="10293E"/>
                </a:solidFill>
                <a:latin typeface="Calibri"/>
                <a:ea typeface="Calibri"/>
                <a:cs typeface="Calibri"/>
              </a:defRPr>
            </a:pPr>
            <a:r>
              <a:rPr sz="1875" b="0">
                <a:solidFill>
                  <a:srgbClr val="10293E"/>
                </a:solidFill>
                <a:latin typeface="Calibri"/>
                <a:ea typeface="Calibri"/>
                <a:cs typeface="Calibri"/>
              </a:rPr>
              <a:t>Workload credential registration</a:t>
            </a:r>
          </a:p>
        </p:txBody>
      </p:sp>
      <p:sp>
        <p:nvSpPr>
          <p:cNvPr id="16" name="node-87">
            <a:extLst xmlns:a="http://schemas.openxmlformats.org/drawingml/2006/main">
              <a:ext uri="{FF2B5EF4-FFF2-40B4-BE49-F238E27FC236}">
                <a16:creationId xmlns:a16="http://schemas.microsoft.com/office/drawing/2014/main" id="{29D31901-CD71-4248-8929-05250CF598CE}"/>
              </a:ext>
            </a:extLst>
          </p:cNvPr>
          <p:cNvSpPr>
            <a:spLocks xmlns:a="http://schemas.openxmlformats.org/drawingml/2006/main" noGrp="1"/>
          </p:cNvSpPr>
          <p:nvPr/>
        </p:nvSpPr>
        <p:spPr>
          <a:xfrm xmlns:a="http://schemas.openxmlformats.org/drawingml/2006/main">
            <a:off x="11477625" y="2105025"/>
            <a:ext cx="3190875" cy="3038475"/>
          </a:xfrm>
          <a:prstGeom xmlns:a="http://schemas.openxmlformats.org/drawingml/2006/main" prst="rect">
            <a:avLst/>
          </a:prstGeom>
          <a:noFill xmlns:a="http://schemas.openxmlformats.org/drawingml/2006/main"/>
          <a:ln xmlns:a="http://schemas.openxmlformats.org/drawingml/2006/main" w="14288">
            <a:solidFill>
              <a:srgbClr val="CBD5DD"/>
            </a:solidFill>
            <a:prstDash val="solid"/>
          </a:ln>
        </p:spPr>
      </p:sp>
      <p:sp>
        <p:nvSpPr>
          <p:cNvPr id="17" name="label-88">
            <a:extLst xmlns:a="http://schemas.openxmlformats.org/drawingml/2006/main">
              <a:ext uri="{FF2B5EF4-FFF2-40B4-BE49-F238E27FC236}">
                <a16:creationId xmlns:a16="http://schemas.microsoft.com/office/drawing/2014/main" id="{39B0A2D2-EC2E-4001-AA9C-22A1E49E5B6C}"/>
              </a:ext>
            </a:extLst>
          </p:cNvPr>
          <p:cNvSpPr>
            <a:spLocks xmlns:a="http://schemas.openxmlformats.org/drawingml/2006/main" noGrp="1"/>
          </p:cNvSpPr>
          <p:nvPr/>
        </p:nvSpPr>
        <p:spPr>
          <a:xfrm xmlns:a="http://schemas.openxmlformats.org/drawingml/2006/main">
            <a:off x="11687175" y="2333625"/>
            <a:ext cx="27717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93E"/>
                </a:solidFill>
                <a:latin typeface="Calibri"/>
                <a:ea typeface="Calibri"/>
                <a:cs typeface="Calibri"/>
              </a:defRPr>
            </a:pPr>
            <a:r>
              <a:rPr sz="2325" b="1">
                <a:solidFill>
                  <a:srgbClr val="10293E"/>
                </a:solidFill>
                <a:latin typeface="Calibri"/>
                <a:ea typeface="Calibri"/>
                <a:cs typeface="Calibri"/>
              </a:rPr>
              <a:t>Application and</a:t>
            </a:r>
          </a:p>
          <a:p xmlns:a="http://schemas.openxmlformats.org/drawingml/2006/main">
            <a:pPr algn="l">
              <a:defRPr sz="2325" b="1">
                <a:solidFill>
                  <a:srgbClr val="10293E"/>
                </a:solidFill>
                <a:latin typeface="Calibri"/>
                <a:ea typeface="Calibri"/>
                <a:cs typeface="Calibri"/>
              </a:defRPr>
            </a:pPr>
            <a:r>
              <a:rPr sz="2325" b="1">
                <a:solidFill>
                  <a:srgbClr val="10293E"/>
                </a:solidFill>
                <a:latin typeface="Calibri"/>
                <a:ea typeface="Calibri"/>
                <a:cs typeface="Calibri"/>
              </a:rPr>
              <a:t>entity domain</a:t>
            </a:r>
          </a:p>
        </p:txBody>
      </p:sp>
      <p:sp>
        <p:nvSpPr>
          <p:cNvPr id="18" name="label-89">
            <a:extLst xmlns:a="http://schemas.openxmlformats.org/drawingml/2006/main">
              <a:ext uri="{FF2B5EF4-FFF2-40B4-BE49-F238E27FC236}">
                <a16:creationId xmlns:a16="http://schemas.microsoft.com/office/drawing/2014/main" id="{CD6E8AAB-04B7-4D09-BB3A-C906282AD712}"/>
              </a:ext>
            </a:extLst>
          </p:cNvPr>
          <p:cNvSpPr>
            <a:spLocks xmlns:a="http://schemas.openxmlformats.org/drawingml/2006/main" noGrp="1"/>
          </p:cNvSpPr>
          <p:nvPr/>
        </p:nvSpPr>
        <p:spPr>
          <a:xfrm xmlns:a="http://schemas.openxmlformats.org/drawingml/2006/main">
            <a:off x="11687175" y="3381375"/>
            <a:ext cx="27717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93E"/>
                </a:solidFill>
                <a:latin typeface="Calibri"/>
                <a:ea typeface="Calibri"/>
                <a:cs typeface="Calibri"/>
              </a:defRPr>
            </a:pPr>
            <a:r>
              <a:rPr sz="1875" b="0">
                <a:solidFill>
                  <a:srgbClr val="10293E"/>
                </a:solidFill>
                <a:latin typeface="Calibri"/>
                <a:ea typeface="Calibri"/>
                <a:cs typeface="Calibri"/>
              </a:rPr>
              <a:t>Resource context</a:t>
            </a:r>
          </a:p>
          <a:p xmlns:a="http://schemas.openxmlformats.org/drawingml/2006/main">
            <a:pPr algn="l">
              <a:defRPr sz="1875" b="0">
                <a:solidFill>
                  <a:srgbClr val="10293E"/>
                </a:solidFill>
                <a:latin typeface="Calibri"/>
                <a:ea typeface="Calibri"/>
                <a:cs typeface="Calibri"/>
              </a:defRPr>
            </a:pPr>
            <a:r>
              <a:rPr sz="1875" b="0">
                <a:solidFill>
                  <a:srgbClr val="10293E"/>
                </a:solidFill>
                <a:latin typeface="Calibri"/>
                <a:ea typeface="Calibri"/>
                <a:cs typeface="Calibri"/>
              </a:rPr>
              <a:t>PEP and PDP</a:t>
            </a:r>
          </a:p>
          <a:p xmlns:a="http://schemas.openxmlformats.org/drawingml/2006/main">
            <a:pPr algn="l">
              <a:defRPr sz="1875" b="0">
                <a:solidFill>
                  <a:srgbClr val="10293E"/>
                </a:solidFill>
                <a:latin typeface="Calibri"/>
                <a:ea typeface="Calibri"/>
                <a:cs typeface="Calibri"/>
              </a:defRPr>
            </a:pPr>
            <a:r>
              <a:rPr sz="1875" b="0">
                <a:solidFill>
                  <a:srgbClr val="10293E"/>
                </a:solidFill>
                <a:latin typeface="Calibri"/>
                <a:ea typeface="Calibri"/>
                <a:cs typeface="Calibri"/>
              </a:rPr>
              <a:t>Approved action</a:t>
            </a:r>
          </a:p>
          <a:p xmlns:a="http://schemas.openxmlformats.org/drawingml/2006/main">
            <a:pPr algn="l">
              <a:defRPr sz="1875" b="0">
                <a:solidFill>
                  <a:srgbClr val="10293E"/>
                </a:solidFill>
                <a:latin typeface="Calibri"/>
                <a:ea typeface="Calibri"/>
                <a:cs typeface="Calibri"/>
              </a:defRPr>
            </a:pPr>
            <a:r>
              <a:rPr sz="1875" b="0">
                <a:solidFill>
                  <a:srgbClr val="10293E"/>
                </a:solidFill>
                <a:latin typeface="Calibri"/>
                <a:ea typeface="Calibri"/>
                <a:cs typeface="Calibri"/>
              </a:rPr>
              <a:t>Entity isolation</a:t>
            </a:r>
          </a:p>
        </p:txBody>
      </p:sp>
      <p:sp>
        <p:nvSpPr>
          <p:cNvPr id="22" name="label-90">
            <a:extLst xmlns:a="http://schemas.openxmlformats.org/drawingml/2006/main">
              <a:ext uri="{FF2B5EF4-FFF2-40B4-BE49-F238E27FC236}">
                <a16:creationId xmlns:a16="http://schemas.microsoft.com/office/drawing/2014/main" id="{8F66909F-E61A-4284-B24C-6E39BA0D6840}"/>
              </a:ext>
            </a:extLst>
          </p:cNvPr>
          <p:cNvSpPr>
            <a:spLocks xmlns:a="http://schemas.openxmlformats.org/drawingml/2006/main" noGrp="1"/>
          </p:cNvSpPr>
          <p:nvPr/>
        </p:nvSpPr>
        <p:spPr>
          <a:xfrm xmlns:a="http://schemas.openxmlformats.org/drawingml/2006/main">
            <a:off x="4295775" y="1857375"/>
            <a:ext cx="304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476074"/>
                </a:solidFill>
                <a:latin typeface="Calibri"/>
                <a:ea typeface="Calibri"/>
                <a:cs typeface="Calibri"/>
              </a:defRPr>
            </a:pPr>
            <a:r>
              <a:rPr sz="1425" b="0">
                <a:solidFill>
                  <a:srgbClr val="476074"/>
                </a:solidFill>
                <a:latin typeface="Calibri"/>
                <a:ea typeface="Calibri"/>
                <a:cs typeface="Calibri"/>
              </a:rPr>
              <a:t>Trusted identity evidence</a:t>
            </a:r>
          </a:p>
        </p:txBody>
      </p:sp>
      <p:sp>
        <p:nvSpPr>
          <p:cNvPr id="23" name="label-91">
            <a:extLst xmlns:a="http://schemas.openxmlformats.org/drawingml/2006/main">
              <a:ext uri="{FF2B5EF4-FFF2-40B4-BE49-F238E27FC236}">
                <a16:creationId xmlns:a16="http://schemas.microsoft.com/office/drawing/2014/main" id="{5337057F-2083-40F7-8768-F86098188598}"/>
              </a:ext>
            </a:extLst>
          </p:cNvPr>
          <p:cNvSpPr>
            <a:spLocks xmlns:a="http://schemas.openxmlformats.org/drawingml/2006/main" noGrp="1"/>
          </p:cNvSpPr>
          <p:nvPr/>
        </p:nvSpPr>
        <p:spPr>
          <a:xfrm xmlns:a="http://schemas.openxmlformats.org/drawingml/2006/main">
            <a:off x="10153650" y="3381375"/>
            <a:ext cx="12573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76074"/>
                </a:solidFill>
                <a:latin typeface="Calibri"/>
                <a:ea typeface="Calibri"/>
                <a:cs typeface="Calibri"/>
              </a:defRPr>
            </a:pPr>
            <a:r>
              <a:rPr sz="1500" b="0">
                <a:solidFill>
                  <a:srgbClr val="476074"/>
                </a:solidFill>
                <a:latin typeface="Calibri"/>
                <a:ea typeface="Calibri"/>
                <a:cs typeface="Calibri"/>
              </a:rPr>
              <a:t>Audience and scope</a:t>
            </a:r>
          </a:p>
        </p:txBody>
      </p:sp>
      <p:sp>
        <p:nvSpPr>
          <p:cNvPr id="24" name="label-92">
            <a:extLst xmlns:a="http://schemas.openxmlformats.org/drawingml/2006/main">
              <a:ext uri="{FF2B5EF4-FFF2-40B4-BE49-F238E27FC236}">
                <a16:creationId xmlns:a16="http://schemas.microsoft.com/office/drawing/2014/main" id="{9AD97616-3E2F-4D69-B1E6-4F54559EB601}"/>
              </a:ext>
            </a:extLst>
          </p:cNvPr>
          <p:cNvSpPr>
            <a:spLocks xmlns:a="http://schemas.openxmlformats.org/drawingml/2006/main" noGrp="1"/>
          </p:cNvSpPr>
          <p:nvPr/>
        </p:nvSpPr>
        <p:spPr>
          <a:xfrm xmlns:a="http://schemas.openxmlformats.org/drawingml/2006/main">
            <a:off x="571500" y="5486400"/>
            <a:ext cx="1409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87D83"/>
                </a:solidFill>
                <a:latin typeface="Calibri"/>
                <a:ea typeface="Calibri"/>
                <a:cs typeface="Calibri"/>
              </a:defRPr>
            </a:pPr>
            <a:r>
              <a:rPr sz="1425" b="1">
                <a:solidFill>
                  <a:srgbClr val="087D83"/>
                </a:solidFill>
                <a:latin typeface="Calibri"/>
                <a:ea typeface="Calibri"/>
                <a:cs typeface="Calibri"/>
              </a:rPr>
              <a:t>SUPPORT REPRESENTATION</a:t>
            </a:r>
          </a:p>
        </p:txBody>
      </p:sp>
      <p:sp>
        <p:nvSpPr>
          <p:cNvPr id="25" name="node-93">
            <a:extLst xmlns:a="http://schemas.openxmlformats.org/drawingml/2006/main">
              <a:ext uri="{FF2B5EF4-FFF2-40B4-BE49-F238E27FC236}">
                <a16:creationId xmlns:a16="http://schemas.microsoft.com/office/drawing/2014/main" id="{11CF1608-733B-45B7-9402-2D776C5CDCD1}"/>
              </a:ext>
            </a:extLst>
          </p:cNvPr>
          <p:cNvSpPr>
            <a:spLocks xmlns:a="http://schemas.openxmlformats.org/drawingml/2006/main" noGrp="1"/>
          </p:cNvSpPr>
          <p:nvPr/>
        </p:nvSpPr>
        <p:spPr>
          <a:xfrm xmlns:a="http://schemas.openxmlformats.org/drawingml/2006/main">
            <a:off x="571500" y="5943600"/>
            <a:ext cx="3676650" cy="1009650"/>
          </a:xfrm>
          <a:prstGeom xmlns:a="http://schemas.openxmlformats.org/drawingml/2006/main" prst="rect">
            <a:avLst/>
          </a:prstGeom>
          <a:noFill xmlns:a="http://schemas.openxmlformats.org/drawingml/2006/main"/>
          <a:ln xmlns:a="http://schemas.openxmlformats.org/drawingml/2006/main" w="14288">
            <a:solidFill>
              <a:srgbClr val="087D83"/>
            </a:solidFill>
            <a:prstDash val="solid"/>
          </a:ln>
        </p:spPr>
      </p:sp>
      <p:sp>
        <p:nvSpPr>
          <p:cNvPr id="26" name="label-94">
            <a:extLst xmlns:a="http://schemas.openxmlformats.org/drawingml/2006/main">
              <a:ext uri="{FF2B5EF4-FFF2-40B4-BE49-F238E27FC236}">
                <a16:creationId xmlns:a16="http://schemas.microsoft.com/office/drawing/2014/main" id="{2D12E41C-6BE9-44DD-A770-11DF20154898}"/>
              </a:ext>
            </a:extLst>
          </p:cNvPr>
          <p:cNvSpPr>
            <a:spLocks xmlns:a="http://schemas.openxmlformats.org/drawingml/2006/main" noGrp="1"/>
          </p:cNvSpPr>
          <p:nvPr/>
        </p:nvSpPr>
        <p:spPr>
          <a:xfrm xmlns:a="http://schemas.openxmlformats.org/drawingml/2006/main">
            <a:off x="762000" y="6105525"/>
            <a:ext cx="331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93E"/>
                </a:solidFill>
                <a:latin typeface="Calibri"/>
                <a:ea typeface="Calibri"/>
                <a:cs typeface="Calibri"/>
              </a:defRPr>
            </a:pPr>
            <a:r>
              <a:rPr sz="1875" b="0">
                <a:solidFill>
                  <a:srgbClr val="10293E"/>
                </a:solidFill>
                <a:latin typeface="Calibri"/>
                <a:ea typeface="Calibri"/>
                <a:cs typeface="Calibri"/>
              </a:rPr>
              <a:t>Operator AAL3</a:t>
            </a:r>
          </a:p>
          <a:p xmlns:a="http://schemas.openxmlformats.org/drawingml/2006/main">
            <a:pPr algn="l">
              <a:defRPr sz="1875" b="0">
                <a:solidFill>
                  <a:srgbClr val="10293E"/>
                </a:solidFill>
                <a:latin typeface="Calibri"/>
                <a:ea typeface="Calibri"/>
                <a:cs typeface="Calibri"/>
              </a:defRPr>
            </a:pPr>
            <a:r>
              <a:rPr sz="1875" b="0">
                <a:solidFill>
                  <a:srgbClr val="10293E"/>
                </a:solidFill>
                <a:latin typeface="Calibri"/>
                <a:ea typeface="Calibri"/>
                <a:cs typeface="Calibri"/>
              </a:rPr>
              <a:t>Active authorised ticket</a:t>
            </a:r>
          </a:p>
        </p:txBody>
      </p:sp>
      <p:sp>
        <p:nvSpPr>
          <p:cNvPr id="27" name="node-95">
            <a:extLst xmlns:a="http://schemas.openxmlformats.org/drawingml/2006/main">
              <a:ext uri="{FF2B5EF4-FFF2-40B4-BE49-F238E27FC236}">
                <a16:creationId xmlns:a16="http://schemas.microsoft.com/office/drawing/2014/main" id="{E4034B78-7B79-4D27-92A3-E2B407BB8F53}"/>
              </a:ext>
            </a:extLst>
          </p:cNvPr>
          <p:cNvSpPr>
            <a:spLocks xmlns:a="http://schemas.openxmlformats.org/drawingml/2006/main" noGrp="1"/>
          </p:cNvSpPr>
          <p:nvPr/>
        </p:nvSpPr>
        <p:spPr>
          <a:xfrm xmlns:a="http://schemas.openxmlformats.org/drawingml/2006/main">
            <a:off x="5667375" y="5943600"/>
            <a:ext cx="4419600" cy="1009650"/>
          </a:xfrm>
          <a:prstGeom xmlns:a="http://schemas.openxmlformats.org/drawingml/2006/main" prst="rect">
            <a:avLst/>
          </a:prstGeom>
          <a:noFill xmlns:a="http://schemas.openxmlformats.org/drawingml/2006/main"/>
          <a:ln xmlns:a="http://schemas.openxmlformats.org/drawingml/2006/main" w="14288">
            <a:solidFill>
              <a:srgbClr val="087D83"/>
            </a:solidFill>
            <a:prstDash val="solid"/>
          </a:ln>
        </p:spPr>
      </p:sp>
      <p:sp>
        <p:nvSpPr>
          <p:cNvPr id="28" name="label-96">
            <a:extLst xmlns:a="http://schemas.openxmlformats.org/drawingml/2006/main">
              <a:ext uri="{FF2B5EF4-FFF2-40B4-BE49-F238E27FC236}">
                <a16:creationId xmlns:a16="http://schemas.microsoft.com/office/drawing/2014/main" id="{1737FAFA-CFB8-4C32-8D03-6F29E27A2FF9}"/>
              </a:ext>
            </a:extLst>
          </p:cNvPr>
          <p:cNvSpPr>
            <a:spLocks xmlns:a="http://schemas.openxmlformats.org/drawingml/2006/main" noGrp="1"/>
          </p:cNvSpPr>
          <p:nvPr/>
        </p:nvSpPr>
        <p:spPr>
          <a:xfrm xmlns:a="http://schemas.openxmlformats.org/drawingml/2006/main">
            <a:off x="5876925" y="6105525"/>
            <a:ext cx="400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93E"/>
                </a:solidFill>
                <a:latin typeface="Calibri"/>
                <a:ea typeface="Calibri"/>
                <a:cs typeface="Calibri"/>
              </a:defRPr>
            </a:pPr>
            <a:r>
              <a:rPr sz="1875" b="0">
                <a:solidFill>
                  <a:srgbClr val="10293E"/>
                </a:solidFill>
                <a:latin typeface="Calibri"/>
                <a:ea typeface="Calibri"/>
                <a:cs typeface="Calibri"/>
              </a:rPr>
              <a:t>Exchange policy intersects</a:t>
            </a:r>
          </a:p>
          <a:p xmlns:a="http://schemas.openxmlformats.org/drawingml/2006/main">
            <a:pPr algn="l">
              <a:defRPr sz="1875" b="0">
                <a:solidFill>
                  <a:srgbClr val="10293E"/>
                </a:solidFill>
                <a:latin typeface="Calibri"/>
                <a:ea typeface="Calibri"/>
                <a:cs typeface="Calibri"/>
              </a:defRPr>
            </a:pPr>
            <a:r>
              <a:rPr sz="1875" b="0">
                <a:solidFill>
                  <a:srgbClr val="10293E"/>
                </a:solidFill>
                <a:latin typeface="Calibri"/>
                <a:ea typeface="Calibri"/>
                <a:cs typeface="Calibri"/>
              </a:rPr>
              <a:t>operator and client authority</a:t>
            </a:r>
          </a:p>
        </p:txBody>
      </p:sp>
      <p:sp>
        <p:nvSpPr>
          <p:cNvPr id="29" name="node-97">
            <a:extLst xmlns:a="http://schemas.openxmlformats.org/drawingml/2006/main">
              <a:ext uri="{FF2B5EF4-FFF2-40B4-BE49-F238E27FC236}">
                <a16:creationId xmlns:a16="http://schemas.microsoft.com/office/drawing/2014/main" id="{4CF35C60-DA3A-4641-933A-4EE8A1A37063}"/>
              </a:ext>
            </a:extLst>
          </p:cNvPr>
          <p:cNvSpPr>
            <a:spLocks xmlns:a="http://schemas.openxmlformats.org/drawingml/2006/main" noGrp="1"/>
          </p:cNvSpPr>
          <p:nvPr/>
        </p:nvSpPr>
        <p:spPr>
          <a:xfrm xmlns:a="http://schemas.openxmlformats.org/drawingml/2006/main">
            <a:off x="11477625" y="5943600"/>
            <a:ext cx="3190875" cy="1009650"/>
          </a:xfrm>
          <a:prstGeom xmlns:a="http://schemas.openxmlformats.org/drawingml/2006/main" prst="rect">
            <a:avLst/>
          </a:prstGeom>
          <a:solidFill xmlns:a="http://schemas.openxmlformats.org/drawingml/2006/main">
            <a:srgbClr val="EAF6F5"/>
          </a:solidFill>
          <a:ln xmlns:a="http://schemas.openxmlformats.org/drawingml/2006/main" w="14288">
            <a:solidFill>
              <a:srgbClr val="087D83"/>
            </a:solidFill>
            <a:prstDash val="solid"/>
          </a:ln>
        </p:spPr>
      </p:sp>
      <p:sp>
        <p:nvSpPr>
          <p:cNvPr id="30" name="label-98">
            <a:extLst xmlns:a="http://schemas.openxmlformats.org/drawingml/2006/main">
              <a:ext uri="{FF2B5EF4-FFF2-40B4-BE49-F238E27FC236}">
                <a16:creationId xmlns:a16="http://schemas.microsoft.com/office/drawing/2014/main" id="{1BB69300-E653-4904-9E4F-26E0D820C96E}"/>
              </a:ext>
            </a:extLst>
          </p:cNvPr>
          <p:cNvSpPr>
            <a:spLocks xmlns:a="http://schemas.openxmlformats.org/drawingml/2006/main" noGrp="1"/>
          </p:cNvSpPr>
          <p:nvPr/>
        </p:nvSpPr>
        <p:spPr>
          <a:xfrm xmlns:a="http://schemas.openxmlformats.org/drawingml/2006/main">
            <a:off x="11687175" y="6105525"/>
            <a:ext cx="27717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293E"/>
                </a:solidFill>
                <a:latin typeface="Calibri"/>
                <a:ea typeface="Calibri"/>
                <a:cs typeface="Calibri"/>
              </a:defRPr>
            </a:pPr>
            <a:r>
              <a:rPr sz="1800" b="0">
                <a:solidFill>
                  <a:srgbClr val="10293E"/>
                </a:solidFill>
                <a:latin typeface="Calibri"/>
                <a:ea typeface="Calibri"/>
                <a:cs typeface="Calibri"/>
              </a:rPr>
              <a:t>sub = client</a:t>
            </a:r>
          </a:p>
          <a:p xmlns:a="http://schemas.openxmlformats.org/drawingml/2006/main">
            <a:pPr algn="l">
              <a:defRPr sz="1800" b="0">
                <a:solidFill>
                  <a:srgbClr val="10293E"/>
                </a:solidFill>
                <a:latin typeface="Calibri"/>
                <a:ea typeface="Calibri"/>
                <a:cs typeface="Calibri"/>
              </a:defRPr>
            </a:pPr>
            <a:r>
              <a:rPr sz="1800" b="0">
                <a:solidFill>
                  <a:srgbClr val="10293E"/>
                </a:solidFill>
                <a:latin typeface="Calibri"/>
                <a:ea typeface="Calibri"/>
                <a:cs typeface="Calibri"/>
              </a:rPr>
              <a:t>act.sub = operator</a:t>
            </a:r>
          </a:p>
        </p:txBody>
      </p:sp>
      <p:sp>
        <p:nvSpPr>
          <p:cNvPr id="33" name="label-99">
            <a:extLst xmlns:a="http://schemas.openxmlformats.org/drawingml/2006/main">
              <a:ext uri="{FF2B5EF4-FFF2-40B4-BE49-F238E27FC236}">
                <a16:creationId xmlns:a16="http://schemas.microsoft.com/office/drawing/2014/main" id="{C8C9EC00-D0D3-401E-B980-D3B7EC94AF35}"/>
              </a:ext>
            </a:extLst>
          </p:cNvPr>
          <p:cNvSpPr>
            <a:spLocks xmlns:a="http://schemas.openxmlformats.org/drawingml/2006/main" noGrp="1"/>
          </p:cNvSpPr>
          <p:nvPr/>
        </p:nvSpPr>
        <p:spPr>
          <a:xfrm xmlns:a="http://schemas.openxmlformats.org/drawingml/2006/main">
            <a:off x="571500" y="7286625"/>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76074"/>
                </a:solidFill>
                <a:latin typeface="Calibri"/>
                <a:ea typeface="Calibri"/>
                <a:cs typeface="Calibri"/>
              </a:defRPr>
            </a:pPr>
            <a:r>
              <a:rPr sz="1725" b="0">
                <a:solidFill>
                  <a:srgbClr val="476074"/>
                </a:solidFill>
                <a:latin typeface="Calibri"/>
                <a:ea typeface="Calibri"/>
                <a:cs typeface="Calibri"/>
              </a:rPr>
              <a:t>Workloads use separate credential controls. Platform administration uses a separate PAM management path.</a:t>
            </a:r>
          </a:p>
        </p:txBody>
      </p:sp>
    </p:spTree>
    <p:extLst>
      <p:ext uri="{BB962C8B-B14F-4D97-AF65-F5344CB8AC3E}">
        <p14:creationId xmlns:p14="http://schemas.microsoft.com/office/powerpoint/2010/main" val="4623394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label-100">
            <a:extLst xmlns:a="http://schemas.openxmlformats.org/drawingml/2006/main">
              <a:ext uri="{FF2B5EF4-FFF2-40B4-BE49-F238E27FC236}">
                <a16:creationId xmlns:a16="http://schemas.microsoft.com/office/drawing/2014/main" id="{E99F640E-E1AF-4861-8F9B-1C3EE5710114}"/>
              </a:ext>
            </a:extLst>
          </p:cNvPr>
          <p:cNvSpPr>
            <a:spLocks xmlns:a="http://schemas.openxmlformats.org/drawingml/2006/main" noGrp="1"/>
          </p:cNvSpPr>
          <p:nvPr/>
        </p:nvSpPr>
        <p:spPr>
          <a:xfrm xmlns:a="http://schemas.openxmlformats.org/drawingml/2006/main">
            <a:off x="571500" y="266700"/>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476074"/>
                </a:solidFill>
                <a:latin typeface="Calibri"/>
                <a:ea typeface="Calibri"/>
                <a:cs typeface="Calibri"/>
              </a:defRPr>
            </a:pPr>
            <a:r>
              <a:rPr sz="1275" b="1">
                <a:solidFill>
                  <a:srgbClr val="476074"/>
                </a:solidFill>
                <a:latin typeface="Calibri"/>
                <a:ea typeface="Calibri"/>
                <a:cs typeface="Calibri"/>
              </a:rPr>
              <a:t>EUROCLEAR B2B CIAM</a:t>
            </a:r>
          </a:p>
        </p:txBody>
      </p:sp>
      <p:sp>
        <p:nvSpPr>
          <p:cNvPr id="2" name="label-101">
            <a:extLst xmlns:a="http://schemas.openxmlformats.org/drawingml/2006/main">
              <a:ext uri="{FF2B5EF4-FFF2-40B4-BE49-F238E27FC236}">
                <a16:creationId xmlns:a16="http://schemas.microsoft.com/office/drawing/2014/main" id="{29756AB2-1311-4FA9-99DA-23C7C80018BE}"/>
              </a:ext>
            </a:extLst>
          </p:cNvPr>
          <p:cNvSpPr>
            <a:spLocks xmlns:a="http://schemas.openxmlformats.org/drawingml/2006/main" noGrp="1"/>
          </p:cNvSpPr>
          <p:nvPr/>
        </p:nvSpPr>
        <p:spPr>
          <a:xfrm xmlns:a="http://schemas.openxmlformats.org/drawingml/2006/main">
            <a:off x="571500" y="638175"/>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93E"/>
                </a:solidFill>
                <a:latin typeface="Calibri"/>
                <a:ea typeface="Calibri"/>
                <a:cs typeface="Calibri"/>
              </a:defRPr>
            </a:pPr>
            <a:r>
              <a:rPr sz="3300" b="1">
                <a:solidFill>
                  <a:srgbClr val="10293E"/>
                </a:solidFill>
                <a:latin typeface="Calibri"/>
                <a:ea typeface="Calibri"/>
                <a:cs typeface="Calibri"/>
              </a:rPr>
              <a:t>Assurance and access control interpretation</a:t>
            </a:r>
          </a:p>
        </p:txBody>
      </p:sp>
      <p:sp>
        <p:nvSpPr>
          <p:cNvPr id="3" name="label-102">
            <a:extLst xmlns:a="http://schemas.openxmlformats.org/drawingml/2006/main">
              <a:ext uri="{FF2B5EF4-FFF2-40B4-BE49-F238E27FC236}">
                <a16:creationId xmlns:a16="http://schemas.microsoft.com/office/drawing/2014/main" id="{ED5176C1-0C33-4292-AE31-91EDEB0410ED}"/>
              </a:ext>
            </a:extLst>
          </p:cNvPr>
          <p:cNvSpPr>
            <a:spLocks xmlns:a="http://schemas.openxmlformats.org/drawingml/2006/main" noGrp="1"/>
          </p:cNvSpPr>
          <p:nvPr/>
        </p:nvSpPr>
        <p:spPr>
          <a:xfrm xmlns:a="http://schemas.openxmlformats.org/drawingml/2006/main">
            <a:off x="571500" y="1247775"/>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76074"/>
                </a:solidFill>
                <a:latin typeface="Calibri"/>
                <a:ea typeface="Calibri"/>
                <a:cs typeface="Calibri"/>
              </a:defRPr>
            </a:pPr>
            <a:r>
              <a:rPr sz="1725" b="0">
                <a:solidFill>
                  <a:srgbClr val="476074"/>
                </a:solidFill>
                <a:latin typeface="Calibri"/>
                <a:ea typeface="Calibri"/>
                <a:cs typeface="Calibri"/>
              </a:rPr>
              <a:t>Authentication targets remain proposals. Channels and commercial status do not grant authority.</a:t>
            </a:r>
          </a:p>
        </p:txBody>
      </p:sp>
      <p:sp>
        <p:nvSpPr>
          <p:cNvPr id="4" name="rule-103">
            <a:extLst xmlns:a="http://schemas.openxmlformats.org/drawingml/2006/main">
              <a:ext uri="{FF2B5EF4-FFF2-40B4-BE49-F238E27FC236}">
                <a16:creationId xmlns:a16="http://schemas.microsoft.com/office/drawing/2014/main" id="{1F1F43BA-9482-4EA0-A6E6-02F06E2F98DE}"/>
              </a:ext>
            </a:extLst>
          </p:cNvPr>
          <p:cNvSpPr>
            <a:spLocks xmlns:a="http://schemas.openxmlformats.org/drawingml/2006/main" noGrp="1"/>
          </p:cNvSpPr>
          <p:nvPr/>
        </p:nvSpPr>
        <p:spPr>
          <a:xfrm xmlns:a="http://schemas.openxmlformats.org/drawingml/2006/main">
            <a:off x="571500" y="7858125"/>
            <a:ext cx="14097000" cy="0"/>
          </a:xfrm>
          <a:prstGeom xmlns:a="http://schemas.openxmlformats.org/drawingml/2006/main" prst="line">
            <a:avLst/>
          </a:prstGeom>
          <a:noFill xmlns:a="http://schemas.openxmlformats.org/drawingml/2006/main"/>
          <a:ln xmlns:a="http://schemas.openxmlformats.org/drawingml/2006/main" w="12383">
            <a:solidFill>
              <a:srgbClr val="CBD5DD"/>
            </a:solidFill>
          </a:ln>
        </p:spPr>
      </p:sp>
      <p:sp>
        <p:nvSpPr>
          <p:cNvPr id="5" name="label-104">
            <a:extLst xmlns:a="http://schemas.openxmlformats.org/drawingml/2006/main">
              <a:ext uri="{FF2B5EF4-FFF2-40B4-BE49-F238E27FC236}">
                <a16:creationId xmlns:a16="http://schemas.microsoft.com/office/drawing/2014/main" id="{799D80F8-4BD4-4096-A3CE-B0766C44FC01}"/>
              </a:ext>
            </a:extLst>
          </p:cNvPr>
          <p:cNvSpPr>
            <a:spLocks xmlns:a="http://schemas.openxmlformats.org/drawingml/2006/main" noGrp="1"/>
          </p:cNvSpPr>
          <p:nvPr/>
        </p:nvSpPr>
        <p:spPr>
          <a:xfrm xmlns:a="http://schemas.openxmlformats.org/drawingml/2006/main">
            <a:off x="571500" y="8058150"/>
            <a:ext cx="1314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76074"/>
                </a:solidFill>
                <a:latin typeface="Calibri"/>
                <a:ea typeface="Calibri"/>
                <a:cs typeface="Calibri"/>
              </a:defRPr>
            </a:pPr>
            <a:r>
              <a:rPr sz="1275" b="0">
                <a:solidFill>
                  <a:srgbClr val="476074"/>
                </a:solidFill>
                <a:latin typeface="Calibri"/>
                <a:ea typeface="Calibri"/>
                <a:cs typeface="Calibri"/>
              </a:rPr>
              <a:t>Proposed persona model   7 October 2026   Companion to Deliverable 1 v0.2</a:t>
            </a:r>
          </a:p>
        </p:txBody>
      </p:sp>
      <p:sp>
        <p:nvSpPr>
          <p:cNvPr id="6" name="label-105">
            <a:extLst xmlns:a="http://schemas.openxmlformats.org/drawingml/2006/main">
              <a:ext uri="{FF2B5EF4-FFF2-40B4-BE49-F238E27FC236}">
                <a16:creationId xmlns:a16="http://schemas.microsoft.com/office/drawing/2014/main" id="{73047525-3E48-460D-BA29-EA316D847F58}"/>
              </a:ext>
            </a:extLst>
          </p:cNvPr>
          <p:cNvSpPr>
            <a:spLocks xmlns:a="http://schemas.openxmlformats.org/drawingml/2006/main" noGrp="1"/>
          </p:cNvSpPr>
          <p:nvPr/>
        </p:nvSpPr>
        <p:spPr>
          <a:xfrm xmlns:a="http://schemas.openxmlformats.org/drawingml/2006/main">
            <a:off x="14144625" y="80391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6074"/>
                </a:solidFill>
                <a:latin typeface="Calibri"/>
                <a:ea typeface="Calibri"/>
                <a:cs typeface="Calibri"/>
              </a:defRPr>
            </a:pPr>
            <a:r>
              <a:rPr sz="1350" b="0">
                <a:solidFill>
                  <a:srgbClr val="476074"/>
                </a:solidFill>
                <a:latin typeface="Calibri"/>
                <a:ea typeface="Calibri"/>
                <a:cs typeface="Calibri"/>
              </a:rPr>
              <a:t>5</a:t>
            </a:r>
          </a:p>
        </p:txBody>
      </p:sp>
      <p:graphicFrame>
        <p:nvGraphicFramePr>
          <p:cNvPr id="20" name=""/>
          <p:cNvGraphicFramePr/>
          <p:nvPr/>
        </p:nvGraphicFramePr>
        <p:xfrm>
          <a:off xmlns:a="http://schemas.openxmlformats.org/drawingml/2006/main" x="571500" y="1943100"/>
          <a:ext xmlns:a="http://schemas.openxmlformats.org/drawingml/2006/main" cx="14097000" cy="3886200"/>
        </p:xfrm>
        <a:graphic xmlns:a="http://schemas.openxmlformats.org/drawingml/2006/main">
          <a:graphicData uri="http://schemas.openxmlformats.org/drawingml/2006/table">
            <a:tbl>
              <a:tblPr firstRow="0" bandRow="0"/>
              <a:tblGrid>
                <a:gridCol w="4019550"/>
                <a:gridCol w="5419725"/>
                <a:gridCol w="4657725"/>
              </a:tblGrid>
              <a:tr h="777240">
                <a:tc>
                  <a:txBody>
                    <a:bodyPr lIns="95250" tIns="47625" rIns="95250" bIns="47625">
                      <a:noAutofit/>
                    </a:bodyPr>
                    <a:lstStyle/>
                    <a:p>
                      <a:pPr algn="l"/>
                      <a:r>
                        <a:rPr sz="1800" b="1">
                          <a:solidFill>
                            <a:srgbClr val="FFFFFF"/>
                          </a:solidFill>
                          <a:latin typeface="Calibri"/>
                          <a:ea typeface="Calibri"/>
                          <a:cs typeface="Calibri"/>
                        </a:rPr>
                        <a:t>Use case</a:t>
                      </a:r>
                    </a:p>
                  </a:txBody>
                  <a:tcPr marL="91440" marR="91440" marT="45720" marB="45720" anchor="ctr">
                    <a:solidFill>
                      <a:srgbClr val="10293E"/>
                    </a:solidFill>
                  </a:tcPr>
                </a:tc>
                <a:tc>
                  <a:txBody>
                    <a:bodyPr lIns="95250" tIns="47625" rIns="95250" bIns="47625">
                      <a:noAutofit/>
                    </a:bodyPr>
                    <a:lstStyle/>
                    <a:p>
                      <a:pPr algn="ctr"/>
                      <a:r>
                        <a:rPr sz="1800" b="1">
                          <a:solidFill>
                            <a:srgbClr val="FFFFFF"/>
                          </a:solidFill>
                          <a:latin typeface="Calibri"/>
                          <a:ea typeface="Calibri"/>
                          <a:cs typeface="Calibri"/>
                        </a:rPr>
                        <a:t>Proposed control target</a:t>
                      </a:r>
                    </a:p>
                  </a:txBody>
                  <a:tcPr marL="91440" marR="91440" marT="45720" marB="45720" anchor="ctr">
                    <a:solidFill>
                      <a:srgbClr val="10293E"/>
                    </a:solidFill>
                  </a:tcPr>
                </a:tc>
                <a:tc>
                  <a:txBody>
                    <a:bodyPr lIns="95250" tIns="47625" rIns="95250" bIns="47625">
                      <a:noAutofit/>
                    </a:bodyPr>
                    <a:lstStyle/>
                    <a:p>
                      <a:pPr algn="ctr"/>
                      <a:r>
                        <a:rPr sz="1800" b="1">
                          <a:solidFill>
                            <a:srgbClr val="FFFFFF"/>
                          </a:solidFill>
                          <a:latin typeface="Calibri"/>
                          <a:ea typeface="Calibri"/>
                          <a:cs typeface="Calibri"/>
                        </a:rPr>
                        <a:t>Channel context</a:t>
                      </a:r>
                    </a:p>
                  </a:txBody>
                  <a:tcPr marL="91440" marR="91440" marT="45720" marB="45720" anchor="ctr">
                    <a:solidFill>
                      <a:srgbClr val="10293E"/>
                    </a:solidFill>
                  </a:tcPr>
                </a:tc>
              </a:tr>
              <a:tr h="777240">
                <a:tc>
                  <a:txBody>
                    <a:bodyPr lIns="95250" tIns="47625" rIns="95250" bIns="47625">
                      <a:noAutofit/>
                    </a:bodyPr>
                    <a:lstStyle/>
                    <a:p>
                      <a:pPr algn="l"/>
                      <a:r>
                        <a:rPr sz="1800" b="0">
                          <a:solidFill>
                            <a:srgbClr val="10293E"/>
                          </a:solidFill>
                          <a:latin typeface="Calibri"/>
                          <a:ea typeface="Calibri"/>
                          <a:cs typeface="Calibri"/>
                        </a:rPr>
                        <a:t>External client operations</a:t>
                      </a:r>
                    </a:p>
                  </a:txBody>
                  <a:tcPr marL="91440" marR="91440" marT="45720" marB="45720" anchor="ctr">
                    <a:solidFill>
                      <a:srgbClr val="FFFFFF"/>
                    </a:solidFill>
                  </a:tcPr>
                </a:tc>
                <a:tc>
                  <a:txBody>
                    <a:bodyPr lIns="152400" tIns="95250" rIns="114300" bIns="95250">
                      <a:noAutofit/>
                    </a:bodyPr>
                    <a:lstStyle/>
                    <a:p>
                      <a:pPr algn="l"/>
                      <a:r>
                        <a:rPr sz="1800" b="0">
                          <a:solidFill>
                            <a:srgbClr val="10293E"/>
                          </a:solidFill>
                          <a:latin typeface="Calibri"/>
                          <a:ea typeface="Calibri"/>
                          <a:cs typeface="Calibri"/>
                        </a:rPr>
                        <a:t>AAL2 baseline</a:t>
                      </a:r>
                    </a:p>
                    <a:p>
                      <a:pPr algn="l"/>
                      <a:r>
                        <a:rPr sz="1800" b="0">
                          <a:solidFill>
                            <a:srgbClr val="10293E"/>
                          </a:solidFill>
                          <a:latin typeface="Calibri"/>
                          <a:ea typeface="Calibri"/>
                          <a:cs typeface="Calibri"/>
                        </a:rPr>
                        <a:t>AAL3 for multi entity and sensitive actions</a:t>
                      </a:r>
                    </a:p>
                  </a:txBody>
                  <a:tcPr marL="91440" marR="91440" marT="45720" marB="45720" anchor="ctr">
                    <a:solidFill>
                      <a:srgbClr val="FFFFFF"/>
                    </a:solidFill>
                  </a:tcPr>
                </a:tc>
                <a:tc>
                  <a:txBody>
                    <a:bodyPr lIns="152400" tIns="95250" rIns="114300" bIns="95250">
                      <a:noAutofit/>
                    </a:bodyPr>
                    <a:lstStyle/>
                    <a:p>
                      <a:pPr algn="l"/>
                      <a:r>
                        <a:rPr sz="1800" b="0">
                          <a:solidFill>
                            <a:srgbClr val="10293E"/>
                          </a:solidFill>
                          <a:latin typeface="Calibri"/>
                          <a:ea typeface="Calibri"/>
                          <a:cs typeface="Calibri"/>
                        </a:rPr>
                        <a:t>Internet or BT Radianz</a:t>
                      </a:r>
                    </a:p>
                  </a:txBody>
                  <a:tcPr marL="91440" marR="91440" marT="45720" marB="45720" anchor="ctr">
                    <a:solidFill>
                      <a:srgbClr val="FFFFFF"/>
                    </a:solidFill>
                  </a:tcPr>
                </a:tc>
              </a:tr>
              <a:tr h="777240">
                <a:tc>
                  <a:txBody>
                    <a:bodyPr lIns="95250" tIns="47625" rIns="95250" bIns="47625">
                      <a:noAutofit/>
                    </a:bodyPr>
                    <a:lstStyle/>
                    <a:p>
                      <a:pPr algn="l"/>
                      <a:r>
                        <a:rPr sz="1800" b="0">
                          <a:solidFill>
                            <a:srgbClr val="10293E"/>
                          </a:solidFill>
                          <a:latin typeface="Calibri"/>
                          <a:ea typeface="Calibri"/>
                          <a:cs typeface="Calibri"/>
                        </a:rPr>
                        <a:t>Delegated, workforce and privileged modes</a:t>
                      </a:r>
                    </a:p>
                  </a:txBody>
                  <a:tcPr marL="91440" marR="91440" marT="45720" marB="45720" anchor="ctr">
                    <a:solidFill>
                      <a:srgbClr val="F4F6F8"/>
                    </a:solidFill>
                  </a:tcPr>
                </a:tc>
                <a:tc>
                  <a:txBody>
                    <a:bodyPr lIns="152400" tIns="95250" rIns="114300" bIns="95250">
                      <a:noAutofit/>
                    </a:bodyPr>
                    <a:lstStyle/>
                    <a:p>
                      <a:pPr algn="l"/>
                      <a:r>
                        <a:rPr sz="1800" b="0">
                          <a:solidFill>
                            <a:srgbClr val="10293E"/>
                          </a:solidFill>
                          <a:latin typeface="Calibri"/>
                          <a:ea typeface="Calibri"/>
                          <a:cs typeface="Calibri"/>
                        </a:rPr>
                        <a:t>AAL3</a:t>
                      </a:r>
                    </a:p>
                    <a:p>
                      <a:pPr algn="l"/>
                      <a:r>
                        <a:rPr sz="1800" b="0">
                          <a:solidFill>
                            <a:srgbClr val="10293E"/>
                          </a:solidFill>
                          <a:latin typeface="Calibri"/>
                          <a:ea typeface="Calibri"/>
                          <a:cs typeface="Calibri"/>
                        </a:rPr>
                        <a:t>Fresh checks for support or elevation</a:t>
                      </a:r>
                    </a:p>
                  </a:txBody>
                  <a:tcPr marL="91440" marR="91440" marT="45720" marB="45720" anchor="ctr">
                    <a:solidFill>
                      <a:srgbClr val="F4F6F8"/>
                    </a:solidFill>
                  </a:tcPr>
                </a:tc>
                <a:tc>
                  <a:txBody>
                    <a:bodyPr lIns="152400" tIns="95250" rIns="114300" bIns="95250">
                      <a:noAutofit/>
                    </a:bodyPr>
                    <a:lstStyle/>
                    <a:p>
                      <a:pPr algn="l"/>
                      <a:r>
                        <a:rPr sz="1800" b="0">
                          <a:solidFill>
                            <a:srgbClr val="10293E"/>
                          </a:solidFill>
                          <a:latin typeface="Calibri"/>
                          <a:ea typeface="Calibri"/>
                          <a:cs typeface="Calibri"/>
                        </a:rPr>
                        <a:t>Approved client or internal</a:t>
                      </a:r>
                    </a:p>
                    <a:p>
                      <a:pPr algn="l"/>
                      <a:r>
                        <a:rPr sz="1800" b="0">
                          <a:solidFill>
                            <a:srgbClr val="10293E"/>
                          </a:solidFill>
                          <a:latin typeface="Calibri"/>
                          <a:ea typeface="Calibri"/>
                          <a:cs typeface="Calibri"/>
                        </a:rPr>
                        <a:t>administration channel</a:t>
                      </a:r>
                    </a:p>
                  </a:txBody>
                  <a:tcPr marL="91440" marR="91440" marT="45720" marB="45720" anchor="ctr">
                    <a:solidFill>
                      <a:srgbClr val="F4F6F8"/>
                    </a:solidFill>
                  </a:tcPr>
                </a:tc>
              </a:tr>
              <a:tr h="777240">
                <a:tc>
                  <a:txBody>
                    <a:bodyPr lIns="95250" tIns="47625" rIns="95250" bIns="47625">
                      <a:noAutofit/>
                    </a:bodyPr>
                    <a:lstStyle/>
                    <a:p>
                      <a:pPr algn="l"/>
                      <a:r>
                        <a:rPr sz="1800" b="0">
                          <a:solidFill>
                            <a:srgbClr val="10293E"/>
                          </a:solidFill>
                          <a:latin typeface="Calibri"/>
                          <a:ea typeface="Calibri"/>
                          <a:cs typeface="Calibri"/>
                        </a:rPr>
                        <a:t>Financial and provisioning workloads</a:t>
                      </a:r>
                    </a:p>
                  </a:txBody>
                  <a:tcPr marL="91440" marR="91440" marT="45720" marB="45720" anchor="ctr">
                    <a:solidFill>
                      <a:srgbClr val="FFFFFF"/>
                    </a:solidFill>
                  </a:tcPr>
                </a:tc>
                <a:tc>
                  <a:txBody>
                    <a:bodyPr lIns="152400" tIns="95250" rIns="114300" bIns="95250">
                      <a:noAutofit/>
                    </a:bodyPr>
                    <a:lstStyle/>
                    <a:p>
                      <a:pPr algn="l"/>
                      <a:r>
                        <a:rPr sz="1800" b="0">
                          <a:solidFill>
                            <a:srgbClr val="10293E"/>
                          </a:solidFill>
                          <a:latin typeface="Calibri"/>
                          <a:ea typeface="Calibri"/>
                          <a:cs typeface="Calibri"/>
                        </a:rPr>
                        <a:t>Separate machine credential policy</a:t>
                      </a:r>
                    </a:p>
                    <a:p>
                      <a:pPr algn="l"/>
                      <a:r>
                        <a:rPr sz="1800" b="0">
                          <a:solidFill>
                            <a:srgbClr val="10293E"/>
                          </a:solidFill>
                          <a:latin typeface="Calibri"/>
                          <a:ea typeface="Calibri"/>
                          <a:cs typeface="Calibri"/>
                        </a:rPr>
                        <a:t>mTLS / private key JWT and token binding</a:t>
                      </a:r>
                    </a:p>
                  </a:txBody>
                  <a:tcPr marL="91440" marR="91440" marT="45720" marB="45720" anchor="ctr">
                    <a:solidFill>
                      <a:srgbClr val="FFFFFF"/>
                    </a:solidFill>
                  </a:tcPr>
                </a:tc>
                <a:tc>
                  <a:txBody>
                    <a:bodyPr lIns="152400" tIns="95250" rIns="114300" bIns="95250">
                      <a:noAutofit/>
                    </a:bodyPr>
                    <a:lstStyle/>
                    <a:p>
                      <a:pPr algn="l"/>
                      <a:r>
                        <a:rPr sz="1800" b="0">
                          <a:solidFill>
                            <a:srgbClr val="10293E"/>
                          </a:solidFill>
                          <a:latin typeface="Calibri"/>
                          <a:ea typeface="Calibri"/>
                          <a:cs typeface="Calibri"/>
                        </a:rPr>
                        <a:t>SWIFTnet, BT Radianz or Internet</a:t>
                      </a:r>
                    </a:p>
                    <a:p>
                      <a:pPr algn="l"/>
                      <a:r>
                        <a:rPr sz="1800" b="0">
                          <a:solidFill>
                            <a:srgbClr val="10293E"/>
                          </a:solidFill>
                          <a:latin typeface="Calibri"/>
                          <a:ea typeface="Calibri"/>
                          <a:cs typeface="Calibri"/>
                        </a:rPr>
                        <a:t>as the service supports</a:t>
                      </a:r>
                    </a:p>
                  </a:txBody>
                  <a:tcPr marL="91440" marR="91440" marT="45720" marB="45720" anchor="ctr">
                    <a:solidFill>
                      <a:srgbClr val="FFFFFF"/>
                    </a:solidFill>
                  </a:tcPr>
                </a:tc>
              </a:tr>
              <a:tr h="777240">
                <a:tc>
                  <a:txBody>
                    <a:bodyPr lIns="95250" tIns="47625" rIns="95250" bIns="47625">
                      <a:noAutofit/>
                    </a:bodyPr>
                    <a:lstStyle/>
                    <a:p>
                      <a:pPr algn="l"/>
                      <a:r>
                        <a:rPr sz="1800" b="0">
                          <a:solidFill>
                            <a:srgbClr val="10293E"/>
                          </a:solidFill>
                          <a:latin typeface="Calibri"/>
                          <a:ea typeface="Calibri"/>
                          <a:cs typeface="Calibri"/>
                        </a:rPr>
                        <a:t>Legacy coexistence</a:t>
                      </a:r>
                    </a:p>
                  </a:txBody>
                  <a:tcPr marL="91440" marR="91440" marT="45720" marB="45720" anchor="ctr">
                    <a:solidFill>
                      <a:srgbClr val="F4F6F8"/>
                    </a:solidFill>
                  </a:tcPr>
                </a:tc>
                <a:tc>
                  <a:txBody>
                    <a:bodyPr lIns="152400" tIns="95250" rIns="114300" bIns="95250">
                      <a:noAutofit/>
                    </a:bodyPr>
                    <a:lstStyle/>
                    <a:p>
                      <a:pPr algn="l"/>
                      <a:r>
                        <a:rPr sz="1800" b="0">
                          <a:solidFill>
                            <a:srgbClr val="10293E"/>
                          </a:solidFill>
                          <a:latin typeface="Calibri"/>
                          <a:ea typeface="Calibri"/>
                          <a:cs typeface="Calibri"/>
                        </a:rPr>
                        <a:t>AAL2 for eligible journeys</a:t>
                      </a:r>
                    </a:p>
                    <a:p>
                      <a:pPr algn="l"/>
                      <a:r>
                        <a:rPr sz="1800" b="0">
                          <a:solidFill>
                            <a:srgbClr val="10293E"/>
                          </a:solidFill>
                          <a:latin typeface="Calibri"/>
                          <a:ea typeface="Calibri"/>
                          <a:cs typeface="Calibri"/>
                        </a:rPr>
                        <a:t>AAL3 access requires suitable authentication</a:t>
                      </a:r>
                    </a:p>
                  </a:txBody>
                  <a:tcPr marL="91440" marR="91440" marT="45720" marB="45720" anchor="ctr">
                    <a:solidFill>
                      <a:srgbClr val="F4F6F8"/>
                    </a:solidFill>
                  </a:tcPr>
                </a:tc>
                <a:tc>
                  <a:txBody>
                    <a:bodyPr lIns="152400" tIns="95250" rIns="114300" bIns="95250">
                      <a:noAutofit/>
                    </a:bodyPr>
                    <a:lstStyle/>
                    <a:p>
                      <a:pPr algn="l"/>
                      <a:r>
                        <a:rPr sz="1800" b="0">
                          <a:solidFill>
                            <a:srgbClr val="10293E"/>
                          </a:solidFill>
                          <a:latin typeface="Calibri"/>
                          <a:ea typeface="Calibri"/>
                          <a:cs typeface="Calibri"/>
                        </a:rPr>
                        <a:t>Eligible legacy client channel</a:t>
                      </a:r>
                    </a:p>
                  </a:txBody>
                  <a:tcPr marL="91440" marR="91440" marT="45720" marB="45720" anchor="ctr">
                    <a:solidFill>
                      <a:srgbClr val="F4F6F8"/>
                    </a:solidFill>
                  </a:tcPr>
                </a:tc>
              </a:tr>
            </a:tbl>
          </a:graphicData>
        </a:graphic>
      </p:graphicFrame>
      <p:sp>
        <p:nvSpPr>
          <p:cNvPr id="8" name="label-106">
            <a:extLst xmlns:a="http://schemas.openxmlformats.org/drawingml/2006/main">
              <a:ext uri="{FF2B5EF4-FFF2-40B4-BE49-F238E27FC236}">
                <a16:creationId xmlns:a16="http://schemas.microsoft.com/office/drawing/2014/main" id="{6CF699F8-D474-4D16-BD53-466FC0A0199E}"/>
              </a:ext>
            </a:extLst>
          </p:cNvPr>
          <p:cNvSpPr>
            <a:spLocks xmlns:a="http://schemas.openxmlformats.org/drawingml/2006/main" noGrp="1"/>
          </p:cNvSpPr>
          <p:nvPr/>
        </p:nvSpPr>
        <p:spPr>
          <a:xfrm xmlns:a="http://schemas.openxmlformats.org/drawingml/2006/main">
            <a:off x="571500" y="6076950"/>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0293E"/>
                </a:solidFill>
                <a:latin typeface="Calibri"/>
                <a:ea typeface="Calibri"/>
                <a:cs typeface="Calibri"/>
              </a:defRPr>
            </a:pPr>
            <a:r>
              <a:rPr sz="1800" b="1">
                <a:solidFill>
                  <a:srgbClr val="10293E"/>
                </a:solidFill>
                <a:latin typeface="Calibri"/>
                <a:ea typeface="Calibri"/>
                <a:cs typeface="Calibri"/>
              </a:rPr>
              <a:t>AAL3 requires evidence of the complete human authentication process. Machine keys use a separate policy.</a:t>
            </a:r>
          </a:p>
        </p:txBody>
      </p:sp>
      <p:sp>
        <p:nvSpPr>
          <p:cNvPr id="9" name="rule-107">
            <a:extLst xmlns:a="http://schemas.openxmlformats.org/drawingml/2006/main">
              <a:ext uri="{FF2B5EF4-FFF2-40B4-BE49-F238E27FC236}">
                <a16:creationId xmlns:a16="http://schemas.microsoft.com/office/drawing/2014/main" id="{06D36A9C-0F22-49F0-A884-7E31A3463C38}"/>
              </a:ext>
            </a:extLst>
          </p:cNvPr>
          <p:cNvSpPr>
            <a:spLocks xmlns:a="http://schemas.openxmlformats.org/drawingml/2006/main" noGrp="1"/>
          </p:cNvSpPr>
          <p:nvPr/>
        </p:nvSpPr>
        <p:spPr>
          <a:xfrm xmlns:a="http://schemas.openxmlformats.org/drawingml/2006/main">
            <a:off x="571500" y="6838950"/>
            <a:ext cx="14097000" cy="0"/>
          </a:xfrm>
          <a:prstGeom xmlns:a="http://schemas.openxmlformats.org/drawingml/2006/main" prst="line">
            <a:avLst/>
          </a:prstGeom>
          <a:noFill xmlns:a="http://schemas.openxmlformats.org/drawingml/2006/main"/>
          <a:ln xmlns:a="http://schemas.openxmlformats.org/drawingml/2006/main" w="12383">
            <a:solidFill>
              <a:srgbClr val="CBD5DD"/>
            </a:solidFill>
          </a:ln>
        </p:spPr>
      </p:sp>
      <p:sp>
        <p:nvSpPr>
          <p:cNvPr id="10" name="label-108">
            <a:extLst xmlns:a="http://schemas.openxmlformats.org/drawingml/2006/main">
              <a:ext uri="{FF2B5EF4-FFF2-40B4-BE49-F238E27FC236}">
                <a16:creationId xmlns:a16="http://schemas.microsoft.com/office/drawing/2014/main" id="{D54B486C-3E19-451B-ADF2-4C2C267D00A4}"/>
              </a:ext>
            </a:extLst>
          </p:cNvPr>
          <p:cNvSpPr>
            <a:spLocks xmlns:a="http://schemas.openxmlformats.org/drawingml/2006/main" noGrp="1"/>
          </p:cNvSpPr>
          <p:nvPr/>
        </p:nvSpPr>
        <p:spPr>
          <a:xfrm xmlns:a="http://schemas.openxmlformats.org/drawingml/2006/main">
            <a:off x="571500" y="7058025"/>
            <a:ext cx="28860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6074"/>
                </a:solidFill>
                <a:latin typeface="Calibri"/>
                <a:ea typeface="Calibri"/>
                <a:cs typeface="Calibri"/>
              </a:defRPr>
            </a:pPr>
            <a:r>
              <a:rPr sz="1425" b="1">
                <a:solidFill>
                  <a:srgbClr val="476074"/>
                </a:solidFill>
                <a:latin typeface="Calibri"/>
                <a:ea typeface="Calibri"/>
                <a:cs typeface="Calibri"/>
              </a:rPr>
              <a:t>BOARD CONFIRMATION</a:t>
            </a:r>
          </a:p>
        </p:txBody>
      </p:sp>
      <p:sp>
        <p:nvSpPr>
          <p:cNvPr id="11" name="label-109">
            <a:extLst xmlns:a="http://schemas.openxmlformats.org/drawingml/2006/main">
              <a:ext uri="{FF2B5EF4-FFF2-40B4-BE49-F238E27FC236}">
                <a16:creationId xmlns:a16="http://schemas.microsoft.com/office/drawing/2014/main" id="{3D244A05-57AF-4A23-9F83-E0A6163750A4}"/>
              </a:ext>
            </a:extLst>
          </p:cNvPr>
          <p:cNvSpPr>
            <a:spLocks xmlns:a="http://schemas.openxmlformats.org/drawingml/2006/main" noGrp="1"/>
          </p:cNvSpPr>
          <p:nvPr/>
        </p:nvSpPr>
        <p:spPr>
          <a:xfrm xmlns:a="http://schemas.openxmlformats.org/drawingml/2006/main">
            <a:off x="3800475" y="7038975"/>
            <a:ext cx="3400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93E"/>
                </a:solidFill>
                <a:latin typeface="Calibri"/>
                <a:ea typeface="Calibri"/>
                <a:cs typeface="Calibri"/>
              </a:defRPr>
            </a:pPr>
            <a:r>
              <a:rPr sz="1725" b="0">
                <a:solidFill>
                  <a:srgbClr val="10293E"/>
                </a:solidFill>
                <a:latin typeface="Calibri"/>
                <a:ea typeface="Calibri"/>
                <a:cs typeface="Calibri"/>
              </a:rPr>
              <a:t>Taxonomy and coverage</a:t>
            </a:r>
          </a:p>
          <a:p xmlns:a="http://schemas.openxmlformats.org/drawingml/2006/main">
            <a:pPr algn="l">
              <a:defRPr sz="1725" b="0">
                <a:solidFill>
                  <a:srgbClr val="10293E"/>
                </a:solidFill>
                <a:latin typeface="Calibri"/>
                <a:ea typeface="Calibri"/>
                <a:cs typeface="Calibri"/>
              </a:defRPr>
            </a:pPr>
            <a:r>
              <a:rPr sz="1725" b="0">
                <a:solidFill>
                  <a:srgbClr val="10293E"/>
                </a:solidFill>
                <a:latin typeface="Calibri"/>
                <a:ea typeface="Calibri"/>
                <a:cs typeface="Calibri"/>
              </a:rPr>
              <a:t>Entity and tenant ownership</a:t>
            </a:r>
          </a:p>
        </p:txBody>
      </p:sp>
      <p:sp>
        <p:nvSpPr>
          <p:cNvPr id="12" name="label-110">
            <a:extLst xmlns:a="http://schemas.openxmlformats.org/drawingml/2006/main">
              <a:ext uri="{FF2B5EF4-FFF2-40B4-BE49-F238E27FC236}">
                <a16:creationId xmlns:a16="http://schemas.microsoft.com/office/drawing/2014/main" id="{7F64A4E9-E2F5-48D0-8B78-A99EE452DF72}"/>
              </a:ext>
            </a:extLst>
          </p:cNvPr>
          <p:cNvSpPr>
            <a:spLocks xmlns:a="http://schemas.openxmlformats.org/drawingml/2006/main" noGrp="1"/>
          </p:cNvSpPr>
          <p:nvPr/>
        </p:nvSpPr>
        <p:spPr>
          <a:xfrm xmlns:a="http://schemas.openxmlformats.org/drawingml/2006/main">
            <a:off x="7591425" y="7038975"/>
            <a:ext cx="3400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93E"/>
                </a:solidFill>
                <a:latin typeface="Calibri"/>
                <a:ea typeface="Calibri"/>
                <a:cs typeface="Calibri"/>
              </a:defRPr>
            </a:pPr>
            <a:r>
              <a:rPr sz="1725" b="0">
                <a:solidFill>
                  <a:srgbClr val="10293E"/>
                </a:solidFill>
                <a:latin typeface="Calibri"/>
                <a:ea typeface="Calibri"/>
                <a:cs typeface="Calibri"/>
              </a:rPr>
              <a:t>Assurance and support policy</a:t>
            </a:r>
          </a:p>
          <a:p xmlns:a="http://schemas.openxmlformats.org/drawingml/2006/main">
            <a:pPr algn="l">
              <a:defRPr sz="1725" b="0">
                <a:solidFill>
                  <a:srgbClr val="10293E"/>
                </a:solidFill>
                <a:latin typeface="Calibri"/>
                <a:ea typeface="Calibri"/>
                <a:cs typeface="Calibri"/>
              </a:defRPr>
            </a:pPr>
            <a:r>
              <a:rPr sz="1725" b="0">
                <a:solidFill>
                  <a:srgbClr val="10293E"/>
                </a:solidFill>
                <a:latin typeface="Calibri"/>
                <a:ea typeface="Calibri"/>
                <a:cs typeface="Calibri"/>
              </a:rPr>
              <a:t>Workforce authority boundaries</a:t>
            </a:r>
          </a:p>
        </p:txBody>
      </p:sp>
      <p:sp>
        <p:nvSpPr>
          <p:cNvPr id="13" name="label-111">
            <a:extLst xmlns:a="http://schemas.openxmlformats.org/drawingml/2006/main">
              <a:ext uri="{FF2B5EF4-FFF2-40B4-BE49-F238E27FC236}">
                <a16:creationId xmlns:a16="http://schemas.microsoft.com/office/drawing/2014/main" id="{D34CB240-1BBD-48C1-BD47-261FC6B3C38D}"/>
              </a:ext>
            </a:extLst>
          </p:cNvPr>
          <p:cNvSpPr>
            <a:spLocks xmlns:a="http://schemas.openxmlformats.org/drawingml/2006/main" noGrp="1"/>
          </p:cNvSpPr>
          <p:nvPr/>
        </p:nvSpPr>
        <p:spPr>
          <a:xfrm xmlns:a="http://schemas.openxmlformats.org/drawingml/2006/main">
            <a:off x="11363325" y="7038975"/>
            <a:ext cx="33051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93E"/>
                </a:solidFill>
                <a:latin typeface="Calibri"/>
                <a:ea typeface="Calibri"/>
                <a:cs typeface="Calibri"/>
              </a:defRPr>
            </a:pPr>
            <a:r>
              <a:rPr sz="1725" b="0">
                <a:solidFill>
                  <a:srgbClr val="10293E"/>
                </a:solidFill>
                <a:latin typeface="Calibri"/>
                <a:ea typeface="Calibri"/>
                <a:cs typeface="Calibri"/>
              </a:rPr>
              <a:t>Commercial attribute scope</a:t>
            </a:r>
          </a:p>
          <a:p xmlns:a="http://schemas.openxmlformats.org/drawingml/2006/main">
            <a:pPr algn="l">
              <a:defRPr sz="1725" b="0">
                <a:solidFill>
                  <a:srgbClr val="10293E"/>
                </a:solidFill>
                <a:latin typeface="Calibri"/>
                <a:ea typeface="Calibri"/>
                <a:cs typeface="Calibri"/>
              </a:defRPr>
            </a:pPr>
            <a:r>
              <a:rPr sz="1725" b="0">
                <a:solidFill>
                  <a:srgbClr val="10293E"/>
                </a:solidFill>
                <a:latin typeface="Calibri"/>
                <a:ea typeface="Calibri"/>
                <a:cs typeface="Calibri"/>
              </a:rPr>
              <a:t>Lifecycle and migration ownership</a:t>
            </a:r>
          </a:p>
        </p:txBody>
      </p:sp>
    </p:spTree>
    <p:extLst>
      <p:ext uri="{BB962C8B-B14F-4D97-AF65-F5344CB8AC3E}">
        <p14:creationId xmlns:p14="http://schemas.microsoft.com/office/powerpoint/2010/main" val="5235600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2026-10-07T19:26:49.1490000Z</dcterms:created>
  <dcterms:modified xsi:type="dcterms:W3CDTF">2026-10-07T19:26:49.1490000Z</dcterms:modified>
</coreProperties>
</file>