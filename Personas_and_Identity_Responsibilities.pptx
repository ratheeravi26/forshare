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bdb25b42abb4581" /><Relationship Type="http://schemas.openxmlformats.org/officeDocument/2006/relationships/extended-properties" Target="/docProps/app.xml" Id="Rbd4b8a06fc774239" /><Relationship Type="http://schemas.openxmlformats.org/officeDocument/2006/relationships/officeDocument" Target="/ppt/presentation.xml" Id="Rac8058901426487f" /></Relationships>
</file>

<file path=ppt/presentation.xml><?xml version="1.0" encoding="utf-8"?>
<p:presentation xmlns:p="http://schemas.openxmlformats.org/presentationml/2006/main">
  <p:sldMasterIdLst>
    <p:sldMasterId xmlns:r="http://schemas.openxmlformats.org/officeDocument/2006/relationships" id="2147483648" r:id="R152629f01211498f"/>
  </p:sldMasterIdLst>
  <p:notesMasterIdLst>
    <p:notesMasterId xmlns:r="http://schemas.openxmlformats.org/officeDocument/2006/relationships" r:id="R6f1f812f3a904f5d"/>
  </p:notesMasterIdLst>
  <p:sldIdLst>
    <p:sldId xmlns:r="http://schemas.openxmlformats.org/officeDocument/2006/relationships" id="256" r:id="R616ef17214384e31"/>
    <p:sldId xmlns:r="http://schemas.openxmlformats.org/officeDocument/2006/relationships" id="257" r:id="R5b44b05a77904f7e"/>
    <p:sldId xmlns:r="http://schemas.openxmlformats.org/officeDocument/2006/relationships" id="258" r:id="R5895976a97eb4062"/>
    <p:sldId xmlns:r="http://schemas.openxmlformats.org/officeDocument/2006/relationships" id="259" r:id="R7076373647df4ef2"/>
    <p:sldId xmlns:r="http://schemas.openxmlformats.org/officeDocument/2006/relationships" id="260" r:id="Rc73ee15ab155492a"/>
    <p:sldId xmlns:r="http://schemas.openxmlformats.org/officeDocument/2006/relationships" id="261" r:id="R32b79c1f2a784f12"/>
    <p:sldId xmlns:r="http://schemas.openxmlformats.org/officeDocument/2006/relationships" id="262" r:id="R4cc935c4a5844d7a"/>
    <p:sldId xmlns:r="http://schemas.openxmlformats.org/officeDocument/2006/relationships" id="263" r:id="R50ddaf64594b4035"/>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5f85621e68e4b7e" /><Relationship Type="http://schemas.openxmlformats.org/officeDocument/2006/relationships/slideMaster" Target="/ppt/slideMasters/slideMaster1.xml" Id="R152629f01211498f" /><Relationship Type="http://schemas.openxmlformats.org/officeDocument/2006/relationships/notesMaster" Target="/ppt/notesMasters/notesMaster1.xml" Id="R6f1f812f3a904f5d" /><Relationship Type="http://schemas.openxmlformats.org/officeDocument/2006/relationships/presProps" Target="/ppt/presProps.xml" Id="Ree2b800cced34260" /><Relationship Type="http://schemas.openxmlformats.org/officeDocument/2006/relationships/tableStyles" Target="/ppt/tableStyles.xml" Id="R84553352ce8d4bc2" /><Relationship Type="http://schemas.openxmlformats.org/officeDocument/2006/relationships/slide" Target="/ppt/slides/slide1.xml" Id="R616ef17214384e31" /><Relationship Type="http://schemas.openxmlformats.org/officeDocument/2006/relationships/slide" Target="/ppt/slides/slide2.xml" Id="R5b44b05a77904f7e" /><Relationship Type="http://schemas.openxmlformats.org/officeDocument/2006/relationships/slide" Target="/ppt/slides/slide3.xml" Id="R5895976a97eb4062" /><Relationship Type="http://schemas.openxmlformats.org/officeDocument/2006/relationships/slide" Target="/ppt/slides/slide4.xml" Id="R7076373647df4ef2" /><Relationship Type="http://schemas.openxmlformats.org/officeDocument/2006/relationships/slide" Target="/ppt/slides/slide5.xml" Id="Rc73ee15ab155492a" /><Relationship Type="http://schemas.openxmlformats.org/officeDocument/2006/relationships/slide" Target="/ppt/slides/slide6.xml" Id="R32b79c1f2a784f12" /><Relationship Type="http://schemas.openxmlformats.org/officeDocument/2006/relationships/slide" Target="/ppt/slides/slide7.xml" Id="R4cc935c4a5844d7a" /><Relationship Type="http://schemas.openxmlformats.org/officeDocument/2006/relationships/slide" Target="/ppt/slides/slide8.xml" Id="R50ddaf64594b403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086377cbb0f46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ca5015737c48cd" /><Relationship Type="http://schemas.openxmlformats.org/officeDocument/2006/relationships/notesMaster" Target="/ppt/notesMasters/notesMaster1.xml" Id="R5f6d3ed5148e4b4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fc59a3dc9454b5f" /><Relationship Type="http://schemas.openxmlformats.org/officeDocument/2006/relationships/notesMaster" Target="/ppt/notesMasters/notesMaster1.xml" Id="R5a927e4aeff7463c" /></Relationships>
</file>

<file path=ppt/notesSlides/_rels/notesSlide3.xml.rels>&#65279;<?xml version="1.0" encoding="utf-8"?><Relationships xmlns="http://schemas.openxmlformats.org/package/2006/relationships"><Relationship Type="http://schemas.openxmlformats.org/officeDocument/2006/relationships/slide" Target="/ppt/slides/slide3.xml" Id="Re4af8ed9687e4c6e" /><Relationship Type="http://schemas.openxmlformats.org/officeDocument/2006/relationships/notesMaster" Target="/ppt/notesMasters/notesMaster1.xml" Id="R48ef9ede330f46e5"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0382aacb874bb2" /><Relationship Type="http://schemas.openxmlformats.org/officeDocument/2006/relationships/notesMaster" Target="/ppt/notesMasters/notesMaster1.xml" Id="R30dac869b6ca40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7a5e1725511446e4" /><Relationship Type="http://schemas.openxmlformats.org/officeDocument/2006/relationships/notesMaster" Target="/ppt/notesMasters/notesMaster1.xml" Id="R99abd3307b8a4506" /></Relationships>
</file>

<file path=ppt/notesSlides/_rels/notesSlide6.xml.rels>&#65279;<?xml version="1.0" encoding="utf-8"?><Relationships xmlns="http://schemas.openxmlformats.org/package/2006/relationships"><Relationship Type="http://schemas.openxmlformats.org/officeDocument/2006/relationships/slide" Target="/ppt/slides/slide6.xml" Id="Raecd8505c02344a4" /><Relationship Type="http://schemas.openxmlformats.org/officeDocument/2006/relationships/notesMaster" Target="/ppt/notesMasters/notesMaster1.xml" Id="R79db03cacd7249c0" /></Relationships>
</file>

<file path=ppt/notesSlides/_rels/notesSlide7.xml.rels>&#65279;<?xml version="1.0" encoding="utf-8"?><Relationships xmlns="http://schemas.openxmlformats.org/package/2006/relationships"><Relationship Type="http://schemas.openxmlformats.org/officeDocument/2006/relationships/slide" Target="/ppt/slides/slide7.xml" Id="Rc1547005da9a4995" /><Relationship Type="http://schemas.openxmlformats.org/officeDocument/2006/relationships/notesMaster" Target="/ppt/notesMasters/notesMaster1.xml" Id="R4a0bf630dc3d44e7" /></Relationships>
</file>

<file path=ppt/notesSlides/_rels/notesSlide8.xml.rels>&#65279;<?xml version="1.0" encoding="utf-8"?><Relationships xmlns="http://schemas.openxmlformats.org/package/2006/relationships"><Relationship Type="http://schemas.openxmlformats.org/officeDocument/2006/relationships/slide" Target="/ppt/slides/slide8.xml" Id="Rbab199b984bc407e" /><Relationship Type="http://schemas.openxmlformats.org/officeDocument/2006/relationships/notesMaster" Target="/ppt/notesMasters/notesMaster1.xml" Id="R69f9f0bec917424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persona scope and architecture clarifications supplied in this conversation. Proposed target design, subject to Architecture Board approval. In this deck IDAM denotes workforce identity management. Internal workloads use a designated workload registry within the enterprise identity architecture. The eleven entries preserve the supplied catalogue without suggesting eleven disjoint populations. All persona labels use full 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persona scope and architecture clarifications supplied in this conversation. Proposed target design, subject to Architecture Board approval. The CIAM identity owner column includes external client subjects and external application registrations. It does not mean every identity is stored in a human CIAM directory. The IDAM column identifies employee ownership only. In the impersonation row the represented client subject belongs to CIAM and the operator belongs to IDAM. Business administration federation is required when CIAM brokers the portal, otherwise the internal portal can use direct IDAM SSO. Software administration uses IDAM SSO to the management plane by default, with federation only if that interface explicitly uses CIAM as broker. Financial system ownership remains unresolved. Legacy UAM retains authority until controlled migration transfers it to CIAM. UAM means User Access Management.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persona scope and architecture clarifications supplied in this conversation. Proposed target design, subject to Architecture Board approval. PEP means Policy Enforcement Point. PDP means Policy Decision Point. MFA means multi-factor authentication. Allocation describes capabilities, not mandatory product consolidation. Authoritative organisation, commercial and entitlement data may reside in business master data or IGA. CIAM consumes approved attributes and mandates, and must not self-authorize financial transaction rights. IDAM employee lifecycle events trigger removal of CIAM workforce-context mappings and session/token revocation according to approved propagation objectives.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persona scope and architecture clarifications supplied in this conversation. Proposed target design, subject to Architecture Board approval. Simulation means a controlled approved client context. Representing a real client subject invokes the impersonation/support mode. A software administrator does not obtain financial transaction rights by administering the platform. Distinct privileged accounts may still be required by workforce policy, even though the four modes do not require four independent employee identities. Privileged Access Management is a supporting control for elevated administrator access and does not change identity ownership.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persona scope and architecture clarifications supplied in this conversation. Proposed target design, subject to Architecture Board approval. Proposed federation broker pattern. SAML 2.0 or OpenID Connect trust must be configured per application and domain. RFC 8693 OAuth 2.0 Token Exchange defines token exchange and the JWT act claim. The desired Euroclear support mode preserves client sub and operator act.sub, which corresponds to explicit actor-preserving delegation semantics in RFC 8693 even though the business persona is named impersonation. Token exchange alone does not grant authority to represent a client. A governed subject assertion or approved representation mechanism is required; a client identifier is not a subject token. Ticket validation, approval, expiry and operation limits are Euroclear policy choices. Technical source: https://www.rfc-editor.org/rfc/rfc8693 sections 1.1, 2 and 4.1. No full protocol flow or token schema is specified by this persona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persona scope and architecture clarifications supplied in this conversation. Proposed target design, subject to Architecture Board approval. Entity names are family labels from the supplied scope and need mapping to actual legal entities. Nordics must participate in the population model and applicable intersections. Do not interpret entity-family intersection membership as a grant to every legal entity in the family. A person may have several institution-specific client memberships with different mandates. Billable/non-billable classification alone is neither a grant nor a denial of business permissions. No counts or exhaustive combinations are shown because no validated population dataset was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persona scope and architecture clarifications supplied in this conversation. Proposed target design, subject to Architecture Board approval. Financial system ownership was ambiguous in the supplied baseline. SWIFTnet, BT Radianz and Internet describe channels, not identity-domain ownership. Suggested machine patterns include mTLS or private_key_jwt client authentication, with sender-constrained tokens where required by the target API profile. The deck does not classify machine credentials as human Authentication Assurance Levels. External SCIM clients must not gain the right to expand their own provisioning scope or grant arbitrary privileged attributes. Legacy UAM trust is separate from IDAM workforce trust. Migration account linking needs verified stable identifiers, lifecycle authority and reconciliation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persona scope and architecture clarifications supplied in this conversation. Proposed target design, subject to Architecture Board approval. The requested deliverable is a final persona presentation for Board review, not a claim that the Board has approved the target. The authentication, authorization, impersonation and migration deliverables remain separate detailed specifications. Decisions to confirm include machine ownership, privileged management-plane routing, administrative role boundaries and the definition of safe client simulation. All eleven original catalogue entries appear in the master matrix without their abbreviated identifiers.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f45bac5ae6847a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d9390018cb64cd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895d1703b3247d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f68150a02f841b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ad62abb59d64aa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8488ef32ea24c7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D6F66AC-7114-4F89-9C5E-E1BD485FB73A}"/>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7D6CA5D-6066-40F9-82B5-8940E2AFF9C6}"/>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4EAA6CE-1F80-4924-BAC5-A95D70007A97}"/>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74FFBC-B987-45C7-A6F1-83B45F07F2DA}"/>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D6271C5-7F5A-4F64-BEBD-7688D8521376}"/>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A5E4630-C415-4B4D-95A5-E70AFF9C60A1}"/>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7BE7714-9F63-4AAA-A47C-830D95884DAA}"/>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E87EC83-534A-405D-AD91-8D5A2F8421B7}"/>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679EDE8-7AB0-4248-B95B-F97BF01346F8}"/>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225563B-1ACA-46CF-B81B-69638603065B}"/>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19c85a209d480c" /><Relationship Type="http://schemas.openxmlformats.org/officeDocument/2006/relationships/slideLayout" Target="/ppt/slideLayouts/slideLayout1.xml" Id="R4ca3d7d63cc14aef" /><Relationship Type="http://schemas.openxmlformats.org/officeDocument/2006/relationships/slideLayout" Target="/ppt/slideLayouts/slideLayout2.xml" Id="R650844fe67f147a2" /><Relationship Type="http://schemas.openxmlformats.org/officeDocument/2006/relationships/slideLayout" Target="/ppt/slideLayouts/slideLayout3.xml" Id="Ra5ef7b875a21451d" /><Relationship Type="http://schemas.openxmlformats.org/officeDocument/2006/relationships/slideLayout" Target="/ppt/slideLayouts/slideLayout4.xml" Id="Rc8f859bb953948da" /><Relationship Type="http://schemas.openxmlformats.org/officeDocument/2006/relationships/slideLayout" Target="/ppt/slideLayouts/slideLayout5.xml" Id="R196e0fcced27415d" /><Relationship Type="http://schemas.openxmlformats.org/officeDocument/2006/relationships/slideLayout" Target="/ppt/slideLayouts/slideLayout6.xml" Id="R3880398edfff4a8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ca3d7d63cc14aef"/>
    <p:sldLayoutId xmlns:r="http://schemas.openxmlformats.org/officeDocument/2006/relationships" id="2147483650" r:id="R650844fe67f147a2"/>
    <p:sldLayoutId xmlns:r="http://schemas.openxmlformats.org/officeDocument/2006/relationships" id="2147483651" r:id="Ra5ef7b875a21451d"/>
    <p:sldLayoutId xmlns:r="http://schemas.openxmlformats.org/officeDocument/2006/relationships" id="2147483652" r:id="Rc8f859bb953948da"/>
    <p:sldLayoutId xmlns:r="http://schemas.openxmlformats.org/officeDocument/2006/relationships" id="2147483653" r:id="R196e0fcced27415d"/>
    <p:sldLayoutId xmlns:r="http://schemas.openxmlformats.org/officeDocument/2006/relationships" id="2147483654" r:id="R3880398edfff4a8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539e5775fd24349" /><Relationship Type="http://schemas.openxmlformats.org/officeDocument/2006/relationships/notesSlide" Target="/ppt/notesSlides/notesSlide1.xml" Id="Rf4e8f2f0459c442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c0ce7b5fbfa445b" /><Relationship Type="http://schemas.openxmlformats.org/officeDocument/2006/relationships/notesSlide" Target="/ppt/notesSlides/notesSlide2.xml" Id="R0045efecee5c401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75e9962ff8c4a27" /><Relationship Type="http://schemas.openxmlformats.org/officeDocument/2006/relationships/notesSlide" Target="/ppt/notesSlides/notesSlide3.xml" Id="R2dde4ac584c944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3886ad8d1d1483f" /><Relationship Type="http://schemas.openxmlformats.org/officeDocument/2006/relationships/notesSlide" Target="/ppt/notesSlides/notesSlide4.xml" Id="Rcabfedd592cd434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5256c4c35304279" /><Relationship Type="http://schemas.openxmlformats.org/officeDocument/2006/relationships/notesSlide" Target="/ppt/notesSlides/notesSlide5.xml" Id="R7ae579eaa1694b6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1b036e071764d52" /><Relationship Type="http://schemas.openxmlformats.org/officeDocument/2006/relationships/notesSlide" Target="/ppt/notesSlides/notesSlide6.xml" Id="Rba272819e1154c3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2042b6e6a454018" /><Relationship Type="http://schemas.openxmlformats.org/officeDocument/2006/relationships/notesSlide" Target="/ppt/notesSlides/notesSlide7.xml" Id="R36bd52aedd1f44d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88e65f1bd724432" /><Relationship Type="http://schemas.openxmlformats.org/officeDocument/2006/relationships/notesSlide" Target="/ppt/notesSlides/notesSlide8.xml" Id="Ra170e96032ad43a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1">
            <a:extLst xmlns:a="http://schemas.openxmlformats.org/drawingml/2006/main">
              <a:ext uri="{FF2B5EF4-FFF2-40B4-BE49-F238E27FC236}">
                <a16:creationId xmlns:a16="http://schemas.microsoft.com/office/drawing/2014/main" id="{14683A03-E1EF-456B-B465-E095A6B72564}"/>
              </a:ext>
            </a:extLst>
          </p:cNvPr>
          <p:cNvSpPr>
            <a:spLocks xmlns:a="http://schemas.openxmlformats.org/drawingml/2006/main" noGrp="1"/>
          </p:cNvSpPr>
          <p:nvPr/>
        </p:nvSpPr>
        <p:spPr>
          <a:xfrm xmlns:a="http://schemas.openxmlformats.org/drawingml/2006/main">
            <a:off x="571500" y="247650"/>
            <a:ext cx="1285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67083"/>
                </a:solidFill>
                <a:latin typeface="Calibri"/>
                <a:ea typeface="Calibri"/>
                <a:cs typeface="Calibri"/>
              </a:defRPr>
            </a:defPPr>
          </a:lstStyle>
          <a:p xmlns:a="http://schemas.openxmlformats.org/drawingml/2006/main">
            <a:pPr algn="l">
              <a:defRPr sz="1350" b="1">
                <a:solidFill>
                  <a:srgbClr val="567083"/>
                </a:solidFill>
                <a:latin typeface="Calibri"/>
                <a:ea typeface="Calibri"/>
                <a:cs typeface="Calibri"/>
              </a:defRPr>
            </a:pPr>
            <a:r>
              <a:rPr sz="1350" b="1">
                <a:solidFill>
                  <a:srgbClr val="567083"/>
                </a:solidFill>
                <a:latin typeface="Calibri"/>
                <a:ea typeface="Calibri"/>
                <a:cs typeface="Calibri"/>
              </a:rPr>
              <a:t>EUROCLEAR   /   ENTERPRISE IDENTITY ARCHITECTURE</a:t>
            </a:r>
          </a:p>
        </p:txBody>
      </p:sp>
      <p:sp>
        <p:nvSpPr>
          <p:cNvPr id="2" name="text-2">
            <a:extLst xmlns:a="http://schemas.openxmlformats.org/drawingml/2006/main">
              <a:ext uri="{FF2B5EF4-FFF2-40B4-BE49-F238E27FC236}">
                <a16:creationId xmlns:a16="http://schemas.microsoft.com/office/drawing/2014/main" id="{EFD9C490-825C-49F5-8F39-FE0C153AAEFE}"/>
              </a:ext>
            </a:extLst>
          </p:cNvPr>
          <p:cNvSpPr>
            <a:spLocks xmlns:a="http://schemas.openxmlformats.org/drawingml/2006/main" noGrp="1"/>
          </p:cNvSpPr>
          <p:nvPr/>
        </p:nvSpPr>
        <p:spPr>
          <a:xfrm xmlns:a="http://schemas.openxmlformats.org/drawingml/2006/main">
            <a:off x="571500" y="74295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42D40"/>
                </a:solidFill>
                <a:latin typeface="Calibri"/>
                <a:ea typeface="Calibri"/>
                <a:cs typeface="Calibri"/>
              </a:defRPr>
            </a:defPPr>
          </a:lstStyle>
          <a:p xmlns:a="http://schemas.openxmlformats.org/drawingml/2006/main">
            <a:pPr algn="l">
              <a:defRPr sz="3450" b="1">
                <a:solidFill>
                  <a:srgbClr val="142D40"/>
                </a:solidFill>
                <a:latin typeface="Calibri"/>
                <a:ea typeface="Calibri"/>
                <a:cs typeface="Calibri"/>
              </a:defRPr>
            </a:pPr>
            <a:r>
              <a:rPr sz="3450" b="1">
                <a:solidFill>
                  <a:srgbClr val="142D40"/>
                </a:solidFill>
                <a:latin typeface="Calibri"/>
                <a:ea typeface="Calibri"/>
                <a:cs typeface="Calibri"/>
              </a:rPr>
              <a:t>Euroclear B2B identity architecture</a:t>
            </a:r>
          </a:p>
        </p:txBody>
      </p:sp>
      <p:sp>
        <p:nvSpPr>
          <p:cNvPr id="3" name="line-3">
            <a:extLst xmlns:a="http://schemas.openxmlformats.org/drawingml/2006/main">
              <a:ext uri="{FF2B5EF4-FFF2-40B4-BE49-F238E27FC236}">
                <a16:creationId xmlns:a16="http://schemas.microsoft.com/office/drawing/2014/main" id="{BB22D3A7-0BE8-4935-BB8B-BD1CF88733C8}"/>
              </a:ext>
            </a:extLst>
          </p:cNvPr>
          <p:cNvSpPr>
            <a:spLocks xmlns:a="http://schemas.openxmlformats.org/drawingml/2006/main" noGrp="1"/>
          </p:cNvSpPr>
          <p:nvPr/>
        </p:nvSpPr>
        <p:spPr>
          <a:xfrm xmlns:a="http://schemas.openxmlformats.org/drawingml/2006/main">
            <a:off x="571500" y="8048625"/>
            <a:ext cx="14097000" cy="0"/>
          </a:xfrm>
          <a:prstGeom xmlns:a="http://schemas.openxmlformats.org/drawingml/2006/main" prst="line">
            <a:avLst/>
          </a:prstGeom>
          <a:noFill xmlns:a="http://schemas.openxmlformats.org/drawingml/2006/main"/>
          <a:ln xmlns:a="http://schemas.openxmlformats.org/drawingml/2006/main" w="13335">
            <a:solidFill>
              <a:srgbClr val="D8E1E8"/>
            </a:solidFill>
          </a:ln>
        </p:spPr>
      </p:sp>
      <p:sp>
        <p:nvSpPr>
          <p:cNvPr id="4" name="text-4">
            <a:extLst xmlns:a="http://schemas.openxmlformats.org/drawingml/2006/main">
              <a:ext uri="{FF2B5EF4-FFF2-40B4-BE49-F238E27FC236}">
                <a16:creationId xmlns:a16="http://schemas.microsoft.com/office/drawing/2014/main" id="{71CDC91B-AF55-4D6B-A064-D7D8FC8CC52E}"/>
              </a:ext>
            </a:extLst>
          </p:cNvPr>
          <p:cNvSpPr>
            <a:spLocks xmlns:a="http://schemas.openxmlformats.org/drawingml/2006/main" noGrp="1"/>
          </p:cNvSpPr>
          <p:nvPr/>
        </p:nvSpPr>
        <p:spPr>
          <a:xfrm xmlns:a="http://schemas.openxmlformats.org/drawingml/2006/main">
            <a:off x="571500" y="8172450"/>
            <a:ext cx="1295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7083"/>
                </a:solidFill>
                <a:latin typeface="Calibri"/>
                <a:ea typeface="Calibri"/>
                <a:cs typeface="Calibri"/>
              </a:defRPr>
            </a:defPPr>
          </a:lstStyle>
          <a:p xmlns:a="http://schemas.openxmlformats.org/drawingml/2006/main">
            <a:pPr algn="l">
              <a:defRPr sz="1275" b="0">
                <a:solidFill>
                  <a:srgbClr val="567083"/>
                </a:solidFill>
                <a:latin typeface="Calibri"/>
                <a:ea typeface="Calibri"/>
                <a:cs typeface="Calibri"/>
              </a:defRPr>
            </a:pPr>
            <a:r>
              <a:rPr sz="1275" b="0">
                <a:solidFill>
                  <a:srgbClr val="567083"/>
                </a:solidFill>
                <a:latin typeface="Calibri"/>
                <a:ea typeface="Calibri"/>
                <a:cs typeface="Calibri"/>
              </a:rPr>
              <a:t>Architecture Board review   /   Proposed target boundaries   /   8 October 2026</a:t>
            </a:r>
          </a:p>
        </p:txBody>
      </p:sp>
      <p:sp>
        <p:nvSpPr>
          <p:cNvPr id="5" name="text-5">
            <a:extLst xmlns:a="http://schemas.openxmlformats.org/drawingml/2006/main">
              <a:ext uri="{FF2B5EF4-FFF2-40B4-BE49-F238E27FC236}">
                <a16:creationId xmlns:a16="http://schemas.microsoft.com/office/drawing/2014/main" id="{4BDB886B-20D0-4CFD-A32B-BCD08F262568}"/>
              </a:ext>
            </a:extLst>
          </p:cNvPr>
          <p:cNvSpPr>
            <a:spLocks xmlns:a="http://schemas.openxmlformats.org/drawingml/2006/main" noGrp="1"/>
          </p:cNvSpPr>
          <p:nvPr/>
        </p:nvSpPr>
        <p:spPr>
          <a:xfrm xmlns:a="http://schemas.openxmlformats.org/drawingml/2006/main">
            <a:off x="14001750" y="81438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567083"/>
                </a:solidFill>
                <a:latin typeface="Calibri"/>
                <a:ea typeface="Calibri"/>
                <a:cs typeface="Calibri"/>
              </a:defRPr>
            </a:defPPr>
          </a:lstStyle>
          <a:p xmlns:a="http://schemas.openxmlformats.org/drawingml/2006/main">
            <a:pPr algn="r">
              <a:defRPr sz="1350" b="1">
                <a:solidFill>
                  <a:srgbClr val="567083"/>
                </a:solidFill>
                <a:latin typeface="Calibri"/>
                <a:ea typeface="Calibri"/>
                <a:cs typeface="Calibri"/>
              </a:defRPr>
            </a:pPr>
            <a:r>
              <a:rPr sz="1350" b="1">
                <a:solidFill>
                  <a:srgbClr val="567083"/>
                </a:solidFill>
                <a:latin typeface="Calibri"/>
                <a:ea typeface="Calibri"/>
                <a:cs typeface="Calibri"/>
              </a:rPr>
              <a:t>01</a:t>
            </a:r>
          </a:p>
        </p:txBody>
      </p:sp>
      <p:sp>
        <p:nvSpPr>
          <p:cNvPr id="6" name="text-6">
            <a:extLst xmlns:a="http://schemas.openxmlformats.org/drawingml/2006/main">
              <a:ext uri="{FF2B5EF4-FFF2-40B4-BE49-F238E27FC236}">
                <a16:creationId xmlns:a16="http://schemas.microsoft.com/office/drawing/2014/main" id="{8FEE6265-F85F-4DE2-B551-6D0BFFF50186}"/>
              </a:ext>
            </a:extLst>
          </p:cNvPr>
          <p:cNvSpPr>
            <a:spLocks xmlns:a="http://schemas.openxmlformats.org/drawingml/2006/main" noGrp="1"/>
          </p:cNvSpPr>
          <p:nvPr/>
        </p:nvSpPr>
        <p:spPr>
          <a:xfrm xmlns:a="http://schemas.openxmlformats.org/drawingml/2006/main">
            <a:off x="571500" y="1971675"/>
            <a:ext cx="13811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142D40"/>
                </a:solidFill>
                <a:latin typeface="Calibri"/>
                <a:ea typeface="Calibri"/>
                <a:cs typeface="Calibri"/>
              </a:defRPr>
            </a:defPPr>
          </a:lstStyle>
          <a:p xmlns:a="http://schemas.openxmlformats.org/drawingml/2006/main">
            <a:pPr algn="l">
              <a:defRPr sz="4800" b="1">
                <a:solidFill>
                  <a:srgbClr val="142D40"/>
                </a:solidFill>
                <a:latin typeface="Calibri"/>
                <a:ea typeface="Calibri"/>
                <a:cs typeface="Calibri"/>
              </a:defRPr>
            </a:pPr>
            <a:r>
              <a:rPr sz="4800" b="1">
                <a:solidFill>
                  <a:srgbClr val="142D40"/>
                </a:solidFill>
                <a:latin typeface="Calibri"/>
                <a:ea typeface="Calibri"/>
                <a:cs typeface="Calibri"/>
              </a:rPr>
              <a:t>Personas and domain responsibilities</a:t>
            </a:r>
          </a:p>
        </p:txBody>
      </p:sp>
      <p:sp>
        <p:nvSpPr>
          <p:cNvPr id="7" name="text-7">
            <a:extLst xmlns:a="http://schemas.openxmlformats.org/drawingml/2006/main">
              <a:ext uri="{FF2B5EF4-FFF2-40B4-BE49-F238E27FC236}">
                <a16:creationId xmlns:a16="http://schemas.microsoft.com/office/drawing/2014/main" id="{60AA54BD-757B-422E-8927-63C01DA67C8A}"/>
              </a:ext>
            </a:extLst>
          </p:cNvPr>
          <p:cNvSpPr>
            <a:spLocks xmlns:a="http://schemas.openxmlformats.org/drawingml/2006/main" noGrp="1"/>
          </p:cNvSpPr>
          <p:nvPr/>
        </p:nvSpPr>
        <p:spPr>
          <a:xfrm xmlns:a="http://schemas.openxmlformats.org/drawingml/2006/main">
            <a:off x="571500" y="3048000"/>
            <a:ext cx="1343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567083"/>
                </a:solidFill>
                <a:latin typeface="Calibri"/>
                <a:ea typeface="Calibri"/>
                <a:cs typeface="Calibri"/>
              </a:defRPr>
            </a:defPPr>
          </a:lstStyle>
          <a:p xmlns:a="http://schemas.openxmlformats.org/drawingml/2006/main">
            <a:pPr algn="l">
              <a:defRPr sz="2325" b="0">
                <a:solidFill>
                  <a:srgbClr val="567083"/>
                </a:solidFill>
                <a:latin typeface="Calibri"/>
                <a:ea typeface="Calibri"/>
                <a:cs typeface="Calibri"/>
              </a:defRPr>
            </a:pPr>
            <a:r>
              <a:rPr sz="2325" b="0">
                <a:solidFill>
                  <a:srgbClr val="567083"/>
                </a:solidFill>
                <a:latin typeface="Calibri"/>
                <a:ea typeface="Calibri"/>
                <a:cs typeface="Calibri"/>
              </a:rPr>
              <a:t>Complete persona coverage with explicit ownership and federation boundaries</a:t>
            </a:r>
          </a:p>
        </p:txBody>
      </p:sp>
      <p:sp>
        <p:nvSpPr>
          <p:cNvPr id="8" name="line-8">
            <a:extLst xmlns:a="http://schemas.openxmlformats.org/drawingml/2006/main">
              <a:ext uri="{FF2B5EF4-FFF2-40B4-BE49-F238E27FC236}">
                <a16:creationId xmlns:a16="http://schemas.microsoft.com/office/drawing/2014/main" id="{9F8B50F6-2E64-4ECA-B3B4-36267AC7569D}"/>
              </a:ext>
            </a:extLst>
          </p:cNvPr>
          <p:cNvSpPr>
            <a:spLocks xmlns:a="http://schemas.openxmlformats.org/drawingml/2006/main" noGrp="1"/>
          </p:cNvSpPr>
          <p:nvPr/>
        </p:nvSpPr>
        <p:spPr>
          <a:xfrm xmlns:a="http://schemas.openxmlformats.org/drawingml/2006/main">
            <a:off x="571500" y="4391025"/>
            <a:ext cx="14097000" cy="0"/>
          </a:xfrm>
          <a:prstGeom xmlns:a="http://schemas.openxmlformats.org/drawingml/2006/main" prst="line">
            <a:avLst/>
          </a:prstGeom>
          <a:noFill xmlns:a="http://schemas.openxmlformats.org/drawingml/2006/main"/>
          <a:ln xmlns:a="http://schemas.openxmlformats.org/drawingml/2006/main" w="13335">
            <a:solidFill>
              <a:srgbClr val="D8E1E8"/>
            </a:solidFill>
          </a:ln>
        </p:spPr>
      </p:sp>
      <p:sp>
        <p:nvSpPr>
          <p:cNvPr id="9" name="text-9">
            <a:extLst xmlns:a="http://schemas.openxmlformats.org/drawingml/2006/main">
              <a:ext uri="{FF2B5EF4-FFF2-40B4-BE49-F238E27FC236}">
                <a16:creationId xmlns:a16="http://schemas.microsoft.com/office/drawing/2014/main" id="{539819DD-E4B1-4EE2-B9B7-758E78801C90}"/>
              </a:ext>
            </a:extLst>
          </p:cNvPr>
          <p:cNvSpPr>
            <a:spLocks xmlns:a="http://schemas.openxmlformats.org/drawingml/2006/main" noGrp="1"/>
          </p:cNvSpPr>
          <p:nvPr/>
        </p:nvSpPr>
        <p:spPr>
          <a:xfrm xmlns:a="http://schemas.openxmlformats.org/drawingml/2006/main">
            <a:off x="571500" y="4752975"/>
            <a:ext cx="590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C6090"/>
                </a:solidFill>
                <a:latin typeface="Calibri"/>
                <a:ea typeface="Calibri"/>
                <a:cs typeface="Calibri"/>
              </a:defRPr>
            </a:defPPr>
          </a:lstStyle>
          <a:p xmlns:a="http://schemas.openxmlformats.org/drawingml/2006/main">
            <a:pPr algn="l">
              <a:defRPr sz="3300" b="1">
                <a:solidFill>
                  <a:srgbClr val="1C6090"/>
                </a:solidFill>
                <a:latin typeface="Calibri"/>
                <a:ea typeface="Calibri"/>
                <a:cs typeface="Calibri"/>
              </a:defRPr>
            </a:pPr>
            <a:r>
              <a:rPr sz="3300" b="1">
                <a:solidFill>
                  <a:srgbClr val="1C6090"/>
                </a:solidFill>
                <a:latin typeface="Calibri"/>
                <a:ea typeface="Calibri"/>
                <a:cs typeface="Calibri"/>
              </a:rPr>
              <a:t>CIAM</a:t>
            </a:r>
          </a:p>
        </p:txBody>
      </p:sp>
      <p:sp>
        <p:nvSpPr>
          <p:cNvPr id="10" name="text-10">
            <a:extLst xmlns:a="http://schemas.openxmlformats.org/drawingml/2006/main">
              <a:ext uri="{FF2B5EF4-FFF2-40B4-BE49-F238E27FC236}">
                <a16:creationId xmlns:a16="http://schemas.microsoft.com/office/drawing/2014/main" id="{3012DC9B-CBED-4437-AC41-9AB925B16352}"/>
              </a:ext>
            </a:extLst>
          </p:cNvPr>
          <p:cNvSpPr>
            <a:spLocks xmlns:a="http://schemas.openxmlformats.org/drawingml/2006/main" noGrp="1"/>
          </p:cNvSpPr>
          <p:nvPr/>
        </p:nvSpPr>
        <p:spPr>
          <a:xfrm xmlns:a="http://schemas.openxmlformats.org/drawingml/2006/main">
            <a:off x="571500" y="5314950"/>
            <a:ext cx="619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D40"/>
                </a:solidFill>
                <a:latin typeface="Calibri"/>
                <a:ea typeface="Calibri"/>
                <a:cs typeface="Calibri"/>
              </a:defRPr>
            </a:defPPr>
          </a:lstStyle>
          <a:p xmlns:a="http://schemas.openxmlformats.org/drawingml/2006/main">
            <a:pPr algn="l">
              <a:defRPr sz="2025" b="1">
                <a:solidFill>
                  <a:srgbClr val="142D40"/>
                </a:solidFill>
                <a:latin typeface="Calibri"/>
                <a:ea typeface="Calibri"/>
                <a:cs typeface="Calibri"/>
              </a:defRPr>
            </a:pPr>
            <a:r>
              <a:rPr sz="2025" b="1">
                <a:solidFill>
                  <a:srgbClr val="142D40"/>
                </a:solidFill>
                <a:latin typeface="Calibri"/>
                <a:ea typeface="Calibri"/>
                <a:cs typeface="Calibri"/>
              </a:rPr>
              <a:t>Customer Identity and Access Management</a:t>
            </a:r>
          </a:p>
        </p:txBody>
      </p:sp>
      <p:sp>
        <p:nvSpPr>
          <p:cNvPr id="11" name="text-11">
            <a:extLst xmlns:a="http://schemas.openxmlformats.org/drawingml/2006/main">
              <a:ext uri="{FF2B5EF4-FFF2-40B4-BE49-F238E27FC236}">
                <a16:creationId xmlns:a16="http://schemas.microsoft.com/office/drawing/2014/main" id="{E2028D5A-B5B1-4FB6-9C3C-4C8AC41060A8}"/>
              </a:ext>
            </a:extLst>
          </p:cNvPr>
          <p:cNvSpPr>
            <a:spLocks xmlns:a="http://schemas.openxmlformats.org/drawingml/2006/main" noGrp="1"/>
          </p:cNvSpPr>
          <p:nvPr/>
        </p:nvSpPr>
        <p:spPr>
          <a:xfrm xmlns:a="http://schemas.openxmlformats.org/drawingml/2006/main">
            <a:off x="571500" y="5848350"/>
            <a:ext cx="619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42D40"/>
                </a:solidFill>
                <a:latin typeface="Calibri"/>
                <a:ea typeface="Calibri"/>
                <a:cs typeface="Calibri"/>
              </a:defRPr>
            </a:defPPr>
          </a:lstStyle>
          <a:p xmlns:a="http://schemas.openxmlformats.org/drawingml/2006/main">
            <a:pPr algn="l">
              <a:defRPr sz="2175" b="0">
                <a:solidFill>
                  <a:srgbClr val="142D40"/>
                </a:solidFill>
                <a:latin typeface="Calibri"/>
                <a:ea typeface="Calibri"/>
                <a:cs typeface="Calibri"/>
              </a:defRPr>
            </a:pPr>
            <a:r>
              <a:rPr sz="2175" b="0">
                <a:solidFill>
                  <a:srgbClr val="142D40"/>
                </a:solidFill>
                <a:latin typeface="Calibri"/>
                <a:ea typeface="Calibri"/>
                <a:cs typeface="Calibri"/>
              </a:rPr>
              <a:t>External client identities and client access contexts</a:t>
            </a:r>
          </a:p>
        </p:txBody>
      </p:sp>
      <p:sp>
        <p:nvSpPr>
          <p:cNvPr id="12" name="text-12">
            <a:extLst xmlns:a="http://schemas.openxmlformats.org/drawingml/2006/main">
              <a:ext uri="{FF2B5EF4-FFF2-40B4-BE49-F238E27FC236}">
                <a16:creationId xmlns:a16="http://schemas.microsoft.com/office/drawing/2014/main" id="{86A719E6-E478-4873-BE21-979049BA713E}"/>
              </a:ext>
            </a:extLst>
          </p:cNvPr>
          <p:cNvSpPr>
            <a:spLocks xmlns:a="http://schemas.openxmlformats.org/drawingml/2006/main" noGrp="1"/>
          </p:cNvSpPr>
          <p:nvPr/>
        </p:nvSpPr>
        <p:spPr>
          <a:xfrm xmlns:a="http://schemas.openxmlformats.org/drawingml/2006/main">
            <a:off x="8096250" y="4752975"/>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87C80"/>
                </a:solidFill>
                <a:latin typeface="Calibri"/>
                <a:ea typeface="Calibri"/>
                <a:cs typeface="Calibri"/>
              </a:defRPr>
            </a:defPPr>
          </a:lstStyle>
          <a:p xmlns:a="http://schemas.openxmlformats.org/drawingml/2006/main">
            <a:pPr algn="l">
              <a:defRPr sz="3300" b="1">
                <a:solidFill>
                  <a:srgbClr val="087C80"/>
                </a:solidFill>
                <a:latin typeface="Calibri"/>
                <a:ea typeface="Calibri"/>
                <a:cs typeface="Calibri"/>
              </a:defRPr>
            </a:pPr>
            <a:r>
              <a:rPr sz="3300" b="1">
                <a:solidFill>
                  <a:srgbClr val="087C80"/>
                </a:solidFill>
                <a:latin typeface="Calibri"/>
                <a:ea typeface="Calibri"/>
                <a:cs typeface="Calibri"/>
              </a:rPr>
              <a:t>IDAM</a:t>
            </a:r>
          </a:p>
        </p:txBody>
      </p:sp>
      <p:sp>
        <p:nvSpPr>
          <p:cNvPr id="13" name="text-13">
            <a:extLst xmlns:a="http://schemas.openxmlformats.org/drawingml/2006/main">
              <a:ext uri="{FF2B5EF4-FFF2-40B4-BE49-F238E27FC236}">
                <a16:creationId xmlns:a16="http://schemas.microsoft.com/office/drawing/2014/main" id="{0CA4F429-6058-4703-9EA2-B9B9D5CD02BC}"/>
              </a:ext>
            </a:extLst>
          </p:cNvPr>
          <p:cNvSpPr>
            <a:spLocks xmlns:a="http://schemas.openxmlformats.org/drawingml/2006/main" noGrp="1"/>
          </p:cNvSpPr>
          <p:nvPr/>
        </p:nvSpPr>
        <p:spPr>
          <a:xfrm xmlns:a="http://schemas.openxmlformats.org/drawingml/2006/main">
            <a:off x="8096250" y="5314950"/>
            <a:ext cx="619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D40"/>
                </a:solidFill>
                <a:latin typeface="Calibri"/>
                <a:ea typeface="Calibri"/>
                <a:cs typeface="Calibri"/>
              </a:defRPr>
            </a:defPPr>
          </a:lstStyle>
          <a:p xmlns:a="http://schemas.openxmlformats.org/drawingml/2006/main">
            <a:pPr algn="l">
              <a:defRPr sz="2025" b="1">
                <a:solidFill>
                  <a:srgbClr val="142D40"/>
                </a:solidFill>
                <a:latin typeface="Calibri"/>
                <a:ea typeface="Calibri"/>
                <a:cs typeface="Calibri"/>
              </a:defRPr>
            </a:pPr>
            <a:r>
              <a:rPr sz="2025" b="1">
                <a:solidFill>
                  <a:srgbClr val="142D40"/>
                </a:solidFill>
                <a:latin typeface="Calibri"/>
                <a:ea typeface="Calibri"/>
                <a:cs typeface="Calibri"/>
              </a:rPr>
              <a:t>Workforce Identity and Access Management</a:t>
            </a:r>
          </a:p>
        </p:txBody>
      </p:sp>
      <p:sp>
        <p:nvSpPr>
          <p:cNvPr id="14" name="text-14">
            <a:extLst xmlns:a="http://schemas.openxmlformats.org/drawingml/2006/main">
              <a:ext uri="{FF2B5EF4-FFF2-40B4-BE49-F238E27FC236}">
                <a16:creationId xmlns:a16="http://schemas.microsoft.com/office/drawing/2014/main" id="{332155E0-5A40-4BB7-9B2F-B9341C3ACB9B}"/>
              </a:ext>
            </a:extLst>
          </p:cNvPr>
          <p:cNvSpPr>
            <a:spLocks xmlns:a="http://schemas.openxmlformats.org/drawingml/2006/main" noGrp="1"/>
          </p:cNvSpPr>
          <p:nvPr/>
        </p:nvSpPr>
        <p:spPr>
          <a:xfrm xmlns:a="http://schemas.openxmlformats.org/drawingml/2006/main">
            <a:off x="8096250" y="5848350"/>
            <a:ext cx="6191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42D40"/>
                </a:solidFill>
                <a:latin typeface="Calibri"/>
                <a:ea typeface="Calibri"/>
                <a:cs typeface="Calibri"/>
              </a:defRPr>
            </a:defPPr>
          </a:lstStyle>
          <a:p xmlns:a="http://schemas.openxmlformats.org/drawingml/2006/main">
            <a:pPr algn="l">
              <a:defRPr sz="2175" b="0">
                <a:solidFill>
                  <a:srgbClr val="142D40"/>
                </a:solidFill>
                <a:latin typeface="Calibri"/>
                <a:ea typeface="Calibri"/>
                <a:cs typeface="Calibri"/>
              </a:defRPr>
            </a:pPr>
            <a:r>
              <a:rPr sz="2175" b="0">
                <a:solidFill>
                  <a:srgbClr val="142D40"/>
                </a:solidFill>
                <a:latin typeface="Calibri"/>
                <a:ea typeface="Calibri"/>
                <a:cs typeface="Calibri"/>
              </a:rPr>
              <a:t>Euroclear employee identities, including employees operating in client contexts</a:t>
            </a:r>
          </a:p>
        </p:txBody>
      </p:sp>
      <p:sp>
        <p:nvSpPr>
          <p:cNvPr id="15" name="text-15">
            <a:extLst xmlns:a="http://schemas.openxmlformats.org/drawingml/2006/main">
              <a:ext uri="{FF2B5EF4-FFF2-40B4-BE49-F238E27FC236}">
                <a16:creationId xmlns:a16="http://schemas.microsoft.com/office/drawing/2014/main" id="{38C8FA9D-3F92-48C1-B79B-C229D67D4574}"/>
              </a:ext>
            </a:extLst>
          </p:cNvPr>
          <p:cNvSpPr>
            <a:spLocks xmlns:a="http://schemas.openxmlformats.org/drawingml/2006/main" noGrp="1"/>
          </p:cNvSpPr>
          <p:nvPr/>
        </p:nvSpPr>
        <p:spPr>
          <a:xfrm xmlns:a="http://schemas.openxmlformats.org/drawingml/2006/main">
            <a:off x="571500" y="7277100"/>
            <a:ext cx="1409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67083"/>
                </a:solidFill>
                <a:latin typeface="Calibri"/>
                <a:ea typeface="Calibri"/>
                <a:cs typeface="Calibri"/>
              </a:defRPr>
            </a:defPPr>
          </a:lstStyle>
          <a:p xmlns:a="http://schemas.openxmlformats.org/drawingml/2006/main">
            <a:pPr algn="l">
              <a:defRPr sz="1875" b="0">
                <a:solidFill>
                  <a:srgbClr val="567083"/>
                </a:solidFill>
                <a:latin typeface="Calibri"/>
                <a:ea typeface="Calibri"/>
                <a:cs typeface="Calibri"/>
              </a:defRPr>
            </a:pPr>
            <a:r>
              <a:rPr sz="1875" b="0">
                <a:solidFill>
                  <a:srgbClr val="567083"/>
                </a:solidFill>
                <a:latin typeface="Calibri"/>
                <a:ea typeface="Calibri"/>
                <a:cs typeface="Calibri"/>
              </a:rPr>
              <a:t>11 named entries include user profiles, workforce operating modes, integrations and a migration state</a:t>
            </a:r>
          </a:p>
        </p:txBody>
      </p:sp>
    </p:spTree>
    <p:extLst>
      <p:ext uri="{BB962C8B-B14F-4D97-AF65-F5344CB8AC3E}">
        <p14:creationId xmlns:p14="http://schemas.microsoft.com/office/powerpoint/2010/main" val="170688165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16">
            <a:extLst xmlns:a="http://schemas.openxmlformats.org/drawingml/2006/main">
              <a:ext uri="{FF2B5EF4-FFF2-40B4-BE49-F238E27FC236}">
                <a16:creationId xmlns:a16="http://schemas.microsoft.com/office/drawing/2014/main" id="{3AF9009A-F4FF-46AB-BC8E-6B719BE7285C}"/>
              </a:ext>
            </a:extLst>
          </p:cNvPr>
          <p:cNvSpPr>
            <a:spLocks xmlns:a="http://schemas.openxmlformats.org/drawingml/2006/main" noGrp="1"/>
          </p:cNvSpPr>
          <p:nvPr/>
        </p:nvSpPr>
        <p:spPr>
          <a:xfrm xmlns:a="http://schemas.openxmlformats.org/drawingml/2006/main">
            <a:off x="571500" y="247650"/>
            <a:ext cx="1285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67083"/>
                </a:solidFill>
                <a:latin typeface="Calibri"/>
                <a:ea typeface="Calibri"/>
                <a:cs typeface="Calibri"/>
              </a:defRPr>
            </a:defPPr>
          </a:lstStyle>
          <a:p xmlns:a="http://schemas.openxmlformats.org/drawingml/2006/main">
            <a:pPr algn="l">
              <a:defRPr sz="1350" b="1">
                <a:solidFill>
                  <a:srgbClr val="567083"/>
                </a:solidFill>
                <a:latin typeface="Calibri"/>
                <a:ea typeface="Calibri"/>
                <a:cs typeface="Calibri"/>
              </a:defRPr>
            </a:pPr>
            <a:r>
              <a:rPr sz="1350" b="1">
                <a:solidFill>
                  <a:srgbClr val="567083"/>
                </a:solidFill>
                <a:latin typeface="Calibri"/>
                <a:ea typeface="Calibri"/>
                <a:cs typeface="Calibri"/>
              </a:rPr>
              <a:t>EUROCLEAR   /   ENTERPRISE IDENTITY ARCHITECTURE</a:t>
            </a:r>
          </a:p>
        </p:txBody>
      </p:sp>
      <p:sp>
        <p:nvSpPr>
          <p:cNvPr id="2" name="text-17">
            <a:extLst xmlns:a="http://schemas.openxmlformats.org/drawingml/2006/main">
              <a:ext uri="{FF2B5EF4-FFF2-40B4-BE49-F238E27FC236}">
                <a16:creationId xmlns:a16="http://schemas.microsoft.com/office/drawing/2014/main" id="{3B997486-3FE5-4D07-956F-2A55F85FBE46}"/>
              </a:ext>
            </a:extLst>
          </p:cNvPr>
          <p:cNvSpPr>
            <a:spLocks xmlns:a="http://schemas.openxmlformats.org/drawingml/2006/main" noGrp="1"/>
          </p:cNvSpPr>
          <p:nvPr/>
        </p:nvSpPr>
        <p:spPr>
          <a:xfrm xmlns:a="http://schemas.openxmlformats.org/drawingml/2006/main">
            <a:off x="571500" y="74295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42D40"/>
                </a:solidFill>
                <a:latin typeface="Calibri"/>
                <a:ea typeface="Calibri"/>
                <a:cs typeface="Calibri"/>
              </a:defRPr>
            </a:defPPr>
          </a:lstStyle>
          <a:p xmlns:a="http://schemas.openxmlformats.org/drawingml/2006/main">
            <a:pPr algn="l">
              <a:defRPr sz="3450" b="1">
                <a:solidFill>
                  <a:srgbClr val="142D40"/>
                </a:solidFill>
                <a:latin typeface="Calibri"/>
                <a:ea typeface="Calibri"/>
                <a:cs typeface="Calibri"/>
              </a:defRPr>
            </a:pPr>
            <a:r>
              <a:rPr sz="3450" b="1">
                <a:solidFill>
                  <a:srgbClr val="142D40"/>
                </a:solidFill>
                <a:latin typeface="Calibri"/>
                <a:ea typeface="Calibri"/>
                <a:cs typeface="Calibri"/>
              </a:rPr>
              <a:t>Complete persona and identity-domain view</a:t>
            </a:r>
          </a:p>
        </p:txBody>
      </p:sp>
      <p:sp>
        <p:nvSpPr>
          <p:cNvPr id="3" name="text-18">
            <a:extLst xmlns:a="http://schemas.openxmlformats.org/drawingml/2006/main">
              <a:ext uri="{FF2B5EF4-FFF2-40B4-BE49-F238E27FC236}">
                <a16:creationId xmlns:a16="http://schemas.microsoft.com/office/drawing/2014/main" id="{99BB5E89-1295-498B-A6B2-7472460611CA}"/>
              </a:ext>
            </a:extLst>
          </p:cNvPr>
          <p:cNvSpPr>
            <a:spLocks xmlns:a="http://schemas.openxmlformats.org/drawingml/2006/main" noGrp="1"/>
          </p:cNvSpPr>
          <p:nvPr/>
        </p:nvSpPr>
        <p:spPr>
          <a:xfrm xmlns:a="http://schemas.openxmlformats.org/drawingml/2006/main">
            <a:off x="571500" y="1419225"/>
            <a:ext cx="14097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67083"/>
                </a:solidFill>
                <a:latin typeface="Calibri"/>
                <a:ea typeface="Calibri"/>
                <a:cs typeface="Calibri"/>
              </a:defRPr>
            </a:defPPr>
          </a:lstStyle>
          <a:p xmlns:a="http://schemas.openxmlformats.org/drawingml/2006/main">
            <a:pPr algn="l">
              <a:defRPr sz="1875" b="0">
                <a:solidFill>
                  <a:srgbClr val="567083"/>
                </a:solidFill>
                <a:latin typeface="Calibri"/>
                <a:ea typeface="Calibri"/>
                <a:cs typeface="Calibri"/>
              </a:defRPr>
            </a:pPr>
            <a:r>
              <a:rPr sz="1875" b="0">
                <a:solidFill>
                  <a:srgbClr val="567083"/>
                </a:solidFill>
                <a:latin typeface="Calibri"/>
                <a:ea typeface="Calibri"/>
                <a:cs typeface="Calibri"/>
              </a:rPr>
              <a:t>Identity ownership and service involvement answer different questions</a:t>
            </a:r>
          </a:p>
        </p:txBody>
      </p:sp>
      <p:sp>
        <p:nvSpPr>
          <p:cNvPr id="4" name="line-19">
            <a:extLst xmlns:a="http://schemas.openxmlformats.org/drawingml/2006/main">
              <a:ext uri="{FF2B5EF4-FFF2-40B4-BE49-F238E27FC236}">
                <a16:creationId xmlns:a16="http://schemas.microsoft.com/office/drawing/2014/main" id="{E03059C5-C798-4A1F-832C-28F2D95F71AD}"/>
              </a:ext>
            </a:extLst>
          </p:cNvPr>
          <p:cNvSpPr>
            <a:spLocks xmlns:a="http://schemas.openxmlformats.org/drawingml/2006/main" noGrp="1"/>
          </p:cNvSpPr>
          <p:nvPr/>
        </p:nvSpPr>
        <p:spPr>
          <a:xfrm xmlns:a="http://schemas.openxmlformats.org/drawingml/2006/main">
            <a:off x="571500" y="8048625"/>
            <a:ext cx="14097000" cy="0"/>
          </a:xfrm>
          <a:prstGeom xmlns:a="http://schemas.openxmlformats.org/drawingml/2006/main" prst="line">
            <a:avLst/>
          </a:prstGeom>
          <a:noFill xmlns:a="http://schemas.openxmlformats.org/drawingml/2006/main"/>
          <a:ln xmlns:a="http://schemas.openxmlformats.org/drawingml/2006/main" w="13335">
            <a:solidFill>
              <a:srgbClr val="D8E1E8"/>
            </a:solidFill>
          </a:ln>
        </p:spPr>
      </p:sp>
      <p:sp>
        <p:nvSpPr>
          <p:cNvPr id="5" name="text-20">
            <a:extLst xmlns:a="http://schemas.openxmlformats.org/drawingml/2006/main">
              <a:ext uri="{FF2B5EF4-FFF2-40B4-BE49-F238E27FC236}">
                <a16:creationId xmlns:a16="http://schemas.microsoft.com/office/drawing/2014/main" id="{041A8D1B-02A0-4572-9A46-DD0FE00213B6}"/>
              </a:ext>
            </a:extLst>
          </p:cNvPr>
          <p:cNvSpPr>
            <a:spLocks xmlns:a="http://schemas.openxmlformats.org/drawingml/2006/main" noGrp="1"/>
          </p:cNvSpPr>
          <p:nvPr/>
        </p:nvSpPr>
        <p:spPr>
          <a:xfrm xmlns:a="http://schemas.openxmlformats.org/drawingml/2006/main">
            <a:off x="571500" y="8172450"/>
            <a:ext cx="1295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7083"/>
                </a:solidFill>
                <a:latin typeface="Calibri"/>
                <a:ea typeface="Calibri"/>
                <a:cs typeface="Calibri"/>
              </a:defRPr>
            </a:defPPr>
          </a:lstStyle>
          <a:p xmlns:a="http://schemas.openxmlformats.org/drawingml/2006/main">
            <a:pPr algn="l">
              <a:defRPr sz="1275" b="0">
                <a:solidFill>
                  <a:srgbClr val="567083"/>
                </a:solidFill>
                <a:latin typeface="Calibri"/>
                <a:ea typeface="Calibri"/>
                <a:cs typeface="Calibri"/>
              </a:defRPr>
            </a:pPr>
            <a:r>
              <a:rPr sz="1275" b="0">
                <a:solidFill>
                  <a:srgbClr val="567083"/>
                </a:solidFill>
                <a:latin typeface="Calibri"/>
                <a:ea typeface="Calibri"/>
                <a:cs typeface="Calibri"/>
              </a:rPr>
              <a:t>Architecture Board review   /   Proposed target boundaries   /   8 October 2026</a:t>
            </a:r>
          </a:p>
        </p:txBody>
      </p:sp>
      <p:sp>
        <p:nvSpPr>
          <p:cNvPr id="6" name="text-21">
            <a:extLst xmlns:a="http://schemas.openxmlformats.org/drawingml/2006/main">
              <a:ext uri="{FF2B5EF4-FFF2-40B4-BE49-F238E27FC236}">
                <a16:creationId xmlns:a16="http://schemas.microsoft.com/office/drawing/2014/main" id="{DB58EAC4-9437-49A7-AE4D-F67A6AC839E2}"/>
              </a:ext>
            </a:extLst>
          </p:cNvPr>
          <p:cNvSpPr>
            <a:spLocks xmlns:a="http://schemas.openxmlformats.org/drawingml/2006/main" noGrp="1"/>
          </p:cNvSpPr>
          <p:nvPr/>
        </p:nvSpPr>
        <p:spPr>
          <a:xfrm xmlns:a="http://schemas.openxmlformats.org/drawingml/2006/main">
            <a:off x="14001750" y="81438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567083"/>
                </a:solidFill>
                <a:latin typeface="Calibri"/>
                <a:ea typeface="Calibri"/>
                <a:cs typeface="Calibri"/>
              </a:defRPr>
            </a:defPPr>
          </a:lstStyle>
          <a:p xmlns:a="http://schemas.openxmlformats.org/drawingml/2006/main">
            <a:pPr algn="r">
              <a:defRPr sz="1350" b="1">
                <a:solidFill>
                  <a:srgbClr val="567083"/>
                </a:solidFill>
                <a:latin typeface="Calibri"/>
                <a:ea typeface="Calibri"/>
                <a:cs typeface="Calibri"/>
              </a:defRPr>
            </a:pPr>
            <a:r>
              <a:rPr sz="1350" b="1">
                <a:solidFill>
                  <a:srgbClr val="567083"/>
                </a:solidFill>
                <a:latin typeface="Calibri"/>
                <a:ea typeface="Calibri"/>
                <a:cs typeface="Calibri"/>
              </a:rPr>
              <a:t>02</a:t>
            </a:r>
          </a:p>
        </p:txBody>
      </p:sp>
      <p:graphicFrame>
        <p:nvGraphicFramePr>
          <p:cNvPr id="7" name="">
            <a:extLst xmlns:a="http://schemas.openxmlformats.org/drawingml/2006/main">
              <a:ext uri="{FF2B5EF4-FFF2-40B4-BE49-F238E27FC236}">
                <a16:creationId xmlns:a16="http://schemas.microsoft.com/office/drawing/2014/main" id="{62ECA877-559F-4B12-AAAF-0C055DC550A9}"/>
              </a:ext>
            </a:extLst>
          </p:cNvPr>
          <p:cNvGraphicFramePr/>
          <p:nvPr/>
        </p:nvGraphicFramePr>
        <p:xfrm>
          <a:off xmlns:a="http://schemas.openxmlformats.org/drawingml/2006/main" x="571500" y="2038350"/>
          <a:ext xmlns:a="http://schemas.openxmlformats.org/drawingml/2006/main" cx="14097000" cy="5067300"/>
        </p:xfrm>
        <a:graphic xmlns:a="http://schemas.openxmlformats.org/drawingml/2006/main">
          <a:graphicData uri="http://schemas.openxmlformats.org/drawingml/2006/table">
            <a:tbl>
              <a:tblPr firstRow="0" bandRow="0"/>
              <a:tblGrid>
                <a:gridCol w="5095875"/>
                <a:gridCol w="1285875"/>
                <a:gridCol w="1381125"/>
                <a:gridCol w="1381125"/>
                <a:gridCol w="1428750"/>
                <a:gridCol w="3524250"/>
              </a:tblGrid>
              <a:tr h="647700">
                <a:tc>
                  <a:txBody>
                    <a:bodyPr/>
                    <a:lstStyle/>
                    <a:p>
                      <a:r>
                        <a:rPr sz="1500" b="1">
                          <a:solidFill>
                            <a:srgbClr val="FFFFFF"/>
                          </a:solidFill>
                          <a:latin typeface="Calibri"/>
                          <a:ea typeface="Calibri"/>
                          <a:cs typeface="Calibri"/>
                        </a:rPr>
                        <a:t>Persona or state</a:t>
                      </a:r>
                    </a:p>
                  </a:txBody>
                  <a:tcPr marL="95250" marR="95250" marT="38100" marB="38100" anchor="ctr">
                    <a:solidFill>
                      <a:srgbClr val="142D40"/>
                    </a:solidFill>
                  </a:tcPr>
                </a:tc>
                <a:tc>
                  <a:txBody>
                    <a:bodyPr/>
                    <a:lstStyle/>
                    <a:p>
                      <a:r>
                        <a:rPr sz="1500" b="1">
                          <a:solidFill>
                            <a:srgbClr val="FFFFFF"/>
                          </a:solidFill>
                          <a:latin typeface="Calibri"/>
                          <a:ea typeface="Calibri"/>
                          <a:cs typeface="Calibri"/>
                        </a:rPr>
                        <a:t>Identity owner</a:t>
                      </a:r>
                    </a:p>
                    <a:p>
                      <a:r>
                        <a:rPr sz="1500" b="1">
                          <a:solidFill>
                            <a:srgbClr val="FFFFFF"/>
                          </a:solidFill>
                          <a:latin typeface="Calibri"/>
                          <a:ea typeface="Calibri"/>
                          <a:cs typeface="Calibri"/>
                        </a:rPr>
                        <a:t>CIAM</a:t>
                      </a:r>
                    </a:p>
                  </a:txBody>
                  <a:tcPr marL="95250" marR="95250" marT="38100" marB="38100" anchor="ctr">
                    <a:solidFill>
                      <a:srgbClr val="142D40"/>
                    </a:solidFill>
                  </a:tcPr>
                </a:tc>
                <a:tc>
                  <a:txBody>
                    <a:bodyPr/>
                    <a:lstStyle/>
                    <a:p>
                      <a:r>
                        <a:rPr sz="1500" b="1">
                          <a:solidFill>
                            <a:srgbClr val="FFFFFF"/>
                          </a:solidFill>
                          <a:latin typeface="Calibri"/>
                          <a:ea typeface="Calibri"/>
                          <a:cs typeface="Calibri"/>
                        </a:rPr>
                        <a:t>Employee</a:t>
                      </a:r>
                    </a:p>
                    <a:p>
                      <a:r>
                        <a:rPr sz="1500" b="1">
                          <a:solidFill>
                            <a:srgbClr val="FFFFFF"/>
                          </a:solidFill>
                          <a:latin typeface="Calibri"/>
                          <a:ea typeface="Calibri"/>
                          <a:cs typeface="Calibri"/>
                        </a:rPr>
                        <a:t>owner (IDAM)</a:t>
                      </a:r>
                    </a:p>
                  </a:txBody>
                  <a:tcPr marL="95250" marR="95250" marT="38100" marB="38100" anchor="ctr">
                    <a:solidFill>
                      <a:srgbClr val="142D40"/>
                    </a:solidFill>
                  </a:tcPr>
                </a:tc>
                <a:tc>
                  <a:txBody>
                    <a:bodyPr/>
                    <a:lstStyle/>
                    <a:p>
                      <a:r>
                        <a:rPr sz="1500" b="1">
                          <a:solidFill>
                            <a:srgbClr val="FFFFFF"/>
                          </a:solidFill>
                          <a:latin typeface="Calibri"/>
                          <a:ea typeface="Calibri"/>
                          <a:cs typeface="Calibri"/>
                        </a:rPr>
                        <a:t>Client access</a:t>
                      </a:r>
                    </a:p>
                    <a:p>
                      <a:r>
                        <a:rPr sz="1500" b="1">
                          <a:solidFill>
                            <a:srgbClr val="FFFFFF"/>
                          </a:solidFill>
                          <a:latin typeface="Calibri"/>
                          <a:ea typeface="Calibri"/>
                          <a:cs typeface="Calibri"/>
                        </a:rPr>
                        <a:t>CIAM</a:t>
                      </a:r>
                    </a:p>
                  </a:txBody>
                  <a:tcPr marL="95250" marR="95250" marT="38100" marB="38100" anchor="ctr">
                    <a:solidFill>
                      <a:srgbClr val="142D40"/>
                    </a:solidFill>
                  </a:tcPr>
                </a:tc>
                <a:tc>
                  <a:txBody>
                    <a:bodyPr/>
                    <a:lstStyle/>
                    <a:p>
                      <a:r>
                        <a:rPr sz="1500" b="1">
                          <a:solidFill>
                            <a:srgbClr val="FFFFFF"/>
                          </a:solidFill>
                          <a:latin typeface="Calibri"/>
                          <a:ea typeface="Calibri"/>
                          <a:cs typeface="Calibri"/>
                        </a:rPr>
                        <a:t>Federation</a:t>
                      </a:r>
                    </a:p>
                    <a:p>
                      <a:r>
                        <a:rPr sz="1500" b="1">
                          <a:solidFill>
                            <a:srgbClr val="FFFFFF"/>
                          </a:solidFill>
                          <a:latin typeface="Calibri"/>
                          <a:ea typeface="Calibri"/>
                          <a:cs typeface="Calibri"/>
                        </a:rPr>
                        <a:t>IDAM / CIAM</a:t>
                      </a:r>
                    </a:p>
                  </a:txBody>
                  <a:tcPr marL="95250" marR="95250" marT="38100" marB="38100" anchor="ctr">
                    <a:solidFill>
                      <a:srgbClr val="142D40"/>
                    </a:solidFill>
                  </a:tcPr>
                </a:tc>
                <a:tc>
                  <a:txBody>
                    <a:bodyPr/>
                    <a:lstStyle/>
                    <a:p>
                      <a:r>
                        <a:rPr sz="1500" b="1">
                          <a:solidFill>
                            <a:srgbClr val="FFFFFF"/>
                          </a:solidFill>
                          <a:latin typeface="Calibri"/>
                          <a:ea typeface="Calibri"/>
                          <a:cs typeface="Calibri"/>
                        </a:rPr>
                        <a:t>Access or trust relationship</a:t>
                      </a:r>
                    </a:p>
                  </a:txBody>
                  <a:tcPr marL="95250" marR="95250" marT="38100" marB="38100" anchor="ctr">
                    <a:solidFill>
                      <a:srgbClr val="142D40"/>
                    </a:solidFill>
                  </a:tcPr>
                </a:tc>
              </a:tr>
              <a:tr h="400050">
                <a:tc>
                  <a:txBody>
                    <a:bodyPr/>
                    <a:lstStyle/>
                    <a:p>
                      <a:r>
                        <a:rPr sz="1575" b="1">
                          <a:solidFill>
                            <a:srgbClr val="142D40"/>
                          </a:solidFill>
                          <a:latin typeface="Calibri"/>
                          <a:ea typeface="Calibri"/>
                          <a:cs typeface="Calibri"/>
                        </a:rPr>
                        <a:t>Delegated client administrator</a:t>
                      </a:r>
                    </a:p>
                  </a:txBody>
                  <a:tcPr marL="95250" marR="95250" marT="38100" marB="38100" anchor="ctr">
                    <a:solidFill>
                      <a:srgbClr val="FFFFFF"/>
                    </a:solidFill>
                  </a:tcPr>
                </a:tc>
                <a:tc>
                  <a:txBody>
                    <a:bodyPr/>
                    <a:lstStyle/>
                    <a:p>
                      <a:pPr algn="ctr"/>
                      <a:r>
                        <a:rPr sz="1725" b="0">
                          <a:solidFill>
                            <a:srgbClr val="1C6090"/>
                          </a:solidFill>
                          <a:latin typeface="Calibri"/>
                          <a:ea typeface="Calibri"/>
                          <a:cs typeface="Calibri"/>
                        </a:rPr>
                        <a:t>●</a:t>
                      </a:r>
                    </a:p>
                  </a:txBody>
                  <a:tcPr marL="95250" marR="95250" marT="38100" marB="38100" anchor="ctr">
                    <a:solidFill>
                      <a:srgbClr val="FFFFFF"/>
                    </a:solidFill>
                  </a:tcPr>
                </a:tc>
                <a:tc>
                  <a:txBody>
                    <a:bodyPr/>
                    <a:lstStyle/>
                    <a:p>
                      <a:pPr algn="ctr"/>
                      <a:r>
                        <a:rPr sz="1725" b="0">
                          <a:solidFill>
                            <a:srgbClr val="087C80"/>
                          </a:solidFill>
                          <a:latin typeface="Calibri"/>
                          <a:ea typeface="Calibri"/>
                          <a:cs typeface="Calibri"/>
                        </a:rPr>
                        <a:t>—</a:t>
                      </a:r>
                    </a:p>
                  </a:txBody>
                  <a:tcPr marL="95250" marR="95250" marT="38100" marB="38100" anchor="ctr">
                    <a:solidFill>
                      <a:srgbClr val="FFFFFF"/>
                    </a:solidFill>
                  </a:tcPr>
                </a:tc>
                <a:tc>
                  <a:txBody>
                    <a:bodyPr/>
                    <a:lstStyle/>
                    <a:p>
                      <a:pPr algn="ctr"/>
                      <a:r>
                        <a:rPr sz="1725" b="0">
                          <a:solidFill>
                            <a:srgbClr val="1C6090"/>
                          </a:solidFill>
                          <a:latin typeface="Calibri"/>
                          <a:ea typeface="Calibri"/>
                          <a:cs typeface="Calibri"/>
                        </a:rPr>
                        <a:t>●</a:t>
                      </a:r>
                    </a:p>
                  </a:txBody>
                  <a:tcPr marL="95250" marR="95250" marT="38100" marB="38100" anchor="ctr">
                    <a:solidFill>
                      <a:srgbClr val="FFFFFF"/>
                    </a:solidFill>
                  </a:tcPr>
                </a:tc>
                <a:tc>
                  <a:txBody>
                    <a:bodyPr/>
                    <a:lstStyle/>
                    <a:p>
                      <a:pPr algn="ctr"/>
                      <a:r>
                        <a:rPr sz="1725" b="0">
                          <a:solidFill>
                            <a:srgbClr val="1C6090"/>
                          </a:solidFill>
                          <a:latin typeface="Calibri"/>
                          <a:ea typeface="Calibri"/>
                          <a:cs typeface="Calibri"/>
                        </a:rPr>
                        <a:t>—</a:t>
                      </a:r>
                    </a:p>
                  </a:txBody>
                  <a:tcPr marL="95250" marR="95250" marT="38100" marB="38100" anchor="ctr">
                    <a:solidFill>
                      <a:srgbClr val="FFFFFF"/>
                    </a:solidFill>
                  </a:tcPr>
                </a:tc>
                <a:tc>
                  <a:txBody>
                    <a:bodyPr/>
                    <a:lstStyle/>
                    <a:p>
                      <a:r>
                        <a:rPr sz="1575" b="0">
                          <a:solidFill>
                            <a:srgbClr val="142D40"/>
                          </a:solidFill>
                          <a:latin typeface="Calibri"/>
                          <a:ea typeface="Calibri"/>
                          <a:cs typeface="Calibri"/>
                        </a:rPr>
                        <a:t>Direct CIAM or client IdP</a:t>
                      </a:r>
                    </a:p>
                  </a:txBody>
                  <a:tcPr marL="95250" marR="95250" marT="38100" marB="38100" anchor="ctr">
                    <a:solidFill>
                      <a:srgbClr val="FFFFFF"/>
                    </a:solidFill>
                  </a:tcPr>
                </a:tc>
              </a:tr>
              <a:tr h="400050">
                <a:tc>
                  <a:txBody>
                    <a:bodyPr/>
                    <a:lstStyle/>
                    <a:p>
                      <a:r>
                        <a:rPr sz="1575" b="1">
                          <a:solidFill>
                            <a:srgbClr val="142D40"/>
                          </a:solidFill>
                          <a:latin typeface="Calibri"/>
                          <a:ea typeface="Calibri"/>
                          <a:cs typeface="Calibri"/>
                        </a:rPr>
                        <a:t>Single-entity client user</a:t>
                      </a:r>
                    </a:p>
                  </a:txBody>
                  <a:tcPr marL="95250" marR="95250" marT="38100" marB="38100" anchor="ctr">
                    <a:solidFill>
                      <a:srgbClr val="F1F5F8"/>
                    </a:solidFill>
                  </a:tcPr>
                </a:tc>
                <a:tc>
                  <a:txBody>
                    <a:bodyPr/>
                    <a:lstStyle/>
                    <a:p>
                      <a:pPr algn="ctr"/>
                      <a:r>
                        <a:rPr sz="1725" b="0">
                          <a:solidFill>
                            <a:srgbClr val="1C6090"/>
                          </a:solidFill>
                          <a:latin typeface="Calibri"/>
                          <a:ea typeface="Calibri"/>
                          <a:cs typeface="Calibri"/>
                        </a:rPr>
                        <a:t>●</a:t>
                      </a:r>
                    </a:p>
                  </a:txBody>
                  <a:tcPr marL="95250" marR="95250" marT="38100" marB="38100" anchor="ctr">
                    <a:solidFill>
                      <a:srgbClr val="F1F5F8"/>
                    </a:solidFill>
                  </a:tcPr>
                </a:tc>
                <a:tc>
                  <a:txBody>
                    <a:bodyPr/>
                    <a:lstStyle/>
                    <a:p>
                      <a:pPr algn="ctr"/>
                      <a:r>
                        <a:rPr sz="1725" b="0">
                          <a:solidFill>
                            <a:srgbClr val="087C80"/>
                          </a:solidFill>
                          <a:latin typeface="Calibri"/>
                          <a:ea typeface="Calibri"/>
                          <a:cs typeface="Calibri"/>
                        </a:rPr>
                        <a:t>—</a:t>
                      </a:r>
                    </a:p>
                  </a:txBody>
                  <a:tcPr marL="95250" marR="95250" marT="38100" marB="38100" anchor="ctr">
                    <a:solidFill>
                      <a:srgbClr val="F1F5F8"/>
                    </a:solidFill>
                  </a:tcPr>
                </a:tc>
                <a:tc>
                  <a:txBody>
                    <a:bodyPr/>
                    <a:lstStyle/>
                    <a:p>
                      <a:pPr algn="ctr"/>
                      <a:r>
                        <a:rPr sz="1725" b="0">
                          <a:solidFill>
                            <a:srgbClr val="1C6090"/>
                          </a:solidFill>
                          <a:latin typeface="Calibri"/>
                          <a:ea typeface="Calibri"/>
                          <a:cs typeface="Calibri"/>
                        </a:rPr>
                        <a:t>●</a:t>
                      </a:r>
                    </a:p>
                  </a:txBody>
                  <a:tcPr marL="95250" marR="95250" marT="38100" marB="38100" anchor="ctr">
                    <a:solidFill>
                      <a:srgbClr val="F1F5F8"/>
                    </a:solidFill>
                  </a:tcPr>
                </a:tc>
                <a:tc>
                  <a:txBody>
                    <a:bodyPr/>
                    <a:lstStyle/>
                    <a:p>
                      <a:pPr algn="ctr"/>
                      <a:r>
                        <a:rPr sz="1725" b="0">
                          <a:solidFill>
                            <a:srgbClr val="1C6090"/>
                          </a:solidFill>
                          <a:latin typeface="Calibri"/>
                          <a:ea typeface="Calibri"/>
                          <a:cs typeface="Calibri"/>
                        </a:rPr>
                        <a:t>—</a:t>
                      </a:r>
                    </a:p>
                  </a:txBody>
                  <a:tcPr marL="95250" marR="95250" marT="38100" marB="38100" anchor="ctr">
                    <a:solidFill>
                      <a:srgbClr val="F1F5F8"/>
                    </a:solidFill>
                  </a:tcPr>
                </a:tc>
                <a:tc>
                  <a:txBody>
                    <a:bodyPr/>
                    <a:lstStyle/>
                    <a:p>
                      <a:r>
                        <a:rPr sz="1575" b="0">
                          <a:solidFill>
                            <a:srgbClr val="142D40"/>
                          </a:solidFill>
                          <a:latin typeface="Calibri"/>
                          <a:ea typeface="Calibri"/>
                          <a:cs typeface="Calibri"/>
                        </a:rPr>
                        <a:t>Direct CIAM or client IdP</a:t>
                      </a:r>
                    </a:p>
                  </a:txBody>
                  <a:tcPr marL="95250" marR="95250" marT="38100" marB="38100" anchor="ctr">
                    <a:solidFill>
                      <a:srgbClr val="F1F5F8"/>
                    </a:solidFill>
                  </a:tcPr>
                </a:tc>
              </a:tr>
              <a:tr h="400050">
                <a:tc>
                  <a:txBody>
                    <a:bodyPr/>
                    <a:lstStyle/>
                    <a:p>
                      <a:r>
                        <a:rPr sz="1575" b="1">
                          <a:solidFill>
                            <a:srgbClr val="142D40"/>
                          </a:solidFill>
                          <a:latin typeface="Calibri"/>
                          <a:ea typeface="Calibri"/>
                          <a:cs typeface="Calibri"/>
                        </a:rPr>
                        <a:t>Multi-entity client user</a:t>
                      </a:r>
                    </a:p>
                  </a:txBody>
                  <a:tcPr marL="95250" marR="95250" marT="38100" marB="38100" anchor="ctr">
                    <a:solidFill>
                      <a:srgbClr val="FFFFFF"/>
                    </a:solidFill>
                  </a:tcPr>
                </a:tc>
                <a:tc>
                  <a:txBody>
                    <a:bodyPr/>
                    <a:lstStyle/>
                    <a:p>
                      <a:pPr algn="ctr"/>
                      <a:r>
                        <a:rPr sz="1725" b="0">
                          <a:solidFill>
                            <a:srgbClr val="1C6090"/>
                          </a:solidFill>
                          <a:latin typeface="Calibri"/>
                          <a:ea typeface="Calibri"/>
                          <a:cs typeface="Calibri"/>
                        </a:rPr>
                        <a:t>●</a:t>
                      </a:r>
                    </a:p>
                  </a:txBody>
                  <a:tcPr marL="95250" marR="95250" marT="38100" marB="38100" anchor="ctr">
                    <a:solidFill>
                      <a:srgbClr val="FFFFFF"/>
                    </a:solidFill>
                  </a:tcPr>
                </a:tc>
                <a:tc>
                  <a:txBody>
                    <a:bodyPr/>
                    <a:lstStyle/>
                    <a:p>
                      <a:pPr algn="ctr"/>
                      <a:r>
                        <a:rPr sz="1725" b="0">
                          <a:solidFill>
                            <a:srgbClr val="087C80"/>
                          </a:solidFill>
                          <a:latin typeface="Calibri"/>
                          <a:ea typeface="Calibri"/>
                          <a:cs typeface="Calibri"/>
                        </a:rPr>
                        <a:t>—</a:t>
                      </a:r>
                    </a:p>
                  </a:txBody>
                  <a:tcPr marL="95250" marR="95250" marT="38100" marB="38100" anchor="ctr">
                    <a:solidFill>
                      <a:srgbClr val="FFFFFF"/>
                    </a:solidFill>
                  </a:tcPr>
                </a:tc>
                <a:tc>
                  <a:txBody>
                    <a:bodyPr/>
                    <a:lstStyle/>
                    <a:p>
                      <a:pPr algn="ctr"/>
                      <a:r>
                        <a:rPr sz="1725" b="0">
                          <a:solidFill>
                            <a:srgbClr val="1C6090"/>
                          </a:solidFill>
                          <a:latin typeface="Calibri"/>
                          <a:ea typeface="Calibri"/>
                          <a:cs typeface="Calibri"/>
                        </a:rPr>
                        <a:t>●</a:t>
                      </a:r>
                    </a:p>
                  </a:txBody>
                  <a:tcPr marL="95250" marR="95250" marT="38100" marB="38100" anchor="ctr">
                    <a:solidFill>
                      <a:srgbClr val="FFFFFF"/>
                    </a:solidFill>
                  </a:tcPr>
                </a:tc>
                <a:tc>
                  <a:txBody>
                    <a:bodyPr/>
                    <a:lstStyle/>
                    <a:p>
                      <a:pPr algn="ctr"/>
                      <a:r>
                        <a:rPr sz="1725" b="0">
                          <a:solidFill>
                            <a:srgbClr val="1C6090"/>
                          </a:solidFill>
                          <a:latin typeface="Calibri"/>
                          <a:ea typeface="Calibri"/>
                          <a:cs typeface="Calibri"/>
                        </a:rPr>
                        <a:t>—</a:t>
                      </a:r>
                    </a:p>
                  </a:txBody>
                  <a:tcPr marL="95250" marR="95250" marT="38100" marB="38100" anchor="ctr">
                    <a:solidFill>
                      <a:srgbClr val="FFFFFF"/>
                    </a:solidFill>
                  </a:tcPr>
                </a:tc>
                <a:tc>
                  <a:txBody>
                    <a:bodyPr/>
                    <a:lstStyle/>
                    <a:p>
                      <a:r>
                        <a:rPr sz="1575" b="0">
                          <a:solidFill>
                            <a:srgbClr val="142D40"/>
                          </a:solidFill>
                          <a:latin typeface="Calibri"/>
                          <a:ea typeface="Calibri"/>
                          <a:cs typeface="Calibri"/>
                        </a:rPr>
                        <a:t>Direct CIAM or client IdP</a:t>
                      </a:r>
                    </a:p>
                  </a:txBody>
                  <a:tcPr marL="95250" marR="95250" marT="38100" marB="38100" anchor="ctr">
                    <a:solidFill>
                      <a:srgbClr val="FFFFFF"/>
                    </a:solidFill>
                  </a:tcPr>
                </a:tc>
              </a:tr>
              <a:tr h="400050">
                <a:tc>
                  <a:txBody>
                    <a:bodyPr/>
                    <a:lstStyle/>
                    <a:p>
                      <a:r>
                        <a:rPr sz="1575" b="1">
                          <a:solidFill>
                            <a:srgbClr val="142D40"/>
                          </a:solidFill>
                          <a:latin typeface="Calibri"/>
                          <a:ea typeface="Calibri"/>
                          <a:cs typeface="Calibri"/>
                        </a:rPr>
                        <a:t>Non-billable client user</a:t>
                      </a:r>
                    </a:p>
                  </a:txBody>
                  <a:tcPr marL="95250" marR="95250" marT="38100" marB="38100" anchor="ctr">
                    <a:solidFill>
                      <a:srgbClr val="F1F5F8"/>
                    </a:solidFill>
                  </a:tcPr>
                </a:tc>
                <a:tc>
                  <a:txBody>
                    <a:bodyPr/>
                    <a:lstStyle/>
                    <a:p>
                      <a:pPr algn="ctr"/>
                      <a:r>
                        <a:rPr sz="1725" b="0">
                          <a:solidFill>
                            <a:srgbClr val="1C6090"/>
                          </a:solidFill>
                          <a:latin typeface="Calibri"/>
                          <a:ea typeface="Calibri"/>
                          <a:cs typeface="Calibri"/>
                        </a:rPr>
                        <a:t>●</a:t>
                      </a:r>
                    </a:p>
                  </a:txBody>
                  <a:tcPr marL="95250" marR="95250" marT="38100" marB="38100" anchor="ctr">
                    <a:solidFill>
                      <a:srgbClr val="F1F5F8"/>
                    </a:solidFill>
                  </a:tcPr>
                </a:tc>
                <a:tc>
                  <a:txBody>
                    <a:bodyPr/>
                    <a:lstStyle/>
                    <a:p>
                      <a:pPr algn="ctr"/>
                      <a:r>
                        <a:rPr sz="1725" b="0">
                          <a:solidFill>
                            <a:srgbClr val="087C80"/>
                          </a:solidFill>
                          <a:latin typeface="Calibri"/>
                          <a:ea typeface="Calibri"/>
                          <a:cs typeface="Calibri"/>
                        </a:rPr>
                        <a:t>—</a:t>
                      </a:r>
                    </a:p>
                  </a:txBody>
                  <a:tcPr marL="95250" marR="95250" marT="38100" marB="38100" anchor="ctr">
                    <a:solidFill>
                      <a:srgbClr val="F1F5F8"/>
                    </a:solidFill>
                  </a:tcPr>
                </a:tc>
                <a:tc>
                  <a:txBody>
                    <a:bodyPr/>
                    <a:lstStyle/>
                    <a:p>
                      <a:pPr algn="ctr"/>
                      <a:r>
                        <a:rPr sz="1725" b="0">
                          <a:solidFill>
                            <a:srgbClr val="1C6090"/>
                          </a:solidFill>
                          <a:latin typeface="Calibri"/>
                          <a:ea typeface="Calibri"/>
                          <a:cs typeface="Calibri"/>
                        </a:rPr>
                        <a:t>●</a:t>
                      </a:r>
                    </a:p>
                  </a:txBody>
                  <a:tcPr marL="95250" marR="95250" marT="38100" marB="38100" anchor="ctr">
                    <a:solidFill>
                      <a:srgbClr val="F1F5F8"/>
                    </a:solidFill>
                  </a:tcPr>
                </a:tc>
                <a:tc>
                  <a:txBody>
                    <a:bodyPr/>
                    <a:lstStyle/>
                    <a:p>
                      <a:pPr algn="ctr"/>
                      <a:r>
                        <a:rPr sz="1725" b="0">
                          <a:solidFill>
                            <a:srgbClr val="1C6090"/>
                          </a:solidFill>
                          <a:latin typeface="Calibri"/>
                          <a:ea typeface="Calibri"/>
                          <a:cs typeface="Calibri"/>
                        </a:rPr>
                        <a:t>—</a:t>
                      </a:r>
                    </a:p>
                  </a:txBody>
                  <a:tcPr marL="95250" marR="95250" marT="38100" marB="38100" anchor="ctr">
                    <a:solidFill>
                      <a:srgbClr val="F1F5F8"/>
                    </a:solidFill>
                  </a:tcPr>
                </a:tc>
                <a:tc>
                  <a:txBody>
                    <a:bodyPr/>
                    <a:lstStyle/>
                    <a:p>
                      <a:r>
                        <a:rPr sz="1575" b="0">
                          <a:solidFill>
                            <a:srgbClr val="142D40"/>
                          </a:solidFill>
                          <a:latin typeface="Calibri"/>
                          <a:ea typeface="Calibri"/>
                          <a:cs typeface="Calibri"/>
                        </a:rPr>
                        <a:t>Commercial/access profile</a:t>
                      </a:r>
                    </a:p>
                  </a:txBody>
                  <a:tcPr marL="95250" marR="95250" marT="38100" marB="38100" anchor="ctr">
                    <a:solidFill>
                      <a:srgbClr val="F1F5F8"/>
                    </a:solidFill>
                  </a:tcPr>
                </a:tc>
              </a:tr>
              <a:tr h="400050">
                <a:tc>
                  <a:txBody>
                    <a:bodyPr/>
                    <a:lstStyle/>
                    <a:p>
                      <a:r>
                        <a:rPr sz="1575" b="1">
                          <a:solidFill>
                            <a:srgbClr val="142D40"/>
                          </a:solidFill>
                          <a:latin typeface="Calibri"/>
                          <a:ea typeface="Calibri"/>
                          <a:cs typeface="Calibri"/>
                        </a:rPr>
                        <a:t>Internal user acting as client</a:t>
                      </a:r>
                    </a:p>
                  </a:txBody>
                  <a:tcPr marL="95250" marR="95250" marT="38100" marB="38100" anchor="ctr">
                    <a:solidFill>
                      <a:srgbClr val="FFFFFF"/>
                    </a:solidFill>
                  </a:tcPr>
                </a:tc>
                <a:tc>
                  <a:txBody>
                    <a:bodyPr/>
                    <a:lstStyle/>
                    <a:p>
                      <a:pPr algn="ctr"/>
                      <a:r>
                        <a:rPr sz="1725" b="0">
                          <a:solidFill>
                            <a:srgbClr val="1C6090"/>
                          </a:solidFill>
                          <a:latin typeface="Calibri"/>
                          <a:ea typeface="Calibri"/>
                          <a:cs typeface="Calibri"/>
                        </a:rPr>
                        <a:t>—</a:t>
                      </a:r>
                    </a:p>
                  </a:txBody>
                  <a:tcPr marL="95250" marR="95250" marT="38100" marB="38100" anchor="ctr">
                    <a:solidFill>
                      <a:srgbClr val="FFFFFF"/>
                    </a:solidFill>
                  </a:tcPr>
                </a:tc>
                <a:tc>
                  <a:txBody>
                    <a:bodyPr/>
                    <a:lstStyle/>
                    <a:p>
                      <a:pPr algn="ctr"/>
                      <a:r>
                        <a:rPr sz="1725" b="0">
                          <a:solidFill>
                            <a:srgbClr val="087C80"/>
                          </a:solidFill>
                          <a:latin typeface="Calibri"/>
                          <a:ea typeface="Calibri"/>
                          <a:cs typeface="Calibri"/>
                        </a:rPr>
                        <a:t>●</a:t>
                      </a:r>
                    </a:p>
                  </a:txBody>
                  <a:tcPr marL="95250" marR="95250" marT="38100" marB="38100" anchor="ctr">
                    <a:solidFill>
                      <a:srgbClr val="FFFFFF"/>
                    </a:solidFill>
                  </a:tcPr>
                </a:tc>
                <a:tc>
                  <a:txBody>
                    <a:bodyPr/>
                    <a:lstStyle/>
                    <a:p>
                      <a:pPr algn="ctr"/>
                      <a:r>
                        <a:rPr sz="1725" b="0">
                          <a:solidFill>
                            <a:srgbClr val="1C6090"/>
                          </a:solidFill>
                          <a:latin typeface="Calibri"/>
                          <a:ea typeface="Calibri"/>
                          <a:cs typeface="Calibri"/>
                        </a:rPr>
                        <a:t>●</a:t>
                      </a:r>
                    </a:p>
                  </a:txBody>
                  <a:tcPr marL="95250" marR="95250" marT="38100" marB="38100" anchor="ctr">
                    <a:solidFill>
                      <a:srgbClr val="FFFFFF"/>
                    </a:solidFill>
                  </a:tcPr>
                </a:tc>
                <a:tc>
                  <a:txBody>
                    <a:bodyPr/>
                    <a:lstStyle/>
                    <a:p>
                      <a:pPr algn="ctr"/>
                      <a:r>
                        <a:rPr sz="1725" b="0">
                          <a:solidFill>
                            <a:srgbClr val="1C6090"/>
                          </a:solidFill>
                          <a:latin typeface="Calibri"/>
                          <a:ea typeface="Calibri"/>
                          <a:cs typeface="Calibri"/>
                        </a:rPr>
                        <a:t>●</a:t>
                      </a:r>
                    </a:p>
                  </a:txBody>
                  <a:tcPr marL="95250" marR="95250" marT="38100" marB="38100" anchor="ctr">
                    <a:solidFill>
                      <a:srgbClr val="FFFFFF"/>
                    </a:solidFill>
                  </a:tcPr>
                </a:tc>
                <a:tc>
                  <a:txBody>
                    <a:bodyPr/>
                    <a:lstStyle/>
                    <a:p>
                      <a:r>
                        <a:rPr sz="1575" b="0">
                          <a:solidFill>
                            <a:srgbClr val="142D40"/>
                          </a:solidFill>
                          <a:latin typeface="Calibri"/>
                          <a:ea typeface="Calibri"/>
                          <a:cs typeface="Calibri"/>
                        </a:rPr>
                        <a:t>Approved simulation context</a:t>
                      </a:r>
                    </a:p>
                  </a:txBody>
                  <a:tcPr marL="95250" marR="95250" marT="38100" marB="38100" anchor="ctr">
                    <a:solidFill>
                      <a:srgbClr val="FFFFFF"/>
                    </a:solidFill>
                  </a:tcPr>
                </a:tc>
              </a:tr>
              <a:tr h="400050">
                <a:tc>
                  <a:txBody>
                    <a:bodyPr/>
                    <a:lstStyle/>
                    <a:p>
                      <a:r>
                        <a:rPr sz="1575" b="1">
                          <a:solidFill>
                            <a:srgbClr val="142D40"/>
                          </a:solidFill>
                          <a:latin typeface="Calibri"/>
                          <a:ea typeface="Calibri"/>
                          <a:cs typeface="Calibri"/>
                        </a:rPr>
                        <a:t>Internal user acting with impersonation</a:t>
                      </a:r>
                    </a:p>
                  </a:txBody>
                  <a:tcPr marL="95250" marR="95250" marT="38100" marB="38100" anchor="ctr">
                    <a:solidFill>
                      <a:srgbClr val="F1F5F8"/>
                    </a:solidFill>
                  </a:tcPr>
                </a:tc>
                <a:tc>
                  <a:txBody>
                    <a:bodyPr/>
                    <a:lstStyle/>
                    <a:p>
                      <a:pPr algn="ctr"/>
                      <a:r>
                        <a:rPr sz="1725" b="0">
                          <a:solidFill>
                            <a:srgbClr val="1C6090"/>
                          </a:solidFill>
                          <a:latin typeface="Calibri"/>
                          <a:ea typeface="Calibri"/>
                          <a:cs typeface="Calibri"/>
                        </a:rPr>
                        <a:t>Subject</a:t>
                      </a:r>
                    </a:p>
                  </a:txBody>
                  <a:tcPr marL="95250" marR="95250" marT="38100" marB="38100" anchor="ctr">
                    <a:solidFill>
                      <a:srgbClr val="F1F5F8"/>
                    </a:solidFill>
                  </a:tcPr>
                </a:tc>
                <a:tc>
                  <a:txBody>
                    <a:bodyPr/>
                    <a:lstStyle/>
                    <a:p>
                      <a:pPr algn="ctr"/>
                      <a:r>
                        <a:rPr sz="1725" b="0">
                          <a:solidFill>
                            <a:srgbClr val="087C80"/>
                          </a:solidFill>
                          <a:latin typeface="Calibri"/>
                          <a:ea typeface="Calibri"/>
                          <a:cs typeface="Calibri"/>
                        </a:rPr>
                        <a:t>Operator</a:t>
                      </a:r>
                    </a:p>
                  </a:txBody>
                  <a:tcPr marL="95250" marR="95250" marT="38100" marB="38100" anchor="ctr">
                    <a:solidFill>
                      <a:srgbClr val="F1F5F8"/>
                    </a:solidFill>
                  </a:tcPr>
                </a:tc>
                <a:tc>
                  <a:txBody>
                    <a:bodyPr/>
                    <a:lstStyle/>
                    <a:p>
                      <a:pPr algn="ctr"/>
                      <a:r>
                        <a:rPr sz="1725" b="0">
                          <a:solidFill>
                            <a:srgbClr val="1C6090"/>
                          </a:solidFill>
                          <a:latin typeface="Calibri"/>
                          <a:ea typeface="Calibri"/>
                          <a:cs typeface="Calibri"/>
                        </a:rPr>
                        <a:t>●</a:t>
                      </a:r>
                    </a:p>
                  </a:txBody>
                  <a:tcPr marL="95250" marR="95250" marT="38100" marB="38100" anchor="ctr">
                    <a:solidFill>
                      <a:srgbClr val="F1F5F8"/>
                    </a:solidFill>
                  </a:tcPr>
                </a:tc>
                <a:tc>
                  <a:txBody>
                    <a:bodyPr/>
                    <a:lstStyle/>
                    <a:p>
                      <a:pPr algn="ctr"/>
                      <a:r>
                        <a:rPr sz="1725" b="0">
                          <a:solidFill>
                            <a:srgbClr val="1C6090"/>
                          </a:solidFill>
                          <a:latin typeface="Calibri"/>
                          <a:ea typeface="Calibri"/>
                          <a:cs typeface="Calibri"/>
                        </a:rPr>
                        <a:t>●</a:t>
                      </a:r>
                    </a:p>
                  </a:txBody>
                  <a:tcPr marL="95250" marR="95250" marT="38100" marB="38100" anchor="ctr">
                    <a:solidFill>
                      <a:srgbClr val="F1F5F8"/>
                    </a:solidFill>
                  </a:tcPr>
                </a:tc>
                <a:tc>
                  <a:txBody>
                    <a:bodyPr/>
                    <a:lstStyle/>
                    <a:p>
                      <a:r>
                        <a:rPr sz="1575" b="0">
                          <a:solidFill>
                            <a:srgbClr val="142D40"/>
                          </a:solidFill>
                          <a:latin typeface="Calibri"/>
                          <a:ea typeface="Calibri"/>
                          <a:cs typeface="Calibri"/>
                        </a:rPr>
                        <a:t>Represented client + operator</a:t>
                      </a:r>
                    </a:p>
                  </a:txBody>
                  <a:tcPr marL="95250" marR="95250" marT="38100" marB="38100" anchor="ctr">
                    <a:solidFill>
                      <a:srgbClr val="F1F5F8"/>
                    </a:solidFill>
                  </a:tcPr>
                </a:tc>
              </a:tr>
              <a:tr h="400050">
                <a:tc>
                  <a:txBody>
                    <a:bodyPr/>
                    <a:lstStyle/>
                    <a:p>
                      <a:r>
                        <a:rPr sz="1575" b="1">
                          <a:solidFill>
                            <a:srgbClr val="142D40"/>
                          </a:solidFill>
                          <a:latin typeface="Calibri"/>
                          <a:ea typeface="Calibri"/>
                          <a:cs typeface="Calibri"/>
                        </a:rPr>
                        <a:t>Internal user acting as business administrator</a:t>
                      </a:r>
                    </a:p>
                  </a:txBody>
                  <a:tcPr marL="95250" marR="95250" marT="38100" marB="38100" anchor="ctr">
                    <a:solidFill>
                      <a:srgbClr val="FFFFFF"/>
                    </a:solidFill>
                  </a:tcPr>
                </a:tc>
                <a:tc>
                  <a:txBody>
                    <a:bodyPr/>
                    <a:lstStyle/>
                    <a:p>
                      <a:pPr algn="ctr"/>
                      <a:r>
                        <a:rPr sz="1725" b="0">
                          <a:solidFill>
                            <a:srgbClr val="1C6090"/>
                          </a:solidFill>
                          <a:latin typeface="Calibri"/>
                          <a:ea typeface="Calibri"/>
                          <a:cs typeface="Calibri"/>
                        </a:rPr>
                        <a:t>—</a:t>
                      </a:r>
                    </a:p>
                  </a:txBody>
                  <a:tcPr marL="95250" marR="95250" marT="38100" marB="38100" anchor="ctr">
                    <a:solidFill>
                      <a:srgbClr val="FFFFFF"/>
                    </a:solidFill>
                  </a:tcPr>
                </a:tc>
                <a:tc>
                  <a:txBody>
                    <a:bodyPr/>
                    <a:lstStyle/>
                    <a:p>
                      <a:pPr algn="ctr"/>
                      <a:r>
                        <a:rPr sz="1725" b="0">
                          <a:solidFill>
                            <a:srgbClr val="087C80"/>
                          </a:solidFill>
                          <a:latin typeface="Calibri"/>
                          <a:ea typeface="Calibri"/>
                          <a:cs typeface="Calibri"/>
                        </a:rPr>
                        <a:t>●</a:t>
                      </a:r>
                    </a:p>
                  </a:txBody>
                  <a:tcPr marL="95250" marR="95250" marT="38100" marB="38100" anchor="ctr">
                    <a:solidFill>
                      <a:srgbClr val="FFFFFF"/>
                    </a:solidFill>
                  </a:tcPr>
                </a:tc>
                <a:tc>
                  <a:txBody>
                    <a:bodyPr/>
                    <a:lstStyle/>
                    <a:p>
                      <a:pPr algn="ctr"/>
                      <a:r>
                        <a:rPr sz="1725" b="0">
                          <a:solidFill>
                            <a:srgbClr val="1C6090"/>
                          </a:solidFill>
                          <a:latin typeface="Calibri"/>
                          <a:ea typeface="Calibri"/>
                          <a:cs typeface="Calibri"/>
                        </a:rPr>
                        <a:t>●</a:t>
                      </a:r>
                    </a:p>
                  </a:txBody>
                  <a:tcPr marL="95250" marR="95250" marT="38100" marB="38100" anchor="ctr">
                    <a:solidFill>
                      <a:srgbClr val="FFFFFF"/>
                    </a:solidFill>
                  </a:tcPr>
                </a:tc>
                <a:tc>
                  <a:txBody>
                    <a:bodyPr/>
                    <a:lstStyle/>
                    <a:p>
                      <a:pPr algn="ctr"/>
                      <a:r>
                        <a:rPr sz="1725" b="0">
                          <a:solidFill>
                            <a:srgbClr val="1C6090"/>
                          </a:solidFill>
                          <a:latin typeface="Calibri"/>
                          <a:ea typeface="Calibri"/>
                          <a:cs typeface="Calibri"/>
                        </a:rPr>
                        <a:t>○</a:t>
                      </a:r>
                    </a:p>
                  </a:txBody>
                  <a:tcPr marL="95250" marR="95250" marT="38100" marB="38100" anchor="ctr">
                    <a:solidFill>
                      <a:srgbClr val="FFFFFF"/>
                    </a:solidFill>
                  </a:tcPr>
                </a:tc>
                <a:tc>
                  <a:txBody>
                    <a:bodyPr/>
                    <a:lstStyle/>
                    <a:p>
                      <a:r>
                        <a:rPr sz="1575" b="0">
                          <a:solidFill>
                            <a:srgbClr val="142D40"/>
                          </a:solidFill>
                          <a:latin typeface="Calibri"/>
                          <a:ea typeface="Calibri"/>
                          <a:cs typeface="Calibri"/>
                        </a:rPr>
                        <a:t>Depends on portal routing</a:t>
                      </a:r>
                    </a:p>
                  </a:txBody>
                  <a:tcPr marL="95250" marR="95250" marT="38100" marB="38100" anchor="ctr">
                    <a:solidFill>
                      <a:srgbClr val="FFFFFF"/>
                    </a:solidFill>
                  </a:tcPr>
                </a:tc>
              </a:tr>
              <a:tr h="400050">
                <a:tc>
                  <a:txBody>
                    <a:bodyPr/>
                    <a:lstStyle/>
                    <a:p>
                      <a:r>
                        <a:rPr sz="1575" b="1">
                          <a:solidFill>
                            <a:srgbClr val="142D40"/>
                          </a:solidFill>
                          <a:latin typeface="Calibri"/>
                          <a:ea typeface="Calibri"/>
                          <a:cs typeface="Calibri"/>
                        </a:rPr>
                        <a:t>Internal user acting as software administrator</a:t>
                      </a:r>
                    </a:p>
                  </a:txBody>
                  <a:tcPr marL="95250" marR="95250" marT="38100" marB="38100" anchor="ctr">
                    <a:solidFill>
                      <a:srgbClr val="F1F5F8"/>
                    </a:solidFill>
                  </a:tcPr>
                </a:tc>
                <a:tc>
                  <a:txBody>
                    <a:bodyPr/>
                    <a:lstStyle/>
                    <a:p>
                      <a:pPr algn="ctr"/>
                      <a:r>
                        <a:rPr sz="1725" b="0">
                          <a:solidFill>
                            <a:srgbClr val="1C6090"/>
                          </a:solidFill>
                          <a:latin typeface="Calibri"/>
                          <a:ea typeface="Calibri"/>
                          <a:cs typeface="Calibri"/>
                        </a:rPr>
                        <a:t>—</a:t>
                      </a:r>
                    </a:p>
                  </a:txBody>
                  <a:tcPr marL="95250" marR="95250" marT="38100" marB="38100" anchor="ctr">
                    <a:solidFill>
                      <a:srgbClr val="F1F5F8"/>
                    </a:solidFill>
                  </a:tcPr>
                </a:tc>
                <a:tc>
                  <a:txBody>
                    <a:bodyPr/>
                    <a:lstStyle/>
                    <a:p>
                      <a:pPr algn="ctr"/>
                      <a:r>
                        <a:rPr sz="1725" b="0">
                          <a:solidFill>
                            <a:srgbClr val="087C80"/>
                          </a:solidFill>
                          <a:latin typeface="Calibri"/>
                          <a:ea typeface="Calibri"/>
                          <a:cs typeface="Calibri"/>
                        </a:rPr>
                        <a:t>●</a:t>
                      </a:r>
                    </a:p>
                  </a:txBody>
                  <a:tcPr marL="95250" marR="95250" marT="38100" marB="38100" anchor="ctr">
                    <a:solidFill>
                      <a:srgbClr val="F1F5F8"/>
                    </a:solidFill>
                  </a:tcPr>
                </a:tc>
                <a:tc>
                  <a:txBody>
                    <a:bodyPr/>
                    <a:lstStyle/>
                    <a:p>
                      <a:pPr algn="ctr"/>
                      <a:r>
                        <a:rPr sz="1725" b="0">
                          <a:solidFill>
                            <a:srgbClr val="1C6090"/>
                          </a:solidFill>
                          <a:latin typeface="Calibri"/>
                          <a:ea typeface="Calibri"/>
                          <a:cs typeface="Calibri"/>
                        </a:rPr>
                        <a:t>—</a:t>
                      </a:r>
                    </a:p>
                  </a:txBody>
                  <a:tcPr marL="95250" marR="95250" marT="38100" marB="38100" anchor="ctr">
                    <a:solidFill>
                      <a:srgbClr val="F1F5F8"/>
                    </a:solidFill>
                  </a:tcPr>
                </a:tc>
                <a:tc>
                  <a:txBody>
                    <a:bodyPr/>
                    <a:lstStyle/>
                    <a:p>
                      <a:pPr algn="ctr"/>
                      <a:r>
                        <a:rPr sz="1725" b="0">
                          <a:solidFill>
                            <a:srgbClr val="1C6090"/>
                          </a:solidFill>
                          <a:latin typeface="Calibri"/>
                          <a:ea typeface="Calibri"/>
                          <a:cs typeface="Calibri"/>
                        </a:rPr>
                        <a:t>○</a:t>
                      </a:r>
                    </a:p>
                  </a:txBody>
                  <a:tcPr marL="95250" marR="95250" marT="38100" marB="38100" anchor="ctr">
                    <a:solidFill>
                      <a:srgbClr val="F1F5F8"/>
                    </a:solidFill>
                  </a:tcPr>
                </a:tc>
                <a:tc>
                  <a:txBody>
                    <a:bodyPr/>
                    <a:lstStyle/>
                    <a:p>
                      <a:r>
                        <a:rPr sz="1575" b="0">
                          <a:solidFill>
                            <a:srgbClr val="142D40"/>
                          </a:solidFill>
                          <a:latin typeface="Calibri"/>
                          <a:ea typeface="Calibri"/>
                          <a:cs typeface="Calibri"/>
                        </a:rPr>
                        <a:t>IDAM SSO to management plane</a:t>
                      </a:r>
                    </a:p>
                  </a:txBody>
                  <a:tcPr marL="95250" marR="95250" marT="38100" marB="38100" anchor="ctr">
                    <a:solidFill>
                      <a:srgbClr val="F1F5F8"/>
                    </a:solidFill>
                  </a:tcPr>
                </a:tc>
              </a:tr>
              <a:tr h="400050">
                <a:tc>
                  <a:txBody>
                    <a:bodyPr/>
                    <a:lstStyle/>
                    <a:p>
                      <a:r>
                        <a:rPr sz="1575" b="1">
                          <a:solidFill>
                            <a:srgbClr val="142D40"/>
                          </a:solidFill>
                          <a:latin typeface="Calibri"/>
                          <a:ea typeface="Calibri"/>
                          <a:cs typeface="Calibri"/>
                        </a:rPr>
                        <a:t>Automated financial system</a:t>
                      </a:r>
                    </a:p>
                  </a:txBody>
                  <a:tcPr marL="95250" marR="95250" marT="38100" marB="38100" anchor="ctr">
                    <a:solidFill>
                      <a:srgbClr val="FFFFFF"/>
                    </a:solidFill>
                  </a:tcPr>
                </a:tc>
                <a:tc>
                  <a:txBody>
                    <a:bodyPr/>
                    <a:lstStyle/>
                    <a:p>
                      <a:pPr algn="ctr"/>
                      <a:r>
                        <a:rPr sz="1725" b="0">
                          <a:solidFill>
                            <a:srgbClr val="1C6090"/>
                          </a:solidFill>
                          <a:latin typeface="Calibri"/>
                          <a:ea typeface="Calibri"/>
                          <a:cs typeface="Calibri"/>
                        </a:rPr>
                        <a:t>○</a:t>
                      </a:r>
                    </a:p>
                  </a:txBody>
                  <a:tcPr marL="95250" marR="95250" marT="38100" marB="38100" anchor="ctr">
                    <a:solidFill>
                      <a:srgbClr val="FFFFFF"/>
                    </a:solidFill>
                  </a:tcPr>
                </a:tc>
                <a:tc>
                  <a:txBody>
                    <a:bodyPr/>
                    <a:lstStyle/>
                    <a:p>
                      <a:pPr algn="ctr"/>
                      <a:r>
                        <a:rPr sz="1725" b="0">
                          <a:solidFill>
                            <a:srgbClr val="087C80"/>
                          </a:solidFill>
                          <a:latin typeface="Calibri"/>
                          <a:ea typeface="Calibri"/>
                          <a:cs typeface="Calibri"/>
                        </a:rPr>
                        <a:t>—</a:t>
                      </a:r>
                    </a:p>
                  </a:txBody>
                  <a:tcPr marL="95250" marR="95250" marT="38100" marB="38100" anchor="ctr">
                    <a:solidFill>
                      <a:srgbClr val="FFFFFF"/>
                    </a:solidFill>
                  </a:tcPr>
                </a:tc>
                <a:tc>
                  <a:txBody>
                    <a:bodyPr/>
                    <a:lstStyle/>
                    <a:p>
                      <a:pPr algn="ctr"/>
                      <a:r>
                        <a:rPr sz="1725" b="0">
                          <a:solidFill>
                            <a:srgbClr val="1C6090"/>
                          </a:solidFill>
                          <a:latin typeface="Calibri"/>
                          <a:ea typeface="Calibri"/>
                          <a:cs typeface="Calibri"/>
                        </a:rPr>
                        <a:t>○</a:t>
                      </a:r>
                    </a:p>
                  </a:txBody>
                  <a:tcPr marL="95250" marR="95250" marT="38100" marB="38100" anchor="ctr">
                    <a:solidFill>
                      <a:srgbClr val="FFFFFF"/>
                    </a:solidFill>
                  </a:tcPr>
                </a:tc>
                <a:tc>
                  <a:txBody>
                    <a:bodyPr/>
                    <a:lstStyle/>
                    <a:p>
                      <a:pPr algn="ctr"/>
                      <a:r>
                        <a:rPr sz="1725" b="0">
                          <a:solidFill>
                            <a:srgbClr val="1C6090"/>
                          </a:solidFill>
                          <a:latin typeface="Calibri"/>
                          <a:ea typeface="Calibri"/>
                          <a:cs typeface="Calibri"/>
                        </a:rPr>
                        <a:t>—</a:t>
                      </a:r>
                    </a:p>
                  </a:txBody>
                  <a:tcPr marL="95250" marR="95250" marT="38100" marB="38100" anchor="ctr">
                    <a:solidFill>
                      <a:srgbClr val="FFFFFF"/>
                    </a:solidFill>
                  </a:tcPr>
                </a:tc>
                <a:tc>
                  <a:txBody>
                    <a:bodyPr/>
                    <a:lstStyle/>
                    <a:p>
                      <a:r>
                        <a:rPr sz="1575" b="0">
                          <a:solidFill>
                            <a:srgbClr val="142D40"/>
                          </a:solidFill>
                          <a:latin typeface="Calibri"/>
                          <a:ea typeface="Calibri"/>
                          <a:cs typeface="Calibri"/>
                        </a:rPr>
                        <a:t>Depends on system ownership</a:t>
                      </a:r>
                    </a:p>
                  </a:txBody>
                  <a:tcPr marL="95250" marR="95250" marT="38100" marB="38100" anchor="ctr">
                    <a:solidFill>
                      <a:srgbClr val="FFFFFF"/>
                    </a:solidFill>
                  </a:tcPr>
                </a:tc>
              </a:tr>
              <a:tr h="400050">
                <a:tc>
                  <a:txBody>
                    <a:bodyPr/>
                    <a:lstStyle/>
                    <a:p>
                      <a:r>
                        <a:rPr sz="1575" b="1">
                          <a:solidFill>
                            <a:srgbClr val="142D40"/>
                          </a:solidFill>
                          <a:latin typeface="Calibri"/>
                          <a:ea typeface="Calibri"/>
                          <a:cs typeface="Calibri"/>
                        </a:rPr>
                        <a:t>Client identity provisioning integration</a:t>
                      </a:r>
                    </a:p>
                  </a:txBody>
                  <a:tcPr marL="95250" marR="95250" marT="38100" marB="38100" anchor="ctr">
                    <a:solidFill>
                      <a:srgbClr val="F1F5F8"/>
                    </a:solidFill>
                  </a:tcPr>
                </a:tc>
                <a:tc>
                  <a:txBody>
                    <a:bodyPr/>
                    <a:lstStyle/>
                    <a:p>
                      <a:pPr algn="ctr"/>
                      <a:r>
                        <a:rPr sz="1725" b="0">
                          <a:solidFill>
                            <a:srgbClr val="1C6090"/>
                          </a:solidFill>
                          <a:latin typeface="Calibri"/>
                          <a:ea typeface="Calibri"/>
                          <a:cs typeface="Calibri"/>
                        </a:rPr>
                        <a:t>●</a:t>
                      </a:r>
                    </a:p>
                  </a:txBody>
                  <a:tcPr marL="95250" marR="95250" marT="38100" marB="38100" anchor="ctr">
                    <a:solidFill>
                      <a:srgbClr val="F1F5F8"/>
                    </a:solidFill>
                  </a:tcPr>
                </a:tc>
                <a:tc>
                  <a:txBody>
                    <a:bodyPr/>
                    <a:lstStyle/>
                    <a:p>
                      <a:pPr algn="ctr"/>
                      <a:r>
                        <a:rPr sz="1725" b="0">
                          <a:solidFill>
                            <a:srgbClr val="087C80"/>
                          </a:solidFill>
                          <a:latin typeface="Calibri"/>
                          <a:ea typeface="Calibri"/>
                          <a:cs typeface="Calibri"/>
                        </a:rPr>
                        <a:t>—</a:t>
                      </a:r>
                    </a:p>
                  </a:txBody>
                  <a:tcPr marL="95250" marR="95250" marT="38100" marB="38100" anchor="ctr">
                    <a:solidFill>
                      <a:srgbClr val="F1F5F8"/>
                    </a:solidFill>
                  </a:tcPr>
                </a:tc>
                <a:tc>
                  <a:txBody>
                    <a:bodyPr/>
                    <a:lstStyle/>
                    <a:p>
                      <a:pPr algn="ctr"/>
                      <a:r>
                        <a:rPr sz="1725" b="0">
                          <a:solidFill>
                            <a:srgbClr val="1C6090"/>
                          </a:solidFill>
                          <a:latin typeface="Calibri"/>
                          <a:ea typeface="Calibri"/>
                          <a:cs typeface="Calibri"/>
                        </a:rPr>
                        <a:t>●</a:t>
                      </a:r>
                    </a:p>
                  </a:txBody>
                  <a:tcPr marL="95250" marR="95250" marT="38100" marB="38100" anchor="ctr">
                    <a:solidFill>
                      <a:srgbClr val="F1F5F8"/>
                    </a:solidFill>
                  </a:tcPr>
                </a:tc>
                <a:tc>
                  <a:txBody>
                    <a:bodyPr/>
                    <a:lstStyle/>
                    <a:p>
                      <a:pPr algn="ctr"/>
                      <a:r>
                        <a:rPr sz="1725" b="0">
                          <a:solidFill>
                            <a:srgbClr val="1C6090"/>
                          </a:solidFill>
                          <a:latin typeface="Calibri"/>
                          <a:ea typeface="Calibri"/>
                          <a:cs typeface="Calibri"/>
                        </a:rPr>
                        <a:t>—</a:t>
                      </a:r>
                    </a:p>
                  </a:txBody>
                  <a:tcPr marL="95250" marR="95250" marT="38100" marB="38100" anchor="ctr">
                    <a:solidFill>
                      <a:srgbClr val="F1F5F8"/>
                    </a:solidFill>
                  </a:tcPr>
                </a:tc>
                <a:tc>
                  <a:txBody>
                    <a:bodyPr/>
                    <a:lstStyle/>
                    <a:p>
                      <a:r>
                        <a:rPr sz="1575" b="0">
                          <a:solidFill>
                            <a:srgbClr val="142D40"/>
                          </a:solidFill>
                          <a:latin typeface="Calibri"/>
                          <a:ea typeface="Calibri"/>
                          <a:cs typeface="Calibri"/>
                        </a:rPr>
                        <a:t>Machine authentication</a:t>
                      </a:r>
                    </a:p>
                  </a:txBody>
                  <a:tcPr marL="95250" marR="95250" marT="38100" marB="38100" anchor="ctr">
                    <a:solidFill>
                      <a:srgbClr val="F1F5F8"/>
                    </a:solidFill>
                  </a:tcPr>
                </a:tc>
              </a:tr>
              <a:tr h="400050">
                <a:tc>
                  <a:txBody>
                    <a:bodyPr/>
                    <a:lstStyle/>
                    <a:p>
                      <a:r>
                        <a:rPr sz="1575" b="1">
                          <a:solidFill>
                            <a:srgbClr val="142D40"/>
                          </a:solidFill>
                          <a:latin typeface="Calibri"/>
                          <a:ea typeface="Calibri"/>
                          <a:cs typeface="Calibri"/>
                        </a:rPr>
                        <a:t>Legacy client user in migration</a:t>
                      </a:r>
                    </a:p>
                  </a:txBody>
                  <a:tcPr marL="95250" marR="95250" marT="38100" marB="38100" anchor="ctr">
                    <a:solidFill>
                      <a:srgbClr val="FFFFFF"/>
                    </a:solidFill>
                  </a:tcPr>
                </a:tc>
                <a:tc>
                  <a:txBody>
                    <a:bodyPr/>
                    <a:lstStyle/>
                    <a:p>
                      <a:pPr algn="ctr"/>
                      <a:r>
                        <a:rPr sz="1725" b="0">
                          <a:solidFill>
                            <a:srgbClr val="1C6090"/>
                          </a:solidFill>
                          <a:latin typeface="Calibri"/>
                          <a:ea typeface="Calibri"/>
                          <a:cs typeface="Calibri"/>
                        </a:rPr>
                        <a:t>○</a:t>
                      </a:r>
                    </a:p>
                  </a:txBody>
                  <a:tcPr marL="95250" marR="95250" marT="38100" marB="38100" anchor="ctr">
                    <a:solidFill>
                      <a:srgbClr val="FFFFFF"/>
                    </a:solidFill>
                  </a:tcPr>
                </a:tc>
                <a:tc>
                  <a:txBody>
                    <a:bodyPr/>
                    <a:lstStyle/>
                    <a:p>
                      <a:pPr algn="ctr"/>
                      <a:r>
                        <a:rPr sz="1725" b="0">
                          <a:solidFill>
                            <a:srgbClr val="087C80"/>
                          </a:solidFill>
                          <a:latin typeface="Calibri"/>
                          <a:ea typeface="Calibri"/>
                          <a:cs typeface="Calibri"/>
                        </a:rPr>
                        <a:t>—</a:t>
                      </a:r>
                    </a:p>
                  </a:txBody>
                  <a:tcPr marL="95250" marR="95250" marT="38100" marB="38100" anchor="ctr">
                    <a:solidFill>
                      <a:srgbClr val="FFFFFF"/>
                    </a:solidFill>
                  </a:tcPr>
                </a:tc>
                <a:tc>
                  <a:txBody>
                    <a:bodyPr/>
                    <a:lstStyle/>
                    <a:p>
                      <a:pPr algn="ctr"/>
                      <a:r>
                        <a:rPr sz="1725" b="0">
                          <a:solidFill>
                            <a:srgbClr val="1C6090"/>
                          </a:solidFill>
                          <a:latin typeface="Calibri"/>
                          <a:ea typeface="Calibri"/>
                          <a:cs typeface="Calibri"/>
                        </a:rPr>
                        <a:t>●</a:t>
                      </a:r>
                    </a:p>
                  </a:txBody>
                  <a:tcPr marL="95250" marR="95250" marT="38100" marB="38100" anchor="ctr">
                    <a:solidFill>
                      <a:srgbClr val="FFFFFF"/>
                    </a:solidFill>
                  </a:tcPr>
                </a:tc>
                <a:tc>
                  <a:txBody>
                    <a:bodyPr/>
                    <a:lstStyle/>
                    <a:p>
                      <a:pPr algn="ctr"/>
                      <a:r>
                        <a:rPr sz="1725" b="0">
                          <a:solidFill>
                            <a:srgbClr val="1C6090"/>
                          </a:solidFill>
                          <a:latin typeface="Calibri"/>
                          <a:ea typeface="Calibri"/>
                          <a:cs typeface="Calibri"/>
                        </a:rPr>
                        <a:t>—</a:t>
                      </a:r>
                    </a:p>
                  </a:txBody>
                  <a:tcPr marL="95250" marR="95250" marT="38100" marB="38100" anchor="ctr">
                    <a:solidFill>
                      <a:srgbClr val="FFFFFF"/>
                    </a:solidFill>
                  </a:tcPr>
                </a:tc>
                <a:tc>
                  <a:txBody>
                    <a:bodyPr/>
                    <a:lstStyle/>
                    <a:p>
                      <a:r>
                        <a:rPr sz="1575" b="0">
                          <a:solidFill>
                            <a:srgbClr val="142D40"/>
                          </a:solidFill>
                          <a:latin typeface="Calibri"/>
                          <a:ea typeface="Calibri"/>
                          <a:cs typeface="Calibri"/>
                        </a:rPr>
                        <a:t>Legacy UAM trust with CIAM</a:t>
                      </a:r>
                    </a:p>
                  </a:txBody>
                  <a:tcPr marL="95250" marR="95250" marT="38100" marB="38100" anchor="ctr">
                    <a:solidFill>
                      <a:srgbClr val="FFFFFF"/>
                    </a:solidFill>
                  </a:tcPr>
                </a:tc>
              </a:tr>
            </a:tbl>
          </a:graphicData>
        </a:graphic>
      </p:graphicFrame>
      <p:sp>
        <p:nvSpPr>
          <p:cNvPr id="8" name="text-22">
            <a:extLst xmlns:a="http://schemas.openxmlformats.org/drawingml/2006/main">
              <a:ext uri="{FF2B5EF4-FFF2-40B4-BE49-F238E27FC236}">
                <a16:creationId xmlns:a16="http://schemas.microsoft.com/office/drawing/2014/main" id="{51A96345-6487-43AA-BA09-D5480F6665A5}"/>
              </a:ext>
            </a:extLst>
          </p:cNvPr>
          <p:cNvSpPr>
            <a:spLocks xmlns:a="http://schemas.openxmlformats.org/drawingml/2006/main" noGrp="1"/>
          </p:cNvSpPr>
          <p:nvPr/>
        </p:nvSpPr>
        <p:spPr>
          <a:xfrm xmlns:a="http://schemas.openxmlformats.org/drawingml/2006/main">
            <a:off x="571500" y="7439025"/>
            <a:ext cx="1409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67083"/>
                </a:solidFill>
                <a:latin typeface="Calibri"/>
                <a:ea typeface="Calibri"/>
                <a:cs typeface="Calibri"/>
              </a:defRPr>
            </a:defPPr>
          </a:lstStyle>
          <a:p xmlns:a="http://schemas.openxmlformats.org/drawingml/2006/main">
            <a:pPr algn="l">
              <a:defRPr sz="1575" b="0">
                <a:solidFill>
                  <a:srgbClr val="567083"/>
                </a:solidFill>
                <a:latin typeface="Calibri"/>
                <a:ea typeface="Calibri"/>
                <a:cs typeface="Calibri"/>
              </a:defRPr>
            </a:pPr>
            <a:r>
              <a:rPr sz="1575" b="0">
                <a:solidFill>
                  <a:srgbClr val="567083"/>
                </a:solidFill>
                <a:latin typeface="Calibri"/>
                <a:ea typeface="Calibri"/>
                <a:cs typeface="Calibri"/>
              </a:rPr>
              <a:t>● Applicable    ○ Conditional or transitional    — No role in this column</a:t>
            </a:r>
          </a:p>
        </p:txBody>
      </p:sp>
      <p:sp>
        <p:nvSpPr>
          <p:cNvPr id="9" name="text-23">
            <a:extLst xmlns:a="http://schemas.openxmlformats.org/drawingml/2006/main">
              <a:ext uri="{FF2B5EF4-FFF2-40B4-BE49-F238E27FC236}">
                <a16:creationId xmlns:a16="http://schemas.microsoft.com/office/drawing/2014/main" id="{FD7914E8-DAB0-43FC-9481-1E8DB203961E}"/>
              </a:ext>
            </a:extLst>
          </p:cNvPr>
          <p:cNvSpPr>
            <a:spLocks xmlns:a="http://schemas.openxmlformats.org/drawingml/2006/main" noGrp="1"/>
          </p:cNvSpPr>
          <p:nvPr/>
        </p:nvSpPr>
        <p:spPr>
          <a:xfrm xmlns:a="http://schemas.openxmlformats.org/drawingml/2006/main">
            <a:off x="571500" y="7743825"/>
            <a:ext cx="1409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67083"/>
                </a:solidFill>
                <a:latin typeface="Calibri"/>
                <a:ea typeface="Calibri"/>
                <a:cs typeface="Calibri"/>
              </a:defRPr>
            </a:defPPr>
          </a:lstStyle>
          <a:p xmlns:a="http://schemas.openxmlformats.org/drawingml/2006/main">
            <a:pPr algn="l">
              <a:defRPr sz="1500" b="0">
                <a:solidFill>
                  <a:srgbClr val="567083"/>
                </a:solidFill>
                <a:latin typeface="Calibri"/>
                <a:ea typeface="Calibri"/>
                <a:cs typeface="Calibri"/>
              </a:defRPr>
            </a:pPr>
            <a:r>
              <a:rPr sz="1500" b="0">
                <a:solidFill>
                  <a:srgbClr val="567083"/>
                </a:solidFill>
                <a:latin typeface="Calibri"/>
                <a:ea typeface="Calibri"/>
                <a:cs typeface="Calibri"/>
              </a:rPr>
              <a:t>Client-owned financial systems use CIAM integration governance. Euroclear-owned engines use internal workload governance.</a:t>
            </a:r>
          </a:p>
        </p:txBody>
      </p:sp>
    </p:spTree>
    <p:extLst>
      <p:ext uri="{BB962C8B-B14F-4D97-AF65-F5344CB8AC3E}">
        <p14:creationId xmlns:p14="http://schemas.microsoft.com/office/powerpoint/2010/main" val="201908905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text-24">
            <a:extLst xmlns:a="http://schemas.openxmlformats.org/drawingml/2006/main">
              <a:ext uri="{FF2B5EF4-FFF2-40B4-BE49-F238E27FC236}">
                <a16:creationId xmlns:a16="http://schemas.microsoft.com/office/drawing/2014/main" id="{14852E51-7BE2-4823-B5B6-34852892B619}"/>
              </a:ext>
            </a:extLst>
          </p:cNvPr>
          <p:cNvSpPr>
            <a:spLocks xmlns:a="http://schemas.openxmlformats.org/drawingml/2006/main" noGrp="1"/>
          </p:cNvSpPr>
          <p:nvPr/>
        </p:nvSpPr>
        <p:spPr>
          <a:xfrm xmlns:a="http://schemas.openxmlformats.org/drawingml/2006/main">
            <a:off x="571500" y="247650"/>
            <a:ext cx="1285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67083"/>
                </a:solidFill>
                <a:latin typeface="Calibri"/>
                <a:ea typeface="Calibri"/>
                <a:cs typeface="Calibri"/>
              </a:defRPr>
            </a:defPPr>
          </a:lstStyle>
          <a:p xmlns:a="http://schemas.openxmlformats.org/drawingml/2006/main">
            <a:pPr algn="l">
              <a:defRPr sz="1350" b="1">
                <a:solidFill>
                  <a:srgbClr val="567083"/>
                </a:solidFill>
                <a:latin typeface="Calibri"/>
                <a:ea typeface="Calibri"/>
                <a:cs typeface="Calibri"/>
              </a:defRPr>
            </a:pPr>
            <a:r>
              <a:rPr sz="1350" b="1">
                <a:solidFill>
                  <a:srgbClr val="567083"/>
                </a:solidFill>
                <a:latin typeface="Calibri"/>
                <a:ea typeface="Calibri"/>
                <a:cs typeface="Calibri"/>
              </a:rPr>
              <a:t>EUROCLEAR   /   ENTERPRISE IDENTITY ARCHITECTURE</a:t>
            </a:r>
          </a:p>
        </p:txBody>
      </p:sp>
      <p:sp>
        <p:nvSpPr>
          <p:cNvPr id="2" name="text-25">
            <a:extLst xmlns:a="http://schemas.openxmlformats.org/drawingml/2006/main">
              <a:ext uri="{FF2B5EF4-FFF2-40B4-BE49-F238E27FC236}">
                <a16:creationId xmlns:a16="http://schemas.microsoft.com/office/drawing/2014/main" id="{BDBBC42E-D0C8-4911-848E-503982A35978}"/>
              </a:ext>
            </a:extLst>
          </p:cNvPr>
          <p:cNvSpPr>
            <a:spLocks xmlns:a="http://schemas.openxmlformats.org/drawingml/2006/main" noGrp="1"/>
          </p:cNvSpPr>
          <p:nvPr/>
        </p:nvSpPr>
        <p:spPr>
          <a:xfrm xmlns:a="http://schemas.openxmlformats.org/drawingml/2006/main">
            <a:off x="571500" y="74295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42D40"/>
                </a:solidFill>
                <a:latin typeface="Calibri"/>
                <a:ea typeface="Calibri"/>
                <a:cs typeface="Calibri"/>
              </a:defRPr>
            </a:defPPr>
          </a:lstStyle>
          <a:p xmlns:a="http://schemas.openxmlformats.org/drawingml/2006/main">
            <a:pPr algn="l">
              <a:defRPr sz="3450" b="1">
                <a:solidFill>
                  <a:srgbClr val="142D40"/>
                </a:solidFill>
                <a:latin typeface="Calibri"/>
                <a:ea typeface="Calibri"/>
                <a:cs typeface="Calibri"/>
              </a:defRPr>
            </a:pPr>
            <a:r>
              <a:rPr sz="3450" b="1">
                <a:solidFill>
                  <a:srgbClr val="142D40"/>
                </a:solidFill>
                <a:latin typeface="Calibri"/>
                <a:ea typeface="Calibri"/>
                <a:cs typeface="Calibri"/>
              </a:rPr>
              <a:t>Responsibility boundaries</a:t>
            </a:r>
          </a:p>
        </p:txBody>
      </p:sp>
      <p:sp>
        <p:nvSpPr>
          <p:cNvPr id="3" name="text-26">
            <a:extLst xmlns:a="http://schemas.openxmlformats.org/drawingml/2006/main">
              <a:ext uri="{FF2B5EF4-FFF2-40B4-BE49-F238E27FC236}">
                <a16:creationId xmlns:a16="http://schemas.microsoft.com/office/drawing/2014/main" id="{5942F06D-1901-462B-BC5C-C42F15D3A0DA}"/>
              </a:ext>
            </a:extLst>
          </p:cNvPr>
          <p:cNvSpPr>
            <a:spLocks xmlns:a="http://schemas.openxmlformats.org/drawingml/2006/main" noGrp="1"/>
          </p:cNvSpPr>
          <p:nvPr/>
        </p:nvSpPr>
        <p:spPr>
          <a:xfrm xmlns:a="http://schemas.openxmlformats.org/drawingml/2006/main">
            <a:off x="571500" y="1419225"/>
            <a:ext cx="14097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67083"/>
                </a:solidFill>
                <a:latin typeface="Calibri"/>
                <a:ea typeface="Calibri"/>
                <a:cs typeface="Calibri"/>
              </a:defRPr>
            </a:defPPr>
          </a:lstStyle>
          <a:p xmlns:a="http://schemas.openxmlformats.org/drawingml/2006/main">
            <a:pPr algn="l">
              <a:defRPr sz="1875" b="0">
                <a:solidFill>
                  <a:srgbClr val="567083"/>
                </a:solidFill>
                <a:latin typeface="Calibri"/>
                <a:ea typeface="Calibri"/>
                <a:cs typeface="Calibri"/>
              </a:defRPr>
            </a:pPr>
            <a:r>
              <a:rPr sz="1875" b="0">
                <a:solidFill>
                  <a:srgbClr val="567083"/>
                </a:solidFill>
                <a:latin typeface="Calibri"/>
                <a:ea typeface="Calibri"/>
                <a:cs typeface="Calibri"/>
              </a:rPr>
              <a:t>Authentication establishes identity. Business policy determines permitted operations</a:t>
            </a:r>
          </a:p>
        </p:txBody>
      </p:sp>
      <p:sp>
        <p:nvSpPr>
          <p:cNvPr id="4" name="line-27">
            <a:extLst xmlns:a="http://schemas.openxmlformats.org/drawingml/2006/main">
              <a:ext uri="{FF2B5EF4-FFF2-40B4-BE49-F238E27FC236}">
                <a16:creationId xmlns:a16="http://schemas.microsoft.com/office/drawing/2014/main" id="{7EB83CF9-BDF0-4B01-B9E3-FEBAAFEFA491}"/>
              </a:ext>
            </a:extLst>
          </p:cNvPr>
          <p:cNvSpPr>
            <a:spLocks xmlns:a="http://schemas.openxmlformats.org/drawingml/2006/main" noGrp="1"/>
          </p:cNvSpPr>
          <p:nvPr/>
        </p:nvSpPr>
        <p:spPr>
          <a:xfrm xmlns:a="http://schemas.openxmlformats.org/drawingml/2006/main">
            <a:off x="571500" y="8048625"/>
            <a:ext cx="14097000" cy="0"/>
          </a:xfrm>
          <a:prstGeom xmlns:a="http://schemas.openxmlformats.org/drawingml/2006/main" prst="line">
            <a:avLst/>
          </a:prstGeom>
          <a:noFill xmlns:a="http://schemas.openxmlformats.org/drawingml/2006/main"/>
          <a:ln xmlns:a="http://schemas.openxmlformats.org/drawingml/2006/main" w="13335">
            <a:solidFill>
              <a:srgbClr val="D8E1E8"/>
            </a:solidFill>
          </a:ln>
        </p:spPr>
      </p:sp>
      <p:sp>
        <p:nvSpPr>
          <p:cNvPr id="5" name="text-28">
            <a:extLst xmlns:a="http://schemas.openxmlformats.org/drawingml/2006/main">
              <a:ext uri="{FF2B5EF4-FFF2-40B4-BE49-F238E27FC236}">
                <a16:creationId xmlns:a16="http://schemas.microsoft.com/office/drawing/2014/main" id="{14900E3F-AC1F-4FC1-9313-916777E080CC}"/>
              </a:ext>
            </a:extLst>
          </p:cNvPr>
          <p:cNvSpPr>
            <a:spLocks xmlns:a="http://schemas.openxmlformats.org/drawingml/2006/main" noGrp="1"/>
          </p:cNvSpPr>
          <p:nvPr/>
        </p:nvSpPr>
        <p:spPr>
          <a:xfrm xmlns:a="http://schemas.openxmlformats.org/drawingml/2006/main">
            <a:off x="571500" y="8172450"/>
            <a:ext cx="1295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7083"/>
                </a:solidFill>
                <a:latin typeface="Calibri"/>
                <a:ea typeface="Calibri"/>
                <a:cs typeface="Calibri"/>
              </a:defRPr>
            </a:defPPr>
          </a:lstStyle>
          <a:p xmlns:a="http://schemas.openxmlformats.org/drawingml/2006/main">
            <a:pPr algn="l">
              <a:defRPr sz="1275" b="0">
                <a:solidFill>
                  <a:srgbClr val="567083"/>
                </a:solidFill>
                <a:latin typeface="Calibri"/>
                <a:ea typeface="Calibri"/>
                <a:cs typeface="Calibri"/>
              </a:defRPr>
            </a:pPr>
            <a:r>
              <a:rPr sz="1275" b="0">
                <a:solidFill>
                  <a:srgbClr val="567083"/>
                </a:solidFill>
                <a:latin typeface="Calibri"/>
                <a:ea typeface="Calibri"/>
                <a:cs typeface="Calibri"/>
              </a:rPr>
              <a:t>Architecture Board review   /   Proposed target boundaries   /   8 October 2026</a:t>
            </a:r>
          </a:p>
        </p:txBody>
      </p:sp>
      <p:sp>
        <p:nvSpPr>
          <p:cNvPr id="6" name="text-29">
            <a:extLst xmlns:a="http://schemas.openxmlformats.org/drawingml/2006/main">
              <a:ext uri="{FF2B5EF4-FFF2-40B4-BE49-F238E27FC236}">
                <a16:creationId xmlns:a16="http://schemas.microsoft.com/office/drawing/2014/main" id="{72227010-27EA-47DC-9539-CA9617EF8EC2}"/>
              </a:ext>
            </a:extLst>
          </p:cNvPr>
          <p:cNvSpPr>
            <a:spLocks xmlns:a="http://schemas.openxmlformats.org/drawingml/2006/main" noGrp="1"/>
          </p:cNvSpPr>
          <p:nvPr/>
        </p:nvSpPr>
        <p:spPr>
          <a:xfrm xmlns:a="http://schemas.openxmlformats.org/drawingml/2006/main">
            <a:off x="14001750" y="81438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567083"/>
                </a:solidFill>
                <a:latin typeface="Calibri"/>
                <a:ea typeface="Calibri"/>
                <a:cs typeface="Calibri"/>
              </a:defRPr>
            </a:defPPr>
          </a:lstStyle>
          <a:p xmlns:a="http://schemas.openxmlformats.org/drawingml/2006/main">
            <a:pPr algn="r">
              <a:defRPr sz="1350" b="1">
                <a:solidFill>
                  <a:srgbClr val="567083"/>
                </a:solidFill>
                <a:latin typeface="Calibri"/>
                <a:ea typeface="Calibri"/>
                <a:cs typeface="Calibri"/>
              </a:defRPr>
            </a:pPr>
            <a:r>
              <a:rPr sz="1350" b="1">
                <a:solidFill>
                  <a:srgbClr val="567083"/>
                </a:solidFill>
                <a:latin typeface="Calibri"/>
                <a:ea typeface="Calibri"/>
                <a:cs typeface="Calibri"/>
              </a:rPr>
              <a:t>03</a:t>
            </a:r>
          </a:p>
        </p:txBody>
      </p:sp>
      <p:sp>
        <p:nvSpPr>
          <p:cNvPr id="7" name="text-30">
            <a:extLst xmlns:a="http://schemas.openxmlformats.org/drawingml/2006/main">
              <a:ext uri="{FF2B5EF4-FFF2-40B4-BE49-F238E27FC236}">
                <a16:creationId xmlns:a16="http://schemas.microsoft.com/office/drawing/2014/main" id="{09C9EC7C-9AE3-413F-B434-2E54B744F0AB}"/>
              </a:ext>
            </a:extLst>
          </p:cNvPr>
          <p:cNvSpPr>
            <a:spLocks xmlns:a="http://schemas.openxmlformats.org/drawingml/2006/main" noGrp="1"/>
          </p:cNvSpPr>
          <p:nvPr/>
        </p:nvSpPr>
        <p:spPr>
          <a:xfrm xmlns:a="http://schemas.openxmlformats.org/drawingml/2006/main">
            <a:off x="571500" y="2133600"/>
            <a:ext cx="43624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C6090"/>
                </a:solidFill>
                <a:latin typeface="Calibri"/>
                <a:ea typeface="Calibri"/>
                <a:cs typeface="Calibri"/>
              </a:defRPr>
            </a:defPPr>
          </a:lstStyle>
          <a:p xmlns:a="http://schemas.openxmlformats.org/drawingml/2006/main">
            <a:pPr algn="l">
              <a:defRPr sz="2850" b="1">
                <a:solidFill>
                  <a:srgbClr val="1C6090"/>
                </a:solidFill>
                <a:latin typeface="Calibri"/>
                <a:ea typeface="Calibri"/>
                <a:cs typeface="Calibri"/>
              </a:defRPr>
            </a:pPr>
            <a:r>
              <a:rPr sz="2850" b="1">
                <a:solidFill>
                  <a:srgbClr val="1C6090"/>
                </a:solidFill>
                <a:latin typeface="Calibri"/>
                <a:ea typeface="Calibri"/>
                <a:cs typeface="Calibri"/>
              </a:rPr>
              <a:t>CIAM</a:t>
            </a:r>
          </a:p>
        </p:txBody>
      </p:sp>
      <p:sp>
        <p:nvSpPr>
          <p:cNvPr id="8" name="line-31">
            <a:extLst xmlns:a="http://schemas.openxmlformats.org/drawingml/2006/main">
              <a:ext uri="{FF2B5EF4-FFF2-40B4-BE49-F238E27FC236}">
                <a16:creationId xmlns:a16="http://schemas.microsoft.com/office/drawing/2014/main" id="{566FD016-1D88-4754-B886-7D64585216BB}"/>
              </a:ext>
            </a:extLst>
          </p:cNvPr>
          <p:cNvSpPr>
            <a:spLocks xmlns:a="http://schemas.openxmlformats.org/drawingml/2006/main" noGrp="1"/>
          </p:cNvSpPr>
          <p:nvPr/>
        </p:nvSpPr>
        <p:spPr>
          <a:xfrm xmlns:a="http://schemas.openxmlformats.org/drawingml/2006/main">
            <a:off x="571500" y="3000375"/>
            <a:ext cx="4362450" cy="0"/>
          </a:xfrm>
          <a:prstGeom xmlns:a="http://schemas.openxmlformats.org/drawingml/2006/main" prst="line">
            <a:avLst/>
          </a:prstGeom>
          <a:noFill xmlns:a="http://schemas.openxmlformats.org/drawingml/2006/main"/>
          <a:ln xmlns:a="http://schemas.openxmlformats.org/drawingml/2006/main" w="13335">
            <a:solidFill>
              <a:srgbClr val="1C6090"/>
            </a:solidFill>
          </a:ln>
        </p:spPr>
      </p:sp>
      <p:sp>
        <p:nvSpPr>
          <p:cNvPr id="9" name="text-32">
            <a:extLst xmlns:a="http://schemas.openxmlformats.org/drawingml/2006/main">
              <a:ext uri="{FF2B5EF4-FFF2-40B4-BE49-F238E27FC236}">
                <a16:creationId xmlns:a16="http://schemas.microsoft.com/office/drawing/2014/main" id="{FD26478F-07CD-4D8A-AB67-131BBDB18CA7}"/>
              </a:ext>
            </a:extLst>
          </p:cNvPr>
          <p:cNvSpPr>
            <a:spLocks xmlns:a="http://schemas.openxmlformats.org/drawingml/2006/main" noGrp="1"/>
          </p:cNvSpPr>
          <p:nvPr/>
        </p:nvSpPr>
        <p:spPr>
          <a:xfrm xmlns:a="http://schemas.openxmlformats.org/drawingml/2006/main">
            <a:off x="5410200" y="2133600"/>
            <a:ext cx="43624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087C80"/>
                </a:solidFill>
                <a:latin typeface="Calibri"/>
                <a:ea typeface="Calibri"/>
                <a:cs typeface="Calibri"/>
              </a:defRPr>
            </a:defPPr>
          </a:lstStyle>
          <a:p xmlns:a="http://schemas.openxmlformats.org/drawingml/2006/main">
            <a:pPr algn="l">
              <a:defRPr sz="2850" b="1">
                <a:solidFill>
                  <a:srgbClr val="087C80"/>
                </a:solidFill>
                <a:latin typeface="Calibri"/>
                <a:ea typeface="Calibri"/>
                <a:cs typeface="Calibri"/>
              </a:defRPr>
            </a:pPr>
            <a:r>
              <a:rPr sz="2850" b="1">
                <a:solidFill>
                  <a:srgbClr val="087C80"/>
                </a:solidFill>
                <a:latin typeface="Calibri"/>
                <a:ea typeface="Calibri"/>
                <a:cs typeface="Calibri"/>
              </a:rPr>
              <a:t>Workforce IDAM</a:t>
            </a:r>
          </a:p>
        </p:txBody>
      </p:sp>
      <p:sp>
        <p:nvSpPr>
          <p:cNvPr id="10" name="line-33">
            <a:extLst xmlns:a="http://schemas.openxmlformats.org/drawingml/2006/main">
              <a:ext uri="{FF2B5EF4-FFF2-40B4-BE49-F238E27FC236}">
                <a16:creationId xmlns:a16="http://schemas.microsoft.com/office/drawing/2014/main" id="{9212F27E-FA4B-4648-AF5A-7461FC0AB482}"/>
              </a:ext>
            </a:extLst>
          </p:cNvPr>
          <p:cNvSpPr>
            <a:spLocks xmlns:a="http://schemas.openxmlformats.org/drawingml/2006/main" noGrp="1"/>
          </p:cNvSpPr>
          <p:nvPr/>
        </p:nvSpPr>
        <p:spPr>
          <a:xfrm xmlns:a="http://schemas.openxmlformats.org/drawingml/2006/main">
            <a:off x="5410200" y="3000375"/>
            <a:ext cx="4362450" cy="0"/>
          </a:xfrm>
          <a:prstGeom xmlns:a="http://schemas.openxmlformats.org/drawingml/2006/main" prst="line">
            <a:avLst/>
          </a:prstGeom>
          <a:noFill xmlns:a="http://schemas.openxmlformats.org/drawingml/2006/main"/>
          <a:ln xmlns:a="http://schemas.openxmlformats.org/drawingml/2006/main" w="13335">
            <a:solidFill>
              <a:srgbClr val="087C80"/>
            </a:solidFill>
          </a:ln>
        </p:spPr>
      </p:sp>
      <p:sp>
        <p:nvSpPr>
          <p:cNvPr id="11" name="text-34">
            <a:extLst xmlns:a="http://schemas.openxmlformats.org/drawingml/2006/main">
              <a:ext uri="{FF2B5EF4-FFF2-40B4-BE49-F238E27FC236}">
                <a16:creationId xmlns:a16="http://schemas.microsoft.com/office/drawing/2014/main" id="{389885D3-9A26-46E3-99FB-DAA91D2D740B}"/>
              </a:ext>
            </a:extLst>
          </p:cNvPr>
          <p:cNvSpPr>
            <a:spLocks xmlns:a="http://schemas.openxmlformats.org/drawingml/2006/main" noGrp="1"/>
          </p:cNvSpPr>
          <p:nvPr/>
        </p:nvSpPr>
        <p:spPr>
          <a:xfrm xmlns:a="http://schemas.openxmlformats.org/drawingml/2006/main">
            <a:off x="10248900" y="2133600"/>
            <a:ext cx="4419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42D40"/>
                </a:solidFill>
                <a:latin typeface="Calibri"/>
                <a:ea typeface="Calibri"/>
                <a:cs typeface="Calibri"/>
              </a:defRPr>
            </a:defPPr>
          </a:lstStyle>
          <a:p xmlns:a="http://schemas.openxmlformats.org/drawingml/2006/main">
            <a:pPr algn="l">
              <a:defRPr sz="2400" b="1">
                <a:solidFill>
                  <a:srgbClr val="142D40"/>
                </a:solidFill>
                <a:latin typeface="Calibri"/>
                <a:ea typeface="Calibri"/>
                <a:cs typeface="Calibri"/>
              </a:defRPr>
            </a:pPr>
            <a:r>
              <a:rPr sz="2400" b="1">
                <a:solidFill>
                  <a:srgbClr val="142D40"/>
                </a:solidFill>
                <a:latin typeface="Calibri"/>
                <a:ea typeface="Calibri"/>
                <a:cs typeface="Calibri"/>
              </a:rPr>
              <a:t>Applications and policy services</a:t>
            </a:r>
          </a:p>
        </p:txBody>
      </p:sp>
      <p:sp>
        <p:nvSpPr>
          <p:cNvPr id="12" name="line-35">
            <a:extLst xmlns:a="http://schemas.openxmlformats.org/drawingml/2006/main">
              <a:ext uri="{FF2B5EF4-FFF2-40B4-BE49-F238E27FC236}">
                <a16:creationId xmlns:a16="http://schemas.microsoft.com/office/drawing/2014/main" id="{637F471F-F18D-440D-BDF6-02B23618362B}"/>
              </a:ext>
            </a:extLst>
          </p:cNvPr>
          <p:cNvSpPr>
            <a:spLocks xmlns:a="http://schemas.openxmlformats.org/drawingml/2006/main" noGrp="1"/>
          </p:cNvSpPr>
          <p:nvPr/>
        </p:nvSpPr>
        <p:spPr>
          <a:xfrm xmlns:a="http://schemas.openxmlformats.org/drawingml/2006/main">
            <a:off x="10248900" y="3000375"/>
            <a:ext cx="4419600" cy="0"/>
          </a:xfrm>
          <a:prstGeom xmlns:a="http://schemas.openxmlformats.org/drawingml/2006/main" prst="line">
            <a:avLst/>
          </a:prstGeom>
          <a:noFill xmlns:a="http://schemas.openxmlformats.org/drawingml/2006/main"/>
          <a:ln xmlns:a="http://schemas.openxmlformats.org/drawingml/2006/main" w="13335">
            <a:solidFill>
              <a:srgbClr val="D8E1E8"/>
            </a:solidFill>
          </a:ln>
        </p:spPr>
      </p:sp>
      <p:sp>
        <p:nvSpPr>
          <p:cNvPr id="13" name="text-36">
            <a:extLst xmlns:a="http://schemas.openxmlformats.org/drawingml/2006/main">
              <a:ext uri="{FF2B5EF4-FFF2-40B4-BE49-F238E27FC236}">
                <a16:creationId xmlns:a16="http://schemas.microsoft.com/office/drawing/2014/main" id="{F0724BFF-15F3-4729-99AA-1591C04A772A}"/>
              </a:ext>
            </a:extLst>
          </p:cNvPr>
          <p:cNvSpPr>
            <a:spLocks xmlns:a="http://schemas.openxmlformats.org/drawingml/2006/main" noGrp="1"/>
          </p:cNvSpPr>
          <p:nvPr/>
        </p:nvSpPr>
        <p:spPr>
          <a:xfrm xmlns:a="http://schemas.openxmlformats.org/drawingml/2006/main">
            <a:off x="571500" y="3267075"/>
            <a:ext cx="4362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D40"/>
                </a:solidFill>
                <a:latin typeface="Calibri"/>
                <a:ea typeface="Calibri"/>
                <a:cs typeface="Calibri"/>
              </a:defRPr>
            </a:defPPr>
          </a:lstStyle>
          <a:p xmlns:a="http://schemas.openxmlformats.org/drawingml/2006/main">
            <a:pPr algn="l">
              <a:defRPr sz="2025" b="1">
                <a:solidFill>
                  <a:srgbClr val="142D40"/>
                </a:solidFill>
                <a:latin typeface="Calibri"/>
                <a:ea typeface="Calibri"/>
                <a:cs typeface="Calibri"/>
              </a:defRPr>
            </a:pPr>
            <a:r>
              <a:rPr sz="2025" b="1">
                <a:solidFill>
                  <a:srgbClr val="142D40"/>
                </a:solidFill>
                <a:latin typeface="Calibri"/>
                <a:ea typeface="Calibri"/>
                <a:cs typeface="Calibri"/>
              </a:rPr>
              <a:t>Client identity lifecycle</a:t>
            </a:r>
          </a:p>
        </p:txBody>
      </p:sp>
      <p:sp>
        <p:nvSpPr>
          <p:cNvPr id="14" name="text-37">
            <a:extLst xmlns:a="http://schemas.openxmlformats.org/drawingml/2006/main">
              <a:ext uri="{FF2B5EF4-FFF2-40B4-BE49-F238E27FC236}">
                <a16:creationId xmlns:a16="http://schemas.microsoft.com/office/drawing/2014/main" id="{E78D894C-183D-40DA-802C-921046BEE82E}"/>
              </a:ext>
            </a:extLst>
          </p:cNvPr>
          <p:cNvSpPr>
            <a:spLocks xmlns:a="http://schemas.openxmlformats.org/drawingml/2006/main" noGrp="1"/>
          </p:cNvSpPr>
          <p:nvPr/>
        </p:nvSpPr>
        <p:spPr>
          <a:xfrm xmlns:a="http://schemas.openxmlformats.org/drawingml/2006/main">
            <a:off x="571500" y="3638550"/>
            <a:ext cx="4362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67083"/>
                </a:solidFill>
                <a:latin typeface="Calibri"/>
                <a:ea typeface="Calibri"/>
                <a:cs typeface="Calibri"/>
              </a:defRPr>
            </a:defPPr>
          </a:lstStyle>
          <a:p xmlns:a="http://schemas.openxmlformats.org/drawingml/2006/main">
            <a:pPr algn="l">
              <a:defRPr sz="1875" b="0">
                <a:solidFill>
                  <a:srgbClr val="567083"/>
                </a:solidFill>
                <a:latin typeface="Calibri"/>
                <a:ea typeface="Calibri"/>
                <a:cs typeface="Calibri"/>
              </a:defRPr>
            </a:pPr>
            <a:r>
              <a:rPr sz="1875" b="0">
                <a:solidFill>
                  <a:srgbClr val="567083"/>
                </a:solidFill>
                <a:latin typeface="Calibri"/>
                <a:ea typeface="Calibri"/>
                <a:cs typeface="Calibri"/>
              </a:rPr>
              <a:t>External users and delegated administration</a:t>
            </a:r>
          </a:p>
        </p:txBody>
      </p:sp>
      <p:sp>
        <p:nvSpPr>
          <p:cNvPr id="15" name="text-38">
            <a:extLst xmlns:a="http://schemas.openxmlformats.org/drawingml/2006/main">
              <a:ext uri="{FF2B5EF4-FFF2-40B4-BE49-F238E27FC236}">
                <a16:creationId xmlns:a16="http://schemas.microsoft.com/office/drawing/2014/main" id="{FB58E050-3D53-44E6-80B7-012FBB9351D4}"/>
              </a:ext>
            </a:extLst>
          </p:cNvPr>
          <p:cNvSpPr>
            <a:spLocks xmlns:a="http://schemas.openxmlformats.org/drawingml/2006/main" noGrp="1"/>
          </p:cNvSpPr>
          <p:nvPr/>
        </p:nvSpPr>
        <p:spPr>
          <a:xfrm xmlns:a="http://schemas.openxmlformats.org/drawingml/2006/main">
            <a:off x="571500" y="4333875"/>
            <a:ext cx="4362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D40"/>
                </a:solidFill>
                <a:latin typeface="Calibri"/>
                <a:ea typeface="Calibri"/>
                <a:cs typeface="Calibri"/>
              </a:defRPr>
            </a:defPPr>
          </a:lstStyle>
          <a:p xmlns:a="http://schemas.openxmlformats.org/drawingml/2006/main">
            <a:pPr algn="l">
              <a:defRPr sz="2025" b="1">
                <a:solidFill>
                  <a:srgbClr val="142D40"/>
                </a:solidFill>
                <a:latin typeface="Calibri"/>
                <a:ea typeface="Calibri"/>
                <a:cs typeface="Calibri"/>
              </a:defRPr>
            </a:pPr>
            <a:r>
              <a:rPr sz="2025" b="1">
                <a:solidFill>
                  <a:srgbClr val="142D40"/>
                </a:solidFill>
                <a:latin typeface="Calibri"/>
                <a:ea typeface="Calibri"/>
                <a:cs typeface="Calibri"/>
              </a:rPr>
              <a:t>Client authentication</a:t>
            </a:r>
          </a:p>
        </p:txBody>
      </p:sp>
      <p:sp>
        <p:nvSpPr>
          <p:cNvPr id="16" name="text-39">
            <a:extLst xmlns:a="http://schemas.openxmlformats.org/drawingml/2006/main">
              <a:ext uri="{FF2B5EF4-FFF2-40B4-BE49-F238E27FC236}">
                <a16:creationId xmlns:a16="http://schemas.microsoft.com/office/drawing/2014/main" id="{24AFF7F4-AA6A-4FB1-BE72-1A67923BF513}"/>
              </a:ext>
            </a:extLst>
          </p:cNvPr>
          <p:cNvSpPr>
            <a:spLocks xmlns:a="http://schemas.openxmlformats.org/drawingml/2006/main" noGrp="1"/>
          </p:cNvSpPr>
          <p:nvPr/>
        </p:nvSpPr>
        <p:spPr>
          <a:xfrm xmlns:a="http://schemas.openxmlformats.org/drawingml/2006/main">
            <a:off x="571500" y="4705350"/>
            <a:ext cx="4362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67083"/>
                </a:solidFill>
                <a:latin typeface="Calibri"/>
                <a:ea typeface="Calibri"/>
                <a:cs typeface="Calibri"/>
              </a:defRPr>
            </a:defPPr>
          </a:lstStyle>
          <a:p xmlns:a="http://schemas.openxmlformats.org/drawingml/2006/main">
            <a:pPr algn="l">
              <a:defRPr sz="1875" b="0">
                <a:solidFill>
                  <a:srgbClr val="567083"/>
                </a:solidFill>
                <a:latin typeface="Calibri"/>
                <a:ea typeface="Calibri"/>
                <a:cs typeface="Calibri"/>
              </a:defRPr>
            </a:pPr>
            <a:r>
              <a:rPr sz="1875" b="0">
                <a:solidFill>
                  <a:srgbClr val="567083"/>
                </a:solidFill>
                <a:latin typeface="Calibri"/>
                <a:ea typeface="Calibri"/>
                <a:cs typeface="Calibri"/>
              </a:rPr>
              <a:t>Direct login or trusted client federation</a:t>
            </a:r>
          </a:p>
        </p:txBody>
      </p:sp>
      <p:sp>
        <p:nvSpPr>
          <p:cNvPr id="17" name="text-40">
            <a:extLst xmlns:a="http://schemas.openxmlformats.org/drawingml/2006/main">
              <a:ext uri="{FF2B5EF4-FFF2-40B4-BE49-F238E27FC236}">
                <a16:creationId xmlns:a16="http://schemas.microsoft.com/office/drawing/2014/main" id="{DE327C6E-3546-4424-A3E0-FD0ECE030197}"/>
              </a:ext>
            </a:extLst>
          </p:cNvPr>
          <p:cNvSpPr>
            <a:spLocks xmlns:a="http://schemas.openxmlformats.org/drawingml/2006/main" noGrp="1"/>
          </p:cNvSpPr>
          <p:nvPr/>
        </p:nvSpPr>
        <p:spPr>
          <a:xfrm xmlns:a="http://schemas.openxmlformats.org/drawingml/2006/main">
            <a:off x="571500" y="5400675"/>
            <a:ext cx="4362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D40"/>
                </a:solidFill>
                <a:latin typeface="Calibri"/>
                <a:ea typeface="Calibri"/>
                <a:cs typeface="Calibri"/>
              </a:defRPr>
            </a:defPPr>
          </a:lstStyle>
          <a:p xmlns:a="http://schemas.openxmlformats.org/drawingml/2006/main">
            <a:pPr algn="l">
              <a:defRPr sz="2025" b="1">
                <a:solidFill>
                  <a:srgbClr val="142D40"/>
                </a:solidFill>
                <a:latin typeface="Calibri"/>
                <a:ea typeface="Calibri"/>
                <a:cs typeface="Calibri"/>
              </a:defRPr>
            </a:pPr>
            <a:r>
              <a:rPr sz="2025" b="1">
                <a:solidFill>
                  <a:srgbClr val="142D40"/>
                </a:solidFill>
                <a:latin typeface="Calibri"/>
                <a:ea typeface="Calibri"/>
                <a:cs typeface="Calibri"/>
              </a:rPr>
              <a:t>Client access context</a:t>
            </a:r>
          </a:p>
        </p:txBody>
      </p:sp>
      <p:sp>
        <p:nvSpPr>
          <p:cNvPr id="18" name="text-41">
            <a:extLst xmlns:a="http://schemas.openxmlformats.org/drawingml/2006/main">
              <a:ext uri="{FF2B5EF4-FFF2-40B4-BE49-F238E27FC236}">
                <a16:creationId xmlns:a16="http://schemas.microsoft.com/office/drawing/2014/main" id="{1F966DCE-0D73-4553-BC75-F4499879CF95}"/>
              </a:ext>
            </a:extLst>
          </p:cNvPr>
          <p:cNvSpPr>
            <a:spLocks xmlns:a="http://schemas.openxmlformats.org/drawingml/2006/main" noGrp="1"/>
          </p:cNvSpPr>
          <p:nvPr/>
        </p:nvSpPr>
        <p:spPr>
          <a:xfrm xmlns:a="http://schemas.openxmlformats.org/drawingml/2006/main">
            <a:off x="571500" y="5772150"/>
            <a:ext cx="4362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67083"/>
                </a:solidFill>
                <a:latin typeface="Calibri"/>
                <a:ea typeface="Calibri"/>
                <a:cs typeface="Calibri"/>
              </a:defRPr>
            </a:defPPr>
          </a:lstStyle>
          <a:p xmlns:a="http://schemas.openxmlformats.org/drawingml/2006/main">
            <a:pPr algn="l">
              <a:defRPr sz="1875" b="0">
                <a:solidFill>
                  <a:srgbClr val="567083"/>
                </a:solidFill>
                <a:latin typeface="Calibri"/>
                <a:ea typeface="Calibri"/>
                <a:cs typeface="Calibri"/>
              </a:defRPr>
            </a:pPr>
            <a:r>
              <a:rPr sz="1875" b="0">
                <a:solidFill>
                  <a:srgbClr val="567083"/>
                </a:solidFill>
                <a:latin typeface="Calibri"/>
                <a:ea typeface="Calibri"/>
                <a:cs typeface="Calibri"/>
              </a:rPr>
              <a:t>Organisation, legal entity and client mandate</a:t>
            </a:r>
          </a:p>
        </p:txBody>
      </p:sp>
      <p:sp>
        <p:nvSpPr>
          <p:cNvPr id="19" name="text-42">
            <a:extLst xmlns:a="http://schemas.openxmlformats.org/drawingml/2006/main">
              <a:ext uri="{FF2B5EF4-FFF2-40B4-BE49-F238E27FC236}">
                <a16:creationId xmlns:a16="http://schemas.microsoft.com/office/drawing/2014/main" id="{5331AFB0-BA33-4BD3-B3F3-2B5A1A2E1E87}"/>
              </a:ext>
            </a:extLst>
          </p:cNvPr>
          <p:cNvSpPr>
            <a:spLocks xmlns:a="http://schemas.openxmlformats.org/drawingml/2006/main" noGrp="1"/>
          </p:cNvSpPr>
          <p:nvPr/>
        </p:nvSpPr>
        <p:spPr>
          <a:xfrm xmlns:a="http://schemas.openxmlformats.org/drawingml/2006/main">
            <a:off x="571500" y="6467475"/>
            <a:ext cx="4362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D40"/>
                </a:solidFill>
                <a:latin typeface="Calibri"/>
                <a:ea typeface="Calibri"/>
                <a:cs typeface="Calibri"/>
              </a:defRPr>
            </a:defPPr>
          </a:lstStyle>
          <a:p xmlns:a="http://schemas.openxmlformats.org/drawingml/2006/main">
            <a:pPr algn="l">
              <a:defRPr sz="2025" b="1">
                <a:solidFill>
                  <a:srgbClr val="142D40"/>
                </a:solidFill>
                <a:latin typeface="Calibri"/>
                <a:ea typeface="Calibri"/>
                <a:cs typeface="Calibri"/>
              </a:defRPr>
            </a:pPr>
            <a:r>
              <a:rPr sz="2025" b="1">
                <a:solidFill>
                  <a:srgbClr val="142D40"/>
                </a:solidFill>
                <a:latin typeface="Calibri"/>
                <a:ea typeface="Calibri"/>
                <a:cs typeface="Calibri"/>
              </a:rPr>
              <a:t>Service token issuance</a:t>
            </a:r>
          </a:p>
        </p:txBody>
      </p:sp>
      <p:sp>
        <p:nvSpPr>
          <p:cNvPr id="20" name="text-43">
            <a:extLst xmlns:a="http://schemas.openxmlformats.org/drawingml/2006/main">
              <a:ext uri="{FF2B5EF4-FFF2-40B4-BE49-F238E27FC236}">
                <a16:creationId xmlns:a16="http://schemas.microsoft.com/office/drawing/2014/main" id="{5D33C961-16A0-48D3-85A9-6D017DFB1858}"/>
              </a:ext>
            </a:extLst>
          </p:cNvPr>
          <p:cNvSpPr>
            <a:spLocks xmlns:a="http://schemas.openxmlformats.org/drawingml/2006/main" noGrp="1"/>
          </p:cNvSpPr>
          <p:nvPr/>
        </p:nvSpPr>
        <p:spPr>
          <a:xfrm xmlns:a="http://schemas.openxmlformats.org/drawingml/2006/main">
            <a:off x="571500" y="6838950"/>
            <a:ext cx="4362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67083"/>
                </a:solidFill>
                <a:latin typeface="Calibri"/>
                <a:ea typeface="Calibri"/>
                <a:cs typeface="Calibri"/>
              </a:defRPr>
            </a:defPPr>
          </a:lstStyle>
          <a:p xmlns:a="http://schemas.openxmlformats.org/drawingml/2006/main">
            <a:pPr algn="l">
              <a:defRPr sz="1875" b="0">
                <a:solidFill>
                  <a:srgbClr val="567083"/>
                </a:solidFill>
                <a:latin typeface="Calibri"/>
                <a:ea typeface="Calibri"/>
                <a:cs typeface="Calibri"/>
              </a:defRPr>
            </a:pPr>
            <a:r>
              <a:rPr sz="1875" b="0">
                <a:solidFill>
                  <a:srgbClr val="567083"/>
                </a:solidFill>
                <a:latin typeface="Calibri"/>
                <a:ea typeface="Calibri"/>
                <a:cs typeface="Calibri"/>
              </a:rPr>
              <a:t>Restricted audience, scopes and context</a:t>
            </a:r>
          </a:p>
        </p:txBody>
      </p:sp>
      <p:sp>
        <p:nvSpPr>
          <p:cNvPr id="21" name="text-44">
            <a:extLst xmlns:a="http://schemas.openxmlformats.org/drawingml/2006/main">
              <a:ext uri="{FF2B5EF4-FFF2-40B4-BE49-F238E27FC236}">
                <a16:creationId xmlns:a16="http://schemas.microsoft.com/office/drawing/2014/main" id="{77A6B11B-5351-41B5-9928-40745F5FD3A8}"/>
              </a:ext>
            </a:extLst>
          </p:cNvPr>
          <p:cNvSpPr>
            <a:spLocks xmlns:a="http://schemas.openxmlformats.org/drawingml/2006/main" noGrp="1"/>
          </p:cNvSpPr>
          <p:nvPr/>
        </p:nvSpPr>
        <p:spPr>
          <a:xfrm xmlns:a="http://schemas.openxmlformats.org/drawingml/2006/main">
            <a:off x="5410200" y="3267075"/>
            <a:ext cx="4362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D40"/>
                </a:solidFill>
                <a:latin typeface="Calibri"/>
                <a:ea typeface="Calibri"/>
                <a:cs typeface="Calibri"/>
              </a:defRPr>
            </a:defPPr>
          </a:lstStyle>
          <a:p xmlns:a="http://schemas.openxmlformats.org/drawingml/2006/main">
            <a:pPr algn="l">
              <a:defRPr sz="2025" b="1">
                <a:solidFill>
                  <a:srgbClr val="142D40"/>
                </a:solidFill>
                <a:latin typeface="Calibri"/>
                <a:ea typeface="Calibri"/>
                <a:cs typeface="Calibri"/>
              </a:defRPr>
            </a:pPr>
            <a:r>
              <a:rPr sz="2025" b="1">
                <a:solidFill>
                  <a:srgbClr val="142D40"/>
                </a:solidFill>
                <a:latin typeface="Calibri"/>
                <a:ea typeface="Calibri"/>
                <a:cs typeface="Calibri"/>
              </a:rPr>
              <a:t>Employee identity lifecycle</a:t>
            </a:r>
          </a:p>
        </p:txBody>
      </p:sp>
      <p:sp>
        <p:nvSpPr>
          <p:cNvPr id="22" name="text-45">
            <a:extLst xmlns:a="http://schemas.openxmlformats.org/drawingml/2006/main">
              <a:ext uri="{FF2B5EF4-FFF2-40B4-BE49-F238E27FC236}">
                <a16:creationId xmlns:a16="http://schemas.microsoft.com/office/drawing/2014/main" id="{C27977D1-F0B5-4FFB-8D8D-B15A0EC4B0EC}"/>
              </a:ext>
            </a:extLst>
          </p:cNvPr>
          <p:cNvSpPr>
            <a:spLocks xmlns:a="http://schemas.openxmlformats.org/drawingml/2006/main" noGrp="1"/>
          </p:cNvSpPr>
          <p:nvPr/>
        </p:nvSpPr>
        <p:spPr>
          <a:xfrm xmlns:a="http://schemas.openxmlformats.org/drawingml/2006/main">
            <a:off x="5410200" y="3638550"/>
            <a:ext cx="4362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67083"/>
                </a:solidFill>
                <a:latin typeface="Calibri"/>
                <a:ea typeface="Calibri"/>
                <a:cs typeface="Calibri"/>
              </a:defRPr>
            </a:defPPr>
          </a:lstStyle>
          <a:p xmlns:a="http://schemas.openxmlformats.org/drawingml/2006/main">
            <a:pPr algn="l">
              <a:defRPr sz="1875" b="0">
                <a:solidFill>
                  <a:srgbClr val="567083"/>
                </a:solidFill>
                <a:latin typeface="Calibri"/>
                <a:ea typeface="Calibri"/>
                <a:cs typeface="Calibri"/>
              </a:defRPr>
            </a:pPr>
            <a:r>
              <a:rPr sz="1875" b="0">
                <a:solidFill>
                  <a:srgbClr val="567083"/>
                </a:solidFill>
                <a:latin typeface="Calibri"/>
                <a:ea typeface="Calibri"/>
                <a:cs typeface="Calibri"/>
              </a:rPr>
              <a:t>Joining, role changes and leaving</a:t>
            </a:r>
          </a:p>
        </p:txBody>
      </p:sp>
      <p:sp>
        <p:nvSpPr>
          <p:cNvPr id="23" name="text-46">
            <a:extLst xmlns:a="http://schemas.openxmlformats.org/drawingml/2006/main">
              <a:ext uri="{FF2B5EF4-FFF2-40B4-BE49-F238E27FC236}">
                <a16:creationId xmlns:a16="http://schemas.microsoft.com/office/drawing/2014/main" id="{643D8AB2-1E95-4788-A704-5C137827CBC4}"/>
              </a:ext>
            </a:extLst>
          </p:cNvPr>
          <p:cNvSpPr>
            <a:spLocks xmlns:a="http://schemas.openxmlformats.org/drawingml/2006/main" noGrp="1"/>
          </p:cNvSpPr>
          <p:nvPr/>
        </p:nvSpPr>
        <p:spPr>
          <a:xfrm xmlns:a="http://schemas.openxmlformats.org/drawingml/2006/main">
            <a:off x="5410200" y="4333875"/>
            <a:ext cx="4362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D40"/>
                </a:solidFill>
                <a:latin typeface="Calibri"/>
                <a:ea typeface="Calibri"/>
                <a:cs typeface="Calibri"/>
              </a:defRPr>
            </a:defPPr>
          </a:lstStyle>
          <a:p xmlns:a="http://schemas.openxmlformats.org/drawingml/2006/main">
            <a:pPr algn="l">
              <a:defRPr sz="2025" b="1">
                <a:solidFill>
                  <a:srgbClr val="142D40"/>
                </a:solidFill>
                <a:latin typeface="Calibri"/>
                <a:ea typeface="Calibri"/>
                <a:cs typeface="Calibri"/>
              </a:defRPr>
            </a:pPr>
            <a:r>
              <a:rPr sz="2025" b="1">
                <a:solidFill>
                  <a:srgbClr val="142D40"/>
                </a:solidFill>
                <a:latin typeface="Calibri"/>
                <a:ea typeface="Calibri"/>
                <a:cs typeface="Calibri"/>
              </a:rPr>
              <a:t>Employee authentication</a:t>
            </a:r>
          </a:p>
        </p:txBody>
      </p:sp>
      <p:sp>
        <p:nvSpPr>
          <p:cNvPr id="24" name="text-47">
            <a:extLst xmlns:a="http://schemas.openxmlformats.org/drawingml/2006/main">
              <a:ext uri="{FF2B5EF4-FFF2-40B4-BE49-F238E27FC236}">
                <a16:creationId xmlns:a16="http://schemas.microsoft.com/office/drawing/2014/main" id="{A5BCEBD3-4E98-44A1-A46C-90779B4119FD}"/>
              </a:ext>
            </a:extLst>
          </p:cNvPr>
          <p:cNvSpPr>
            <a:spLocks xmlns:a="http://schemas.openxmlformats.org/drawingml/2006/main" noGrp="1"/>
          </p:cNvSpPr>
          <p:nvPr/>
        </p:nvSpPr>
        <p:spPr>
          <a:xfrm xmlns:a="http://schemas.openxmlformats.org/drawingml/2006/main">
            <a:off x="5410200" y="4705350"/>
            <a:ext cx="4362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67083"/>
                </a:solidFill>
                <a:latin typeface="Calibri"/>
                <a:ea typeface="Calibri"/>
                <a:cs typeface="Calibri"/>
              </a:defRPr>
            </a:defPPr>
          </a:lstStyle>
          <a:p xmlns:a="http://schemas.openxmlformats.org/drawingml/2006/main">
            <a:pPr algn="l">
              <a:defRPr sz="1875" b="0">
                <a:solidFill>
                  <a:srgbClr val="567083"/>
                </a:solidFill>
                <a:latin typeface="Calibri"/>
                <a:ea typeface="Calibri"/>
                <a:cs typeface="Calibri"/>
              </a:defRPr>
            </a:pPr>
            <a:r>
              <a:rPr sz="1875" b="0">
                <a:solidFill>
                  <a:srgbClr val="567083"/>
                </a:solidFill>
                <a:latin typeface="Calibri"/>
                <a:ea typeface="Calibri"/>
                <a:cs typeface="Calibri"/>
              </a:rPr>
              <a:t>Workforce MFA and required step-up</a:t>
            </a:r>
          </a:p>
        </p:txBody>
      </p:sp>
      <p:sp>
        <p:nvSpPr>
          <p:cNvPr id="25" name="text-48">
            <a:extLst xmlns:a="http://schemas.openxmlformats.org/drawingml/2006/main">
              <a:ext uri="{FF2B5EF4-FFF2-40B4-BE49-F238E27FC236}">
                <a16:creationId xmlns:a16="http://schemas.microsoft.com/office/drawing/2014/main" id="{0AFDE229-E1B7-4376-AC88-E7E385B51BC1}"/>
              </a:ext>
            </a:extLst>
          </p:cNvPr>
          <p:cNvSpPr>
            <a:spLocks xmlns:a="http://schemas.openxmlformats.org/drawingml/2006/main" noGrp="1"/>
          </p:cNvSpPr>
          <p:nvPr/>
        </p:nvSpPr>
        <p:spPr>
          <a:xfrm xmlns:a="http://schemas.openxmlformats.org/drawingml/2006/main">
            <a:off x="5410200" y="5400675"/>
            <a:ext cx="4362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D40"/>
                </a:solidFill>
                <a:latin typeface="Calibri"/>
                <a:ea typeface="Calibri"/>
                <a:cs typeface="Calibri"/>
              </a:defRPr>
            </a:defPPr>
          </a:lstStyle>
          <a:p xmlns:a="http://schemas.openxmlformats.org/drawingml/2006/main">
            <a:pPr algn="l">
              <a:defRPr sz="2025" b="1">
                <a:solidFill>
                  <a:srgbClr val="142D40"/>
                </a:solidFill>
                <a:latin typeface="Calibri"/>
                <a:ea typeface="Calibri"/>
                <a:cs typeface="Calibri"/>
              </a:defRPr>
            </a:pPr>
            <a:r>
              <a:rPr sz="2025" b="1">
                <a:solidFill>
                  <a:srgbClr val="142D40"/>
                </a:solidFill>
                <a:latin typeface="Calibri"/>
                <a:ea typeface="Calibri"/>
                <a:cs typeface="Calibri"/>
              </a:rPr>
              <a:t>Workforce eligibility</a:t>
            </a:r>
          </a:p>
        </p:txBody>
      </p:sp>
      <p:sp>
        <p:nvSpPr>
          <p:cNvPr id="26" name="text-49">
            <a:extLst xmlns:a="http://schemas.openxmlformats.org/drawingml/2006/main">
              <a:ext uri="{FF2B5EF4-FFF2-40B4-BE49-F238E27FC236}">
                <a16:creationId xmlns:a16="http://schemas.microsoft.com/office/drawing/2014/main" id="{3DD04777-7D4A-4D40-9700-8E6C0F485AE3}"/>
              </a:ext>
            </a:extLst>
          </p:cNvPr>
          <p:cNvSpPr>
            <a:spLocks xmlns:a="http://schemas.openxmlformats.org/drawingml/2006/main" noGrp="1"/>
          </p:cNvSpPr>
          <p:nvPr/>
        </p:nvSpPr>
        <p:spPr>
          <a:xfrm xmlns:a="http://schemas.openxmlformats.org/drawingml/2006/main">
            <a:off x="5410200" y="5772150"/>
            <a:ext cx="4362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67083"/>
                </a:solidFill>
                <a:latin typeface="Calibri"/>
                <a:ea typeface="Calibri"/>
                <a:cs typeface="Calibri"/>
              </a:defRPr>
            </a:defPPr>
          </a:lstStyle>
          <a:p xmlns:a="http://schemas.openxmlformats.org/drawingml/2006/main">
            <a:pPr algn="l">
              <a:defRPr sz="1875" b="0">
                <a:solidFill>
                  <a:srgbClr val="567083"/>
                </a:solidFill>
                <a:latin typeface="Calibri"/>
                <a:ea typeface="Calibri"/>
                <a:cs typeface="Calibri"/>
              </a:defRPr>
            </a:pPr>
            <a:r>
              <a:rPr sz="1875" b="0">
                <a:solidFill>
                  <a:srgbClr val="567083"/>
                </a:solidFill>
                <a:latin typeface="Calibri"/>
                <a:ea typeface="Calibri"/>
                <a:cs typeface="Calibri"/>
              </a:rPr>
              <a:t>Approved operator or administrator roles</a:t>
            </a:r>
          </a:p>
        </p:txBody>
      </p:sp>
      <p:sp>
        <p:nvSpPr>
          <p:cNvPr id="27" name="text-50">
            <a:extLst xmlns:a="http://schemas.openxmlformats.org/drawingml/2006/main">
              <a:ext uri="{FF2B5EF4-FFF2-40B4-BE49-F238E27FC236}">
                <a16:creationId xmlns:a16="http://schemas.microsoft.com/office/drawing/2014/main" id="{32DC84DE-8686-451F-B8B6-DE2EEA6F6EF0}"/>
              </a:ext>
            </a:extLst>
          </p:cNvPr>
          <p:cNvSpPr>
            <a:spLocks xmlns:a="http://schemas.openxmlformats.org/drawingml/2006/main" noGrp="1"/>
          </p:cNvSpPr>
          <p:nvPr/>
        </p:nvSpPr>
        <p:spPr>
          <a:xfrm xmlns:a="http://schemas.openxmlformats.org/drawingml/2006/main">
            <a:off x="5410200" y="6467475"/>
            <a:ext cx="4362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D40"/>
                </a:solidFill>
                <a:latin typeface="Calibri"/>
                <a:ea typeface="Calibri"/>
                <a:cs typeface="Calibri"/>
              </a:defRPr>
            </a:defPPr>
          </a:lstStyle>
          <a:p xmlns:a="http://schemas.openxmlformats.org/drawingml/2006/main">
            <a:pPr algn="l">
              <a:defRPr sz="2025" b="1">
                <a:solidFill>
                  <a:srgbClr val="142D40"/>
                </a:solidFill>
                <a:latin typeface="Calibri"/>
                <a:ea typeface="Calibri"/>
                <a:cs typeface="Calibri"/>
              </a:defRPr>
            </a:pPr>
            <a:r>
              <a:rPr sz="2025" b="1">
                <a:solidFill>
                  <a:srgbClr val="142D40"/>
                </a:solidFill>
                <a:latin typeface="Calibri"/>
                <a:ea typeface="Calibri"/>
                <a:cs typeface="Calibri"/>
              </a:rPr>
              <a:t>Trusted identity assertions</a:t>
            </a:r>
          </a:p>
        </p:txBody>
      </p:sp>
      <p:sp>
        <p:nvSpPr>
          <p:cNvPr id="28" name="text-51">
            <a:extLst xmlns:a="http://schemas.openxmlformats.org/drawingml/2006/main">
              <a:ext uri="{FF2B5EF4-FFF2-40B4-BE49-F238E27FC236}">
                <a16:creationId xmlns:a16="http://schemas.microsoft.com/office/drawing/2014/main" id="{6A4D7432-A21F-47F6-8E0A-7479AD70616E}"/>
              </a:ext>
            </a:extLst>
          </p:cNvPr>
          <p:cNvSpPr>
            <a:spLocks xmlns:a="http://schemas.openxmlformats.org/drawingml/2006/main" noGrp="1"/>
          </p:cNvSpPr>
          <p:nvPr/>
        </p:nvSpPr>
        <p:spPr>
          <a:xfrm xmlns:a="http://schemas.openxmlformats.org/drawingml/2006/main">
            <a:off x="5410200" y="6838950"/>
            <a:ext cx="4362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67083"/>
                </a:solidFill>
                <a:latin typeface="Calibri"/>
                <a:ea typeface="Calibri"/>
                <a:cs typeface="Calibri"/>
              </a:defRPr>
            </a:defPPr>
          </a:lstStyle>
          <a:p xmlns:a="http://schemas.openxmlformats.org/drawingml/2006/main">
            <a:pPr algn="l">
              <a:defRPr sz="1875" b="0">
                <a:solidFill>
                  <a:srgbClr val="567083"/>
                </a:solidFill>
                <a:latin typeface="Calibri"/>
                <a:ea typeface="Calibri"/>
                <a:cs typeface="Calibri"/>
              </a:defRPr>
            </a:pPr>
            <a:r>
              <a:rPr sz="1875" b="0">
                <a:solidFill>
                  <a:srgbClr val="567083"/>
                </a:solidFill>
                <a:latin typeface="Calibri"/>
                <a:ea typeface="Calibri"/>
                <a:cs typeface="Calibri"/>
              </a:rPr>
              <a:t>Stable employee identity and assurance</a:t>
            </a:r>
          </a:p>
        </p:txBody>
      </p:sp>
      <p:sp>
        <p:nvSpPr>
          <p:cNvPr id="29" name="text-52">
            <a:extLst xmlns:a="http://schemas.openxmlformats.org/drawingml/2006/main">
              <a:ext uri="{FF2B5EF4-FFF2-40B4-BE49-F238E27FC236}">
                <a16:creationId xmlns:a16="http://schemas.microsoft.com/office/drawing/2014/main" id="{4F93555F-A1F0-4C13-8728-7D386C7ED5FA}"/>
              </a:ext>
            </a:extLst>
          </p:cNvPr>
          <p:cNvSpPr>
            <a:spLocks xmlns:a="http://schemas.openxmlformats.org/drawingml/2006/main" noGrp="1"/>
          </p:cNvSpPr>
          <p:nvPr/>
        </p:nvSpPr>
        <p:spPr>
          <a:xfrm xmlns:a="http://schemas.openxmlformats.org/drawingml/2006/main">
            <a:off x="10248900" y="3267075"/>
            <a:ext cx="4419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D40"/>
                </a:solidFill>
                <a:latin typeface="Calibri"/>
                <a:ea typeface="Calibri"/>
                <a:cs typeface="Calibri"/>
              </a:defRPr>
            </a:defPPr>
          </a:lstStyle>
          <a:p xmlns:a="http://schemas.openxmlformats.org/drawingml/2006/main">
            <a:pPr algn="l">
              <a:defRPr sz="2025" b="1">
                <a:solidFill>
                  <a:srgbClr val="142D40"/>
                </a:solidFill>
                <a:latin typeface="Calibri"/>
                <a:ea typeface="Calibri"/>
                <a:cs typeface="Calibri"/>
              </a:defRPr>
            </a:pPr>
            <a:r>
              <a:rPr sz="2025" b="1">
                <a:solidFill>
                  <a:srgbClr val="142D40"/>
                </a:solidFill>
                <a:latin typeface="Calibri"/>
                <a:ea typeface="Calibri"/>
                <a:cs typeface="Calibri"/>
              </a:rPr>
              <a:t>Business authorization</a:t>
            </a:r>
          </a:p>
        </p:txBody>
      </p:sp>
      <p:sp>
        <p:nvSpPr>
          <p:cNvPr id="30" name="text-53">
            <a:extLst xmlns:a="http://schemas.openxmlformats.org/drawingml/2006/main">
              <a:ext uri="{FF2B5EF4-FFF2-40B4-BE49-F238E27FC236}">
                <a16:creationId xmlns:a16="http://schemas.microsoft.com/office/drawing/2014/main" id="{20661CDD-F9CC-41EE-BE84-B38E5204A705}"/>
              </a:ext>
            </a:extLst>
          </p:cNvPr>
          <p:cNvSpPr>
            <a:spLocks xmlns:a="http://schemas.openxmlformats.org/drawingml/2006/main" noGrp="1"/>
          </p:cNvSpPr>
          <p:nvPr/>
        </p:nvSpPr>
        <p:spPr>
          <a:xfrm xmlns:a="http://schemas.openxmlformats.org/drawingml/2006/main">
            <a:off x="10248900" y="3638550"/>
            <a:ext cx="4419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67083"/>
                </a:solidFill>
                <a:latin typeface="Calibri"/>
                <a:ea typeface="Calibri"/>
                <a:cs typeface="Calibri"/>
              </a:defRPr>
            </a:defPPr>
          </a:lstStyle>
          <a:p xmlns:a="http://schemas.openxmlformats.org/drawingml/2006/main">
            <a:pPr algn="l">
              <a:defRPr sz="1875" b="0">
                <a:solidFill>
                  <a:srgbClr val="567083"/>
                </a:solidFill>
                <a:latin typeface="Calibri"/>
                <a:ea typeface="Calibri"/>
                <a:cs typeface="Calibri"/>
              </a:defRPr>
            </a:pPr>
            <a:r>
              <a:rPr sz="1875" b="0">
                <a:solidFill>
                  <a:srgbClr val="567083"/>
                </a:solidFill>
                <a:latin typeface="Calibri"/>
                <a:ea typeface="Calibri"/>
                <a:cs typeface="Calibri"/>
              </a:rPr>
              <a:t>Resource and action decisions through PEP/PDP</a:t>
            </a:r>
          </a:p>
        </p:txBody>
      </p:sp>
      <p:sp>
        <p:nvSpPr>
          <p:cNvPr id="31" name="text-54">
            <a:extLst xmlns:a="http://schemas.openxmlformats.org/drawingml/2006/main">
              <a:ext uri="{FF2B5EF4-FFF2-40B4-BE49-F238E27FC236}">
                <a16:creationId xmlns:a16="http://schemas.microsoft.com/office/drawing/2014/main" id="{FE45C84E-DECA-458D-854C-F7C74CC0B525}"/>
              </a:ext>
            </a:extLst>
          </p:cNvPr>
          <p:cNvSpPr>
            <a:spLocks xmlns:a="http://schemas.openxmlformats.org/drawingml/2006/main" noGrp="1"/>
          </p:cNvSpPr>
          <p:nvPr/>
        </p:nvSpPr>
        <p:spPr>
          <a:xfrm xmlns:a="http://schemas.openxmlformats.org/drawingml/2006/main">
            <a:off x="10248900" y="4333875"/>
            <a:ext cx="4419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D40"/>
                </a:solidFill>
                <a:latin typeface="Calibri"/>
                <a:ea typeface="Calibri"/>
                <a:cs typeface="Calibri"/>
              </a:defRPr>
            </a:defPPr>
          </a:lstStyle>
          <a:p xmlns:a="http://schemas.openxmlformats.org/drawingml/2006/main">
            <a:pPr algn="l">
              <a:defRPr sz="2025" b="1">
                <a:solidFill>
                  <a:srgbClr val="142D40"/>
                </a:solidFill>
                <a:latin typeface="Calibri"/>
                <a:ea typeface="Calibri"/>
                <a:cs typeface="Calibri"/>
              </a:defRPr>
            </a:pPr>
            <a:r>
              <a:rPr sz="2025" b="1">
                <a:solidFill>
                  <a:srgbClr val="142D40"/>
                </a:solidFill>
                <a:latin typeface="Calibri"/>
                <a:ea typeface="Calibri"/>
                <a:cs typeface="Calibri"/>
              </a:rPr>
              <a:t>Entitlement governance</a:t>
            </a:r>
          </a:p>
        </p:txBody>
      </p:sp>
      <p:sp>
        <p:nvSpPr>
          <p:cNvPr id="32" name="text-55">
            <a:extLst xmlns:a="http://schemas.openxmlformats.org/drawingml/2006/main">
              <a:ext uri="{FF2B5EF4-FFF2-40B4-BE49-F238E27FC236}">
                <a16:creationId xmlns:a16="http://schemas.microsoft.com/office/drawing/2014/main" id="{799C5E2B-3DB2-4B54-8B18-5672179FFC57}"/>
              </a:ext>
            </a:extLst>
          </p:cNvPr>
          <p:cNvSpPr>
            <a:spLocks xmlns:a="http://schemas.openxmlformats.org/drawingml/2006/main" noGrp="1"/>
          </p:cNvSpPr>
          <p:nvPr/>
        </p:nvSpPr>
        <p:spPr>
          <a:xfrm xmlns:a="http://schemas.openxmlformats.org/drawingml/2006/main">
            <a:off x="10248900" y="4705350"/>
            <a:ext cx="4419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67083"/>
                </a:solidFill>
                <a:latin typeface="Calibri"/>
                <a:ea typeface="Calibri"/>
                <a:cs typeface="Calibri"/>
              </a:defRPr>
            </a:defPPr>
          </a:lstStyle>
          <a:p xmlns:a="http://schemas.openxmlformats.org/drawingml/2006/main">
            <a:pPr algn="l">
              <a:defRPr sz="1875" b="0">
                <a:solidFill>
                  <a:srgbClr val="567083"/>
                </a:solidFill>
                <a:latin typeface="Calibri"/>
                <a:ea typeface="Calibri"/>
                <a:cs typeface="Calibri"/>
              </a:defRPr>
            </a:pPr>
            <a:r>
              <a:rPr sz="1875" b="0">
                <a:solidFill>
                  <a:srgbClr val="567083"/>
                </a:solidFill>
                <a:latin typeface="Calibri"/>
                <a:ea typeface="Calibri"/>
                <a:cs typeface="Calibri"/>
              </a:rPr>
              <a:t>Business owners approve access mandates</a:t>
            </a:r>
          </a:p>
        </p:txBody>
      </p:sp>
      <p:sp>
        <p:nvSpPr>
          <p:cNvPr id="33" name="text-56">
            <a:extLst xmlns:a="http://schemas.openxmlformats.org/drawingml/2006/main">
              <a:ext uri="{FF2B5EF4-FFF2-40B4-BE49-F238E27FC236}">
                <a16:creationId xmlns:a16="http://schemas.microsoft.com/office/drawing/2014/main" id="{716B2709-CFD9-4F4F-BC96-7D7B65C76749}"/>
              </a:ext>
            </a:extLst>
          </p:cNvPr>
          <p:cNvSpPr>
            <a:spLocks xmlns:a="http://schemas.openxmlformats.org/drawingml/2006/main" noGrp="1"/>
          </p:cNvSpPr>
          <p:nvPr/>
        </p:nvSpPr>
        <p:spPr>
          <a:xfrm xmlns:a="http://schemas.openxmlformats.org/drawingml/2006/main">
            <a:off x="10248900" y="5400675"/>
            <a:ext cx="4419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D40"/>
                </a:solidFill>
                <a:latin typeface="Calibri"/>
                <a:ea typeface="Calibri"/>
                <a:cs typeface="Calibri"/>
              </a:defRPr>
            </a:defPPr>
          </a:lstStyle>
          <a:p xmlns:a="http://schemas.openxmlformats.org/drawingml/2006/main">
            <a:pPr algn="l">
              <a:defRPr sz="2025" b="1">
                <a:solidFill>
                  <a:srgbClr val="142D40"/>
                </a:solidFill>
                <a:latin typeface="Calibri"/>
                <a:ea typeface="Calibri"/>
                <a:cs typeface="Calibri"/>
              </a:defRPr>
            </a:pPr>
            <a:r>
              <a:rPr sz="2025" b="1">
                <a:solidFill>
                  <a:srgbClr val="142D40"/>
                </a:solidFill>
                <a:latin typeface="Calibri"/>
                <a:ea typeface="Calibri"/>
                <a:cs typeface="Calibri"/>
              </a:rPr>
              <a:t>Runtime enforcement</a:t>
            </a:r>
          </a:p>
        </p:txBody>
      </p:sp>
      <p:sp>
        <p:nvSpPr>
          <p:cNvPr id="34" name="text-57">
            <a:extLst xmlns:a="http://schemas.openxmlformats.org/drawingml/2006/main">
              <a:ext uri="{FF2B5EF4-FFF2-40B4-BE49-F238E27FC236}">
                <a16:creationId xmlns:a16="http://schemas.microsoft.com/office/drawing/2014/main" id="{407C13ED-48AE-4178-A32A-71C72A71BEA8}"/>
              </a:ext>
            </a:extLst>
          </p:cNvPr>
          <p:cNvSpPr>
            <a:spLocks xmlns:a="http://schemas.openxmlformats.org/drawingml/2006/main" noGrp="1"/>
          </p:cNvSpPr>
          <p:nvPr/>
        </p:nvSpPr>
        <p:spPr>
          <a:xfrm xmlns:a="http://schemas.openxmlformats.org/drawingml/2006/main">
            <a:off x="10248900" y="5772150"/>
            <a:ext cx="4419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67083"/>
                </a:solidFill>
                <a:latin typeface="Calibri"/>
                <a:ea typeface="Calibri"/>
                <a:cs typeface="Calibri"/>
              </a:defRPr>
            </a:defPPr>
          </a:lstStyle>
          <a:p xmlns:a="http://schemas.openxmlformats.org/drawingml/2006/main">
            <a:pPr algn="l">
              <a:defRPr sz="1875" b="0">
                <a:solidFill>
                  <a:srgbClr val="567083"/>
                </a:solidFill>
                <a:latin typeface="Calibri"/>
                <a:ea typeface="Calibri"/>
                <a:cs typeface="Calibri"/>
              </a:defRPr>
            </a:pPr>
            <a:r>
              <a:rPr sz="1875" b="0">
                <a:solidFill>
                  <a:srgbClr val="567083"/>
                </a:solidFill>
                <a:latin typeface="Calibri"/>
                <a:ea typeface="Calibri"/>
                <a:cs typeface="Calibri"/>
              </a:rPr>
              <a:t>Application/API validates token and context</a:t>
            </a:r>
          </a:p>
        </p:txBody>
      </p:sp>
      <p:sp>
        <p:nvSpPr>
          <p:cNvPr id="35" name="text-58">
            <a:extLst xmlns:a="http://schemas.openxmlformats.org/drawingml/2006/main">
              <a:ext uri="{FF2B5EF4-FFF2-40B4-BE49-F238E27FC236}">
                <a16:creationId xmlns:a16="http://schemas.microsoft.com/office/drawing/2014/main" id="{9B409A9C-C952-43F9-A763-07AD1A6F6BEF}"/>
              </a:ext>
            </a:extLst>
          </p:cNvPr>
          <p:cNvSpPr>
            <a:spLocks xmlns:a="http://schemas.openxmlformats.org/drawingml/2006/main" noGrp="1"/>
          </p:cNvSpPr>
          <p:nvPr/>
        </p:nvSpPr>
        <p:spPr>
          <a:xfrm xmlns:a="http://schemas.openxmlformats.org/drawingml/2006/main">
            <a:off x="10248900" y="6467475"/>
            <a:ext cx="4419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D40"/>
                </a:solidFill>
                <a:latin typeface="Calibri"/>
                <a:ea typeface="Calibri"/>
                <a:cs typeface="Calibri"/>
              </a:defRPr>
            </a:defPPr>
          </a:lstStyle>
          <a:p xmlns:a="http://schemas.openxmlformats.org/drawingml/2006/main">
            <a:pPr algn="l">
              <a:defRPr sz="2025" b="1">
                <a:solidFill>
                  <a:srgbClr val="142D40"/>
                </a:solidFill>
                <a:latin typeface="Calibri"/>
                <a:ea typeface="Calibri"/>
                <a:cs typeface="Calibri"/>
              </a:defRPr>
            </a:pPr>
            <a:r>
              <a:rPr sz="2025" b="1">
                <a:solidFill>
                  <a:srgbClr val="142D40"/>
                </a:solidFill>
                <a:latin typeface="Calibri"/>
                <a:ea typeface="Calibri"/>
                <a:cs typeface="Calibri"/>
              </a:rPr>
              <a:t>Correlated audit</a:t>
            </a:r>
          </a:p>
        </p:txBody>
      </p:sp>
      <p:sp>
        <p:nvSpPr>
          <p:cNvPr id="36" name="text-59">
            <a:extLst xmlns:a="http://schemas.openxmlformats.org/drawingml/2006/main">
              <a:ext uri="{FF2B5EF4-FFF2-40B4-BE49-F238E27FC236}">
                <a16:creationId xmlns:a16="http://schemas.microsoft.com/office/drawing/2014/main" id="{2052B4CC-6D53-4E57-94BF-3ACBB31CBA54}"/>
              </a:ext>
            </a:extLst>
          </p:cNvPr>
          <p:cNvSpPr>
            <a:spLocks xmlns:a="http://schemas.openxmlformats.org/drawingml/2006/main" noGrp="1"/>
          </p:cNvSpPr>
          <p:nvPr/>
        </p:nvSpPr>
        <p:spPr>
          <a:xfrm xmlns:a="http://schemas.openxmlformats.org/drawingml/2006/main">
            <a:off x="10248900" y="6838950"/>
            <a:ext cx="4419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67083"/>
                </a:solidFill>
                <a:latin typeface="Calibri"/>
                <a:ea typeface="Calibri"/>
                <a:cs typeface="Calibri"/>
              </a:defRPr>
            </a:defPPr>
          </a:lstStyle>
          <a:p xmlns:a="http://schemas.openxmlformats.org/drawingml/2006/main">
            <a:pPr algn="l">
              <a:defRPr sz="1875" b="0">
                <a:solidFill>
                  <a:srgbClr val="567083"/>
                </a:solidFill>
                <a:latin typeface="Calibri"/>
                <a:ea typeface="Calibri"/>
                <a:cs typeface="Calibri"/>
              </a:defRPr>
            </a:pPr>
            <a:r>
              <a:rPr sz="1875" b="0">
                <a:solidFill>
                  <a:srgbClr val="567083"/>
                </a:solidFill>
                <a:latin typeface="Calibri"/>
                <a:ea typeface="Calibri"/>
                <a:cs typeface="Calibri"/>
              </a:rPr>
              <a:t>Actor, subject, decision and business outcome</a:t>
            </a:r>
          </a:p>
        </p:txBody>
      </p:sp>
      <p:sp>
        <p:nvSpPr>
          <p:cNvPr id="37" name="text-60">
            <a:extLst xmlns:a="http://schemas.openxmlformats.org/drawingml/2006/main">
              <a:ext uri="{FF2B5EF4-FFF2-40B4-BE49-F238E27FC236}">
                <a16:creationId xmlns:a16="http://schemas.microsoft.com/office/drawing/2014/main" id="{75F7535B-A590-4BCB-884E-34B9B17446F4}"/>
              </a:ext>
            </a:extLst>
          </p:cNvPr>
          <p:cNvSpPr>
            <a:spLocks xmlns:a="http://schemas.openxmlformats.org/drawingml/2006/main" noGrp="1"/>
          </p:cNvSpPr>
          <p:nvPr/>
        </p:nvSpPr>
        <p:spPr>
          <a:xfrm xmlns:a="http://schemas.openxmlformats.org/drawingml/2006/main">
            <a:off x="571500" y="7667625"/>
            <a:ext cx="1409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42D40"/>
                </a:solidFill>
                <a:latin typeface="Calibri"/>
                <a:ea typeface="Calibri"/>
                <a:cs typeface="Calibri"/>
              </a:defRPr>
            </a:defPPr>
          </a:lstStyle>
          <a:p xmlns:a="http://schemas.openxmlformats.org/drawingml/2006/main">
            <a:pPr algn="l">
              <a:defRPr sz="1725" b="1">
                <a:solidFill>
                  <a:srgbClr val="142D40"/>
                </a:solidFill>
                <a:latin typeface="Calibri"/>
                <a:ea typeface="Calibri"/>
                <a:cs typeface="Calibri"/>
              </a:defRPr>
            </a:pPr>
            <a:r>
              <a:rPr sz="1725" b="1">
                <a:solidFill>
                  <a:srgbClr val="142D40"/>
                </a:solidFill>
                <a:latin typeface="Calibri"/>
                <a:ea typeface="Calibri"/>
                <a:cs typeface="Calibri"/>
              </a:rPr>
              <a:t>Shared lifecycle controls must revoke dependent client-context access when workforce eligibility ends</a:t>
            </a:r>
          </a:p>
        </p:txBody>
      </p:sp>
    </p:spTree>
    <p:extLst>
      <p:ext uri="{BB962C8B-B14F-4D97-AF65-F5344CB8AC3E}">
        <p14:creationId xmlns:p14="http://schemas.microsoft.com/office/powerpoint/2010/main" val="5261483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61">
            <a:extLst xmlns:a="http://schemas.openxmlformats.org/drawingml/2006/main">
              <a:ext uri="{FF2B5EF4-FFF2-40B4-BE49-F238E27FC236}">
                <a16:creationId xmlns:a16="http://schemas.microsoft.com/office/drawing/2014/main" id="{665D324A-AE33-4960-B7A2-6A87F835F007}"/>
              </a:ext>
            </a:extLst>
          </p:cNvPr>
          <p:cNvSpPr>
            <a:spLocks xmlns:a="http://schemas.openxmlformats.org/drawingml/2006/main" noGrp="1"/>
          </p:cNvSpPr>
          <p:nvPr/>
        </p:nvSpPr>
        <p:spPr>
          <a:xfrm xmlns:a="http://schemas.openxmlformats.org/drawingml/2006/main">
            <a:off x="571500" y="247650"/>
            <a:ext cx="1285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67083"/>
                </a:solidFill>
                <a:latin typeface="Calibri"/>
                <a:ea typeface="Calibri"/>
                <a:cs typeface="Calibri"/>
              </a:defRPr>
            </a:defPPr>
          </a:lstStyle>
          <a:p xmlns:a="http://schemas.openxmlformats.org/drawingml/2006/main">
            <a:pPr algn="l">
              <a:defRPr sz="1350" b="1">
                <a:solidFill>
                  <a:srgbClr val="567083"/>
                </a:solidFill>
                <a:latin typeface="Calibri"/>
                <a:ea typeface="Calibri"/>
                <a:cs typeface="Calibri"/>
              </a:defRPr>
            </a:pPr>
            <a:r>
              <a:rPr sz="1350" b="1">
                <a:solidFill>
                  <a:srgbClr val="567083"/>
                </a:solidFill>
                <a:latin typeface="Calibri"/>
                <a:ea typeface="Calibri"/>
                <a:cs typeface="Calibri"/>
              </a:rPr>
              <a:t>EUROCLEAR   /   ENTERPRISE IDENTITY ARCHITECTURE</a:t>
            </a:r>
          </a:p>
        </p:txBody>
      </p:sp>
      <p:sp>
        <p:nvSpPr>
          <p:cNvPr id="2" name="text-62">
            <a:extLst xmlns:a="http://schemas.openxmlformats.org/drawingml/2006/main">
              <a:ext uri="{FF2B5EF4-FFF2-40B4-BE49-F238E27FC236}">
                <a16:creationId xmlns:a16="http://schemas.microsoft.com/office/drawing/2014/main" id="{E778E88C-2735-4B77-BFF6-C3AB1090F6DE}"/>
              </a:ext>
            </a:extLst>
          </p:cNvPr>
          <p:cNvSpPr>
            <a:spLocks xmlns:a="http://schemas.openxmlformats.org/drawingml/2006/main" noGrp="1"/>
          </p:cNvSpPr>
          <p:nvPr/>
        </p:nvSpPr>
        <p:spPr>
          <a:xfrm xmlns:a="http://schemas.openxmlformats.org/drawingml/2006/main">
            <a:off x="571500" y="74295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42D40"/>
                </a:solidFill>
                <a:latin typeface="Calibri"/>
                <a:ea typeface="Calibri"/>
                <a:cs typeface="Calibri"/>
              </a:defRPr>
            </a:defPPr>
          </a:lstStyle>
          <a:p xmlns:a="http://schemas.openxmlformats.org/drawingml/2006/main">
            <a:pPr algn="l">
              <a:defRPr sz="3450" b="1">
                <a:solidFill>
                  <a:srgbClr val="142D40"/>
                </a:solidFill>
                <a:latin typeface="Calibri"/>
                <a:ea typeface="Calibri"/>
                <a:cs typeface="Calibri"/>
              </a:defRPr>
            </a:pPr>
            <a:r>
              <a:rPr sz="3450" b="1">
                <a:solidFill>
                  <a:srgbClr val="142D40"/>
                </a:solidFill>
                <a:latin typeface="Calibri"/>
                <a:ea typeface="Calibri"/>
                <a:cs typeface="Calibri"/>
              </a:rPr>
              <a:t>Four internal workforce operating modes</a:t>
            </a:r>
          </a:p>
        </p:txBody>
      </p:sp>
      <p:sp>
        <p:nvSpPr>
          <p:cNvPr id="3" name="text-63">
            <a:extLst xmlns:a="http://schemas.openxmlformats.org/drawingml/2006/main">
              <a:ext uri="{FF2B5EF4-FFF2-40B4-BE49-F238E27FC236}">
                <a16:creationId xmlns:a16="http://schemas.microsoft.com/office/drawing/2014/main" id="{D2582127-1DF6-478C-8A3E-0329ECAB45E6}"/>
              </a:ext>
            </a:extLst>
          </p:cNvPr>
          <p:cNvSpPr>
            <a:spLocks xmlns:a="http://schemas.openxmlformats.org/drawingml/2006/main" noGrp="1"/>
          </p:cNvSpPr>
          <p:nvPr/>
        </p:nvSpPr>
        <p:spPr>
          <a:xfrm xmlns:a="http://schemas.openxmlformats.org/drawingml/2006/main">
            <a:off x="571500" y="1419225"/>
            <a:ext cx="14097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67083"/>
                </a:solidFill>
                <a:latin typeface="Calibri"/>
                <a:ea typeface="Calibri"/>
                <a:cs typeface="Calibri"/>
              </a:defRPr>
            </a:defPPr>
          </a:lstStyle>
          <a:p xmlns:a="http://schemas.openxmlformats.org/drawingml/2006/main">
            <a:pPr algn="l">
              <a:defRPr sz="1875" b="0">
                <a:solidFill>
                  <a:srgbClr val="567083"/>
                </a:solidFill>
                <a:latin typeface="Calibri"/>
                <a:ea typeface="Calibri"/>
                <a:cs typeface="Calibri"/>
              </a:defRPr>
            </a:pPr>
            <a:r>
              <a:rPr sz="1875" b="0">
                <a:solidFill>
                  <a:srgbClr val="567083"/>
                </a:solidFill>
                <a:latin typeface="Calibri"/>
                <a:ea typeface="Calibri"/>
                <a:cs typeface="Calibri"/>
              </a:rPr>
              <a:t>Each mode retains its IDAM identity and has a distinct permitted purpose</a:t>
            </a:r>
          </a:p>
        </p:txBody>
      </p:sp>
      <p:sp>
        <p:nvSpPr>
          <p:cNvPr id="4" name="line-64">
            <a:extLst xmlns:a="http://schemas.openxmlformats.org/drawingml/2006/main">
              <a:ext uri="{FF2B5EF4-FFF2-40B4-BE49-F238E27FC236}">
                <a16:creationId xmlns:a16="http://schemas.microsoft.com/office/drawing/2014/main" id="{1F059E48-B6B9-465F-A592-F0CE3373533A}"/>
              </a:ext>
            </a:extLst>
          </p:cNvPr>
          <p:cNvSpPr>
            <a:spLocks xmlns:a="http://schemas.openxmlformats.org/drawingml/2006/main" noGrp="1"/>
          </p:cNvSpPr>
          <p:nvPr/>
        </p:nvSpPr>
        <p:spPr>
          <a:xfrm xmlns:a="http://schemas.openxmlformats.org/drawingml/2006/main">
            <a:off x="571500" y="8048625"/>
            <a:ext cx="14097000" cy="0"/>
          </a:xfrm>
          <a:prstGeom xmlns:a="http://schemas.openxmlformats.org/drawingml/2006/main" prst="line">
            <a:avLst/>
          </a:prstGeom>
          <a:noFill xmlns:a="http://schemas.openxmlformats.org/drawingml/2006/main"/>
          <a:ln xmlns:a="http://schemas.openxmlformats.org/drawingml/2006/main" w="13335">
            <a:solidFill>
              <a:srgbClr val="D8E1E8"/>
            </a:solidFill>
          </a:ln>
        </p:spPr>
      </p:sp>
      <p:sp>
        <p:nvSpPr>
          <p:cNvPr id="5" name="text-65">
            <a:extLst xmlns:a="http://schemas.openxmlformats.org/drawingml/2006/main">
              <a:ext uri="{FF2B5EF4-FFF2-40B4-BE49-F238E27FC236}">
                <a16:creationId xmlns:a16="http://schemas.microsoft.com/office/drawing/2014/main" id="{628AC5CE-5BB2-404B-A7D8-66FF18F07C08}"/>
              </a:ext>
            </a:extLst>
          </p:cNvPr>
          <p:cNvSpPr>
            <a:spLocks xmlns:a="http://schemas.openxmlformats.org/drawingml/2006/main" noGrp="1"/>
          </p:cNvSpPr>
          <p:nvPr/>
        </p:nvSpPr>
        <p:spPr>
          <a:xfrm xmlns:a="http://schemas.openxmlformats.org/drawingml/2006/main">
            <a:off x="571500" y="8172450"/>
            <a:ext cx="1295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7083"/>
                </a:solidFill>
                <a:latin typeface="Calibri"/>
                <a:ea typeface="Calibri"/>
                <a:cs typeface="Calibri"/>
              </a:defRPr>
            </a:defPPr>
          </a:lstStyle>
          <a:p xmlns:a="http://schemas.openxmlformats.org/drawingml/2006/main">
            <a:pPr algn="l">
              <a:defRPr sz="1275" b="0">
                <a:solidFill>
                  <a:srgbClr val="567083"/>
                </a:solidFill>
                <a:latin typeface="Calibri"/>
                <a:ea typeface="Calibri"/>
                <a:cs typeface="Calibri"/>
              </a:defRPr>
            </a:pPr>
            <a:r>
              <a:rPr sz="1275" b="0">
                <a:solidFill>
                  <a:srgbClr val="567083"/>
                </a:solidFill>
                <a:latin typeface="Calibri"/>
                <a:ea typeface="Calibri"/>
                <a:cs typeface="Calibri"/>
              </a:rPr>
              <a:t>Architecture Board review   /   Proposed target boundaries   /   8 October 2026</a:t>
            </a:r>
          </a:p>
        </p:txBody>
      </p:sp>
      <p:sp>
        <p:nvSpPr>
          <p:cNvPr id="6" name="text-66">
            <a:extLst xmlns:a="http://schemas.openxmlformats.org/drawingml/2006/main">
              <a:ext uri="{FF2B5EF4-FFF2-40B4-BE49-F238E27FC236}">
                <a16:creationId xmlns:a16="http://schemas.microsoft.com/office/drawing/2014/main" id="{EE9AF8E1-6BA5-4F80-8246-8B0CE8BD2ED2}"/>
              </a:ext>
            </a:extLst>
          </p:cNvPr>
          <p:cNvSpPr>
            <a:spLocks xmlns:a="http://schemas.openxmlformats.org/drawingml/2006/main" noGrp="1"/>
          </p:cNvSpPr>
          <p:nvPr/>
        </p:nvSpPr>
        <p:spPr>
          <a:xfrm xmlns:a="http://schemas.openxmlformats.org/drawingml/2006/main">
            <a:off x="14001750" y="81438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567083"/>
                </a:solidFill>
                <a:latin typeface="Calibri"/>
                <a:ea typeface="Calibri"/>
                <a:cs typeface="Calibri"/>
              </a:defRPr>
            </a:defPPr>
          </a:lstStyle>
          <a:p xmlns:a="http://schemas.openxmlformats.org/drawingml/2006/main">
            <a:pPr algn="r">
              <a:defRPr sz="1350" b="1">
                <a:solidFill>
                  <a:srgbClr val="567083"/>
                </a:solidFill>
                <a:latin typeface="Calibri"/>
                <a:ea typeface="Calibri"/>
                <a:cs typeface="Calibri"/>
              </a:defRPr>
            </a:pPr>
            <a:r>
              <a:rPr sz="1350" b="1">
                <a:solidFill>
                  <a:srgbClr val="567083"/>
                </a:solidFill>
                <a:latin typeface="Calibri"/>
                <a:ea typeface="Calibri"/>
                <a:cs typeface="Calibri"/>
              </a:rPr>
              <a:t>04</a:t>
            </a:r>
          </a:p>
        </p:txBody>
      </p:sp>
      <p:graphicFrame>
        <p:nvGraphicFramePr>
          <p:cNvPr id="7" name="">
            <a:extLst xmlns:a="http://schemas.openxmlformats.org/drawingml/2006/main">
              <a:ext uri="{FF2B5EF4-FFF2-40B4-BE49-F238E27FC236}">
                <a16:creationId xmlns:a16="http://schemas.microsoft.com/office/drawing/2014/main" id="{E1F99FD4-FF73-401F-8F8C-088E531E9462}"/>
              </a:ext>
            </a:extLst>
          </p:cNvPr>
          <p:cNvGraphicFramePr/>
          <p:nvPr/>
        </p:nvGraphicFramePr>
        <p:xfrm>
          <a:off xmlns:a="http://schemas.openxmlformats.org/drawingml/2006/main" x="571500" y="2171700"/>
          <a:ext xmlns:a="http://schemas.openxmlformats.org/drawingml/2006/main" cx="14097000" cy="4572000"/>
        </p:xfrm>
        <a:graphic xmlns:a="http://schemas.openxmlformats.org/drawingml/2006/main">
          <a:graphicData uri="http://schemas.openxmlformats.org/drawingml/2006/table">
            <a:tbl>
              <a:tblPr firstRow="0" bandRow="0"/>
              <a:tblGrid>
                <a:gridCol w="2952750"/>
                <a:gridCol w="2857500"/>
                <a:gridCol w="4286250"/>
                <a:gridCol w="4000500"/>
              </a:tblGrid>
              <a:tr h="914400">
                <a:tc>
                  <a:txBody>
                    <a:bodyPr/>
                    <a:lstStyle/>
                    <a:p>
                      <a:r>
                        <a:rPr sz="1800" b="1">
                          <a:solidFill>
                            <a:srgbClr val="FFFFFF"/>
                          </a:solidFill>
                          <a:latin typeface="Calibri"/>
                          <a:ea typeface="Calibri"/>
                          <a:cs typeface="Calibri"/>
                        </a:rPr>
                        <a:t>Internal operating mode</a:t>
                      </a:r>
                    </a:p>
                  </a:txBody>
                  <a:tcPr marL="114300" marR="114300" marT="76200" marB="57150" anchor="ctr">
                    <a:solidFill>
                      <a:srgbClr val="142D40"/>
                    </a:solidFill>
                  </a:tcPr>
                </a:tc>
                <a:tc>
                  <a:txBody>
                    <a:bodyPr/>
                    <a:lstStyle/>
                    <a:p>
                      <a:r>
                        <a:rPr sz="1800" b="1">
                          <a:solidFill>
                            <a:srgbClr val="FFFFFF"/>
                          </a:solidFill>
                          <a:latin typeface="Calibri"/>
                          <a:ea typeface="Calibri"/>
                          <a:cs typeface="Calibri"/>
                        </a:rPr>
                        <a:t>IDAM provides</a:t>
                      </a:r>
                    </a:p>
                  </a:txBody>
                  <a:tcPr marL="114300" marR="114300" marT="76200" marB="57150" anchor="ctr">
                    <a:solidFill>
                      <a:srgbClr val="142D40"/>
                    </a:solidFill>
                  </a:tcPr>
                </a:tc>
                <a:tc>
                  <a:txBody>
                    <a:bodyPr/>
                    <a:lstStyle/>
                    <a:p>
                      <a:r>
                        <a:rPr sz="1800" b="1">
                          <a:solidFill>
                            <a:srgbClr val="FFFFFF"/>
                          </a:solidFill>
                          <a:latin typeface="Calibri"/>
                          <a:ea typeface="Calibri"/>
                          <a:cs typeface="Calibri"/>
                        </a:rPr>
                        <a:t>CIAM or management plane provides</a:t>
                      </a:r>
                    </a:p>
                  </a:txBody>
                  <a:tcPr marL="114300" marR="114300" marT="76200" marB="57150" anchor="ctr">
                    <a:solidFill>
                      <a:srgbClr val="142D40"/>
                    </a:solidFill>
                  </a:tcPr>
                </a:tc>
                <a:tc>
                  <a:txBody>
                    <a:bodyPr/>
                    <a:lstStyle/>
                    <a:p>
                      <a:r>
                        <a:rPr sz="1800" b="1">
                          <a:solidFill>
                            <a:srgbClr val="FFFFFF"/>
                          </a:solidFill>
                          <a:latin typeface="Calibri"/>
                          <a:ea typeface="Calibri"/>
                          <a:cs typeface="Calibri"/>
                        </a:rPr>
                        <a:t>Federation and access boundary</a:t>
                      </a:r>
                    </a:p>
                  </a:txBody>
                  <a:tcPr marL="114300" marR="114300" marT="76200" marB="57150" anchor="ctr">
                    <a:solidFill>
                      <a:srgbClr val="142D40"/>
                    </a:solidFill>
                  </a:tcPr>
                </a:tc>
              </a:tr>
              <a:tr h="914400">
                <a:tc>
                  <a:txBody>
                    <a:bodyPr/>
                    <a:lstStyle/>
                    <a:p>
                      <a:r>
                        <a:rPr sz="1875" b="1">
                          <a:solidFill>
                            <a:srgbClr val="142D40"/>
                          </a:solidFill>
                          <a:latin typeface="Calibri"/>
                          <a:ea typeface="Calibri"/>
                          <a:cs typeface="Calibri"/>
                        </a:rPr>
                        <a:t>Acting as client</a:t>
                      </a:r>
                    </a:p>
                  </a:txBody>
                  <a:tcPr marL="114300" marR="114300" marT="76200" marB="57150" anchor="ctr">
                    <a:solidFill>
                      <a:srgbClr val="FFFFFF"/>
                    </a:solidFill>
                  </a:tcPr>
                </a:tc>
                <a:tc>
                  <a:txBody>
                    <a:bodyPr/>
                    <a:lstStyle/>
                    <a:p>
                      <a:r>
                        <a:rPr sz="1875" b="0">
                          <a:solidFill>
                            <a:srgbClr val="142D40"/>
                          </a:solidFill>
                          <a:latin typeface="Calibri"/>
                          <a:ea typeface="Calibri"/>
                          <a:cs typeface="Calibri"/>
                        </a:rPr>
                        <a:t>Employee login</a:t>
                      </a:r>
                    </a:p>
                    <a:p>
                      <a:r>
                        <a:rPr sz="1875" b="0">
                          <a:solidFill>
                            <a:srgbClr val="142D40"/>
                          </a:solidFill>
                          <a:latin typeface="Calibri"/>
                          <a:ea typeface="Calibri"/>
                          <a:cs typeface="Calibri"/>
                        </a:rPr>
                        <a:t>Approved operator role</a:t>
                      </a:r>
                    </a:p>
                  </a:txBody>
                  <a:tcPr marL="114300" marR="114300" marT="76200" marB="57150" anchor="ctr">
                    <a:solidFill>
                      <a:srgbClr val="FFFFFF"/>
                    </a:solidFill>
                  </a:tcPr>
                </a:tc>
                <a:tc>
                  <a:txBody>
                    <a:bodyPr/>
                    <a:lstStyle/>
                    <a:p>
                      <a:r>
                        <a:rPr sz="1875" b="0">
                          <a:solidFill>
                            <a:srgbClr val="142D40"/>
                          </a:solidFill>
                          <a:latin typeface="Calibri"/>
                          <a:ea typeface="Calibri"/>
                          <a:cs typeface="Calibri"/>
                        </a:rPr>
                        <a:t>Restricted simulation context</a:t>
                      </a:r>
                    </a:p>
                    <a:p>
                      <a:r>
                        <a:rPr sz="1875" b="0">
                          <a:solidFill>
                            <a:srgbClr val="142D40"/>
                          </a:solidFill>
                          <a:latin typeface="Calibri"/>
                          <a:ea typeface="Calibri"/>
                          <a:cs typeface="Calibri"/>
                        </a:rPr>
                        <a:t>Explicit client and entity selection</a:t>
                      </a:r>
                    </a:p>
                  </a:txBody>
                  <a:tcPr marL="114300" marR="114300" marT="76200" marB="57150" anchor="ctr">
                    <a:solidFill>
                      <a:srgbClr val="FFFFFF"/>
                    </a:solidFill>
                  </a:tcPr>
                </a:tc>
                <a:tc>
                  <a:txBody>
                    <a:bodyPr/>
                    <a:lstStyle/>
                    <a:p>
                      <a:r>
                        <a:rPr sz="1875" b="0">
                          <a:solidFill>
                            <a:srgbClr val="142D40"/>
                          </a:solidFill>
                          <a:latin typeface="Calibri"/>
                          <a:ea typeface="Calibri"/>
                          <a:cs typeface="Calibri"/>
                        </a:rPr>
                        <a:t>IDAM federation to CIAM</a:t>
                      </a:r>
                    </a:p>
                    <a:p>
                      <a:r>
                        <a:rPr sz="1875" b="0">
                          <a:solidFill>
                            <a:srgbClr val="142D40"/>
                          </a:solidFill>
                          <a:latin typeface="Calibri"/>
                          <a:ea typeface="Calibri"/>
                          <a:cs typeface="Calibri"/>
                        </a:rPr>
                        <a:t>Test/simulation mandate</a:t>
                      </a:r>
                    </a:p>
                  </a:txBody>
                  <a:tcPr marL="114300" marR="114300" marT="76200" marB="57150" anchor="ctr">
                    <a:solidFill>
                      <a:srgbClr val="FFFFFF"/>
                    </a:solidFill>
                  </a:tcPr>
                </a:tc>
              </a:tr>
              <a:tr h="914400">
                <a:tc>
                  <a:txBody>
                    <a:bodyPr/>
                    <a:lstStyle/>
                    <a:p>
                      <a:r>
                        <a:rPr sz="1875" b="1">
                          <a:solidFill>
                            <a:srgbClr val="142D40"/>
                          </a:solidFill>
                          <a:latin typeface="Calibri"/>
                          <a:ea typeface="Calibri"/>
                          <a:cs typeface="Calibri"/>
                        </a:rPr>
                        <a:t>Acting with impersonation</a:t>
                      </a:r>
                    </a:p>
                  </a:txBody>
                  <a:tcPr marL="114300" marR="114300" marT="76200" marB="57150" anchor="ctr">
                    <a:solidFill>
                      <a:srgbClr val="F1F5F8"/>
                    </a:solidFill>
                  </a:tcPr>
                </a:tc>
                <a:tc>
                  <a:txBody>
                    <a:bodyPr/>
                    <a:lstStyle/>
                    <a:p>
                      <a:r>
                        <a:rPr sz="1875" b="0">
                          <a:solidFill>
                            <a:srgbClr val="142D40"/>
                          </a:solidFill>
                          <a:latin typeface="Calibri"/>
                          <a:ea typeface="Calibri"/>
                          <a:cs typeface="Calibri"/>
                        </a:rPr>
                        <a:t>Operator login</a:t>
                      </a:r>
                    </a:p>
                    <a:p>
                      <a:r>
                        <a:rPr sz="1875" b="0">
                          <a:solidFill>
                            <a:srgbClr val="142D40"/>
                          </a:solidFill>
                          <a:latin typeface="Calibri"/>
                          <a:ea typeface="Calibri"/>
                          <a:cs typeface="Calibri"/>
                        </a:rPr>
                        <a:t>Required step-up</a:t>
                      </a:r>
                    </a:p>
                  </a:txBody>
                  <a:tcPr marL="114300" marR="114300" marT="76200" marB="57150" anchor="ctr">
                    <a:solidFill>
                      <a:srgbClr val="F1F5F8"/>
                    </a:solidFill>
                  </a:tcPr>
                </a:tc>
                <a:tc>
                  <a:txBody>
                    <a:bodyPr/>
                    <a:lstStyle/>
                    <a:p>
                      <a:r>
                        <a:rPr sz="1875" b="0">
                          <a:solidFill>
                            <a:srgbClr val="142D40"/>
                          </a:solidFill>
                          <a:latin typeface="Calibri"/>
                          <a:ea typeface="Calibri"/>
                          <a:cs typeface="Calibri"/>
                        </a:rPr>
                        <a:t>Support mandate validation</a:t>
                      </a:r>
                    </a:p>
                    <a:p>
                      <a:r>
                        <a:rPr sz="1875" b="0">
                          <a:solidFill>
                            <a:srgbClr val="142D40"/>
                          </a:solidFill>
                          <a:latin typeface="Calibri"/>
                          <a:ea typeface="Calibri"/>
                          <a:cs typeface="Calibri"/>
                        </a:rPr>
                        <a:t>Client subject + operator trace</a:t>
                      </a:r>
                    </a:p>
                  </a:txBody>
                  <a:tcPr marL="114300" marR="114300" marT="76200" marB="57150" anchor="ctr">
                    <a:solidFill>
                      <a:srgbClr val="F1F5F8"/>
                    </a:solidFill>
                  </a:tcPr>
                </a:tc>
                <a:tc>
                  <a:txBody>
                    <a:bodyPr/>
                    <a:lstStyle/>
                    <a:p>
                      <a:r>
                        <a:rPr sz="1875" b="0">
                          <a:solidFill>
                            <a:srgbClr val="142D40"/>
                          </a:solidFill>
                          <a:latin typeface="Calibri"/>
                          <a:ea typeface="Calibri"/>
                          <a:cs typeface="Calibri"/>
                        </a:rPr>
                        <a:t>IDAM federation to CIAM</a:t>
                      </a:r>
                    </a:p>
                    <a:p>
                      <a:r>
                        <a:rPr sz="1875" b="0">
                          <a:solidFill>
                            <a:srgbClr val="142D40"/>
                          </a:solidFill>
                          <a:latin typeface="Calibri"/>
                          <a:ea typeface="Calibri"/>
                          <a:cs typeface="Calibri"/>
                        </a:rPr>
                        <a:t>Ticket, scope and expiry controls</a:t>
                      </a:r>
                    </a:p>
                  </a:txBody>
                  <a:tcPr marL="114300" marR="114300" marT="76200" marB="57150" anchor="ctr">
                    <a:solidFill>
                      <a:srgbClr val="F1F5F8"/>
                    </a:solidFill>
                  </a:tcPr>
                </a:tc>
              </a:tr>
              <a:tr h="914400">
                <a:tc>
                  <a:txBody>
                    <a:bodyPr/>
                    <a:lstStyle/>
                    <a:p>
                      <a:r>
                        <a:rPr sz="1875" b="1">
                          <a:solidFill>
                            <a:srgbClr val="142D40"/>
                          </a:solidFill>
                          <a:latin typeface="Calibri"/>
                          <a:ea typeface="Calibri"/>
                          <a:cs typeface="Calibri"/>
                        </a:rPr>
                        <a:t>Acting as business administrator</a:t>
                      </a:r>
                    </a:p>
                  </a:txBody>
                  <a:tcPr marL="114300" marR="114300" marT="76200" marB="57150" anchor="ctr">
                    <a:solidFill>
                      <a:srgbClr val="FFFFFF"/>
                    </a:solidFill>
                  </a:tcPr>
                </a:tc>
                <a:tc>
                  <a:txBody>
                    <a:bodyPr/>
                    <a:lstStyle/>
                    <a:p>
                      <a:r>
                        <a:rPr sz="1875" b="0">
                          <a:solidFill>
                            <a:srgbClr val="142D40"/>
                          </a:solidFill>
                          <a:latin typeface="Calibri"/>
                          <a:ea typeface="Calibri"/>
                          <a:cs typeface="Calibri"/>
                        </a:rPr>
                        <a:t>Employee login</a:t>
                      </a:r>
                    </a:p>
                    <a:p>
                      <a:r>
                        <a:rPr sz="1875" b="0">
                          <a:solidFill>
                            <a:srgbClr val="142D40"/>
                          </a:solidFill>
                          <a:latin typeface="Calibri"/>
                          <a:ea typeface="Calibri"/>
                          <a:cs typeface="Calibri"/>
                        </a:rPr>
                        <a:t>Business-admin eligibility</a:t>
                      </a:r>
                    </a:p>
                  </a:txBody>
                  <a:tcPr marL="114300" marR="114300" marT="76200" marB="57150" anchor="ctr">
                    <a:solidFill>
                      <a:srgbClr val="FFFFFF"/>
                    </a:solidFill>
                  </a:tcPr>
                </a:tc>
                <a:tc>
                  <a:txBody>
                    <a:bodyPr/>
                    <a:lstStyle/>
                    <a:p>
                      <a:r>
                        <a:rPr sz="1875" b="0">
                          <a:solidFill>
                            <a:srgbClr val="142D40"/>
                          </a:solidFill>
                          <a:latin typeface="Calibri"/>
                          <a:ea typeface="Calibri"/>
                          <a:cs typeface="Calibri"/>
                        </a:rPr>
                        <a:t>Client organisation and user administration</a:t>
                      </a:r>
                    </a:p>
                    <a:p>
                      <a:r>
                        <a:rPr sz="1875" b="0">
                          <a:solidFill>
                            <a:srgbClr val="142D40"/>
                          </a:solidFill>
                          <a:latin typeface="Calibri"/>
                          <a:ea typeface="Calibri"/>
                          <a:cs typeface="Calibri"/>
                        </a:rPr>
                        <a:t>Approved entitlement changes</a:t>
                      </a:r>
                    </a:p>
                  </a:txBody>
                  <a:tcPr marL="114300" marR="114300" marT="76200" marB="57150" anchor="ctr">
                    <a:solidFill>
                      <a:srgbClr val="FFFFFF"/>
                    </a:solidFill>
                  </a:tcPr>
                </a:tc>
                <a:tc>
                  <a:txBody>
                    <a:bodyPr/>
                    <a:lstStyle/>
                    <a:p>
                      <a:r>
                        <a:rPr sz="1875" b="0">
                          <a:solidFill>
                            <a:srgbClr val="142D40"/>
                          </a:solidFill>
                          <a:latin typeface="Calibri"/>
                          <a:ea typeface="Calibri"/>
                          <a:cs typeface="Calibri"/>
                        </a:rPr>
                        <a:t>CIAM broker or direct IDAM SSO</a:t>
                      </a:r>
                    </a:p>
                    <a:p>
                      <a:r>
                        <a:rPr sz="1875" b="0">
                          <a:solidFill>
                            <a:srgbClr val="142D40"/>
                          </a:solidFill>
                          <a:latin typeface="Calibri"/>
                          <a:ea typeface="Calibri"/>
                          <a:cs typeface="Calibri"/>
                        </a:rPr>
                        <a:t>Depends on portal design</a:t>
                      </a:r>
                    </a:p>
                  </a:txBody>
                  <a:tcPr marL="114300" marR="114300" marT="76200" marB="57150" anchor="ctr">
                    <a:solidFill>
                      <a:srgbClr val="FFFFFF"/>
                    </a:solidFill>
                  </a:tcPr>
                </a:tc>
              </a:tr>
              <a:tr h="914400">
                <a:tc>
                  <a:txBody>
                    <a:bodyPr/>
                    <a:lstStyle/>
                    <a:p>
                      <a:r>
                        <a:rPr sz="1875" b="1">
                          <a:solidFill>
                            <a:srgbClr val="142D40"/>
                          </a:solidFill>
                          <a:latin typeface="Calibri"/>
                          <a:ea typeface="Calibri"/>
                          <a:cs typeface="Calibri"/>
                        </a:rPr>
                        <a:t>Acting as software administrator</a:t>
                      </a:r>
                    </a:p>
                  </a:txBody>
                  <a:tcPr marL="114300" marR="114300" marT="76200" marB="57150" anchor="ctr">
                    <a:solidFill>
                      <a:srgbClr val="F1F5F8"/>
                    </a:solidFill>
                  </a:tcPr>
                </a:tc>
                <a:tc>
                  <a:txBody>
                    <a:bodyPr/>
                    <a:lstStyle/>
                    <a:p>
                      <a:r>
                        <a:rPr sz="1875" b="0">
                          <a:solidFill>
                            <a:srgbClr val="142D40"/>
                          </a:solidFill>
                          <a:latin typeface="Calibri"/>
                          <a:ea typeface="Calibri"/>
                          <a:cs typeface="Calibri"/>
                        </a:rPr>
                        <a:t>Admin login</a:t>
                      </a:r>
                    </a:p>
                    <a:p>
                      <a:r>
                        <a:rPr sz="1875" b="0">
                          <a:solidFill>
                            <a:srgbClr val="142D40"/>
                          </a:solidFill>
                          <a:latin typeface="Calibri"/>
                          <a:ea typeface="Calibri"/>
                          <a:cs typeface="Calibri"/>
                        </a:rPr>
                        <a:t>Privileged-role eligibility</a:t>
                      </a:r>
                    </a:p>
                  </a:txBody>
                  <a:tcPr marL="114300" marR="114300" marT="76200" marB="57150" anchor="ctr">
                    <a:solidFill>
                      <a:srgbClr val="F1F5F8"/>
                    </a:solidFill>
                  </a:tcPr>
                </a:tc>
                <a:tc>
                  <a:txBody>
                    <a:bodyPr/>
                    <a:lstStyle/>
                    <a:p>
                      <a:r>
                        <a:rPr sz="1875" b="0">
                          <a:solidFill>
                            <a:srgbClr val="142D40"/>
                          </a:solidFill>
                          <a:latin typeface="Calibri"/>
                          <a:ea typeface="Calibri"/>
                          <a:cs typeface="Calibri"/>
                        </a:rPr>
                        <a:t>Technical configuration and operations</a:t>
                      </a:r>
                    </a:p>
                    <a:p>
                      <a:r>
                        <a:rPr sz="1875" b="0">
                          <a:solidFill>
                            <a:srgbClr val="142D40"/>
                          </a:solidFill>
                          <a:latin typeface="Calibri"/>
                          <a:ea typeface="Calibri"/>
                          <a:cs typeface="Calibri"/>
                        </a:rPr>
                        <a:t>Management-plane permissions</a:t>
                      </a:r>
                    </a:p>
                  </a:txBody>
                  <a:tcPr marL="114300" marR="114300" marT="76200" marB="57150" anchor="ctr">
                    <a:solidFill>
                      <a:srgbClr val="F1F5F8"/>
                    </a:solidFill>
                  </a:tcPr>
                </a:tc>
                <a:tc>
                  <a:txBody>
                    <a:bodyPr/>
                    <a:lstStyle/>
                    <a:p>
                      <a:r>
                        <a:rPr sz="1875" b="0">
                          <a:solidFill>
                            <a:srgbClr val="142D40"/>
                          </a:solidFill>
                          <a:latin typeface="Calibri"/>
                          <a:ea typeface="Calibri"/>
                          <a:cs typeface="Calibri"/>
                        </a:rPr>
                        <a:t>Direct IDAM SSO by default</a:t>
                      </a:r>
                    </a:p>
                    <a:p>
                      <a:r>
                        <a:rPr sz="1875" b="0">
                          <a:solidFill>
                            <a:srgbClr val="142D40"/>
                          </a:solidFill>
                          <a:latin typeface="Calibri"/>
                          <a:ea typeface="Calibri"/>
                          <a:cs typeface="Calibri"/>
                        </a:rPr>
                        <a:t>Separate from client business access</a:t>
                      </a:r>
                    </a:p>
                  </a:txBody>
                  <a:tcPr marL="114300" marR="114300" marT="76200" marB="57150" anchor="ctr">
                    <a:solidFill>
                      <a:srgbClr val="F1F5F8"/>
                    </a:solidFill>
                  </a:tcPr>
                </a:tc>
              </a:tr>
            </a:tbl>
          </a:graphicData>
        </a:graphic>
      </p:graphicFrame>
      <p:sp>
        <p:nvSpPr>
          <p:cNvPr id="8" name="text-67">
            <a:extLst xmlns:a="http://schemas.openxmlformats.org/drawingml/2006/main">
              <a:ext uri="{FF2B5EF4-FFF2-40B4-BE49-F238E27FC236}">
                <a16:creationId xmlns:a16="http://schemas.microsoft.com/office/drawing/2014/main" id="{3F0C188C-755E-4140-93A6-072E68257481}"/>
              </a:ext>
            </a:extLst>
          </p:cNvPr>
          <p:cNvSpPr>
            <a:spLocks xmlns:a="http://schemas.openxmlformats.org/drawingml/2006/main" noGrp="1"/>
          </p:cNvSpPr>
          <p:nvPr/>
        </p:nvSpPr>
        <p:spPr>
          <a:xfrm xmlns:a="http://schemas.openxmlformats.org/drawingml/2006/main">
            <a:off x="571500" y="7058025"/>
            <a:ext cx="1409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42D40"/>
                </a:solidFill>
                <a:latin typeface="Calibri"/>
                <a:ea typeface="Calibri"/>
                <a:cs typeface="Calibri"/>
              </a:defRPr>
            </a:defPPr>
          </a:lstStyle>
          <a:p xmlns:a="http://schemas.openxmlformats.org/drawingml/2006/main">
            <a:pPr algn="l">
              <a:defRPr sz="2250" b="1">
                <a:solidFill>
                  <a:srgbClr val="142D40"/>
                </a:solidFill>
                <a:latin typeface="Calibri"/>
                <a:ea typeface="Calibri"/>
                <a:cs typeface="Calibri"/>
              </a:defRPr>
            </a:pPr>
            <a:r>
              <a:rPr sz="2250" b="1">
                <a:solidFill>
                  <a:srgbClr val="142D40"/>
                </a:solidFill>
                <a:latin typeface="Calibri"/>
                <a:ea typeface="Calibri"/>
                <a:cs typeface="Calibri"/>
              </a:rPr>
              <a:t>One employee can hold several approved modes</a:t>
            </a:r>
          </a:p>
        </p:txBody>
      </p:sp>
      <p:sp>
        <p:nvSpPr>
          <p:cNvPr id="9" name="text-68">
            <a:extLst xmlns:a="http://schemas.openxmlformats.org/drawingml/2006/main">
              <a:ext uri="{FF2B5EF4-FFF2-40B4-BE49-F238E27FC236}">
                <a16:creationId xmlns:a16="http://schemas.microsoft.com/office/drawing/2014/main" id="{66883ADC-7973-415F-A544-85BC4842D91E}"/>
              </a:ext>
            </a:extLst>
          </p:cNvPr>
          <p:cNvSpPr>
            <a:spLocks xmlns:a="http://schemas.openxmlformats.org/drawingml/2006/main" noGrp="1"/>
          </p:cNvSpPr>
          <p:nvPr/>
        </p:nvSpPr>
        <p:spPr>
          <a:xfrm xmlns:a="http://schemas.openxmlformats.org/drawingml/2006/main">
            <a:off x="571500" y="7505700"/>
            <a:ext cx="1409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7083"/>
                </a:solidFill>
                <a:latin typeface="Calibri"/>
                <a:ea typeface="Calibri"/>
                <a:cs typeface="Calibri"/>
              </a:defRPr>
            </a:defPPr>
          </a:lstStyle>
          <a:p xmlns:a="http://schemas.openxmlformats.org/drawingml/2006/main">
            <a:pPr algn="l">
              <a:defRPr sz="1950" b="0">
                <a:solidFill>
                  <a:srgbClr val="567083"/>
                </a:solidFill>
                <a:latin typeface="Calibri"/>
                <a:ea typeface="Calibri"/>
                <a:cs typeface="Calibri"/>
              </a:defRPr>
            </a:pPr>
            <a:r>
              <a:rPr sz="1950" b="0">
                <a:solidFill>
                  <a:srgbClr val="567083"/>
                </a:solidFill>
                <a:latin typeface="Calibri"/>
                <a:ea typeface="Calibri"/>
                <a:cs typeface="Calibri"/>
              </a:rPr>
              <a:t>Explicit mode selection, separation of duties and audit preserve the purpose of each session</a:t>
            </a:r>
          </a:p>
        </p:txBody>
      </p:sp>
    </p:spTree>
    <p:extLst>
      <p:ext uri="{BB962C8B-B14F-4D97-AF65-F5344CB8AC3E}">
        <p14:creationId xmlns:p14="http://schemas.microsoft.com/office/powerpoint/2010/main" val="98989842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text-69">
            <a:extLst xmlns:a="http://schemas.openxmlformats.org/drawingml/2006/main">
              <a:ext uri="{FF2B5EF4-FFF2-40B4-BE49-F238E27FC236}">
                <a16:creationId xmlns:a16="http://schemas.microsoft.com/office/drawing/2014/main" id="{7B29559A-E033-4D36-A15D-CBB6205075A5}"/>
              </a:ext>
            </a:extLst>
          </p:cNvPr>
          <p:cNvSpPr>
            <a:spLocks xmlns:a="http://schemas.openxmlformats.org/drawingml/2006/main" noGrp="1"/>
          </p:cNvSpPr>
          <p:nvPr/>
        </p:nvSpPr>
        <p:spPr>
          <a:xfrm xmlns:a="http://schemas.openxmlformats.org/drawingml/2006/main">
            <a:off x="571500" y="247650"/>
            <a:ext cx="1285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67083"/>
                </a:solidFill>
                <a:latin typeface="Calibri"/>
                <a:ea typeface="Calibri"/>
                <a:cs typeface="Calibri"/>
              </a:defRPr>
            </a:defPPr>
          </a:lstStyle>
          <a:p xmlns:a="http://schemas.openxmlformats.org/drawingml/2006/main">
            <a:pPr algn="l">
              <a:defRPr sz="1350" b="1">
                <a:solidFill>
                  <a:srgbClr val="567083"/>
                </a:solidFill>
                <a:latin typeface="Calibri"/>
                <a:ea typeface="Calibri"/>
                <a:cs typeface="Calibri"/>
              </a:defRPr>
            </a:pPr>
            <a:r>
              <a:rPr sz="1350" b="1">
                <a:solidFill>
                  <a:srgbClr val="567083"/>
                </a:solidFill>
                <a:latin typeface="Calibri"/>
                <a:ea typeface="Calibri"/>
                <a:cs typeface="Calibri"/>
              </a:rPr>
              <a:t>EUROCLEAR   /   ENTERPRISE IDENTITY ARCHITECTURE</a:t>
            </a:r>
          </a:p>
        </p:txBody>
      </p:sp>
      <p:sp>
        <p:nvSpPr>
          <p:cNvPr id="2" name="text-70">
            <a:extLst xmlns:a="http://schemas.openxmlformats.org/drawingml/2006/main">
              <a:ext uri="{FF2B5EF4-FFF2-40B4-BE49-F238E27FC236}">
                <a16:creationId xmlns:a16="http://schemas.microsoft.com/office/drawing/2014/main" id="{E9409AE2-DA80-4FDF-B71B-7440362ED6DB}"/>
              </a:ext>
            </a:extLst>
          </p:cNvPr>
          <p:cNvSpPr>
            <a:spLocks xmlns:a="http://schemas.openxmlformats.org/drawingml/2006/main" noGrp="1"/>
          </p:cNvSpPr>
          <p:nvPr/>
        </p:nvSpPr>
        <p:spPr>
          <a:xfrm xmlns:a="http://schemas.openxmlformats.org/drawingml/2006/main">
            <a:off x="571500" y="74295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42D40"/>
                </a:solidFill>
                <a:latin typeface="Calibri"/>
                <a:ea typeface="Calibri"/>
                <a:cs typeface="Calibri"/>
              </a:defRPr>
            </a:defPPr>
          </a:lstStyle>
          <a:p xmlns:a="http://schemas.openxmlformats.org/drawingml/2006/main">
            <a:pPr algn="l">
              <a:defRPr sz="3450" b="1">
                <a:solidFill>
                  <a:srgbClr val="142D40"/>
                </a:solidFill>
                <a:latin typeface="Calibri"/>
                <a:ea typeface="Calibri"/>
                <a:cs typeface="Calibri"/>
              </a:defRPr>
            </a:pPr>
            <a:r>
              <a:rPr sz="3450" b="1">
                <a:solidFill>
                  <a:srgbClr val="142D40"/>
                </a:solidFill>
                <a:latin typeface="Calibri"/>
                <a:ea typeface="Calibri"/>
                <a:cs typeface="Calibri"/>
              </a:rPr>
              <a:t>Workforce federation and client representation</a:t>
            </a:r>
          </a:p>
        </p:txBody>
      </p:sp>
      <p:sp>
        <p:nvSpPr>
          <p:cNvPr id="3" name="text-71">
            <a:extLst xmlns:a="http://schemas.openxmlformats.org/drawingml/2006/main">
              <a:ext uri="{FF2B5EF4-FFF2-40B4-BE49-F238E27FC236}">
                <a16:creationId xmlns:a16="http://schemas.microsoft.com/office/drawing/2014/main" id="{0C7C397F-A7A0-4D2B-BE3A-3E5E3FF330F3}"/>
              </a:ext>
            </a:extLst>
          </p:cNvPr>
          <p:cNvSpPr>
            <a:spLocks xmlns:a="http://schemas.openxmlformats.org/drawingml/2006/main" noGrp="1"/>
          </p:cNvSpPr>
          <p:nvPr/>
        </p:nvSpPr>
        <p:spPr>
          <a:xfrm xmlns:a="http://schemas.openxmlformats.org/drawingml/2006/main">
            <a:off x="571500" y="1419225"/>
            <a:ext cx="14097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67083"/>
                </a:solidFill>
                <a:latin typeface="Calibri"/>
                <a:ea typeface="Calibri"/>
                <a:cs typeface="Calibri"/>
              </a:defRPr>
            </a:defPPr>
          </a:lstStyle>
          <a:p xmlns:a="http://schemas.openxmlformats.org/drawingml/2006/main">
            <a:pPr algn="l">
              <a:defRPr sz="1875" b="0">
                <a:solidFill>
                  <a:srgbClr val="567083"/>
                </a:solidFill>
                <a:latin typeface="Calibri"/>
                <a:ea typeface="Calibri"/>
                <a:cs typeface="Calibri"/>
              </a:defRPr>
            </a:pPr>
            <a:r>
              <a:rPr sz="1875" b="0">
                <a:solidFill>
                  <a:srgbClr val="567083"/>
                </a:solidFill>
                <a:latin typeface="Calibri"/>
                <a:ea typeface="Calibri"/>
                <a:cs typeface="Calibri"/>
              </a:rPr>
              <a:t>The employee identity remains authoritative in IDAM throughout the session</a:t>
            </a:r>
          </a:p>
        </p:txBody>
      </p:sp>
      <p:sp>
        <p:nvSpPr>
          <p:cNvPr id="4" name="line-72">
            <a:extLst xmlns:a="http://schemas.openxmlformats.org/drawingml/2006/main">
              <a:ext uri="{FF2B5EF4-FFF2-40B4-BE49-F238E27FC236}">
                <a16:creationId xmlns:a16="http://schemas.microsoft.com/office/drawing/2014/main" id="{558FDAFA-B164-401C-8639-5AACCAAA755C}"/>
              </a:ext>
            </a:extLst>
          </p:cNvPr>
          <p:cNvSpPr>
            <a:spLocks xmlns:a="http://schemas.openxmlformats.org/drawingml/2006/main" noGrp="1"/>
          </p:cNvSpPr>
          <p:nvPr/>
        </p:nvSpPr>
        <p:spPr>
          <a:xfrm xmlns:a="http://schemas.openxmlformats.org/drawingml/2006/main">
            <a:off x="571500" y="8048625"/>
            <a:ext cx="14097000" cy="0"/>
          </a:xfrm>
          <a:prstGeom xmlns:a="http://schemas.openxmlformats.org/drawingml/2006/main" prst="line">
            <a:avLst/>
          </a:prstGeom>
          <a:noFill xmlns:a="http://schemas.openxmlformats.org/drawingml/2006/main"/>
          <a:ln xmlns:a="http://schemas.openxmlformats.org/drawingml/2006/main" w="13335">
            <a:solidFill>
              <a:srgbClr val="D8E1E8"/>
            </a:solidFill>
          </a:ln>
        </p:spPr>
      </p:sp>
      <p:sp>
        <p:nvSpPr>
          <p:cNvPr id="5" name="text-73">
            <a:extLst xmlns:a="http://schemas.openxmlformats.org/drawingml/2006/main">
              <a:ext uri="{FF2B5EF4-FFF2-40B4-BE49-F238E27FC236}">
                <a16:creationId xmlns:a16="http://schemas.microsoft.com/office/drawing/2014/main" id="{63396AFD-3FAF-4149-892D-76514804B70D}"/>
              </a:ext>
            </a:extLst>
          </p:cNvPr>
          <p:cNvSpPr>
            <a:spLocks xmlns:a="http://schemas.openxmlformats.org/drawingml/2006/main" noGrp="1"/>
          </p:cNvSpPr>
          <p:nvPr/>
        </p:nvSpPr>
        <p:spPr>
          <a:xfrm xmlns:a="http://schemas.openxmlformats.org/drawingml/2006/main">
            <a:off x="571500" y="8172450"/>
            <a:ext cx="1295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7083"/>
                </a:solidFill>
                <a:latin typeface="Calibri"/>
                <a:ea typeface="Calibri"/>
                <a:cs typeface="Calibri"/>
              </a:defRPr>
            </a:defPPr>
          </a:lstStyle>
          <a:p xmlns:a="http://schemas.openxmlformats.org/drawingml/2006/main">
            <a:pPr algn="l">
              <a:defRPr sz="1275" b="0">
                <a:solidFill>
                  <a:srgbClr val="567083"/>
                </a:solidFill>
                <a:latin typeface="Calibri"/>
                <a:ea typeface="Calibri"/>
                <a:cs typeface="Calibri"/>
              </a:defRPr>
            </a:pPr>
            <a:r>
              <a:rPr sz="1275" b="0">
                <a:solidFill>
                  <a:srgbClr val="567083"/>
                </a:solidFill>
                <a:latin typeface="Calibri"/>
                <a:ea typeface="Calibri"/>
                <a:cs typeface="Calibri"/>
              </a:rPr>
              <a:t>Architecture Board review   /   Proposed target boundaries   /   8 October 2026</a:t>
            </a:r>
          </a:p>
        </p:txBody>
      </p:sp>
      <p:sp>
        <p:nvSpPr>
          <p:cNvPr id="6" name="text-74">
            <a:extLst xmlns:a="http://schemas.openxmlformats.org/drawingml/2006/main">
              <a:ext uri="{FF2B5EF4-FFF2-40B4-BE49-F238E27FC236}">
                <a16:creationId xmlns:a16="http://schemas.microsoft.com/office/drawing/2014/main" id="{75FEE735-6E7F-447C-AD6D-A1D86173FB17}"/>
              </a:ext>
            </a:extLst>
          </p:cNvPr>
          <p:cNvSpPr>
            <a:spLocks xmlns:a="http://schemas.openxmlformats.org/drawingml/2006/main" noGrp="1"/>
          </p:cNvSpPr>
          <p:nvPr/>
        </p:nvSpPr>
        <p:spPr>
          <a:xfrm xmlns:a="http://schemas.openxmlformats.org/drawingml/2006/main">
            <a:off x="14001750" y="81438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567083"/>
                </a:solidFill>
                <a:latin typeface="Calibri"/>
                <a:ea typeface="Calibri"/>
                <a:cs typeface="Calibri"/>
              </a:defRPr>
            </a:defPPr>
          </a:lstStyle>
          <a:p xmlns:a="http://schemas.openxmlformats.org/drawingml/2006/main">
            <a:pPr algn="r">
              <a:defRPr sz="1350" b="1">
                <a:solidFill>
                  <a:srgbClr val="567083"/>
                </a:solidFill>
                <a:latin typeface="Calibri"/>
                <a:ea typeface="Calibri"/>
                <a:cs typeface="Calibri"/>
              </a:defRPr>
            </a:pPr>
            <a:r>
              <a:rPr sz="1350" b="1">
                <a:solidFill>
                  <a:srgbClr val="567083"/>
                </a:solidFill>
                <a:latin typeface="Calibri"/>
                <a:ea typeface="Calibri"/>
                <a:cs typeface="Calibri"/>
              </a:rPr>
              <a:t>05</a:t>
            </a:r>
          </a:p>
        </p:txBody>
      </p:sp>
      <p:sp>
        <p:nvSpPr>
          <p:cNvPr id="7" name="region-75">
            <a:extLst xmlns:a="http://schemas.openxmlformats.org/drawingml/2006/main">
              <a:ext uri="{FF2B5EF4-FFF2-40B4-BE49-F238E27FC236}">
                <a16:creationId xmlns:a16="http://schemas.microsoft.com/office/drawing/2014/main" id="{43CA2B9C-226E-446A-A8E1-201A2070B95B}"/>
              </a:ext>
            </a:extLst>
          </p:cNvPr>
          <p:cNvSpPr>
            <a:spLocks xmlns:a="http://schemas.openxmlformats.org/drawingml/2006/main" noGrp="1"/>
          </p:cNvSpPr>
          <p:nvPr/>
        </p:nvSpPr>
        <p:spPr>
          <a:xfrm xmlns:a="http://schemas.openxmlformats.org/drawingml/2006/main">
            <a:off x="571500" y="2276475"/>
            <a:ext cx="4229100" cy="2333625"/>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8" name="region-76">
            <a:extLst xmlns:a="http://schemas.openxmlformats.org/drawingml/2006/main">
              <a:ext uri="{FF2B5EF4-FFF2-40B4-BE49-F238E27FC236}">
                <a16:creationId xmlns:a16="http://schemas.microsoft.com/office/drawing/2014/main" id="{A3797367-36C9-4DAD-8C7A-4ED5BEC16275}"/>
              </a:ext>
            </a:extLst>
          </p:cNvPr>
          <p:cNvSpPr>
            <a:spLocks xmlns:a="http://schemas.openxmlformats.org/drawingml/2006/main" noGrp="1"/>
          </p:cNvSpPr>
          <p:nvPr/>
        </p:nvSpPr>
        <p:spPr>
          <a:xfrm xmlns:a="http://schemas.openxmlformats.org/drawingml/2006/main">
            <a:off x="571500" y="2276475"/>
            <a:ext cx="4229100" cy="47625"/>
          </a:xfrm>
          <a:prstGeom xmlns:a="http://schemas.openxmlformats.org/drawingml/2006/main" prst="rect">
            <a:avLst/>
          </a:prstGeom>
          <a:solidFill xmlns:a="http://schemas.openxmlformats.org/drawingml/2006/main">
            <a:srgbClr val="087C80"/>
          </a:solidFill>
          <a:ln xmlns:a="http://schemas.openxmlformats.org/drawingml/2006/main" w="0">
            <a:noFill/>
          </a:ln>
        </p:spPr>
      </p:sp>
      <p:sp>
        <p:nvSpPr>
          <p:cNvPr id="9" name="text-77">
            <a:extLst xmlns:a="http://schemas.openxmlformats.org/drawingml/2006/main">
              <a:ext uri="{FF2B5EF4-FFF2-40B4-BE49-F238E27FC236}">
                <a16:creationId xmlns:a16="http://schemas.microsoft.com/office/drawing/2014/main" id="{04DC6E38-0AD6-45CC-A064-F455E5378CA3}"/>
              </a:ext>
            </a:extLst>
          </p:cNvPr>
          <p:cNvSpPr>
            <a:spLocks xmlns:a="http://schemas.openxmlformats.org/drawingml/2006/main" noGrp="1"/>
          </p:cNvSpPr>
          <p:nvPr/>
        </p:nvSpPr>
        <p:spPr>
          <a:xfrm xmlns:a="http://schemas.openxmlformats.org/drawingml/2006/main">
            <a:off x="790575" y="2533650"/>
            <a:ext cx="3790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87C80"/>
                </a:solidFill>
                <a:latin typeface="Calibri"/>
                <a:ea typeface="Calibri"/>
                <a:cs typeface="Calibri"/>
              </a:defRPr>
            </a:defPPr>
          </a:lstStyle>
          <a:p xmlns:a="http://schemas.openxmlformats.org/drawingml/2006/main">
            <a:pPr algn="l">
              <a:defRPr sz="2325" b="1">
                <a:solidFill>
                  <a:srgbClr val="087C80"/>
                </a:solidFill>
                <a:latin typeface="Calibri"/>
                <a:ea typeface="Calibri"/>
                <a:cs typeface="Calibri"/>
              </a:defRPr>
            </a:pPr>
            <a:r>
              <a:rPr sz="2325" b="1">
                <a:solidFill>
                  <a:srgbClr val="087C80"/>
                </a:solidFill>
                <a:latin typeface="Calibri"/>
                <a:ea typeface="Calibri"/>
                <a:cs typeface="Calibri"/>
              </a:rPr>
              <a:t>Workforce IDAM</a:t>
            </a:r>
          </a:p>
        </p:txBody>
      </p:sp>
      <p:sp>
        <p:nvSpPr>
          <p:cNvPr id="10" name="text-78">
            <a:extLst xmlns:a="http://schemas.openxmlformats.org/drawingml/2006/main">
              <a:ext uri="{FF2B5EF4-FFF2-40B4-BE49-F238E27FC236}">
                <a16:creationId xmlns:a16="http://schemas.microsoft.com/office/drawing/2014/main" id="{D7190E6A-7B0C-4501-9946-DD19A56E25B1}"/>
              </a:ext>
            </a:extLst>
          </p:cNvPr>
          <p:cNvSpPr>
            <a:spLocks xmlns:a="http://schemas.openxmlformats.org/drawingml/2006/main" noGrp="1"/>
          </p:cNvSpPr>
          <p:nvPr/>
        </p:nvSpPr>
        <p:spPr>
          <a:xfrm xmlns:a="http://schemas.openxmlformats.org/drawingml/2006/main">
            <a:off x="790575" y="3305175"/>
            <a:ext cx="37909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D40"/>
                </a:solidFill>
                <a:latin typeface="Calibri"/>
                <a:ea typeface="Calibri"/>
                <a:cs typeface="Calibri"/>
              </a:defRPr>
            </a:defPPr>
          </a:lstStyle>
          <a:p xmlns:a="http://schemas.openxmlformats.org/drawingml/2006/main">
            <a:pPr algn="l">
              <a:defRPr sz="1950" b="0">
                <a:solidFill>
                  <a:srgbClr val="142D40"/>
                </a:solidFill>
                <a:latin typeface="Calibri"/>
                <a:ea typeface="Calibri"/>
                <a:cs typeface="Calibri"/>
              </a:defRPr>
            </a:pPr>
            <a:r>
              <a:rPr sz="1950" b="0">
                <a:solidFill>
                  <a:srgbClr val="142D40"/>
                </a:solidFill>
                <a:latin typeface="Calibri"/>
                <a:ea typeface="Calibri"/>
                <a:cs typeface="Calibri"/>
              </a:rPr>
              <a:t>Authenticate employee</a:t>
            </a:r>
          </a:p>
          <a:p xmlns:a="http://schemas.openxmlformats.org/drawingml/2006/main">
            <a:pPr algn="l">
              <a:defRPr sz="1950" b="0">
                <a:solidFill>
                  <a:srgbClr val="142D40"/>
                </a:solidFill>
                <a:latin typeface="Calibri"/>
                <a:ea typeface="Calibri"/>
                <a:cs typeface="Calibri"/>
              </a:defRPr>
            </a:pPr>
            <a:r>
              <a:rPr sz="1950" b="0">
                <a:solidFill>
                  <a:srgbClr val="142D40"/>
                </a:solidFill>
                <a:latin typeface="Calibri"/>
                <a:ea typeface="Calibri"/>
                <a:cs typeface="Calibri"/>
              </a:rPr>
              <a:t>Apply MFA or step-up</a:t>
            </a:r>
          </a:p>
          <a:p xmlns:a="http://schemas.openxmlformats.org/drawingml/2006/main">
            <a:pPr algn="l">
              <a:defRPr sz="1950" b="0">
                <a:solidFill>
                  <a:srgbClr val="142D40"/>
                </a:solidFill>
                <a:latin typeface="Calibri"/>
                <a:ea typeface="Calibri"/>
                <a:cs typeface="Calibri"/>
              </a:defRPr>
            </a:pPr>
            <a:r>
              <a:rPr sz="1950" b="0">
                <a:solidFill>
                  <a:srgbClr val="142D40"/>
                </a:solidFill>
                <a:latin typeface="Calibri"/>
                <a:ea typeface="Calibri"/>
                <a:cs typeface="Calibri"/>
              </a:rPr>
              <a:t>Assert approved identity</a:t>
            </a:r>
          </a:p>
        </p:txBody>
      </p:sp>
      <p:sp>
        <p:nvSpPr>
          <p:cNvPr id="11" name="region-79">
            <a:extLst xmlns:a="http://schemas.openxmlformats.org/drawingml/2006/main">
              <a:ext uri="{FF2B5EF4-FFF2-40B4-BE49-F238E27FC236}">
                <a16:creationId xmlns:a16="http://schemas.microsoft.com/office/drawing/2014/main" id="{D26349BB-5CB3-4D7B-8F5B-A0ABA5C55B3C}"/>
              </a:ext>
            </a:extLst>
          </p:cNvPr>
          <p:cNvSpPr>
            <a:spLocks xmlns:a="http://schemas.openxmlformats.org/drawingml/2006/main" noGrp="1"/>
          </p:cNvSpPr>
          <p:nvPr/>
        </p:nvSpPr>
        <p:spPr>
          <a:xfrm xmlns:a="http://schemas.openxmlformats.org/drawingml/2006/main">
            <a:off x="5505450" y="2276475"/>
            <a:ext cx="4229100" cy="2333625"/>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12" name="region-80">
            <a:extLst xmlns:a="http://schemas.openxmlformats.org/drawingml/2006/main">
              <a:ext uri="{FF2B5EF4-FFF2-40B4-BE49-F238E27FC236}">
                <a16:creationId xmlns:a16="http://schemas.microsoft.com/office/drawing/2014/main" id="{4C069D7B-2CD8-4DA8-B378-FC8B7386B3CD}"/>
              </a:ext>
            </a:extLst>
          </p:cNvPr>
          <p:cNvSpPr>
            <a:spLocks xmlns:a="http://schemas.openxmlformats.org/drawingml/2006/main" noGrp="1"/>
          </p:cNvSpPr>
          <p:nvPr/>
        </p:nvSpPr>
        <p:spPr>
          <a:xfrm xmlns:a="http://schemas.openxmlformats.org/drawingml/2006/main">
            <a:off x="5505450" y="2276475"/>
            <a:ext cx="4229100" cy="47625"/>
          </a:xfrm>
          <a:prstGeom xmlns:a="http://schemas.openxmlformats.org/drawingml/2006/main" prst="rect">
            <a:avLst/>
          </a:prstGeom>
          <a:solidFill xmlns:a="http://schemas.openxmlformats.org/drawingml/2006/main">
            <a:srgbClr val="1C6090"/>
          </a:solidFill>
          <a:ln xmlns:a="http://schemas.openxmlformats.org/drawingml/2006/main" w="0">
            <a:noFill/>
          </a:ln>
        </p:spPr>
      </p:sp>
      <p:sp>
        <p:nvSpPr>
          <p:cNvPr id="13" name="text-81">
            <a:extLst xmlns:a="http://schemas.openxmlformats.org/drawingml/2006/main">
              <a:ext uri="{FF2B5EF4-FFF2-40B4-BE49-F238E27FC236}">
                <a16:creationId xmlns:a16="http://schemas.microsoft.com/office/drawing/2014/main" id="{5996B24D-AC81-4B69-A119-5EE7EE497666}"/>
              </a:ext>
            </a:extLst>
          </p:cNvPr>
          <p:cNvSpPr>
            <a:spLocks xmlns:a="http://schemas.openxmlformats.org/drawingml/2006/main" noGrp="1"/>
          </p:cNvSpPr>
          <p:nvPr/>
        </p:nvSpPr>
        <p:spPr>
          <a:xfrm xmlns:a="http://schemas.openxmlformats.org/drawingml/2006/main">
            <a:off x="5724525" y="2533650"/>
            <a:ext cx="3790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C6090"/>
                </a:solidFill>
                <a:latin typeface="Calibri"/>
                <a:ea typeface="Calibri"/>
                <a:cs typeface="Calibri"/>
              </a:defRPr>
            </a:defPPr>
          </a:lstStyle>
          <a:p xmlns:a="http://schemas.openxmlformats.org/drawingml/2006/main">
            <a:pPr algn="l">
              <a:defRPr sz="2325" b="1">
                <a:solidFill>
                  <a:srgbClr val="1C6090"/>
                </a:solidFill>
                <a:latin typeface="Calibri"/>
                <a:ea typeface="Calibri"/>
                <a:cs typeface="Calibri"/>
              </a:defRPr>
            </a:pPr>
            <a:r>
              <a:rPr sz="2325" b="1">
                <a:solidFill>
                  <a:srgbClr val="1C6090"/>
                </a:solidFill>
                <a:latin typeface="Calibri"/>
                <a:ea typeface="Calibri"/>
                <a:cs typeface="Calibri"/>
              </a:rPr>
              <a:t>CIAM federation broker</a:t>
            </a:r>
          </a:p>
        </p:txBody>
      </p:sp>
      <p:sp>
        <p:nvSpPr>
          <p:cNvPr id="14" name="text-82">
            <a:extLst xmlns:a="http://schemas.openxmlformats.org/drawingml/2006/main">
              <a:ext uri="{FF2B5EF4-FFF2-40B4-BE49-F238E27FC236}">
                <a16:creationId xmlns:a16="http://schemas.microsoft.com/office/drawing/2014/main" id="{8B0C72E9-5520-431A-A419-AE12B4BADAA0}"/>
              </a:ext>
            </a:extLst>
          </p:cNvPr>
          <p:cNvSpPr>
            <a:spLocks xmlns:a="http://schemas.openxmlformats.org/drawingml/2006/main" noGrp="1"/>
          </p:cNvSpPr>
          <p:nvPr/>
        </p:nvSpPr>
        <p:spPr>
          <a:xfrm xmlns:a="http://schemas.openxmlformats.org/drawingml/2006/main">
            <a:off x="5724525" y="3305175"/>
            <a:ext cx="37909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D40"/>
                </a:solidFill>
                <a:latin typeface="Calibri"/>
                <a:ea typeface="Calibri"/>
                <a:cs typeface="Calibri"/>
              </a:defRPr>
            </a:defPPr>
          </a:lstStyle>
          <a:p xmlns:a="http://schemas.openxmlformats.org/drawingml/2006/main">
            <a:pPr algn="l">
              <a:defRPr sz="1950" b="0">
                <a:solidFill>
                  <a:srgbClr val="142D40"/>
                </a:solidFill>
                <a:latin typeface="Calibri"/>
                <a:ea typeface="Calibri"/>
                <a:cs typeface="Calibri"/>
              </a:defRPr>
            </a:pPr>
            <a:r>
              <a:rPr sz="1950" b="0">
                <a:solidFill>
                  <a:srgbClr val="142D40"/>
                </a:solidFill>
                <a:latin typeface="Calibri"/>
                <a:ea typeface="Calibri"/>
                <a:cs typeface="Calibri"/>
              </a:rPr>
              <a:t>Validate trusted assertion</a:t>
            </a:r>
          </a:p>
          <a:p xmlns:a="http://schemas.openxmlformats.org/drawingml/2006/main">
            <a:pPr algn="l">
              <a:defRPr sz="1950" b="0">
                <a:solidFill>
                  <a:srgbClr val="142D40"/>
                </a:solidFill>
                <a:latin typeface="Calibri"/>
                <a:ea typeface="Calibri"/>
                <a:cs typeface="Calibri"/>
              </a:defRPr>
            </a:pPr>
            <a:r>
              <a:rPr sz="1950" b="0">
                <a:solidFill>
                  <a:srgbClr val="142D40"/>
                </a:solidFill>
                <a:latin typeface="Calibri"/>
                <a:ea typeface="Calibri"/>
                <a:cs typeface="Calibri"/>
              </a:rPr>
              <a:t>Resolve approved client context</a:t>
            </a:r>
          </a:p>
          <a:p xmlns:a="http://schemas.openxmlformats.org/drawingml/2006/main">
            <a:pPr algn="l">
              <a:defRPr sz="1950" b="0">
                <a:solidFill>
                  <a:srgbClr val="142D40"/>
                </a:solidFill>
                <a:latin typeface="Calibri"/>
                <a:ea typeface="Calibri"/>
                <a:cs typeface="Calibri"/>
              </a:defRPr>
            </a:pPr>
            <a:r>
              <a:rPr sz="1950" b="0">
                <a:solidFill>
                  <a:srgbClr val="142D40"/>
                </a:solidFill>
                <a:latin typeface="Calibri"/>
                <a:ea typeface="Calibri"/>
                <a:cs typeface="Calibri"/>
              </a:rPr>
              <a:t>Issue restricted service token</a:t>
            </a:r>
          </a:p>
        </p:txBody>
      </p:sp>
      <p:sp>
        <p:nvSpPr>
          <p:cNvPr id="15" name="region-83">
            <a:extLst xmlns:a="http://schemas.openxmlformats.org/drawingml/2006/main">
              <a:ext uri="{FF2B5EF4-FFF2-40B4-BE49-F238E27FC236}">
                <a16:creationId xmlns:a16="http://schemas.microsoft.com/office/drawing/2014/main" id="{DC501F50-5A2D-4CDD-BF82-E52CC527327B}"/>
              </a:ext>
            </a:extLst>
          </p:cNvPr>
          <p:cNvSpPr>
            <a:spLocks xmlns:a="http://schemas.openxmlformats.org/drawingml/2006/main" noGrp="1"/>
          </p:cNvSpPr>
          <p:nvPr/>
        </p:nvSpPr>
        <p:spPr>
          <a:xfrm xmlns:a="http://schemas.openxmlformats.org/drawingml/2006/main">
            <a:off x="10439400" y="2276475"/>
            <a:ext cx="4229100" cy="2333625"/>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16" name="region-84">
            <a:extLst xmlns:a="http://schemas.openxmlformats.org/drawingml/2006/main">
              <a:ext uri="{FF2B5EF4-FFF2-40B4-BE49-F238E27FC236}">
                <a16:creationId xmlns:a16="http://schemas.microsoft.com/office/drawing/2014/main" id="{787C6BC2-D105-46DD-B438-ECB923EFACC7}"/>
              </a:ext>
            </a:extLst>
          </p:cNvPr>
          <p:cNvSpPr>
            <a:spLocks xmlns:a="http://schemas.openxmlformats.org/drawingml/2006/main" noGrp="1"/>
          </p:cNvSpPr>
          <p:nvPr/>
        </p:nvSpPr>
        <p:spPr>
          <a:xfrm xmlns:a="http://schemas.openxmlformats.org/drawingml/2006/main">
            <a:off x="10439400" y="2276475"/>
            <a:ext cx="4229100" cy="47625"/>
          </a:xfrm>
          <a:prstGeom xmlns:a="http://schemas.openxmlformats.org/drawingml/2006/main" prst="rect">
            <a:avLst/>
          </a:prstGeom>
          <a:solidFill xmlns:a="http://schemas.openxmlformats.org/drawingml/2006/main">
            <a:srgbClr val="142D40"/>
          </a:solidFill>
          <a:ln xmlns:a="http://schemas.openxmlformats.org/drawingml/2006/main" w="0">
            <a:noFill/>
          </a:ln>
        </p:spPr>
      </p:sp>
      <p:sp>
        <p:nvSpPr>
          <p:cNvPr id="17" name="text-85">
            <a:extLst xmlns:a="http://schemas.openxmlformats.org/drawingml/2006/main">
              <a:ext uri="{FF2B5EF4-FFF2-40B4-BE49-F238E27FC236}">
                <a16:creationId xmlns:a16="http://schemas.microsoft.com/office/drawing/2014/main" id="{97600B21-2783-4344-8F35-1965A90FA68F}"/>
              </a:ext>
            </a:extLst>
          </p:cNvPr>
          <p:cNvSpPr>
            <a:spLocks xmlns:a="http://schemas.openxmlformats.org/drawingml/2006/main" noGrp="1"/>
          </p:cNvSpPr>
          <p:nvPr/>
        </p:nvSpPr>
        <p:spPr>
          <a:xfrm xmlns:a="http://schemas.openxmlformats.org/drawingml/2006/main">
            <a:off x="10658475" y="2533650"/>
            <a:ext cx="3790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42D40"/>
                </a:solidFill>
                <a:latin typeface="Calibri"/>
                <a:ea typeface="Calibri"/>
                <a:cs typeface="Calibri"/>
              </a:defRPr>
            </a:defPPr>
          </a:lstStyle>
          <a:p xmlns:a="http://schemas.openxmlformats.org/drawingml/2006/main">
            <a:pPr algn="l">
              <a:defRPr sz="2325" b="1">
                <a:solidFill>
                  <a:srgbClr val="142D40"/>
                </a:solidFill>
                <a:latin typeface="Calibri"/>
                <a:ea typeface="Calibri"/>
                <a:cs typeface="Calibri"/>
              </a:defRPr>
            </a:pPr>
            <a:r>
              <a:rPr sz="2325" b="1">
                <a:solidFill>
                  <a:srgbClr val="142D40"/>
                </a:solidFill>
                <a:latin typeface="Calibri"/>
                <a:ea typeface="Calibri"/>
                <a:cs typeface="Calibri"/>
              </a:rPr>
              <a:t>Application and policy service</a:t>
            </a:r>
          </a:p>
        </p:txBody>
      </p:sp>
      <p:sp>
        <p:nvSpPr>
          <p:cNvPr id="18" name="text-86">
            <a:extLst xmlns:a="http://schemas.openxmlformats.org/drawingml/2006/main">
              <a:ext uri="{FF2B5EF4-FFF2-40B4-BE49-F238E27FC236}">
                <a16:creationId xmlns:a16="http://schemas.microsoft.com/office/drawing/2014/main" id="{18BB5AFF-14DE-4ED2-8D5E-343D6B0709E0}"/>
              </a:ext>
            </a:extLst>
          </p:cNvPr>
          <p:cNvSpPr>
            <a:spLocks xmlns:a="http://schemas.openxmlformats.org/drawingml/2006/main" noGrp="1"/>
          </p:cNvSpPr>
          <p:nvPr/>
        </p:nvSpPr>
        <p:spPr>
          <a:xfrm xmlns:a="http://schemas.openxmlformats.org/drawingml/2006/main">
            <a:off x="10658475" y="3305175"/>
            <a:ext cx="37909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D40"/>
                </a:solidFill>
                <a:latin typeface="Calibri"/>
                <a:ea typeface="Calibri"/>
                <a:cs typeface="Calibri"/>
              </a:defRPr>
            </a:defPPr>
          </a:lstStyle>
          <a:p xmlns:a="http://schemas.openxmlformats.org/drawingml/2006/main">
            <a:pPr algn="l">
              <a:defRPr sz="1950" b="0">
                <a:solidFill>
                  <a:srgbClr val="142D40"/>
                </a:solidFill>
                <a:latin typeface="Calibri"/>
                <a:ea typeface="Calibri"/>
                <a:cs typeface="Calibri"/>
              </a:defRPr>
            </a:pPr>
            <a:r>
              <a:rPr sz="1950" b="0">
                <a:solidFill>
                  <a:srgbClr val="142D40"/>
                </a:solidFill>
                <a:latin typeface="Calibri"/>
                <a:ea typeface="Calibri"/>
                <a:cs typeface="Calibri"/>
              </a:rPr>
              <a:t>Validate token and audience</a:t>
            </a:r>
          </a:p>
          <a:p xmlns:a="http://schemas.openxmlformats.org/drawingml/2006/main">
            <a:pPr algn="l">
              <a:defRPr sz="1950" b="0">
                <a:solidFill>
                  <a:srgbClr val="142D40"/>
                </a:solidFill>
                <a:latin typeface="Calibri"/>
                <a:ea typeface="Calibri"/>
                <a:cs typeface="Calibri"/>
              </a:defRPr>
            </a:pPr>
            <a:r>
              <a:rPr sz="1950" b="0">
                <a:solidFill>
                  <a:srgbClr val="142D40"/>
                </a:solidFill>
                <a:latin typeface="Calibri"/>
                <a:ea typeface="Calibri"/>
                <a:cs typeface="Calibri"/>
              </a:rPr>
              <a:t>Authorize resource and action</a:t>
            </a:r>
          </a:p>
          <a:p xmlns:a="http://schemas.openxmlformats.org/drawingml/2006/main">
            <a:pPr algn="l">
              <a:defRPr sz="1950" b="0">
                <a:solidFill>
                  <a:srgbClr val="142D40"/>
                </a:solidFill>
                <a:latin typeface="Calibri"/>
                <a:ea typeface="Calibri"/>
                <a:cs typeface="Calibri"/>
              </a:defRPr>
            </a:pPr>
            <a:r>
              <a:rPr sz="1950" b="0">
                <a:solidFill>
                  <a:srgbClr val="142D40"/>
                </a:solidFill>
                <a:latin typeface="Calibri"/>
                <a:ea typeface="Calibri"/>
                <a:cs typeface="Calibri"/>
              </a:rPr>
              <a:t>Record outcome and identities</a:t>
            </a:r>
          </a:p>
        </p:txBody>
      </p:sp>
      <p:sp>
        <p:nvSpPr>
          <p:cNvPr id="19" name="line-87">
            <a:extLst xmlns:a="http://schemas.openxmlformats.org/drawingml/2006/main">
              <a:ext uri="{FF2B5EF4-FFF2-40B4-BE49-F238E27FC236}">
                <a16:creationId xmlns:a16="http://schemas.microsoft.com/office/drawing/2014/main" id="{751BCF61-D8AC-42D0-B049-45263A61C342}"/>
              </a:ext>
            </a:extLst>
          </p:cNvPr>
          <p:cNvSpPr>
            <a:spLocks xmlns:a="http://schemas.openxmlformats.org/drawingml/2006/main" noGrp="1"/>
          </p:cNvSpPr>
          <p:nvPr/>
        </p:nvSpPr>
        <p:spPr>
          <a:xfrm xmlns:a="http://schemas.openxmlformats.org/drawingml/2006/main">
            <a:off x="4800600" y="3429000"/>
            <a:ext cx="704850" cy="0"/>
          </a:xfrm>
          <a:prstGeom xmlns:a="http://schemas.openxmlformats.org/drawingml/2006/main" prst="line">
            <a:avLst/>
          </a:prstGeom>
          <a:noFill xmlns:a="http://schemas.openxmlformats.org/drawingml/2006/main"/>
          <a:ln xmlns:a="http://schemas.openxmlformats.org/drawingml/2006/main" w="23813">
            <a:solidFill>
              <a:srgbClr val="567083"/>
            </a:solidFill>
          </a:ln>
        </p:spPr>
      </p:sp>
      <p:sp>
        <p:nvSpPr>
          <p:cNvPr id="20" name="trust-direction-0">
            <a:extLst xmlns:a="http://schemas.openxmlformats.org/drawingml/2006/main">
              <a:ext uri="{FF2B5EF4-FFF2-40B4-BE49-F238E27FC236}">
                <a16:creationId xmlns:a16="http://schemas.microsoft.com/office/drawing/2014/main" id="{55F38803-09B5-4EE0-8BE2-76D7EF558824}"/>
              </a:ext>
            </a:extLst>
          </p:cNvPr>
          <p:cNvSpPr>
            <a:spLocks xmlns:a="http://schemas.openxmlformats.org/drawingml/2006/main" noGrp="1"/>
          </p:cNvSpPr>
          <p:nvPr/>
        </p:nvSpPr>
        <p:spPr>
          <a:xfrm xmlns:a="http://schemas.openxmlformats.org/drawingml/2006/main">
            <a:off x="5305425" y="3352800"/>
            <a:ext cx="152400" cy="152400"/>
          </a:xfrm>
          <a:prstGeom xmlns:a="http://schemas.openxmlformats.org/drawingml/2006/main" prst="chevron">
            <a:avLst/>
          </a:prstGeom>
          <a:solidFill xmlns:a="http://schemas.openxmlformats.org/drawingml/2006/main">
            <a:srgbClr val="567083"/>
          </a:solidFill>
          <a:ln xmlns:a="http://schemas.openxmlformats.org/drawingml/2006/main" w="0">
            <a:noFill/>
          </a:ln>
        </p:spPr>
      </p:sp>
      <p:sp>
        <p:nvSpPr>
          <p:cNvPr id="21" name="line-88">
            <a:extLst xmlns:a="http://schemas.openxmlformats.org/drawingml/2006/main">
              <a:ext uri="{FF2B5EF4-FFF2-40B4-BE49-F238E27FC236}">
                <a16:creationId xmlns:a16="http://schemas.microsoft.com/office/drawing/2014/main" id="{5513D3D6-B688-4828-8FEF-1C8E26AC1E61}"/>
              </a:ext>
            </a:extLst>
          </p:cNvPr>
          <p:cNvSpPr>
            <a:spLocks xmlns:a="http://schemas.openxmlformats.org/drawingml/2006/main" noGrp="1"/>
          </p:cNvSpPr>
          <p:nvPr/>
        </p:nvSpPr>
        <p:spPr>
          <a:xfrm xmlns:a="http://schemas.openxmlformats.org/drawingml/2006/main">
            <a:off x="9734550" y="3429000"/>
            <a:ext cx="704850" cy="0"/>
          </a:xfrm>
          <a:prstGeom xmlns:a="http://schemas.openxmlformats.org/drawingml/2006/main" prst="line">
            <a:avLst/>
          </a:prstGeom>
          <a:noFill xmlns:a="http://schemas.openxmlformats.org/drawingml/2006/main"/>
          <a:ln xmlns:a="http://schemas.openxmlformats.org/drawingml/2006/main" w="23813">
            <a:solidFill>
              <a:srgbClr val="567083"/>
            </a:solidFill>
          </a:ln>
        </p:spPr>
      </p:sp>
      <p:sp>
        <p:nvSpPr>
          <p:cNvPr id="22" name="trust-direction-1">
            <a:extLst xmlns:a="http://schemas.openxmlformats.org/drawingml/2006/main">
              <a:ext uri="{FF2B5EF4-FFF2-40B4-BE49-F238E27FC236}">
                <a16:creationId xmlns:a16="http://schemas.microsoft.com/office/drawing/2014/main" id="{36FD3F79-119F-445F-899F-3F93145C60CE}"/>
              </a:ext>
            </a:extLst>
          </p:cNvPr>
          <p:cNvSpPr>
            <a:spLocks xmlns:a="http://schemas.openxmlformats.org/drawingml/2006/main" noGrp="1"/>
          </p:cNvSpPr>
          <p:nvPr/>
        </p:nvSpPr>
        <p:spPr>
          <a:xfrm xmlns:a="http://schemas.openxmlformats.org/drawingml/2006/main">
            <a:off x="10239375" y="3352800"/>
            <a:ext cx="152400" cy="152400"/>
          </a:xfrm>
          <a:prstGeom xmlns:a="http://schemas.openxmlformats.org/drawingml/2006/main" prst="chevron">
            <a:avLst/>
          </a:prstGeom>
          <a:solidFill xmlns:a="http://schemas.openxmlformats.org/drawingml/2006/main">
            <a:srgbClr val="567083"/>
          </a:solidFill>
          <a:ln xmlns:a="http://schemas.openxmlformats.org/drawingml/2006/main" w="0">
            <a:noFill/>
          </a:ln>
        </p:spPr>
      </p:sp>
      <p:sp>
        <p:nvSpPr>
          <p:cNvPr id="23" name="text-89">
            <a:extLst xmlns:a="http://schemas.openxmlformats.org/drawingml/2006/main">
              <a:ext uri="{FF2B5EF4-FFF2-40B4-BE49-F238E27FC236}">
                <a16:creationId xmlns:a16="http://schemas.microsoft.com/office/drawing/2014/main" id="{2C4D3470-B5C0-4DEB-B629-B06B03212D69}"/>
              </a:ext>
            </a:extLst>
          </p:cNvPr>
          <p:cNvSpPr>
            <a:spLocks xmlns:a="http://schemas.openxmlformats.org/drawingml/2006/main" noGrp="1"/>
          </p:cNvSpPr>
          <p:nvPr/>
        </p:nvSpPr>
        <p:spPr>
          <a:xfrm xmlns:a="http://schemas.openxmlformats.org/drawingml/2006/main">
            <a:off x="571500" y="500062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D40"/>
                </a:solidFill>
                <a:latin typeface="Calibri"/>
                <a:ea typeface="Calibri"/>
                <a:cs typeface="Calibri"/>
              </a:defRPr>
            </a:defPPr>
          </a:lstStyle>
          <a:p xmlns:a="http://schemas.openxmlformats.org/drawingml/2006/main">
            <a:pPr algn="l">
              <a:defRPr sz="2550" b="1">
                <a:solidFill>
                  <a:srgbClr val="142D40"/>
                </a:solidFill>
                <a:latin typeface="Calibri"/>
                <a:ea typeface="Calibri"/>
                <a:cs typeface="Calibri"/>
              </a:defRPr>
            </a:pPr>
            <a:r>
              <a:rPr sz="2550" b="1">
                <a:solidFill>
                  <a:srgbClr val="142D40"/>
                </a:solidFill>
                <a:latin typeface="Calibri"/>
                <a:ea typeface="Calibri"/>
                <a:cs typeface="Calibri"/>
              </a:rPr>
              <a:t>Controlled representation for support</a:t>
            </a:r>
          </a:p>
        </p:txBody>
      </p:sp>
      <p:sp>
        <p:nvSpPr>
          <p:cNvPr id="24" name="text-90">
            <a:extLst xmlns:a="http://schemas.openxmlformats.org/drawingml/2006/main">
              <a:ext uri="{FF2B5EF4-FFF2-40B4-BE49-F238E27FC236}">
                <a16:creationId xmlns:a16="http://schemas.microsoft.com/office/drawing/2014/main" id="{DA7A1EA7-855E-4011-B5FB-711BA1F70DFE}"/>
              </a:ext>
            </a:extLst>
          </p:cNvPr>
          <p:cNvSpPr>
            <a:spLocks xmlns:a="http://schemas.openxmlformats.org/drawingml/2006/main" noGrp="1"/>
          </p:cNvSpPr>
          <p:nvPr/>
        </p:nvSpPr>
        <p:spPr>
          <a:xfrm xmlns:a="http://schemas.openxmlformats.org/drawingml/2006/main">
            <a:off x="571500" y="561975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87C80"/>
                </a:solidFill>
                <a:latin typeface="Calibri"/>
                <a:ea typeface="Calibri"/>
                <a:cs typeface="Calibri"/>
              </a:defRPr>
            </a:defPPr>
          </a:lstStyle>
          <a:p xmlns:a="http://schemas.openxmlformats.org/drawingml/2006/main">
            <a:pPr algn="l">
              <a:defRPr sz="1950" b="1">
                <a:solidFill>
                  <a:srgbClr val="087C80"/>
                </a:solidFill>
                <a:latin typeface="Calibri"/>
                <a:ea typeface="Calibri"/>
                <a:cs typeface="Calibri"/>
              </a:defRPr>
            </a:pPr>
            <a:r>
              <a:rPr sz="1950" b="1">
                <a:solidFill>
                  <a:srgbClr val="087C80"/>
                </a:solidFill>
                <a:latin typeface="Calibri"/>
                <a:ea typeface="Calibri"/>
                <a:cs typeface="Calibri"/>
              </a:rPr>
              <a:t>1  Workforce verification</a:t>
            </a:r>
          </a:p>
        </p:txBody>
      </p:sp>
      <p:sp>
        <p:nvSpPr>
          <p:cNvPr id="25" name="text-91">
            <a:extLst xmlns:a="http://schemas.openxmlformats.org/drawingml/2006/main">
              <a:ext uri="{FF2B5EF4-FFF2-40B4-BE49-F238E27FC236}">
                <a16:creationId xmlns:a16="http://schemas.microsoft.com/office/drawing/2014/main" id="{6150CEF2-F97D-4FA6-BAC0-8F0667D1BD9C}"/>
              </a:ext>
            </a:extLst>
          </p:cNvPr>
          <p:cNvSpPr>
            <a:spLocks xmlns:a="http://schemas.openxmlformats.org/drawingml/2006/main" noGrp="1"/>
          </p:cNvSpPr>
          <p:nvPr/>
        </p:nvSpPr>
        <p:spPr>
          <a:xfrm xmlns:a="http://schemas.openxmlformats.org/drawingml/2006/main">
            <a:off x="571500" y="6419850"/>
            <a:ext cx="3238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40"/>
                </a:solidFill>
                <a:latin typeface="Calibri"/>
                <a:ea typeface="Calibri"/>
                <a:cs typeface="Calibri"/>
              </a:defRPr>
            </a:defPPr>
          </a:lstStyle>
          <a:p xmlns:a="http://schemas.openxmlformats.org/drawingml/2006/main">
            <a:pPr algn="l">
              <a:defRPr sz="1875" b="0">
                <a:solidFill>
                  <a:srgbClr val="142D40"/>
                </a:solidFill>
                <a:latin typeface="Calibri"/>
                <a:ea typeface="Calibri"/>
                <a:cs typeface="Calibri"/>
              </a:defRPr>
            </a:pPr>
            <a:r>
              <a:rPr sz="1875" b="0">
                <a:solidFill>
                  <a:srgbClr val="142D40"/>
                </a:solidFill>
                <a:latin typeface="Calibri"/>
                <a:ea typeface="Calibri"/>
                <a:cs typeface="Calibri"/>
              </a:rPr>
              <a:t>IDAM authenticates the operator and satisfies step-up</a:t>
            </a:r>
          </a:p>
        </p:txBody>
      </p:sp>
      <p:sp>
        <p:nvSpPr>
          <p:cNvPr id="26" name="text-92">
            <a:extLst xmlns:a="http://schemas.openxmlformats.org/drawingml/2006/main">
              <a:ext uri="{FF2B5EF4-FFF2-40B4-BE49-F238E27FC236}">
                <a16:creationId xmlns:a16="http://schemas.microsoft.com/office/drawing/2014/main" id="{781E56D3-303D-4840-8506-31D1711EDF01}"/>
              </a:ext>
            </a:extLst>
          </p:cNvPr>
          <p:cNvSpPr>
            <a:spLocks xmlns:a="http://schemas.openxmlformats.org/drawingml/2006/main" noGrp="1"/>
          </p:cNvSpPr>
          <p:nvPr/>
        </p:nvSpPr>
        <p:spPr>
          <a:xfrm xmlns:a="http://schemas.openxmlformats.org/drawingml/2006/main">
            <a:off x="4191000" y="561975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C6090"/>
                </a:solidFill>
                <a:latin typeface="Calibri"/>
                <a:ea typeface="Calibri"/>
                <a:cs typeface="Calibri"/>
              </a:defRPr>
            </a:defPPr>
          </a:lstStyle>
          <a:p xmlns:a="http://schemas.openxmlformats.org/drawingml/2006/main">
            <a:pPr algn="l">
              <a:defRPr sz="1950" b="1">
                <a:solidFill>
                  <a:srgbClr val="1C6090"/>
                </a:solidFill>
                <a:latin typeface="Calibri"/>
                <a:ea typeface="Calibri"/>
                <a:cs typeface="Calibri"/>
              </a:defRPr>
            </a:pPr>
            <a:r>
              <a:rPr sz="1950" b="1">
                <a:solidFill>
                  <a:srgbClr val="1C6090"/>
                </a:solidFill>
                <a:latin typeface="Calibri"/>
                <a:ea typeface="Calibri"/>
                <a:cs typeface="Calibri"/>
              </a:rPr>
              <a:t>2  Representation approval</a:t>
            </a:r>
          </a:p>
        </p:txBody>
      </p:sp>
      <p:sp>
        <p:nvSpPr>
          <p:cNvPr id="27" name="text-93">
            <a:extLst xmlns:a="http://schemas.openxmlformats.org/drawingml/2006/main">
              <a:ext uri="{FF2B5EF4-FFF2-40B4-BE49-F238E27FC236}">
                <a16:creationId xmlns:a16="http://schemas.microsoft.com/office/drawing/2014/main" id="{68C513BB-85D1-4812-AE9A-E889DFCE42AF}"/>
              </a:ext>
            </a:extLst>
          </p:cNvPr>
          <p:cNvSpPr>
            <a:spLocks xmlns:a="http://schemas.openxmlformats.org/drawingml/2006/main" noGrp="1"/>
          </p:cNvSpPr>
          <p:nvPr/>
        </p:nvSpPr>
        <p:spPr>
          <a:xfrm xmlns:a="http://schemas.openxmlformats.org/drawingml/2006/main">
            <a:off x="4191000" y="6419850"/>
            <a:ext cx="3238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40"/>
                </a:solidFill>
                <a:latin typeface="Calibri"/>
                <a:ea typeface="Calibri"/>
                <a:cs typeface="Calibri"/>
              </a:defRPr>
            </a:defPPr>
          </a:lstStyle>
          <a:p xmlns:a="http://schemas.openxmlformats.org/drawingml/2006/main">
            <a:pPr algn="l">
              <a:defRPr sz="1875" b="0">
                <a:solidFill>
                  <a:srgbClr val="142D40"/>
                </a:solidFill>
                <a:latin typeface="Calibri"/>
                <a:ea typeface="Calibri"/>
                <a:cs typeface="Calibri"/>
              </a:defRPr>
            </a:pPr>
            <a:r>
              <a:rPr sz="1875" b="0">
                <a:solidFill>
                  <a:srgbClr val="142D40"/>
                </a:solidFill>
                <a:latin typeface="Calibri"/>
                <a:ea typeface="Calibri"/>
                <a:cs typeface="Calibri"/>
              </a:rPr>
              <a:t>CIAM validates ticket, mandate, client and requested scope</a:t>
            </a:r>
          </a:p>
        </p:txBody>
      </p:sp>
      <p:sp>
        <p:nvSpPr>
          <p:cNvPr id="28" name="text-94">
            <a:extLst xmlns:a="http://schemas.openxmlformats.org/drawingml/2006/main">
              <a:ext uri="{FF2B5EF4-FFF2-40B4-BE49-F238E27FC236}">
                <a16:creationId xmlns:a16="http://schemas.microsoft.com/office/drawing/2014/main" id="{BBBA1CC7-5C39-46A2-8F2B-B92BF123A5CB}"/>
              </a:ext>
            </a:extLst>
          </p:cNvPr>
          <p:cNvSpPr>
            <a:spLocks xmlns:a="http://schemas.openxmlformats.org/drawingml/2006/main" noGrp="1"/>
          </p:cNvSpPr>
          <p:nvPr/>
        </p:nvSpPr>
        <p:spPr>
          <a:xfrm xmlns:a="http://schemas.openxmlformats.org/drawingml/2006/main">
            <a:off x="7810500" y="561975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C6090"/>
                </a:solidFill>
                <a:latin typeface="Calibri"/>
                <a:ea typeface="Calibri"/>
                <a:cs typeface="Calibri"/>
              </a:defRPr>
            </a:defPPr>
          </a:lstStyle>
          <a:p xmlns:a="http://schemas.openxmlformats.org/drawingml/2006/main">
            <a:pPr algn="l">
              <a:defRPr sz="1950" b="1">
                <a:solidFill>
                  <a:srgbClr val="1C6090"/>
                </a:solidFill>
                <a:latin typeface="Calibri"/>
                <a:ea typeface="Calibri"/>
                <a:cs typeface="Calibri"/>
              </a:defRPr>
            </a:pPr>
            <a:r>
              <a:rPr sz="1950" b="1">
                <a:solidFill>
                  <a:srgbClr val="1C6090"/>
                </a:solidFill>
                <a:latin typeface="Calibri"/>
                <a:ea typeface="Calibri"/>
                <a:cs typeface="Calibri"/>
              </a:rPr>
              <a:t>3  Restricted token</a:t>
            </a:r>
          </a:p>
        </p:txBody>
      </p:sp>
      <p:sp>
        <p:nvSpPr>
          <p:cNvPr id="29" name="text-95">
            <a:extLst xmlns:a="http://schemas.openxmlformats.org/drawingml/2006/main">
              <a:ext uri="{FF2B5EF4-FFF2-40B4-BE49-F238E27FC236}">
                <a16:creationId xmlns:a16="http://schemas.microsoft.com/office/drawing/2014/main" id="{28285C6F-9159-49EE-BB58-CC19FB208F51}"/>
              </a:ext>
            </a:extLst>
          </p:cNvPr>
          <p:cNvSpPr>
            <a:spLocks xmlns:a="http://schemas.openxmlformats.org/drawingml/2006/main" noGrp="1"/>
          </p:cNvSpPr>
          <p:nvPr/>
        </p:nvSpPr>
        <p:spPr>
          <a:xfrm xmlns:a="http://schemas.openxmlformats.org/drawingml/2006/main">
            <a:off x="7810500" y="6419850"/>
            <a:ext cx="3238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40"/>
                </a:solidFill>
                <a:latin typeface="Calibri"/>
                <a:ea typeface="Calibri"/>
                <a:cs typeface="Calibri"/>
              </a:defRPr>
            </a:defPPr>
          </a:lstStyle>
          <a:p xmlns:a="http://schemas.openxmlformats.org/drawingml/2006/main">
            <a:pPr algn="l">
              <a:defRPr sz="1875" b="0">
                <a:solidFill>
                  <a:srgbClr val="142D40"/>
                </a:solidFill>
                <a:latin typeface="Calibri"/>
                <a:ea typeface="Calibri"/>
                <a:cs typeface="Calibri"/>
              </a:defRPr>
            </a:pPr>
            <a:r>
              <a:rPr sz="1875" b="0">
                <a:solidFill>
                  <a:srgbClr val="142D40"/>
                </a:solidFill>
                <a:latin typeface="Calibri"/>
                <a:ea typeface="Calibri"/>
                <a:cs typeface="Calibri"/>
              </a:rPr>
              <a:t>CIAM preserves client subject and current workforce actor</a:t>
            </a:r>
          </a:p>
        </p:txBody>
      </p:sp>
      <p:sp>
        <p:nvSpPr>
          <p:cNvPr id="30" name="text-96">
            <a:extLst xmlns:a="http://schemas.openxmlformats.org/drawingml/2006/main">
              <a:ext uri="{FF2B5EF4-FFF2-40B4-BE49-F238E27FC236}">
                <a16:creationId xmlns:a16="http://schemas.microsoft.com/office/drawing/2014/main" id="{66D842CE-1995-49E0-BB4A-ADEEB710068C}"/>
              </a:ext>
            </a:extLst>
          </p:cNvPr>
          <p:cNvSpPr>
            <a:spLocks xmlns:a="http://schemas.openxmlformats.org/drawingml/2006/main" noGrp="1"/>
          </p:cNvSpPr>
          <p:nvPr/>
        </p:nvSpPr>
        <p:spPr>
          <a:xfrm xmlns:a="http://schemas.openxmlformats.org/drawingml/2006/main">
            <a:off x="11430000" y="561975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C6090"/>
                </a:solidFill>
                <a:latin typeface="Calibri"/>
                <a:ea typeface="Calibri"/>
                <a:cs typeface="Calibri"/>
              </a:defRPr>
            </a:defPPr>
          </a:lstStyle>
          <a:p xmlns:a="http://schemas.openxmlformats.org/drawingml/2006/main">
            <a:pPr algn="l">
              <a:defRPr sz="1950" b="1">
                <a:solidFill>
                  <a:srgbClr val="1C6090"/>
                </a:solidFill>
                <a:latin typeface="Calibri"/>
                <a:ea typeface="Calibri"/>
                <a:cs typeface="Calibri"/>
              </a:defRPr>
            </a:pPr>
            <a:r>
              <a:rPr sz="1950" b="1">
                <a:solidFill>
                  <a:srgbClr val="1C6090"/>
                </a:solidFill>
                <a:latin typeface="Calibri"/>
                <a:ea typeface="Calibri"/>
                <a:cs typeface="Calibri"/>
              </a:rPr>
              <a:t>4  Operation and audit</a:t>
            </a:r>
          </a:p>
        </p:txBody>
      </p:sp>
      <p:sp>
        <p:nvSpPr>
          <p:cNvPr id="31" name="text-97">
            <a:extLst xmlns:a="http://schemas.openxmlformats.org/drawingml/2006/main">
              <a:ext uri="{FF2B5EF4-FFF2-40B4-BE49-F238E27FC236}">
                <a16:creationId xmlns:a16="http://schemas.microsoft.com/office/drawing/2014/main" id="{51DC4BAE-3FAE-443D-A072-6749438D6B17}"/>
              </a:ext>
            </a:extLst>
          </p:cNvPr>
          <p:cNvSpPr>
            <a:spLocks xmlns:a="http://schemas.openxmlformats.org/drawingml/2006/main" noGrp="1"/>
          </p:cNvSpPr>
          <p:nvPr/>
        </p:nvSpPr>
        <p:spPr>
          <a:xfrm xmlns:a="http://schemas.openxmlformats.org/drawingml/2006/main">
            <a:off x="11430000" y="6419850"/>
            <a:ext cx="3238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40"/>
                </a:solidFill>
                <a:latin typeface="Calibri"/>
                <a:ea typeface="Calibri"/>
                <a:cs typeface="Calibri"/>
              </a:defRPr>
            </a:defPPr>
          </a:lstStyle>
          <a:p xmlns:a="http://schemas.openxmlformats.org/drawingml/2006/main">
            <a:pPr algn="l">
              <a:defRPr sz="1875" b="0">
                <a:solidFill>
                  <a:srgbClr val="142D40"/>
                </a:solidFill>
                <a:latin typeface="Calibri"/>
                <a:ea typeface="Calibri"/>
                <a:cs typeface="Calibri"/>
              </a:defRPr>
            </a:pPr>
            <a:r>
              <a:rPr sz="1875" b="0">
                <a:solidFill>
                  <a:srgbClr val="142D40"/>
                </a:solidFill>
                <a:latin typeface="Calibri"/>
                <a:ea typeface="Calibri"/>
                <a:cs typeface="Calibri"/>
              </a:rPr>
              <a:t>Application policy checks the action and records both identities</a:t>
            </a:r>
          </a:p>
        </p:txBody>
      </p:sp>
      <p:sp>
        <p:nvSpPr>
          <p:cNvPr id="32" name="text-98">
            <a:extLst xmlns:a="http://schemas.openxmlformats.org/drawingml/2006/main">
              <a:ext uri="{FF2B5EF4-FFF2-40B4-BE49-F238E27FC236}">
                <a16:creationId xmlns:a16="http://schemas.microsoft.com/office/drawing/2014/main" id="{34208A47-A523-493B-99A9-DA7482828EC4}"/>
              </a:ext>
            </a:extLst>
          </p:cNvPr>
          <p:cNvSpPr>
            <a:spLocks xmlns:a="http://schemas.openxmlformats.org/drawingml/2006/main" noGrp="1"/>
          </p:cNvSpPr>
          <p:nvPr/>
        </p:nvSpPr>
        <p:spPr>
          <a:xfrm xmlns:a="http://schemas.openxmlformats.org/drawingml/2006/main">
            <a:off x="571500" y="76866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67083"/>
                </a:solidFill>
                <a:latin typeface="Calibri"/>
                <a:ea typeface="Calibri"/>
                <a:cs typeface="Calibri"/>
              </a:defRPr>
            </a:defPPr>
          </a:lstStyle>
          <a:p xmlns:a="http://schemas.openxmlformats.org/drawingml/2006/main">
            <a:pPr algn="l">
              <a:defRPr sz="1650" b="0">
                <a:solidFill>
                  <a:srgbClr val="567083"/>
                </a:solidFill>
                <a:latin typeface="Calibri"/>
                <a:ea typeface="Calibri"/>
                <a:cs typeface="Calibri"/>
              </a:defRPr>
            </a:pPr>
            <a:r>
              <a:rPr sz="1650" b="0">
                <a:solidFill>
                  <a:srgbClr val="567083"/>
                </a:solidFill>
                <a:latin typeface="Calibri"/>
                <a:ea typeface="Calibri"/>
                <a:cs typeface="Calibri"/>
              </a:rPr>
              <a:t>Token exchange supports the representation pattern. The ticket and approval checks are local policy controls.</a:t>
            </a:r>
          </a:p>
        </p:txBody>
      </p:sp>
    </p:spTree>
    <p:extLst>
      <p:ext uri="{BB962C8B-B14F-4D97-AF65-F5344CB8AC3E}">
        <p14:creationId xmlns:p14="http://schemas.microsoft.com/office/powerpoint/2010/main" val="176940994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text-99">
            <a:extLst xmlns:a="http://schemas.openxmlformats.org/drawingml/2006/main">
              <a:ext uri="{FF2B5EF4-FFF2-40B4-BE49-F238E27FC236}">
                <a16:creationId xmlns:a16="http://schemas.microsoft.com/office/drawing/2014/main" id="{539494B5-2904-43BA-BDF8-43199B1D15D4}"/>
              </a:ext>
            </a:extLst>
          </p:cNvPr>
          <p:cNvSpPr>
            <a:spLocks xmlns:a="http://schemas.openxmlformats.org/drawingml/2006/main" noGrp="1"/>
          </p:cNvSpPr>
          <p:nvPr/>
        </p:nvSpPr>
        <p:spPr>
          <a:xfrm xmlns:a="http://schemas.openxmlformats.org/drawingml/2006/main">
            <a:off x="571500" y="247650"/>
            <a:ext cx="1285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67083"/>
                </a:solidFill>
                <a:latin typeface="Calibri"/>
                <a:ea typeface="Calibri"/>
                <a:cs typeface="Calibri"/>
              </a:defRPr>
            </a:defPPr>
          </a:lstStyle>
          <a:p xmlns:a="http://schemas.openxmlformats.org/drawingml/2006/main">
            <a:pPr algn="l">
              <a:defRPr sz="1350" b="1">
                <a:solidFill>
                  <a:srgbClr val="567083"/>
                </a:solidFill>
                <a:latin typeface="Calibri"/>
                <a:ea typeface="Calibri"/>
                <a:cs typeface="Calibri"/>
              </a:defRPr>
            </a:pPr>
            <a:r>
              <a:rPr sz="1350" b="1">
                <a:solidFill>
                  <a:srgbClr val="567083"/>
                </a:solidFill>
                <a:latin typeface="Calibri"/>
                <a:ea typeface="Calibri"/>
                <a:cs typeface="Calibri"/>
              </a:rPr>
              <a:t>EUROCLEAR   /   ENTERPRISE IDENTITY ARCHITECTURE</a:t>
            </a:r>
          </a:p>
        </p:txBody>
      </p:sp>
      <p:sp>
        <p:nvSpPr>
          <p:cNvPr id="2" name="text-100">
            <a:extLst xmlns:a="http://schemas.openxmlformats.org/drawingml/2006/main">
              <a:ext uri="{FF2B5EF4-FFF2-40B4-BE49-F238E27FC236}">
                <a16:creationId xmlns:a16="http://schemas.microsoft.com/office/drawing/2014/main" id="{8E8828FB-1B73-4F17-9650-8C248E000181}"/>
              </a:ext>
            </a:extLst>
          </p:cNvPr>
          <p:cNvSpPr>
            <a:spLocks xmlns:a="http://schemas.openxmlformats.org/drawingml/2006/main" noGrp="1"/>
          </p:cNvSpPr>
          <p:nvPr/>
        </p:nvSpPr>
        <p:spPr>
          <a:xfrm xmlns:a="http://schemas.openxmlformats.org/drawingml/2006/main">
            <a:off x="571500" y="74295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42D40"/>
                </a:solidFill>
                <a:latin typeface="Calibri"/>
                <a:ea typeface="Calibri"/>
                <a:cs typeface="Calibri"/>
              </a:defRPr>
            </a:defPPr>
          </a:lstStyle>
          <a:p xmlns:a="http://schemas.openxmlformats.org/drawingml/2006/main">
            <a:pPr algn="l">
              <a:defRPr sz="3450" b="1">
                <a:solidFill>
                  <a:srgbClr val="142D40"/>
                </a:solidFill>
                <a:latin typeface="Calibri"/>
                <a:ea typeface="Calibri"/>
                <a:cs typeface="Calibri"/>
              </a:defRPr>
            </a:pPr>
            <a:r>
              <a:rPr sz="3450" b="1">
                <a:solidFill>
                  <a:srgbClr val="142D40"/>
                </a:solidFill>
                <a:latin typeface="Calibri"/>
                <a:ea typeface="Calibri"/>
                <a:cs typeface="Calibri"/>
              </a:rPr>
              <a:t>Entity membership, commercial profile and migration</a:t>
            </a:r>
          </a:p>
        </p:txBody>
      </p:sp>
      <p:sp>
        <p:nvSpPr>
          <p:cNvPr id="3" name="text-101">
            <a:extLst xmlns:a="http://schemas.openxmlformats.org/drawingml/2006/main">
              <a:ext uri="{FF2B5EF4-FFF2-40B4-BE49-F238E27FC236}">
                <a16:creationId xmlns:a16="http://schemas.microsoft.com/office/drawing/2014/main" id="{452B6E89-12AC-4462-816B-02C333324297}"/>
              </a:ext>
            </a:extLst>
          </p:cNvPr>
          <p:cNvSpPr>
            <a:spLocks xmlns:a="http://schemas.openxmlformats.org/drawingml/2006/main" noGrp="1"/>
          </p:cNvSpPr>
          <p:nvPr/>
        </p:nvSpPr>
        <p:spPr>
          <a:xfrm xmlns:a="http://schemas.openxmlformats.org/drawingml/2006/main">
            <a:off x="571500" y="1419225"/>
            <a:ext cx="14097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67083"/>
                </a:solidFill>
                <a:latin typeface="Calibri"/>
                <a:ea typeface="Calibri"/>
                <a:cs typeface="Calibri"/>
              </a:defRPr>
            </a:defPPr>
          </a:lstStyle>
          <a:p xmlns:a="http://schemas.openxmlformats.org/drawingml/2006/main">
            <a:pPr algn="l">
              <a:defRPr sz="1875" b="0">
                <a:solidFill>
                  <a:srgbClr val="567083"/>
                </a:solidFill>
                <a:latin typeface="Calibri"/>
                <a:ea typeface="Calibri"/>
                <a:cs typeface="Calibri"/>
              </a:defRPr>
            </a:pPr>
            <a:r>
              <a:rPr sz="1875" b="0">
                <a:solidFill>
                  <a:srgbClr val="567083"/>
                </a:solidFill>
                <a:latin typeface="Calibri"/>
                <a:ea typeface="Calibri"/>
                <a:cs typeface="Calibri"/>
              </a:rPr>
              <a:t>These attributes refine access context and can overlap across the catalogue</a:t>
            </a:r>
          </a:p>
        </p:txBody>
      </p:sp>
      <p:sp>
        <p:nvSpPr>
          <p:cNvPr id="4" name="line-102">
            <a:extLst xmlns:a="http://schemas.openxmlformats.org/drawingml/2006/main">
              <a:ext uri="{FF2B5EF4-FFF2-40B4-BE49-F238E27FC236}">
                <a16:creationId xmlns:a16="http://schemas.microsoft.com/office/drawing/2014/main" id="{C9D8B66C-7B29-4211-9CB4-96099B304BE5}"/>
              </a:ext>
            </a:extLst>
          </p:cNvPr>
          <p:cNvSpPr>
            <a:spLocks xmlns:a="http://schemas.openxmlformats.org/drawingml/2006/main" noGrp="1"/>
          </p:cNvSpPr>
          <p:nvPr/>
        </p:nvSpPr>
        <p:spPr>
          <a:xfrm xmlns:a="http://schemas.openxmlformats.org/drawingml/2006/main">
            <a:off x="571500" y="8048625"/>
            <a:ext cx="14097000" cy="0"/>
          </a:xfrm>
          <a:prstGeom xmlns:a="http://schemas.openxmlformats.org/drawingml/2006/main" prst="line">
            <a:avLst/>
          </a:prstGeom>
          <a:noFill xmlns:a="http://schemas.openxmlformats.org/drawingml/2006/main"/>
          <a:ln xmlns:a="http://schemas.openxmlformats.org/drawingml/2006/main" w="13335">
            <a:solidFill>
              <a:srgbClr val="D8E1E8"/>
            </a:solidFill>
          </a:ln>
        </p:spPr>
      </p:sp>
      <p:sp>
        <p:nvSpPr>
          <p:cNvPr id="5" name="text-103">
            <a:extLst xmlns:a="http://schemas.openxmlformats.org/drawingml/2006/main">
              <a:ext uri="{FF2B5EF4-FFF2-40B4-BE49-F238E27FC236}">
                <a16:creationId xmlns:a16="http://schemas.microsoft.com/office/drawing/2014/main" id="{08686B49-1285-4AF4-9EF3-2045EA765369}"/>
              </a:ext>
            </a:extLst>
          </p:cNvPr>
          <p:cNvSpPr>
            <a:spLocks xmlns:a="http://schemas.openxmlformats.org/drawingml/2006/main" noGrp="1"/>
          </p:cNvSpPr>
          <p:nvPr/>
        </p:nvSpPr>
        <p:spPr>
          <a:xfrm xmlns:a="http://schemas.openxmlformats.org/drawingml/2006/main">
            <a:off x="571500" y="8172450"/>
            <a:ext cx="1295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7083"/>
                </a:solidFill>
                <a:latin typeface="Calibri"/>
                <a:ea typeface="Calibri"/>
                <a:cs typeface="Calibri"/>
              </a:defRPr>
            </a:defPPr>
          </a:lstStyle>
          <a:p xmlns:a="http://schemas.openxmlformats.org/drawingml/2006/main">
            <a:pPr algn="l">
              <a:defRPr sz="1275" b="0">
                <a:solidFill>
                  <a:srgbClr val="567083"/>
                </a:solidFill>
                <a:latin typeface="Calibri"/>
                <a:ea typeface="Calibri"/>
                <a:cs typeface="Calibri"/>
              </a:defRPr>
            </a:pPr>
            <a:r>
              <a:rPr sz="1275" b="0">
                <a:solidFill>
                  <a:srgbClr val="567083"/>
                </a:solidFill>
                <a:latin typeface="Calibri"/>
                <a:ea typeface="Calibri"/>
                <a:cs typeface="Calibri"/>
              </a:rPr>
              <a:t>Architecture Board review   /   Proposed target boundaries   /   8 October 2026</a:t>
            </a:r>
          </a:p>
        </p:txBody>
      </p:sp>
      <p:sp>
        <p:nvSpPr>
          <p:cNvPr id="6" name="text-104">
            <a:extLst xmlns:a="http://schemas.openxmlformats.org/drawingml/2006/main">
              <a:ext uri="{FF2B5EF4-FFF2-40B4-BE49-F238E27FC236}">
                <a16:creationId xmlns:a16="http://schemas.microsoft.com/office/drawing/2014/main" id="{7EE83713-CC98-424D-B294-E1AB739D101B}"/>
              </a:ext>
            </a:extLst>
          </p:cNvPr>
          <p:cNvSpPr>
            <a:spLocks xmlns:a="http://schemas.openxmlformats.org/drawingml/2006/main" noGrp="1"/>
          </p:cNvSpPr>
          <p:nvPr/>
        </p:nvSpPr>
        <p:spPr>
          <a:xfrm xmlns:a="http://schemas.openxmlformats.org/drawingml/2006/main">
            <a:off x="14001750" y="81438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567083"/>
                </a:solidFill>
                <a:latin typeface="Calibri"/>
                <a:ea typeface="Calibri"/>
                <a:cs typeface="Calibri"/>
              </a:defRPr>
            </a:defPPr>
          </a:lstStyle>
          <a:p xmlns:a="http://schemas.openxmlformats.org/drawingml/2006/main">
            <a:pPr algn="r">
              <a:defRPr sz="1350" b="1">
                <a:solidFill>
                  <a:srgbClr val="567083"/>
                </a:solidFill>
                <a:latin typeface="Calibri"/>
                <a:ea typeface="Calibri"/>
                <a:cs typeface="Calibri"/>
              </a:defRPr>
            </a:pPr>
            <a:r>
              <a:rPr sz="1350" b="1">
                <a:solidFill>
                  <a:srgbClr val="567083"/>
                </a:solidFill>
                <a:latin typeface="Calibri"/>
                <a:ea typeface="Calibri"/>
                <a:cs typeface="Calibri"/>
              </a:rPr>
              <a:t>06</a:t>
            </a:r>
          </a:p>
        </p:txBody>
      </p:sp>
      <p:sp>
        <p:nvSpPr>
          <p:cNvPr id="7" name="line-105">
            <a:extLst xmlns:a="http://schemas.openxmlformats.org/drawingml/2006/main">
              <a:ext uri="{FF2B5EF4-FFF2-40B4-BE49-F238E27FC236}">
                <a16:creationId xmlns:a16="http://schemas.microsoft.com/office/drawing/2014/main" id="{5163BDFB-57F4-48FB-A863-F2DCF6D0A2AB}"/>
              </a:ext>
            </a:extLst>
          </p:cNvPr>
          <p:cNvSpPr>
            <a:spLocks xmlns:a="http://schemas.openxmlformats.org/drawingml/2006/main" noGrp="1"/>
          </p:cNvSpPr>
          <p:nvPr/>
        </p:nvSpPr>
        <p:spPr>
          <a:xfrm xmlns:a="http://schemas.openxmlformats.org/drawingml/2006/main">
            <a:off x="571500" y="3286125"/>
            <a:ext cx="14097000" cy="0"/>
          </a:xfrm>
          <a:prstGeom xmlns:a="http://schemas.openxmlformats.org/drawingml/2006/main" prst="line">
            <a:avLst/>
          </a:prstGeom>
          <a:noFill xmlns:a="http://schemas.openxmlformats.org/drawingml/2006/main"/>
          <a:ln xmlns:a="http://schemas.openxmlformats.org/drawingml/2006/main" w="13335">
            <a:solidFill>
              <a:srgbClr val="D8E1E8"/>
            </a:solidFill>
          </a:ln>
        </p:spPr>
      </p:sp>
      <p:sp>
        <p:nvSpPr>
          <p:cNvPr id="8" name="text-106">
            <a:extLst xmlns:a="http://schemas.openxmlformats.org/drawingml/2006/main">
              <a:ext uri="{FF2B5EF4-FFF2-40B4-BE49-F238E27FC236}">
                <a16:creationId xmlns:a16="http://schemas.microsoft.com/office/drawing/2014/main" id="{F65D444A-D039-4086-B1A5-DFAD7EC0EFDC}"/>
              </a:ext>
            </a:extLst>
          </p:cNvPr>
          <p:cNvSpPr>
            <a:spLocks xmlns:a="http://schemas.openxmlformats.org/drawingml/2006/main" noGrp="1"/>
          </p:cNvSpPr>
          <p:nvPr/>
        </p:nvSpPr>
        <p:spPr>
          <a:xfrm xmlns:a="http://schemas.openxmlformats.org/drawingml/2006/main">
            <a:off x="571500" y="22479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C6090"/>
                </a:solidFill>
                <a:latin typeface="Calibri"/>
                <a:ea typeface="Calibri"/>
                <a:cs typeface="Calibri"/>
              </a:defRPr>
            </a:defPPr>
          </a:lstStyle>
          <a:p xmlns:a="http://schemas.openxmlformats.org/drawingml/2006/main">
            <a:pPr algn="l">
              <a:defRPr sz="2175" b="1">
                <a:solidFill>
                  <a:srgbClr val="1C6090"/>
                </a:solidFill>
                <a:latin typeface="Calibri"/>
                <a:ea typeface="Calibri"/>
                <a:cs typeface="Calibri"/>
              </a:defRPr>
            </a:pPr>
            <a:r>
              <a:rPr sz="2175" b="1">
                <a:solidFill>
                  <a:srgbClr val="1C6090"/>
                </a:solidFill>
                <a:latin typeface="Calibri"/>
                <a:ea typeface="Calibri"/>
                <a:cs typeface="Calibri"/>
              </a:rPr>
              <a:t>Client organisation</a:t>
            </a:r>
          </a:p>
        </p:txBody>
      </p:sp>
      <p:sp>
        <p:nvSpPr>
          <p:cNvPr id="9" name="text-107">
            <a:extLst xmlns:a="http://schemas.openxmlformats.org/drawingml/2006/main">
              <a:ext uri="{FF2B5EF4-FFF2-40B4-BE49-F238E27FC236}">
                <a16:creationId xmlns:a16="http://schemas.microsoft.com/office/drawing/2014/main" id="{7EB9A16A-76E8-47CB-A228-10F877E3C583}"/>
              </a:ext>
            </a:extLst>
          </p:cNvPr>
          <p:cNvSpPr>
            <a:spLocks xmlns:a="http://schemas.openxmlformats.org/drawingml/2006/main" noGrp="1"/>
          </p:cNvSpPr>
          <p:nvPr/>
        </p:nvSpPr>
        <p:spPr>
          <a:xfrm xmlns:a="http://schemas.openxmlformats.org/drawingml/2006/main">
            <a:off x="3667125" y="2247900"/>
            <a:ext cx="5048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2D40"/>
                </a:solidFill>
                <a:latin typeface="Calibri"/>
                <a:ea typeface="Calibri"/>
                <a:cs typeface="Calibri"/>
              </a:defRPr>
            </a:defPPr>
          </a:lstStyle>
          <a:p xmlns:a="http://schemas.openxmlformats.org/drawingml/2006/main">
            <a:pPr algn="l">
              <a:defRPr sz="2175" b="1">
                <a:solidFill>
                  <a:srgbClr val="142D40"/>
                </a:solidFill>
                <a:latin typeface="Calibri"/>
                <a:ea typeface="Calibri"/>
                <a:cs typeface="Calibri"/>
              </a:defRPr>
            </a:pPr>
            <a:r>
              <a:rPr sz="2175" b="1">
                <a:solidFill>
                  <a:srgbClr val="142D40"/>
                </a:solidFill>
                <a:latin typeface="Calibri"/>
                <a:ea typeface="Calibri"/>
                <a:cs typeface="Calibri"/>
              </a:rPr>
              <a:t>Institution and delegated mandate</a:t>
            </a:r>
          </a:p>
        </p:txBody>
      </p:sp>
      <p:sp>
        <p:nvSpPr>
          <p:cNvPr id="10" name="text-108">
            <a:extLst xmlns:a="http://schemas.openxmlformats.org/drawingml/2006/main">
              <a:ext uri="{FF2B5EF4-FFF2-40B4-BE49-F238E27FC236}">
                <a16:creationId xmlns:a16="http://schemas.microsoft.com/office/drawing/2014/main" id="{D49DC63F-6D0B-4A9A-8F00-CE060CF70B5F}"/>
              </a:ext>
            </a:extLst>
          </p:cNvPr>
          <p:cNvSpPr>
            <a:spLocks xmlns:a="http://schemas.openxmlformats.org/drawingml/2006/main" noGrp="1"/>
          </p:cNvSpPr>
          <p:nvPr/>
        </p:nvSpPr>
        <p:spPr>
          <a:xfrm xmlns:a="http://schemas.openxmlformats.org/drawingml/2006/main">
            <a:off x="9172575" y="2247900"/>
            <a:ext cx="54959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7083"/>
                </a:solidFill>
                <a:latin typeface="Calibri"/>
                <a:ea typeface="Calibri"/>
                <a:cs typeface="Calibri"/>
              </a:defRPr>
            </a:defPPr>
          </a:lstStyle>
          <a:p xmlns:a="http://schemas.openxmlformats.org/drawingml/2006/main">
            <a:pPr algn="l">
              <a:defRPr sz="1950" b="0">
                <a:solidFill>
                  <a:srgbClr val="567083"/>
                </a:solidFill>
                <a:latin typeface="Calibri"/>
                <a:ea typeface="Calibri"/>
                <a:cs typeface="Calibri"/>
              </a:defRPr>
            </a:pPr>
            <a:r>
              <a:rPr sz="1950" b="0">
                <a:solidFill>
                  <a:srgbClr val="567083"/>
                </a:solidFill>
                <a:latin typeface="Calibri"/>
                <a:ea typeface="Calibri"/>
                <a:cs typeface="Calibri"/>
              </a:rPr>
              <a:t>Organisation membership bounds administration and service access</a:t>
            </a:r>
          </a:p>
        </p:txBody>
      </p:sp>
      <p:sp>
        <p:nvSpPr>
          <p:cNvPr id="11" name="line-109">
            <a:extLst xmlns:a="http://schemas.openxmlformats.org/drawingml/2006/main">
              <a:ext uri="{FF2B5EF4-FFF2-40B4-BE49-F238E27FC236}">
                <a16:creationId xmlns:a16="http://schemas.microsoft.com/office/drawing/2014/main" id="{650AF63F-426F-4119-AA38-B58DFAAFFD67}"/>
              </a:ext>
            </a:extLst>
          </p:cNvPr>
          <p:cNvSpPr>
            <a:spLocks xmlns:a="http://schemas.openxmlformats.org/drawingml/2006/main" noGrp="1"/>
          </p:cNvSpPr>
          <p:nvPr/>
        </p:nvSpPr>
        <p:spPr>
          <a:xfrm xmlns:a="http://schemas.openxmlformats.org/drawingml/2006/main">
            <a:off x="571500" y="4524375"/>
            <a:ext cx="14097000" cy="0"/>
          </a:xfrm>
          <a:prstGeom xmlns:a="http://schemas.openxmlformats.org/drawingml/2006/main" prst="line">
            <a:avLst/>
          </a:prstGeom>
          <a:noFill xmlns:a="http://schemas.openxmlformats.org/drawingml/2006/main"/>
          <a:ln xmlns:a="http://schemas.openxmlformats.org/drawingml/2006/main" w="13335">
            <a:solidFill>
              <a:srgbClr val="D8E1E8"/>
            </a:solidFill>
          </a:ln>
        </p:spPr>
      </p:sp>
      <p:sp>
        <p:nvSpPr>
          <p:cNvPr id="12" name="text-110">
            <a:extLst xmlns:a="http://schemas.openxmlformats.org/drawingml/2006/main">
              <a:ext uri="{FF2B5EF4-FFF2-40B4-BE49-F238E27FC236}">
                <a16:creationId xmlns:a16="http://schemas.microsoft.com/office/drawing/2014/main" id="{2B460E3A-37D4-4277-AC8F-6D7449D5A04E}"/>
              </a:ext>
            </a:extLst>
          </p:cNvPr>
          <p:cNvSpPr>
            <a:spLocks xmlns:a="http://schemas.openxmlformats.org/drawingml/2006/main" noGrp="1"/>
          </p:cNvSpPr>
          <p:nvPr/>
        </p:nvSpPr>
        <p:spPr>
          <a:xfrm xmlns:a="http://schemas.openxmlformats.org/drawingml/2006/main">
            <a:off x="571500" y="34861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C6090"/>
                </a:solidFill>
                <a:latin typeface="Calibri"/>
                <a:ea typeface="Calibri"/>
                <a:cs typeface="Calibri"/>
              </a:defRPr>
            </a:defPPr>
          </a:lstStyle>
          <a:p xmlns:a="http://schemas.openxmlformats.org/drawingml/2006/main">
            <a:pPr algn="l">
              <a:defRPr sz="2175" b="1">
                <a:solidFill>
                  <a:srgbClr val="1C6090"/>
                </a:solidFill>
                <a:latin typeface="Calibri"/>
                <a:ea typeface="Calibri"/>
                <a:cs typeface="Calibri"/>
              </a:defRPr>
            </a:pPr>
            <a:r>
              <a:rPr sz="2175" b="1">
                <a:solidFill>
                  <a:srgbClr val="1C6090"/>
                </a:solidFill>
                <a:latin typeface="Calibri"/>
                <a:ea typeface="Calibri"/>
                <a:cs typeface="Calibri"/>
              </a:rPr>
              <a:t>Entity membership</a:t>
            </a:r>
          </a:p>
        </p:txBody>
      </p:sp>
      <p:sp>
        <p:nvSpPr>
          <p:cNvPr id="13" name="text-111">
            <a:extLst xmlns:a="http://schemas.openxmlformats.org/drawingml/2006/main">
              <a:ext uri="{FF2B5EF4-FFF2-40B4-BE49-F238E27FC236}">
                <a16:creationId xmlns:a16="http://schemas.microsoft.com/office/drawing/2014/main" id="{14E8FD9F-D22A-4B1F-9429-6869CA193F40}"/>
              </a:ext>
            </a:extLst>
          </p:cNvPr>
          <p:cNvSpPr>
            <a:spLocks xmlns:a="http://schemas.openxmlformats.org/drawingml/2006/main" noGrp="1"/>
          </p:cNvSpPr>
          <p:nvPr/>
        </p:nvSpPr>
        <p:spPr>
          <a:xfrm xmlns:a="http://schemas.openxmlformats.org/drawingml/2006/main">
            <a:off x="3667125" y="3486150"/>
            <a:ext cx="5048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2D40"/>
                </a:solidFill>
                <a:latin typeface="Calibri"/>
                <a:ea typeface="Calibri"/>
                <a:cs typeface="Calibri"/>
              </a:defRPr>
            </a:defPPr>
          </a:lstStyle>
          <a:p xmlns:a="http://schemas.openxmlformats.org/drawingml/2006/main">
            <a:pPr algn="l">
              <a:defRPr sz="2175" b="1">
                <a:solidFill>
                  <a:srgbClr val="142D40"/>
                </a:solidFill>
                <a:latin typeface="Calibri"/>
                <a:ea typeface="Calibri"/>
                <a:cs typeface="Calibri"/>
              </a:defRPr>
            </a:pPr>
            <a:r>
              <a:rPr sz="2175" b="1">
                <a:solidFill>
                  <a:srgbClr val="142D40"/>
                </a:solidFill>
                <a:latin typeface="Calibri"/>
                <a:ea typeface="Calibri"/>
                <a:cs typeface="Calibri"/>
              </a:rPr>
              <a:t>Euroclear Bank, ESES, EUI, Nordics</a:t>
            </a:r>
          </a:p>
        </p:txBody>
      </p:sp>
      <p:sp>
        <p:nvSpPr>
          <p:cNvPr id="14" name="text-112">
            <a:extLst xmlns:a="http://schemas.openxmlformats.org/drawingml/2006/main">
              <a:ext uri="{FF2B5EF4-FFF2-40B4-BE49-F238E27FC236}">
                <a16:creationId xmlns:a16="http://schemas.microsoft.com/office/drawing/2014/main" id="{28BF761A-CBD6-4A53-8563-953DD5E44B69}"/>
              </a:ext>
            </a:extLst>
          </p:cNvPr>
          <p:cNvSpPr>
            <a:spLocks xmlns:a="http://schemas.openxmlformats.org/drawingml/2006/main" noGrp="1"/>
          </p:cNvSpPr>
          <p:nvPr/>
        </p:nvSpPr>
        <p:spPr>
          <a:xfrm xmlns:a="http://schemas.openxmlformats.org/drawingml/2006/main">
            <a:off x="9172575" y="3486150"/>
            <a:ext cx="54959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7083"/>
                </a:solidFill>
                <a:latin typeface="Calibri"/>
                <a:ea typeface="Calibri"/>
                <a:cs typeface="Calibri"/>
              </a:defRPr>
            </a:defPPr>
          </a:lstStyle>
          <a:p xmlns:a="http://schemas.openxmlformats.org/drawingml/2006/main">
            <a:pPr algn="l">
              <a:defRPr sz="1950" b="0">
                <a:solidFill>
                  <a:srgbClr val="567083"/>
                </a:solidFill>
                <a:latin typeface="Calibri"/>
                <a:ea typeface="Calibri"/>
                <a:cs typeface="Calibri"/>
              </a:defRPr>
            </a:pPr>
            <a:r>
              <a:rPr sz="1950" b="0">
                <a:solidFill>
                  <a:srgbClr val="567083"/>
                </a:solidFill>
                <a:latin typeface="Calibri"/>
                <a:ea typeface="Calibri"/>
                <a:cs typeface="Calibri"/>
              </a:rPr>
              <a:t>Single-entity and multi-entity users share the client user family</a:t>
            </a:r>
          </a:p>
        </p:txBody>
      </p:sp>
      <p:sp>
        <p:nvSpPr>
          <p:cNvPr id="15" name="line-113">
            <a:extLst xmlns:a="http://schemas.openxmlformats.org/drawingml/2006/main">
              <a:ext uri="{FF2B5EF4-FFF2-40B4-BE49-F238E27FC236}">
                <a16:creationId xmlns:a16="http://schemas.microsoft.com/office/drawing/2014/main" id="{CDF9ED95-D31B-4084-8E1B-DF964DA09658}"/>
              </a:ext>
            </a:extLst>
          </p:cNvPr>
          <p:cNvSpPr>
            <a:spLocks xmlns:a="http://schemas.openxmlformats.org/drawingml/2006/main" noGrp="1"/>
          </p:cNvSpPr>
          <p:nvPr/>
        </p:nvSpPr>
        <p:spPr>
          <a:xfrm xmlns:a="http://schemas.openxmlformats.org/drawingml/2006/main">
            <a:off x="571500" y="5762625"/>
            <a:ext cx="14097000" cy="0"/>
          </a:xfrm>
          <a:prstGeom xmlns:a="http://schemas.openxmlformats.org/drawingml/2006/main" prst="line">
            <a:avLst/>
          </a:prstGeom>
          <a:noFill xmlns:a="http://schemas.openxmlformats.org/drawingml/2006/main"/>
          <a:ln xmlns:a="http://schemas.openxmlformats.org/drawingml/2006/main" w="13335">
            <a:solidFill>
              <a:srgbClr val="D8E1E8"/>
            </a:solidFill>
          </a:ln>
        </p:spPr>
      </p:sp>
      <p:sp>
        <p:nvSpPr>
          <p:cNvPr id="16" name="text-114">
            <a:extLst xmlns:a="http://schemas.openxmlformats.org/drawingml/2006/main">
              <a:ext uri="{FF2B5EF4-FFF2-40B4-BE49-F238E27FC236}">
                <a16:creationId xmlns:a16="http://schemas.microsoft.com/office/drawing/2014/main" id="{6031CFC7-9A6E-4E8F-B9A8-2FA109F7FED1}"/>
              </a:ext>
            </a:extLst>
          </p:cNvPr>
          <p:cNvSpPr>
            <a:spLocks xmlns:a="http://schemas.openxmlformats.org/drawingml/2006/main" noGrp="1"/>
          </p:cNvSpPr>
          <p:nvPr/>
        </p:nvSpPr>
        <p:spPr>
          <a:xfrm xmlns:a="http://schemas.openxmlformats.org/drawingml/2006/main">
            <a:off x="571500" y="47244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C6090"/>
                </a:solidFill>
                <a:latin typeface="Calibri"/>
                <a:ea typeface="Calibri"/>
                <a:cs typeface="Calibri"/>
              </a:defRPr>
            </a:defPPr>
          </a:lstStyle>
          <a:p xmlns:a="http://schemas.openxmlformats.org/drawingml/2006/main">
            <a:pPr algn="l">
              <a:defRPr sz="2175" b="1">
                <a:solidFill>
                  <a:srgbClr val="1C6090"/>
                </a:solidFill>
                <a:latin typeface="Calibri"/>
                <a:ea typeface="Calibri"/>
                <a:cs typeface="Calibri"/>
              </a:defRPr>
            </a:pPr>
            <a:r>
              <a:rPr sz="2175" b="1">
                <a:solidFill>
                  <a:srgbClr val="1C6090"/>
                </a:solidFill>
                <a:latin typeface="Calibri"/>
                <a:ea typeface="Calibri"/>
                <a:cs typeface="Calibri"/>
              </a:rPr>
              <a:t>Commercial profile</a:t>
            </a:r>
          </a:p>
        </p:txBody>
      </p:sp>
      <p:sp>
        <p:nvSpPr>
          <p:cNvPr id="17" name="text-115">
            <a:extLst xmlns:a="http://schemas.openxmlformats.org/drawingml/2006/main">
              <a:ext uri="{FF2B5EF4-FFF2-40B4-BE49-F238E27FC236}">
                <a16:creationId xmlns:a16="http://schemas.microsoft.com/office/drawing/2014/main" id="{FDCE2F2A-0161-44C5-8A82-C3073DCD3D5A}"/>
              </a:ext>
            </a:extLst>
          </p:cNvPr>
          <p:cNvSpPr>
            <a:spLocks xmlns:a="http://schemas.openxmlformats.org/drawingml/2006/main" noGrp="1"/>
          </p:cNvSpPr>
          <p:nvPr/>
        </p:nvSpPr>
        <p:spPr>
          <a:xfrm xmlns:a="http://schemas.openxmlformats.org/drawingml/2006/main">
            <a:off x="3667125" y="4724400"/>
            <a:ext cx="5048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2D40"/>
                </a:solidFill>
                <a:latin typeface="Calibri"/>
                <a:ea typeface="Calibri"/>
                <a:cs typeface="Calibri"/>
              </a:defRPr>
            </a:defPPr>
          </a:lstStyle>
          <a:p xmlns:a="http://schemas.openxmlformats.org/drawingml/2006/main">
            <a:pPr algn="l">
              <a:defRPr sz="2175" b="1">
                <a:solidFill>
                  <a:srgbClr val="142D40"/>
                </a:solidFill>
                <a:latin typeface="Calibri"/>
                <a:ea typeface="Calibri"/>
                <a:cs typeface="Calibri"/>
              </a:defRPr>
            </a:pPr>
            <a:r>
              <a:rPr sz="2175" b="1">
                <a:solidFill>
                  <a:srgbClr val="142D40"/>
                </a:solidFill>
                <a:latin typeface="Calibri"/>
                <a:ea typeface="Calibri"/>
                <a:cs typeface="Calibri"/>
              </a:rPr>
              <a:t>Billable or non-billable</a:t>
            </a:r>
          </a:p>
        </p:txBody>
      </p:sp>
      <p:sp>
        <p:nvSpPr>
          <p:cNvPr id="18" name="text-116">
            <a:extLst xmlns:a="http://schemas.openxmlformats.org/drawingml/2006/main">
              <a:ext uri="{FF2B5EF4-FFF2-40B4-BE49-F238E27FC236}">
                <a16:creationId xmlns:a16="http://schemas.microsoft.com/office/drawing/2014/main" id="{8AF386AC-CA5F-4F42-9E2B-EE142DF6B6A8}"/>
              </a:ext>
            </a:extLst>
          </p:cNvPr>
          <p:cNvSpPr>
            <a:spLocks xmlns:a="http://schemas.openxmlformats.org/drawingml/2006/main" noGrp="1"/>
          </p:cNvSpPr>
          <p:nvPr/>
        </p:nvSpPr>
        <p:spPr>
          <a:xfrm xmlns:a="http://schemas.openxmlformats.org/drawingml/2006/main">
            <a:off x="9172575" y="4724400"/>
            <a:ext cx="54959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7083"/>
                </a:solidFill>
                <a:latin typeface="Calibri"/>
                <a:ea typeface="Calibri"/>
                <a:cs typeface="Calibri"/>
              </a:defRPr>
            </a:defPPr>
          </a:lstStyle>
          <a:p xmlns:a="http://schemas.openxmlformats.org/drawingml/2006/main">
            <a:pPr algn="l">
              <a:defRPr sz="1950" b="0">
                <a:solidFill>
                  <a:srgbClr val="567083"/>
                </a:solidFill>
                <a:latin typeface="Calibri"/>
                <a:ea typeface="Calibri"/>
                <a:cs typeface="Calibri"/>
              </a:defRPr>
            </a:pPr>
            <a:r>
              <a:rPr sz="1950" b="0">
                <a:solidFill>
                  <a:srgbClr val="567083"/>
                </a:solidFill>
                <a:latin typeface="Calibri"/>
                <a:ea typeface="Calibri"/>
                <a:cs typeface="Calibri"/>
              </a:rPr>
              <a:t>Non-billable status can coexist with single-entity or multi-entity access</a:t>
            </a:r>
          </a:p>
        </p:txBody>
      </p:sp>
      <p:sp>
        <p:nvSpPr>
          <p:cNvPr id="19" name="line-117">
            <a:extLst xmlns:a="http://schemas.openxmlformats.org/drawingml/2006/main">
              <a:ext uri="{FF2B5EF4-FFF2-40B4-BE49-F238E27FC236}">
                <a16:creationId xmlns:a16="http://schemas.microsoft.com/office/drawing/2014/main" id="{B281A366-B156-4D75-B3B4-8445872FB179}"/>
              </a:ext>
            </a:extLst>
          </p:cNvPr>
          <p:cNvSpPr>
            <a:spLocks xmlns:a="http://schemas.openxmlformats.org/drawingml/2006/main" noGrp="1"/>
          </p:cNvSpPr>
          <p:nvPr/>
        </p:nvSpPr>
        <p:spPr>
          <a:xfrm xmlns:a="http://schemas.openxmlformats.org/drawingml/2006/main">
            <a:off x="571500" y="7000875"/>
            <a:ext cx="14097000" cy="0"/>
          </a:xfrm>
          <a:prstGeom xmlns:a="http://schemas.openxmlformats.org/drawingml/2006/main" prst="line">
            <a:avLst/>
          </a:prstGeom>
          <a:noFill xmlns:a="http://schemas.openxmlformats.org/drawingml/2006/main"/>
          <a:ln xmlns:a="http://schemas.openxmlformats.org/drawingml/2006/main" w="13335">
            <a:solidFill>
              <a:srgbClr val="D8E1E8"/>
            </a:solidFill>
          </a:ln>
        </p:spPr>
      </p:sp>
      <p:sp>
        <p:nvSpPr>
          <p:cNvPr id="20" name="text-118">
            <a:extLst xmlns:a="http://schemas.openxmlformats.org/drawingml/2006/main">
              <a:ext uri="{FF2B5EF4-FFF2-40B4-BE49-F238E27FC236}">
                <a16:creationId xmlns:a16="http://schemas.microsoft.com/office/drawing/2014/main" id="{AE738B42-CD12-4C38-AD29-47C5DDCFAE7C}"/>
              </a:ext>
            </a:extLst>
          </p:cNvPr>
          <p:cNvSpPr>
            <a:spLocks xmlns:a="http://schemas.openxmlformats.org/drawingml/2006/main" noGrp="1"/>
          </p:cNvSpPr>
          <p:nvPr/>
        </p:nvSpPr>
        <p:spPr>
          <a:xfrm xmlns:a="http://schemas.openxmlformats.org/drawingml/2006/main">
            <a:off x="571500" y="59626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C6090"/>
                </a:solidFill>
                <a:latin typeface="Calibri"/>
                <a:ea typeface="Calibri"/>
                <a:cs typeface="Calibri"/>
              </a:defRPr>
            </a:defPPr>
          </a:lstStyle>
          <a:p xmlns:a="http://schemas.openxmlformats.org/drawingml/2006/main">
            <a:pPr algn="l">
              <a:defRPr sz="2175" b="1">
                <a:solidFill>
                  <a:srgbClr val="1C6090"/>
                </a:solidFill>
                <a:latin typeface="Calibri"/>
                <a:ea typeface="Calibri"/>
                <a:cs typeface="Calibri"/>
              </a:defRPr>
            </a:pPr>
            <a:r>
              <a:rPr sz="2175" b="1">
                <a:solidFill>
                  <a:srgbClr val="1C6090"/>
                </a:solidFill>
                <a:latin typeface="Calibri"/>
                <a:ea typeface="Calibri"/>
                <a:cs typeface="Calibri"/>
              </a:rPr>
              <a:t>Migration state</a:t>
            </a:r>
          </a:p>
        </p:txBody>
      </p:sp>
      <p:sp>
        <p:nvSpPr>
          <p:cNvPr id="21" name="text-119">
            <a:extLst xmlns:a="http://schemas.openxmlformats.org/drawingml/2006/main">
              <a:ext uri="{FF2B5EF4-FFF2-40B4-BE49-F238E27FC236}">
                <a16:creationId xmlns:a16="http://schemas.microsoft.com/office/drawing/2014/main" id="{C7E394A2-712E-44EC-8CEB-860027213AD7}"/>
              </a:ext>
            </a:extLst>
          </p:cNvPr>
          <p:cNvSpPr>
            <a:spLocks xmlns:a="http://schemas.openxmlformats.org/drawingml/2006/main" noGrp="1"/>
          </p:cNvSpPr>
          <p:nvPr/>
        </p:nvSpPr>
        <p:spPr>
          <a:xfrm xmlns:a="http://schemas.openxmlformats.org/drawingml/2006/main">
            <a:off x="3667125" y="5962650"/>
            <a:ext cx="5048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2D40"/>
                </a:solidFill>
                <a:latin typeface="Calibri"/>
                <a:ea typeface="Calibri"/>
                <a:cs typeface="Calibri"/>
              </a:defRPr>
            </a:defPPr>
          </a:lstStyle>
          <a:p xmlns:a="http://schemas.openxmlformats.org/drawingml/2006/main">
            <a:pPr algn="l">
              <a:defRPr sz="2175" b="1">
                <a:solidFill>
                  <a:srgbClr val="142D40"/>
                </a:solidFill>
                <a:latin typeface="Calibri"/>
                <a:ea typeface="Calibri"/>
                <a:cs typeface="Calibri"/>
              </a:defRPr>
            </a:pPr>
            <a:r>
              <a:rPr sz="2175" b="1">
                <a:solidFill>
                  <a:srgbClr val="142D40"/>
                </a:solidFill>
                <a:latin typeface="Calibri"/>
                <a:ea typeface="Calibri"/>
                <a:cs typeface="Calibri"/>
              </a:rPr>
              <a:t>Legacy user transitioning to CIAM</a:t>
            </a:r>
          </a:p>
        </p:txBody>
      </p:sp>
      <p:sp>
        <p:nvSpPr>
          <p:cNvPr id="22" name="text-120">
            <a:extLst xmlns:a="http://schemas.openxmlformats.org/drawingml/2006/main">
              <a:ext uri="{FF2B5EF4-FFF2-40B4-BE49-F238E27FC236}">
                <a16:creationId xmlns:a16="http://schemas.microsoft.com/office/drawing/2014/main" id="{DB9688CC-6B4C-4408-A7B3-539049D16AB4}"/>
              </a:ext>
            </a:extLst>
          </p:cNvPr>
          <p:cNvSpPr>
            <a:spLocks xmlns:a="http://schemas.openxmlformats.org/drawingml/2006/main" noGrp="1"/>
          </p:cNvSpPr>
          <p:nvPr/>
        </p:nvSpPr>
        <p:spPr>
          <a:xfrm xmlns:a="http://schemas.openxmlformats.org/drawingml/2006/main">
            <a:off x="9172575" y="5962650"/>
            <a:ext cx="54959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7083"/>
                </a:solidFill>
                <a:latin typeface="Calibri"/>
                <a:ea typeface="Calibri"/>
                <a:cs typeface="Calibri"/>
              </a:defRPr>
            </a:defPPr>
          </a:lstStyle>
          <a:p xmlns:a="http://schemas.openxmlformats.org/drawingml/2006/main">
            <a:pPr algn="l">
              <a:defRPr sz="1950" b="0">
                <a:solidFill>
                  <a:srgbClr val="567083"/>
                </a:solidFill>
                <a:latin typeface="Calibri"/>
                <a:ea typeface="Calibri"/>
                <a:cs typeface="Calibri"/>
              </a:defRPr>
            </a:pPr>
            <a:r>
              <a:rPr sz="1950" b="0">
                <a:solidFill>
                  <a:srgbClr val="567083"/>
                </a:solidFill>
                <a:latin typeface="Calibri"/>
                <a:ea typeface="Calibri"/>
                <a:cs typeface="Calibri"/>
              </a:rPr>
              <a:t>A temporary lifecycle state can apply to an existing client persona</a:t>
            </a:r>
          </a:p>
        </p:txBody>
      </p:sp>
      <p:sp>
        <p:nvSpPr>
          <p:cNvPr id="23" name="text-121">
            <a:extLst xmlns:a="http://schemas.openxmlformats.org/drawingml/2006/main">
              <a:ext uri="{FF2B5EF4-FFF2-40B4-BE49-F238E27FC236}">
                <a16:creationId xmlns:a16="http://schemas.microsoft.com/office/drawing/2014/main" id="{2911D795-8227-4A23-AC58-9CF69CE31580}"/>
              </a:ext>
            </a:extLst>
          </p:cNvPr>
          <p:cNvSpPr>
            <a:spLocks xmlns:a="http://schemas.openxmlformats.org/drawingml/2006/main" noGrp="1"/>
          </p:cNvSpPr>
          <p:nvPr/>
        </p:nvSpPr>
        <p:spPr>
          <a:xfrm xmlns:a="http://schemas.openxmlformats.org/drawingml/2006/main">
            <a:off x="571500" y="7372350"/>
            <a:ext cx="1409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42D40"/>
                </a:solidFill>
                <a:latin typeface="Calibri"/>
                <a:ea typeface="Calibri"/>
                <a:cs typeface="Calibri"/>
              </a:defRPr>
            </a:defPPr>
          </a:lstStyle>
          <a:p xmlns:a="http://schemas.openxmlformats.org/drawingml/2006/main">
            <a:pPr algn="l">
              <a:defRPr sz="2250" b="1">
                <a:solidFill>
                  <a:srgbClr val="142D40"/>
                </a:solidFill>
                <a:latin typeface="Calibri"/>
                <a:ea typeface="Calibri"/>
                <a:cs typeface="Calibri"/>
              </a:defRPr>
            </a:pPr>
            <a:r>
              <a:rPr sz="2250" b="1">
                <a:solidFill>
                  <a:srgbClr val="142D40"/>
                </a:solidFill>
                <a:latin typeface="Calibri"/>
                <a:ea typeface="Calibri"/>
                <a:cs typeface="Calibri"/>
              </a:rPr>
              <a:t>Entity intersections derive from approved memberships and mandates</a:t>
            </a:r>
          </a:p>
        </p:txBody>
      </p:sp>
      <p:sp>
        <p:nvSpPr>
          <p:cNvPr id="24" name="text-122">
            <a:extLst xmlns:a="http://schemas.openxmlformats.org/drawingml/2006/main">
              <a:ext uri="{FF2B5EF4-FFF2-40B4-BE49-F238E27FC236}">
                <a16:creationId xmlns:a16="http://schemas.microsoft.com/office/drawing/2014/main" id="{CA90E8EF-674C-4946-A822-2A36F0A203FC}"/>
              </a:ext>
            </a:extLst>
          </p:cNvPr>
          <p:cNvSpPr>
            <a:spLocks xmlns:a="http://schemas.openxmlformats.org/drawingml/2006/main" noGrp="1"/>
          </p:cNvSpPr>
          <p:nvPr/>
        </p:nvSpPr>
        <p:spPr>
          <a:xfrm xmlns:a="http://schemas.openxmlformats.org/drawingml/2006/main">
            <a:off x="571500" y="7762875"/>
            <a:ext cx="1409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67083"/>
                </a:solidFill>
                <a:latin typeface="Calibri"/>
                <a:ea typeface="Calibri"/>
                <a:cs typeface="Calibri"/>
              </a:defRPr>
            </a:defPPr>
          </a:lstStyle>
          <a:p xmlns:a="http://schemas.openxmlformats.org/drawingml/2006/main">
            <a:pPr algn="l">
              <a:defRPr sz="1650" b="0">
                <a:solidFill>
                  <a:srgbClr val="567083"/>
                </a:solidFill>
                <a:latin typeface="Calibri"/>
                <a:ea typeface="Calibri"/>
                <a:cs typeface="Calibri"/>
              </a:defRPr>
            </a:pPr>
            <a:r>
              <a:rPr sz="1650" b="0">
                <a:solidFill>
                  <a:srgbClr val="567083"/>
                </a:solidFill>
                <a:latin typeface="Calibri"/>
                <a:ea typeface="Calibri"/>
                <a:cs typeface="Calibri"/>
              </a:rPr>
              <a:t>Cross-entity access requires explicit authorization. The population model does not grant access by itself.</a:t>
            </a:r>
          </a:p>
        </p:txBody>
      </p:sp>
    </p:spTree>
    <p:extLst>
      <p:ext uri="{BB962C8B-B14F-4D97-AF65-F5344CB8AC3E}">
        <p14:creationId xmlns:p14="http://schemas.microsoft.com/office/powerpoint/2010/main" val="102405475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123">
            <a:extLst xmlns:a="http://schemas.openxmlformats.org/drawingml/2006/main">
              <a:ext uri="{FF2B5EF4-FFF2-40B4-BE49-F238E27FC236}">
                <a16:creationId xmlns:a16="http://schemas.microsoft.com/office/drawing/2014/main" id="{CD085262-B221-43C8-B04F-F2B4D5624EF6}"/>
              </a:ext>
            </a:extLst>
          </p:cNvPr>
          <p:cNvSpPr>
            <a:spLocks xmlns:a="http://schemas.openxmlformats.org/drawingml/2006/main" noGrp="1"/>
          </p:cNvSpPr>
          <p:nvPr/>
        </p:nvSpPr>
        <p:spPr>
          <a:xfrm xmlns:a="http://schemas.openxmlformats.org/drawingml/2006/main">
            <a:off x="571500" y="247650"/>
            <a:ext cx="1285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67083"/>
                </a:solidFill>
                <a:latin typeface="Calibri"/>
                <a:ea typeface="Calibri"/>
                <a:cs typeface="Calibri"/>
              </a:defRPr>
            </a:defPPr>
          </a:lstStyle>
          <a:p xmlns:a="http://schemas.openxmlformats.org/drawingml/2006/main">
            <a:pPr algn="l">
              <a:defRPr sz="1350" b="1">
                <a:solidFill>
                  <a:srgbClr val="567083"/>
                </a:solidFill>
                <a:latin typeface="Calibri"/>
                <a:ea typeface="Calibri"/>
                <a:cs typeface="Calibri"/>
              </a:defRPr>
            </a:pPr>
            <a:r>
              <a:rPr sz="1350" b="1">
                <a:solidFill>
                  <a:srgbClr val="567083"/>
                </a:solidFill>
                <a:latin typeface="Calibri"/>
                <a:ea typeface="Calibri"/>
                <a:cs typeface="Calibri"/>
              </a:rPr>
              <a:t>EUROCLEAR   /   ENTERPRISE IDENTITY ARCHITECTURE</a:t>
            </a:r>
          </a:p>
        </p:txBody>
      </p:sp>
      <p:sp>
        <p:nvSpPr>
          <p:cNvPr id="2" name="text-124">
            <a:extLst xmlns:a="http://schemas.openxmlformats.org/drawingml/2006/main">
              <a:ext uri="{FF2B5EF4-FFF2-40B4-BE49-F238E27FC236}">
                <a16:creationId xmlns:a16="http://schemas.microsoft.com/office/drawing/2014/main" id="{6163A708-5A3E-4CA7-9011-C1DEFDDD2CE3}"/>
              </a:ext>
            </a:extLst>
          </p:cNvPr>
          <p:cNvSpPr>
            <a:spLocks xmlns:a="http://schemas.openxmlformats.org/drawingml/2006/main" noGrp="1"/>
          </p:cNvSpPr>
          <p:nvPr/>
        </p:nvSpPr>
        <p:spPr>
          <a:xfrm xmlns:a="http://schemas.openxmlformats.org/drawingml/2006/main">
            <a:off x="571500" y="74295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42D40"/>
                </a:solidFill>
                <a:latin typeface="Calibri"/>
                <a:ea typeface="Calibri"/>
                <a:cs typeface="Calibri"/>
              </a:defRPr>
            </a:defPPr>
          </a:lstStyle>
          <a:p xmlns:a="http://schemas.openxmlformats.org/drawingml/2006/main">
            <a:pPr algn="l">
              <a:defRPr sz="3450" b="1">
                <a:solidFill>
                  <a:srgbClr val="142D40"/>
                </a:solidFill>
                <a:latin typeface="Calibri"/>
                <a:ea typeface="Calibri"/>
                <a:cs typeface="Calibri"/>
              </a:defRPr>
            </a:pPr>
            <a:r>
              <a:rPr sz="3450" b="1">
                <a:solidFill>
                  <a:srgbClr val="142D40"/>
                </a:solidFill>
                <a:latin typeface="Calibri"/>
                <a:ea typeface="Calibri"/>
                <a:cs typeface="Calibri"/>
              </a:rPr>
              <a:t>External integrations and legacy coexistence</a:t>
            </a:r>
          </a:p>
        </p:txBody>
      </p:sp>
      <p:sp>
        <p:nvSpPr>
          <p:cNvPr id="3" name="text-125">
            <a:extLst xmlns:a="http://schemas.openxmlformats.org/drawingml/2006/main">
              <a:ext uri="{FF2B5EF4-FFF2-40B4-BE49-F238E27FC236}">
                <a16:creationId xmlns:a16="http://schemas.microsoft.com/office/drawing/2014/main" id="{BDE5E14E-78F3-452E-ACA3-F4A8A82010FB}"/>
              </a:ext>
            </a:extLst>
          </p:cNvPr>
          <p:cNvSpPr>
            <a:spLocks xmlns:a="http://schemas.openxmlformats.org/drawingml/2006/main" noGrp="1"/>
          </p:cNvSpPr>
          <p:nvPr/>
        </p:nvSpPr>
        <p:spPr>
          <a:xfrm xmlns:a="http://schemas.openxmlformats.org/drawingml/2006/main">
            <a:off x="571500" y="1419225"/>
            <a:ext cx="14097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67083"/>
                </a:solidFill>
                <a:latin typeface="Calibri"/>
                <a:ea typeface="Calibri"/>
                <a:cs typeface="Calibri"/>
              </a:defRPr>
            </a:defPPr>
          </a:lstStyle>
          <a:p xmlns:a="http://schemas.openxmlformats.org/drawingml/2006/main">
            <a:pPr algn="l">
              <a:defRPr sz="1875" b="0">
                <a:solidFill>
                  <a:srgbClr val="567083"/>
                </a:solidFill>
                <a:latin typeface="Calibri"/>
                <a:ea typeface="Calibri"/>
                <a:cs typeface="Calibri"/>
              </a:defRPr>
            </a:pPr>
            <a:r>
              <a:rPr sz="1875" b="0">
                <a:solidFill>
                  <a:srgbClr val="567083"/>
                </a:solidFill>
                <a:latin typeface="Calibri"/>
                <a:ea typeface="Calibri"/>
                <a:cs typeface="Calibri"/>
              </a:rPr>
              <a:t>Machine trust and migration trust remain distinct from workforce federation</a:t>
            </a:r>
          </a:p>
        </p:txBody>
      </p:sp>
      <p:sp>
        <p:nvSpPr>
          <p:cNvPr id="4" name="line-126">
            <a:extLst xmlns:a="http://schemas.openxmlformats.org/drawingml/2006/main">
              <a:ext uri="{FF2B5EF4-FFF2-40B4-BE49-F238E27FC236}">
                <a16:creationId xmlns:a16="http://schemas.microsoft.com/office/drawing/2014/main" id="{89C2DC3B-00A3-4D1E-8DBB-33C4E58B8BFF}"/>
              </a:ext>
            </a:extLst>
          </p:cNvPr>
          <p:cNvSpPr>
            <a:spLocks xmlns:a="http://schemas.openxmlformats.org/drawingml/2006/main" noGrp="1"/>
          </p:cNvSpPr>
          <p:nvPr/>
        </p:nvSpPr>
        <p:spPr>
          <a:xfrm xmlns:a="http://schemas.openxmlformats.org/drawingml/2006/main">
            <a:off x="571500" y="8048625"/>
            <a:ext cx="14097000" cy="0"/>
          </a:xfrm>
          <a:prstGeom xmlns:a="http://schemas.openxmlformats.org/drawingml/2006/main" prst="line">
            <a:avLst/>
          </a:prstGeom>
          <a:noFill xmlns:a="http://schemas.openxmlformats.org/drawingml/2006/main"/>
          <a:ln xmlns:a="http://schemas.openxmlformats.org/drawingml/2006/main" w="13335">
            <a:solidFill>
              <a:srgbClr val="D8E1E8"/>
            </a:solidFill>
          </a:ln>
        </p:spPr>
      </p:sp>
      <p:sp>
        <p:nvSpPr>
          <p:cNvPr id="5" name="text-127">
            <a:extLst xmlns:a="http://schemas.openxmlformats.org/drawingml/2006/main">
              <a:ext uri="{FF2B5EF4-FFF2-40B4-BE49-F238E27FC236}">
                <a16:creationId xmlns:a16="http://schemas.microsoft.com/office/drawing/2014/main" id="{DE288AA0-1DB8-4D76-B7CF-65533D67F48C}"/>
              </a:ext>
            </a:extLst>
          </p:cNvPr>
          <p:cNvSpPr>
            <a:spLocks xmlns:a="http://schemas.openxmlformats.org/drawingml/2006/main" noGrp="1"/>
          </p:cNvSpPr>
          <p:nvPr/>
        </p:nvSpPr>
        <p:spPr>
          <a:xfrm xmlns:a="http://schemas.openxmlformats.org/drawingml/2006/main">
            <a:off x="571500" y="8172450"/>
            <a:ext cx="1295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7083"/>
                </a:solidFill>
                <a:latin typeface="Calibri"/>
                <a:ea typeface="Calibri"/>
                <a:cs typeface="Calibri"/>
              </a:defRPr>
            </a:defPPr>
          </a:lstStyle>
          <a:p xmlns:a="http://schemas.openxmlformats.org/drawingml/2006/main">
            <a:pPr algn="l">
              <a:defRPr sz="1275" b="0">
                <a:solidFill>
                  <a:srgbClr val="567083"/>
                </a:solidFill>
                <a:latin typeface="Calibri"/>
                <a:ea typeface="Calibri"/>
                <a:cs typeface="Calibri"/>
              </a:defRPr>
            </a:pPr>
            <a:r>
              <a:rPr sz="1275" b="0">
                <a:solidFill>
                  <a:srgbClr val="567083"/>
                </a:solidFill>
                <a:latin typeface="Calibri"/>
                <a:ea typeface="Calibri"/>
                <a:cs typeface="Calibri"/>
              </a:rPr>
              <a:t>Architecture Board review   /   Proposed target boundaries   /   8 October 2026</a:t>
            </a:r>
          </a:p>
        </p:txBody>
      </p:sp>
      <p:sp>
        <p:nvSpPr>
          <p:cNvPr id="6" name="text-128">
            <a:extLst xmlns:a="http://schemas.openxmlformats.org/drawingml/2006/main">
              <a:ext uri="{FF2B5EF4-FFF2-40B4-BE49-F238E27FC236}">
                <a16:creationId xmlns:a16="http://schemas.microsoft.com/office/drawing/2014/main" id="{CB540E56-FE1E-428D-B4B3-6175B2D937F0}"/>
              </a:ext>
            </a:extLst>
          </p:cNvPr>
          <p:cNvSpPr>
            <a:spLocks xmlns:a="http://schemas.openxmlformats.org/drawingml/2006/main" noGrp="1"/>
          </p:cNvSpPr>
          <p:nvPr/>
        </p:nvSpPr>
        <p:spPr>
          <a:xfrm xmlns:a="http://schemas.openxmlformats.org/drawingml/2006/main">
            <a:off x="14001750" y="81438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567083"/>
                </a:solidFill>
                <a:latin typeface="Calibri"/>
                <a:ea typeface="Calibri"/>
                <a:cs typeface="Calibri"/>
              </a:defRPr>
            </a:defPPr>
          </a:lstStyle>
          <a:p xmlns:a="http://schemas.openxmlformats.org/drawingml/2006/main">
            <a:pPr algn="r">
              <a:defRPr sz="1350" b="1">
                <a:solidFill>
                  <a:srgbClr val="567083"/>
                </a:solidFill>
                <a:latin typeface="Calibri"/>
                <a:ea typeface="Calibri"/>
                <a:cs typeface="Calibri"/>
              </a:defRPr>
            </a:pPr>
            <a:r>
              <a:rPr sz="1350" b="1">
                <a:solidFill>
                  <a:srgbClr val="567083"/>
                </a:solidFill>
                <a:latin typeface="Calibri"/>
                <a:ea typeface="Calibri"/>
                <a:cs typeface="Calibri"/>
              </a:rPr>
              <a:t>07</a:t>
            </a:r>
          </a:p>
        </p:txBody>
      </p:sp>
      <p:graphicFrame>
        <p:nvGraphicFramePr>
          <p:cNvPr id="7" name="">
            <a:extLst xmlns:a="http://schemas.openxmlformats.org/drawingml/2006/main">
              <a:ext uri="{FF2B5EF4-FFF2-40B4-BE49-F238E27FC236}">
                <a16:creationId xmlns:a16="http://schemas.microsoft.com/office/drawing/2014/main" id="{13A1FE21-F1B4-4D44-B380-DB3A7AAD0922}"/>
              </a:ext>
            </a:extLst>
          </p:cNvPr>
          <p:cNvGraphicFramePr/>
          <p:nvPr/>
        </p:nvGraphicFramePr>
        <p:xfrm>
          <a:off xmlns:a="http://schemas.openxmlformats.org/drawingml/2006/main" x="571500" y="2181225"/>
          <a:ext xmlns:a="http://schemas.openxmlformats.org/drawingml/2006/main" cx="14097000" cy="4457700"/>
        </p:xfrm>
        <a:graphic xmlns:a="http://schemas.openxmlformats.org/drawingml/2006/main">
          <a:graphicData uri="http://schemas.openxmlformats.org/drawingml/2006/table">
            <a:tbl>
              <a:tblPr firstRow="0" bandRow="0"/>
              <a:tblGrid>
                <a:gridCol w="3143250"/>
                <a:gridCol w="3762375"/>
                <a:gridCol w="4000500"/>
                <a:gridCol w="3190875"/>
              </a:tblGrid>
              <a:tr h="1114425">
                <a:tc>
                  <a:txBody>
                    <a:bodyPr/>
                    <a:lstStyle/>
                    <a:p>
                      <a:r>
                        <a:rPr sz="1725" b="1">
                          <a:solidFill>
                            <a:srgbClr val="FFFFFF"/>
                          </a:solidFill>
                          <a:latin typeface="Calibri"/>
                          <a:ea typeface="Calibri"/>
                          <a:cs typeface="Calibri"/>
                        </a:rPr>
                        <a:t>Entry</a:t>
                      </a:r>
                    </a:p>
                  </a:txBody>
                  <a:tcPr marL="114300" marR="114300" marT="76200" marB="57150" anchor="ctr">
                    <a:solidFill>
                      <a:srgbClr val="142D40"/>
                    </a:solidFill>
                  </a:tcPr>
                </a:tc>
                <a:tc>
                  <a:txBody>
                    <a:bodyPr/>
                    <a:lstStyle/>
                    <a:p>
                      <a:r>
                        <a:rPr sz="1725" b="1">
                          <a:solidFill>
                            <a:srgbClr val="FFFFFF"/>
                          </a:solidFill>
                          <a:latin typeface="Calibri"/>
                          <a:ea typeface="Calibri"/>
                          <a:cs typeface="Calibri"/>
                        </a:rPr>
                        <a:t>Identity and lifecycle owner</a:t>
                      </a:r>
                    </a:p>
                  </a:txBody>
                  <a:tcPr marL="114300" marR="114300" marT="76200" marB="57150" anchor="ctr">
                    <a:solidFill>
                      <a:srgbClr val="142D40"/>
                    </a:solidFill>
                  </a:tcPr>
                </a:tc>
                <a:tc>
                  <a:txBody>
                    <a:bodyPr/>
                    <a:lstStyle/>
                    <a:p>
                      <a:r>
                        <a:rPr sz="1725" b="1">
                          <a:solidFill>
                            <a:srgbClr val="FFFFFF"/>
                          </a:solidFill>
                          <a:latin typeface="Calibri"/>
                          <a:ea typeface="Calibri"/>
                          <a:cs typeface="Calibri"/>
                        </a:rPr>
                        <a:t>Access service responsibility</a:t>
                      </a:r>
                    </a:p>
                  </a:txBody>
                  <a:tcPr marL="114300" marR="114300" marT="76200" marB="57150" anchor="ctr">
                    <a:solidFill>
                      <a:srgbClr val="142D40"/>
                    </a:solidFill>
                  </a:tcPr>
                </a:tc>
                <a:tc>
                  <a:txBody>
                    <a:bodyPr/>
                    <a:lstStyle/>
                    <a:p>
                      <a:r>
                        <a:rPr sz="1725" b="1">
                          <a:solidFill>
                            <a:srgbClr val="FFFFFF"/>
                          </a:solidFill>
                          <a:latin typeface="Calibri"/>
                          <a:ea typeface="Calibri"/>
                          <a:cs typeface="Calibri"/>
                        </a:rPr>
                        <a:t>Trust pattern</a:t>
                      </a:r>
                    </a:p>
                  </a:txBody>
                  <a:tcPr marL="114300" marR="114300" marT="76200" marB="57150" anchor="ctr">
                    <a:solidFill>
                      <a:srgbClr val="142D40"/>
                    </a:solidFill>
                  </a:tcPr>
                </a:tc>
              </a:tr>
              <a:tr h="1114425">
                <a:tc>
                  <a:txBody>
                    <a:bodyPr/>
                    <a:lstStyle/>
                    <a:p>
                      <a:r>
                        <a:rPr sz="1800" b="1">
                          <a:solidFill>
                            <a:srgbClr val="142D40"/>
                          </a:solidFill>
                          <a:latin typeface="Calibri"/>
                          <a:ea typeface="Calibri"/>
                          <a:cs typeface="Calibri"/>
                        </a:rPr>
                        <a:t>Automated financial system</a:t>
                      </a:r>
                    </a:p>
                  </a:txBody>
                  <a:tcPr marL="114300" marR="114300" marT="76200" marB="57150" anchor="ctr">
                    <a:solidFill>
                      <a:srgbClr val="FFFFFF"/>
                    </a:solidFill>
                  </a:tcPr>
                </a:tc>
                <a:tc>
                  <a:txBody>
                    <a:bodyPr/>
                    <a:lstStyle/>
                    <a:p>
                      <a:r>
                        <a:rPr sz="1800" b="0">
                          <a:solidFill>
                            <a:srgbClr val="142D40"/>
                          </a:solidFill>
                          <a:latin typeface="Calibri"/>
                          <a:ea typeface="Calibri"/>
                          <a:cs typeface="Calibri"/>
                        </a:rPr>
                        <a:t>Client-owned: external integration registry</a:t>
                      </a:r>
                    </a:p>
                    <a:p>
                      <a:r>
                        <a:rPr sz="1800" b="0">
                          <a:solidFill>
                            <a:srgbClr val="142D40"/>
                          </a:solidFill>
                          <a:latin typeface="Calibri"/>
                          <a:ea typeface="Calibri"/>
                          <a:cs typeface="Calibri"/>
                        </a:rPr>
                        <a:t>Euroclear-owned: internal workload registry</a:t>
                      </a:r>
                    </a:p>
                  </a:txBody>
                  <a:tcPr marL="114300" marR="114300" marT="76200" marB="57150" anchor="ctr">
                    <a:solidFill>
                      <a:srgbClr val="FFFFFF"/>
                    </a:solidFill>
                  </a:tcPr>
                </a:tc>
                <a:tc>
                  <a:txBody>
                    <a:bodyPr/>
                    <a:lstStyle/>
                    <a:p>
                      <a:r>
                        <a:rPr sz="1800" b="0">
                          <a:solidFill>
                            <a:srgbClr val="142D40"/>
                          </a:solidFill>
                          <a:latin typeface="Calibri"/>
                          <a:ea typeface="Calibri"/>
                          <a:cs typeface="Calibri"/>
                        </a:rPr>
                        <a:t>CIAM/API services validate client context</a:t>
                      </a:r>
                    </a:p>
                    <a:p>
                      <a:r>
                        <a:rPr sz="1800" b="0">
                          <a:solidFill>
                            <a:srgbClr val="142D40"/>
                          </a:solidFill>
                          <a:latin typeface="Calibri"/>
                          <a:ea typeface="Calibri"/>
                          <a:cs typeface="Calibri"/>
                        </a:rPr>
                        <a:t>Internal engines retain workload governance</a:t>
                      </a:r>
                    </a:p>
                  </a:txBody>
                  <a:tcPr marL="114300" marR="114300" marT="76200" marB="57150" anchor="ctr">
                    <a:solidFill>
                      <a:srgbClr val="FFFFFF"/>
                    </a:solidFill>
                  </a:tcPr>
                </a:tc>
                <a:tc>
                  <a:txBody>
                    <a:bodyPr/>
                    <a:lstStyle/>
                    <a:p>
                      <a:r>
                        <a:rPr sz="1800" b="0">
                          <a:solidFill>
                            <a:srgbClr val="142D40"/>
                          </a:solidFill>
                          <a:latin typeface="Calibri"/>
                          <a:ea typeface="Calibri"/>
                          <a:cs typeface="Calibri"/>
                        </a:rPr>
                        <a:t>Machine credentials and scoped API access</a:t>
                      </a:r>
                    </a:p>
                    <a:p>
                      <a:r>
                        <a:rPr sz="1800" b="0">
                          <a:solidFill>
                            <a:srgbClr val="142D40"/>
                          </a:solidFill>
                          <a:latin typeface="Calibri"/>
                          <a:ea typeface="Calibri"/>
                          <a:cs typeface="Calibri"/>
                        </a:rPr>
                        <a:t>Cross-domain trust when required</a:t>
                      </a:r>
                    </a:p>
                  </a:txBody>
                  <a:tcPr marL="114300" marR="114300" marT="76200" marB="57150" anchor="ctr">
                    <a:solidFill>
                      <a:srgbClr val="FFFFFF"/>
                    </a:solidFill>
                  </a:tcPr>
                </a:tc>
              </a:tr>
              <a:tr h="1114425">
                <a:tc>
                  <a:txBody>
                    <a:bodyPr/>
                    <a:lstStyle/>
                    <a:p>
                      <a:r>
                        <a:rPr sz="1800" b="1">
                          <a:solidFill>
                            <a:srgbClr val="142D40"/>
                          </a:solidFill>
                          <a:latin typeface="Calibri"/>
                          <a:ea typeface="Calibri"/>
                          <a:cs typeface="Calibri"/>
                        </a:rPr>
                        <a:t>Client identity provisioning integration</a:t>
                      </a:r>
                    </a:p>
                  </a:txBody>
                  <a:tcPr marL="114300" marR="114300" marT="76200" marB="57150" anchor="ctr">
                    <a:solidFill>
                      <a:srgbClr val="F1F5F8"/>
                    </a:solidFill>
                  </a:tcPr>
                </a:tc>
                <a:tc>
                  <a:txBody>
                    <a:bodyPr/>
                    <a:lstStyle/>
                    <a:p>
                      <a:r>
                        <a:rPr sz="1800" b="0">
                          <a:solidFill>
                            <a:srgbClr val="142D40"/>
                          </a:solidFill>
                          <a:latin typeface="Calibri"/>
                          <a:ea typeface="Calibri"/>
                          <a:cs typeface="Calibri"/>
                        </a:rPr>
                        <a:t>CIAM-side external application registration</a:t>
                      </a:r>
                    </a:p>
                    <a:p>
                      <a:r>
                        <a:rPr sz="1800" b="0">
                          <a:solidFill>
                            <a:srgbClr val="142D40"/>
                          </a:solidFill>
                          <a:latin typeface="Calibri"/>
                          <a:ea typeface="Calibri"/>
                          <a:cs typeface="Calibri"/>
                        </a:rPr>
                        <a:t>Client organisation owns the integration mandate</a:t>
                      </a:r>
                    </a:p>
                  </a:txBody>
                  <a:tcPr marL="114300" marR="114300" marT="76200" marB="57150" anchor="ctr">
                    <a:solidFill>
                      <a:srgbClr val="F1F5F8"/>
                    </a:solidFill>
                  </a:tcPr>
                </a:tc>
                <a:tc>
                  <a:txBody>
                    <a:bodyPr/>
                    <a:lstStyle/>
                    <a:p>
                      <a:r>
                        <a:rPr sz="1800" b="0">
                          <a:solidFill>
                            <a:srgbClr val="142D40"/>
                          </a:solidFill>
                          <a:latin typeface="Calibri"/>
                          <a:ea typeface="Calibri"/>
                          <a:cs typeface="Calibri"/>
                        </a:rPr>
                        <a:t>Provision users only within approved organisation</a:t>
                      </a:r>
                    </a:p>
                    <a:p>
                      <a:r>
                        <a:rPr sz="1800" b="0">
                          <a:solidFill>
                            <a:srgbClr val="142D40"/>
                          </a:solidFill>
                          <a:latin typeface="Calibri"/>
                          <a:ea typeface="Calibri"/>
                          <a:cs typeface="Calibri"/>
                        </a:rPr>
                        <a:t>Validate permitted attributes and assignments</a:t>
                      </a:r>
                    </a:p>
                  </a:txBody>
                  <a:tcPr marL="114300" marR="114300" marT="76200" marB="57150" anchor="ctr">
                    <a:solidFill>
                      <a:srgbClr val="F1F5F8"/>
                    </a:solidFill>
                  </a:tcPr>
                </a:tc>
                <a:tc>
                  <a:txBody>
                    <a:bodyPr/>
                    <a:lstStyle/>
                    <a:p>
                      <a:r>
                        <a:rPr sz="1800" b="0">
                          <a:solidFill>
                            <a:srgbClr val="142D40"/>
                          </a:solidFill>
                          <a:latin typeface="Calibri"/>
                          <a:ea typeface="Calibri"/>
                          <a:cs typeface="Calibri"/>
                        </a:rPr>
                        <a:t>Machine authentication</a:t>
                      </a:r>
                    </a:p>
                    <a:p>
                      <a:r>
                        <a:rPr sz="1800" b="0">
                          <a:solidFill>
                            <a:srgbClr val="142D40"/>
                          </a:solidFill>
                          <a:latin typeface="Calibri"/>
                          <a:ea typeface="Calibri"/>
                          <a:cs typeface="Calibri"/>
                        </a:rPr>
                        <a:t>Provisioning API permissions</a:t>
                      </a:r>
                    </a:p>
                  </a:txBody>
                  <a:tcPr marL="114300" marR="114300" marT="76200" marB="57150" anchor="ctr">
                    <a:solidFill>
                      <a:srgbClr val="F1F5F8"/>
                    </a:solidFill>
                  </a:tcPr>
                </a:tc>
              </a:tr>
              <a:tr h="1114425">
                <a:tc>
                  <a:txBody>
                    <a:bodyPr/>
                    <a:lstStyle/>
                    <a:p>
                      <a:r>
                        <a:rPr sz="1800" b="1">
                          <a:solidFill>
                            <a:srgbClr val="142D40"/>
                          </a:solidFill>
                          <a:latin typeface="Calibri"/>
                          <a:ea typeface="Calibri"/>
                          <a:cs typeface="Calibri"/>
                        </a:rPr>
                        <a:t>Legacy client user in migration</a:t>
                      </a:r>
                    </a:p>
                  </a:txBody>
                  <a:tcPr marL="114300" marR="114300" marT="76200" marB="57150" anchor="ctr">
                    <a:solidFill>
                      <a:srgbClr val="FFFFFF"/>
                    </a:solidFill>
                  </a:tcPr>
                </a:tc>
                <a:tc>
                  <a:txBody>
                    <a:bodyPr/>
                    <a:lstStyle/>
                    <a:p>
                      <a:r>
                        <a:rPr sz="1800" b="0">
                          <a:solidFill>
                            <a:srgbClr val="142D40"/>
                          </a:solidFill>
                          <a:latin typeface="Calibri"/>
                          <a:ea typeface="Calibri"/>
                          <a:cs typeface="Calibri"/>
                        </a:rPr>
                        <a:t>Legacy UAM initially</a:t>
                      </a:r>
                    </a:p>
                    <a:p>
                      <a:r>
                        <a:rPr sz="1800" b="0">
                          <a:solidFill>
                            <a:srgbClr val="142D40"/>
                          </a:solidFill>
                          <a:latin typeface="Calibri"/>
                          <a:ea typeface="Calibri"/>
                          <a:cs typeface="Calibri"/>
                        </a:rPr>
                        <a:t>CIAM after approved migration</a:t>
                      </a:r>
                    </a:p>
                  </a:txBody>
                  <a:tcPr marL="114300" marR="114300" marT="76200" marB="57150" anchor="ctr">
                    <a:solidFill>
                      <a:srgbClr val="FFFFFF"/>
                    </a:solidFill>
                  </a:tcPr>
                </a:tc>
                <a:tc>
                  <a:txBody>
                    <a:bodyPr/>
                    <a:lstStyle/>
                    <a:p>
                      <a:r>
                        <a:rPr sz="1800" b="0">
                          <a:solidFill>
                            <a:srgbClr val="142D40"/>
                          </a:solidFill>
                          <a:latin typeface="Calibri"/>
                          <a:ea typeface="Calibri"/>
                          <a:cs typeface="Calibri"/>
                        </a:rPr>
                        <a:t>Link identity without duplicate accounts</a:t>
                      </a:r>
                    </a:p>
                    <a:p>
                      <a:r>
                        <a:rPr sz="1800" b="0">
                          <a:solidFill>
                            <a:srgbClr val="142D40"/>
                          </a:solidFill>
                          <a:latin typeface="Calibri"/>
                          <a:ea typeface="Calibri"/>
                          <a:cs typeface="Calibri"/>
                        </a:rPr>
                        <a:t>Retain approved entitlements and audit history</a:t>
                      </a:r>
                    </a:p>
                  </a:txBody>
                  <a:tcPr marL="114300" marR="114300" marT="76200" marB="57150" anchor="ctr">
                    <a:solidFill>
                      <a:srgbClr val="FFFFFF"/>
                    </a:solidFill>
                  </a:tcPr>
                </a:tc>
                <a:tc>
                  <a:txBody>
                    <a:bodyPr/>
                    <a:lstStyle/>
                    <a:p>
                      <a:r>
                        <a:rPr sz="1800" b="0">
                          <a:solidFill>
                            <a:srgbClr val="142D40"/>
                          </a:solidFill>
                          <a:latin typeface="Calibri"/>
                          <a:ea typeface="Calibri"/>
                          <a:cs typeface="Calibri"/>
                        </a:rPr>
                        <a:t>Legacy UAM federation or identity proxy</a:t>
                      </a:r>
                    </a:p>
                    <a:p>
                      <a:r>
                        <a:rPr sz="1800" b="0">
                          <a:solidFill>
                            <a:srgbClr val="142D40"/>
                          </a:solidFill>
                          <a:latin typeface="Calibri"/>
                          <a:ea typeface="Calibri"/>
                          <a:cs typeface="Calibri"/>
                        </a:rPr>
                        <a:t>Controlled just-in-time provisioning</a:t>
                      </a:r>
                    </a:p>
                  </a:txBody>
                  <a:tcPr marL="114300" marR="114300" marT="76200" marB="57150" anchor="ctr">
                    <a:solidFill>
                      <a:srgbClr val="FFFFFF"/>
                    </a:solidFill>
                  </a:tcPr>
                </a:tc>
              </a:tr>
            </a:tbl>
          </a:graphicData>
        </a:graphic>
      </p:graphicFrame>
      <p:sp>
        <p:nvSpPr>
          <p:cNvPr id="8" name="text-129">
            <a:extLst xmlns:a="http://schemas.openxmlformats.org/drawingml/2006/main">
              <a:ext uri="{FF2B5EF4-FFF2-40B4-BE49-F238E27FC236}">
                <a16:creationId xmlns:a16="http://schemas.microsoft.com/office/drawing/2014/main" id="{801F9023-5B58-48D4-A2CD-7DAB9B119D95}"/>
              </a:ext>
            </a:extLst>
          </p:cNvPr>
          <p:cNvSpPr>
            <a:spLocks xmlns:a="http://schemas.openxmlformats.org/drawingml/2006/main" noGrp="1"/>
          </p:cNvSpPr>
          <p:nvPr/>
        </p:nvSpPr>
        <p:spPr>
          <a:xfrm xmlns:a="http://schemas.openxmlformats.org/drawingml/2006/main">
            <a:off x="571500" y="7086600"/>
            <a:ext cx="1409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94641C"/>
                </a:solidFill>
                <a:latin typeface="Calibri"/>
                <a:ea typeface="Calibri"/>
                <a:cs typeface="Calibri"/>
              </a:defRPr>
            </a:defPPr>
          </a:lstStyle>
          <a:p xmlns:a="http://schemas.openxmlformats.org/drawingml/2006/main">
            <a:pPr algn="l">
              <a:defRPr sz="2325" b="1">
                <a:solidFill>
                  <a:srgbClr val="94641C"/>
                </a:solidFill>
                <a:latin typeface="Calibri"/>
                <a:ea typeface="Calibri"/>
                <a:cs typeface="Calibri"/>
              </a:defRPr>
            </a:pPr>
            <a:r>
              <a:rPr sz="2325" b="1">
                <a:solidFill>
                  <a:srgbClr val="94641C"/>
                </a:solidFill>
                <a:latin typeface="Calibri"/>
                <a:ea typeface="Calibri"/>
                <a:cs typeface="Calibri"/>
              </a:rPr>
              <a:t>Financial system ownership requires confirmation</a:t>
            </a:r>
          </a:p>
        </p:txBody>
      </p:sp>
      <p:sp>
        <p:nvSpPr>
          <p:cNvPr id="9" name="text-130">
            <a:extLst xmlns:a="http://schemas.openxmlformats.org/drawingml/2006/main">
              <a:ext uri="{FF2B5EF4-FFF2-40B4-BE49-F238E27FC236}">
                <a16:creationId xmlns:a16="http://schemas.microsoft.com/office/drawing/2014/main" id="{FABD1C6F-EB77-48ED-BA5F-25D87139EC62}"/>
              </a:ext>
            </a:extLst>
          </p:cNvPr>
          <p:cNvSpPr>
            <a:spLocks xmlns:a="http://schemas.openxmlformats.org/drawingml/2006/main" noGrp="1"/>
          </p:cNvSpPr>
          <p:nvPr/>
        </p:nvSpPr>
        <p:spPr>
          <a:xfrm xmlns:a="http://schemas.openxmlformats.org/drawingml/2006/main">
            <a:off x="571500" y="7543800"/>
            <a:ext cx="14097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67083"/>
                </a:solidFill>
                <a:latin typeface="Calibri"/>
                <a:ea typeface="Calibri"/>
                <a:cs typeface="Calibri"/>
              </a:defRPr>
            </a:defPPr>
          </a:lstStyle>
          <a:p xmlns:a="http://schemas.openxmlformats.org/drawingml/2006/main">
            <a:pPr algn="l">
              <a:defRPr sz="1875" b="0">
                <a:solidFill>
                  <a:srgbClr val="567083"/>
                </a:solidFill>
                <a:latin typeface="Calibri"/>
                <a:ea typeface="Calibri"/>
                <a:cs typeface="Calibri"/>
              </a:defRPr>
            </a:pPr>
            <a:r>
              <a:rPr sz="1875" b="0">
                <a:solidFill>
                  <a:srgbClr val="567083"/>
                </a:solidFill>
                <a:latin typeface="Calibri"/>
                <a:ea typeface="Calibri"/>
                <a:cs typeface="Calibri"/>
              </a:rPr>
              <a:t>The network channel does not determine identity ownership or prove the required authentication assurance</a:t>
            </a:r>
          </a:p>
        </p:txBody>
      </p:sp>
    </p:spTree>
    <p:extLst>
      <p:ext uri="{BB962C8B-B14F-4D97-AF65-F5344CB8AC3E}">
        <p14:creationId xmlns:p14="http://schemas.microsoft.com/office/powerpoint/2010/main" val="128438072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131">
            <a:extLst xmlns:a="http://schemas.openxmlformats.org/drawingml/2006/main">
              <a:ext uri="{FF2B5EF4-FFF2-40B4-BE49-F238E27FC236}">
                <a16:creationId xmlns:a16="http://schemas.microsoft.com/office/drawing/2014/main" id="{D179A730-2636-474D-8163-DD327CF15C21}"/>
              </a:ext>
            </a:extLst>
          </p:cNvPr>
          <p:cNvSpPr>
            <a:spLocks xmlns:a="http://schemas.openxmlformats.org/drawingml/2006/main" noGrp="1"/>
          </p:cNvSpPr>
          <p:nvPr/>
        </p:nvSpPr>
        <p:spPr>
          <a:xfrm xmlns:a="http://schemas.openxmlformats.org/drawingml/2006/main">
            <a:off x="571500" y="247650"/>
            <a:ext cx="1285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67083"/>
                </a:solidFill>
                <a:latin typeface="Calibri"/>
                <a:ea typeface="Calibri"/>
                <a:cs typeface="Calibri"/>
              </a:defRPr>
            </a:defPPr>
          </a:lstStyle>
          <a:p xmlns:a="http://schemas.openxmlformats.org/drawingml/2006/main">
            <a:pPr algn="l">
              <a:defRPr sz="1350" b="1">
                <a:solidFill>
                  <a:srgbClr val="567083"/>
                </a:solidFill>
                <a:latin typeface="Calibri"/>
                <a:ea typeface="Calibri"/>
                <a:cs typeface="Calibri"/>
              </a:defRPr>
            </a:pPr>
            <a:r>
              <a:rPr sz="1350" b="1">
                <a:solidFill>
                  <a:srgbClr val="567083"/>
                </a:solidFill>
                <a:latin typeface="Calibri"/>
                <a:ea typeface="Calibri"/>
                <a:cs typeface="Calibri"/>
              </a:rPr>
              <a:t>EUROCLEAR   /   ENTERPRISE IDENTITY ARCHITECTURE</a:t>
            </a:r>
          </a:p>
        </p:txBody>
      </p:sp>
      <p:sp>
        <p:nvSpPr>
          <p:cNvPr id="2" name="text-132">
            <a:extLst xmlns:a="http://schemas.openxmlformats.org/drawingml/2006/main">
              <a:ext uri="{FF2B5EF4-FFF2-40B4-BE49-F238E27FC236}">
                <a16:creationId xmlns:a16="http://schemas.microsoft.com/office/drawing/2014/main" id="{6144C12F-457A-4320-B38A-D29F2CC879BF}"/>
              </a:ext>
            </a:extLst>
          </p:cNvPr>
          <p:cNvSpPr>
            <a:spLocks xmlns:a="http://schemas.openxmlformats.org/drawingml/2006/main" noGrp="1"/>
          </p:cNvSpPr>
          <p:nvPr/>
        </p:nvSpPr>
        <p:spPr>
          <a:xfrm xmlns:a="http://schemas.openxmlformats.org/drawingml/2006/main">
            <a:off x="571500" y="74295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42D40"/>
                </a:solidFill>
                <a:latin typeface="Calibri"/>
                <a:ea typeface="Calibri"/>
                <a:cs typeface="Calibri"/>
              </a:defRPr>
            </a:defPPr>
          </a:lstStyle>
          <a:p xmlns:a="http://schemas.openxmlformats.org/drawingml/2006/main">
            <a:pPr algn="l">
              <a:defRPr sz="3450" b="1">
                <a:solidFill>
                  <a:srgbClr val="142D40"/>
                </a:solidFill>
                <a:latin typeface="Calibri"/>
                <a:ea typeface="Calibri"/>
                <a:cs typeface="Calibri"/>
              </a:defRPr>
            </a:pPr>
            <a:r>
              <a:rPr sz="3450" b="1">
                <a:solidFill>
                  <a:srgbClr val="142D40"/>
                </a:solidFill>
                <a:latin typeface="Calibri"/>
                <a:ea typeface="Calibri"/>
                <a:cs typeface="Calibri"/>
              </a:rPr>
              <a:t>Architecture Board decisions</a:t>
            </a:r>
          </a:p>
        </p:txBody>
      </p:sp>
      <p:sp>
        <p:nvSpPr>
          <p:cNvPr id="3" name="text-133">
            <a:extLst xmlns:a="http://schemas.openxmlformats.org/drawingml/2006/main">
              <a:ext uri="{FF2B5EF4-FFF2-40B4-BE49-F238E27FC236}">
                <a16:creationId xmlns:a16="http://schemas.microsoft.com/office/drawing/2014/main" id="{C161F909-9A29-43FF-8FA6-877E2612D1EB}"/>
              </a:ext>
            </a:extLst>
          </p:cNvPr>
          <p:cNvSpPr>
            <a:spLocks xmlns:a="http://schemas.openxmlformats.org/drawingml/2006/main" noGrp="1"/>
          </p:cNvSpPr>
          <p:nvPr/>
        </p:nvSpPr>
        <p:spPr>
          <a:xfrm xmlns:a="http://schemas.openxmlformats.org/drawingml/2006/main">
            <a:off x="571500" y="1419225"/>
            <a:ext cx="14097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67083"/>
                </a:solidFill>
                <a:latin typeface="Calibri"/>
                <a:ea typeface="Calibri"/>
                <a:cs typeface="Calibri"/>
              </a:defRPr>
            </a:defPPr>
          </a:lstStyle>
          <a:p xmlns:a="http://schemas.openxmlformats.org/drawingml/2006/main">
            <a:pPr algn="l">
              <a:defRPr sz="1875" b="0">
                <a:solidFill>
                  <a:srgbClr val="567083"/>
                </a:solidFill>
                <a:latin typeface="Calibri"/>
                <a:ea typeface="Calibri"/>
                <a:cs typeface="Calibri"/>
              </a:defRPr>
            </a:pPr>
            <a:r>
              <a:rPr sz="1875" b="0">
                <a:solidFill>
                  <a:srgbClr val="567083"/>
                </a:solidFill>
                <a:latin typeface="Calibri"/>
                <a:ea typeface="Calibri"/>
                <a:cs typeface="Calibri"/>
              </a:rPr>
              <a:t>The persona model establishes reusable boundaries for subsequent architecture patterns</a:t>
            </a:r>
          </a:p>
        </p:txBody>
      </p:sp>
      <p:sp>
        <p:nvSpPr>
          <p:cNvPr id="4" name="line-134">
            <a:extLst xmlns:a="http://schemas.openxmlformats.org/drawingml/2006/main">
              <a:ext uri="{FF2B5EF4-FFF2-40B4-BE49-F238E27FC236}">
                <a16:creationId xmlns:a16="http://schemas.microsoft.com/office/drawing/2014/main" id="{0C71A540-1A64-46AE-A1DE-A7D066BF5165}"/>
              </a:ext>
            </a:extLst>
          </p:cNvPr>
          <p:cNvSpPr>
            <a:spLocks xmlns:a="http://schemas.openxmlformats.org/drawingml/2006/main" noGrp="1"/>
          </p:cNvSpPr>
          <p:nvPr/>
        </p:nvSpPr>
        <p:spPr>
          <a:xfrm xmlns:a="http://schemas.openxmlformats.org/drawingml/2006/main">
            <a:off x="571500" y="8048625"/>
            <a:ext cx="14097000" cy="0"/>
          </a:xfrm>
          <a:prstGeom xmlns:a="http://schemas.openxmlformats.org/drawingml/2006/main" prst="line">
            <a:avLst/>
          </a:prstGeom>
          <a:noFill xmlns:a="http://schemas.openxmlformats.org/drawingml/2006/main"/>
          <a:ln xmlns:a="http://schemas.openxmlformats.org/drawingml/2006/main" w="13335">
            <a:solidFill>
              <a:srgbClr val="D8E1E8"/>
            </a:solidFill>
          </a:ln>
        </p:spPr>
      </p:sp>
      <p:sp>
        <p:nvSpPr>
          <p:cNvPr id="5" name="text-135">
            <a:extLst xmlns:a="http://schemas.openxmlformats.org/drawingml/2006/main">
              <a:ext uri="{FF2B5EF4-FFF2-40B4-BE49-F238E27FC236}">
                <a16:creationId xmlns:a16="http://schemas.microsoft.com/office/drawing/2014/main" id="{7EB2AD24-B401-42E0-8196-B9F2449DF91B}"/>
              </a:ext>
            </a:extLst>
          </p:cNvPr>
          <p:cNvSpPr>
            <a:spLocks xmlns:a="http://schemas.openxmlformats.org/drawingml/2006/main" noGrp="1"/>
          </p:cNvSpPr>
          <p:nvPr/>
        </p:nvSpPr>
        <p:spPr>
          <a:xfrm xmlns:a="http://schemas.openxmlformats.org/drawingml/2006/main">
            <a:off x="571500" y="8172450"/>
            <a:ext cx="1295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7083"/>
                </a:solidFill>
                <a:latin typeface="Calibri"/>
                <a:ea typeface="Calibri"/>
                <a:cs typeface="Calibri"/>
              </a:defRPr>
            </a:defPPr>
          </a:lstStyle>
          <a:p xmlns:a="http://schemas.openxmlformats.org/drawingml/2006/main">
            <a:pPr algn="l">
              <a:defRPr sz="1275" b="0">
                <a:solidFill>
                  <a:srgbClr val="567083"/>
                </a:solidFill>
                <a:latin typeface="Calibri"/>
                <a:ea typeface="Calibri"/>
                <a:cs typeface="Calibri"/>
              </a:defRPr>
            </a:pPr>
            <a:r>
              <a:rPr sz="1275" b="0">
                <a:solidFill>
                  <a:srgbClr val="567083"/>
                </a:solidFill>
                <a:latin typeface="Calibri"/>
                <a:ea typeface="Calibri"/>
                <a:cs typeface="Calibri"/>
              </a:rPr>
              <a:t>Architecture Board review   /   Proposed target boundaries   /   8 October 2026</a:t>
            </a:r>
          </a:p>
        </p:txBody>
      </p:sp>
      <p:sp>
        <p:nvSpPr>
          <p:cNvPr id="6" name="text-136">
            <a:extLst xmlns:a="http://schemas.openxmlformats.org/drawingml/2006/main">
              <a:ext uri="{FF2B5EF4-FFF2-40B4-BE49-F238E27FC236}">
                <a16:creationId xmlns:a16="http://schemas.microsoft.com/office/drawing/2014/main" id="{6553E069-42AC-4E9B-BF01-04D6BF6E8E9E}"/>
              </a:ext>
            </a:extLst>
          </p:cNvPr>
          <p:cNvSpPr>
            <a:spLocks xmlns:a="http://schemas.openxmlformats.org/drawingml/2006/main" noGrp="1"/>
          </p:cNvSpPr>
          <p:nvPr/>
        </p:nvSpPr>
        <p:spPr>
          <a:xfrm xmlns:a="http://schemas.openxmlformats.org/drawingml/2006/main">
            <a:off x="14001750" y="81438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567083"/>
                </a:solidFill>
                <a:latin typeface="Calibri"/>
                <a:ea typeface="Calibri"/>
                <a:cs typeface="Calibri"/>
              </a:defRPr>
            </a:defPPr>
          </a:lstStyle>
          <a:p xmlns:a="http://schemas.openxmlformats.org/drawingml/2006/main">
            <a:pPr algn="r">
              <a:defRPr sz="1350" b="1">
                <a:solidFill>
                  <a:srgbClr val="567083"/>
                </a:solidFill>
                <a:latin typeface="Calibri"/>
                <a:ea typeface="Calibri"/>
                <a:cs typeface="Calibri"/>
              </a:defRPr>
            </a:pPr>
            <a:r>
              <a:rPr sz="1350" b="1">
                <a:solidFill>
                  <a:srgbClr val="567083"/>
                </a:solidFill>
                <a:latin typeface="Calibri"/>
                <a:ea typeface="Calibri"/>
                <a:cs typeface="Calibri"/>
              </a:rPr>
              <a:t>08</a:t>
            </a:r>
          </a:p>
        </p:txBody>
      </p:sp>
      <p:graphicFrame>
        <p:nvGraphicFramePr>
          <p:cNvPr id="7" name="">
            <a:extLst xmlns:a="http://schemas.openxmlformats.org/drawingml/2006/main">
              <a:ext uri="{FF2B5EF4-FFF2-40B4-BE49-F238E27FC236}">
                <a16:creationId xmlns:a16="http://schemas.microsoft.com/office/drawing/2014/main" id="{815F8916-2F4C-4EFB-AB8C-9171CD17BEA6}"/>
              </a:ext>
            </a:extLst>
          </p:cNvPr>
          <p:cNvGraphicFramePr/>
          <p:nvPr/>
        </p:nvGraphicFramePr>
        <p:xfrm>
          <a:off xmlns:a="http://schemas.openxmlformats.org/drawingml/2006/main" x="571500" y="2162175"/>
          <a:ext xmlns:a="http://schemas.openxmlformats.org/drawingml/2006/main" cx="14097000" cy="4114800"/>
        </p:xfrm>
        <a:graphic xmlns:a="http://schemas.openxmlformats.org/drawingml/2006/main">
          <a:graphicData uri="http://schemas.openxmlformats.org/drawingml/2006/table">
            <a:tbl>
              <a:tblPr firstRow="0" bandRow="0"/>
              <a:tblGrid>
                <a:gridCol w="2952750"/>
                <a:gridCol w="6619875"/>
                <a:gridCol w="4524375"/>
              </a:tblGrid>
              <a:tr h="822960">
                <a:tc>
                  <a:txBody>
                    <a:bodyPr/>
                    <a:lstStyle/>
                    <a:p>
                      <a:r>
                        <a:rPr sz="1875" b="1">
                          <a:solidFill>
                            <a:srgbClr val="FFFFFF"/>
                          </a:solidFill>
                          <a:latin typeface="Calibri"/>
                          <a:ea typeface="Calibri"/>
                          <a:cs typeface="Calibri"/>
                        </a:rPr>
                        <a:t>Decision area</a:t>
                      </a:r>
                    </a:p>
                  </a:txBody>
                  <a:tcPr marL="114300" marR="114300" marT="76200" marB="57150" anchor="ctr">
                    <a:solidFill>
                      <a:srgbClr val="142D40"/>
                    </a:solidFill>
                  </a:tcPr>
                </a:tc>
                <a:tc>
                  <a:txBody>
                    <a:bodyPr/>
                    <a:lstStyle/>
                    <a:p>
                      <a:r>
                        <a:rPr sz="1875" b="1">
                          <a:solidFill>
                            <a:srgbClr val="FFFFFF"/>
                          </a:solidFill>
                          <a:latin typeface="Calibri"/>
                          <a:ea typeface="Calibri"/>
                          <a:cs typeface="Calibri"/>
                        </a:rPr>
                        <a:t>Proposed target position</a:t>
                      </a:r>
                    </a:p>
                  </a:txBody>
                  <a:tcPr marL="114300" marR="114300" marT="76200" marB="57150" anchor="ctr">
                    <a:solidFill>
                      <a:srgbClr val="142D40"/>
                    </a:solidFill>
                  </a:tcPr>
                </a:tc>
                <a:tc>
                  <a:txBody>
                    <a:bodyPr/>
                    <a:lstStyle/>
                    <a:p>
                      <a:r>
                        <a:rPr sz="1875" b="1">
                          <a:solidFill>
                            <a:srgbClr val="FFFFFF"/>
                          </a:solidFill>
                          <a:latin typeface="Calibri"/>
                          <a:ea typeface="Calibri"/>
                          <a:cs typeface="Calibri"/>
                        </a:rPr>
                        <a:t>Board action</a:t>
                      </a:r>
                    </a:p>
                  </a:txBody>
                  <a:tcPr marL="114300" marR="114300" marT="76200" marB="57150" anchor="ctr">
                    <a:solidFill>
                      <a:srgbClr val="142D40"/>
                    </a:solidFill>
                  </a:tcPr>
                </a:tc>
              </a:tr>
              <a:tr h="822960">
                <a:tc>
                  <a:txBody>
                    <a:bodyPr/>
                    <a:lstStyle/>
                    <a:p>
                      <a:r>
                        <a:rPr sz="1950" b="1">
                          <a:solidFill>
                            <a:srgbClr val="142D40"/>
                          </a:solidFill>
                          <a:latin typeface="Calibri"/>
                          <a:ea typeface="Calibri"/>
                          <a:cs typeface="Calibri"/>
                        </a:rPr>
                        <a:t>Identity ownership</a:t>
                      </a:r>
                    </a:p>
                  </a:txBody>
                  <a:tcPr marL="114300" marR="114300" marT="76200" marB="57150" anchor="ctr">
                    <a:solidFill>
                      <a:srgbClr val="FFFFFF"/>
                    </a:solidFill>
                  </a:tcPr>
                </a:tc>
                <a:tc>
                  <a:txBody>
                    <a:bodyPr/>
                    <a:lstStyle/>
                    <a:p>
                      <a:r>
                        <a:rPr sz="1950" b="0">
                          <a:solidFill>
                            <a:srgbClr val="142D40"/>
                          </a:solidFill>
                          <a:latin typeface="Calibri"/>
                          <a:ea typeface="Calibri"/>
                          <a:cs typeface="Calibri"/>
                        </a:rPr>
                        <a:t>CIAM governs external clients. IDAM governs workforce identities.</a:t>
                      </a:r>
                    </a:p>
                  </a:txBody>
                  <a:tcPr marL="114300" marR="114300" marT="76200" marB="57150" anchor="ctr">
                    <a:solidFill>
                      <a:srgbClr val="FFFFFF"/>
                    </a:solidFill>
                  </a:tcPr>
                </a:tc>
                <a:tc>
                  <a:txBody>
                    <a:bodyPr/>
                    <a:lstStyle/>
                    <a:p>
                      <a:r>
                        <a:rPr sz="1950" b="0">
                          <a:solidFill>
                            <a:srgbClr val="142D40"/>
                          </a:solidFill>
                          <a:latin typeface="Calibri"/>
                          <a:ea typeface="Calibri"/>
                          <a:cs typeface="Calibri"/>
                        </a:rPr>
                        <a:t>Approve the boundary and lifecycle accountability</a:t>
                      </a:r>
                    </a:p>
                  </a:txBody>
                  <a:tcPr marL="114300" marR="114300" marT="76200" marB="57150" anchor="ctr">
                    <a:solidFill>
                      <a:srgbClr val="FFFFFF"/>
                    </a:solidFill>
                  </a:tcPr>
                </a:tc>
              </a:tr>
              <a:tr h="822960">
                <a:tc>
                  <a:txBody>
                    <a:bodyPr/>
                    <a:lstStyle/>
                    <a:p>
                      <a:r>
                        <a:rPr sz="1950" b="1">
                          <a:solidFill>
                            <a:srgbClr val="142D40"/>
                          </a:solidFill>
                          <a:latin typeface="Calibri"/>
                          <a:ea typeface="Calibri"/>
                          <a:cs typeface="Calibri"/>
                        </a:rPr>
                        <a:t>Internal access modes</a:t>
                      </a:r>
                    </a:p>
                  </a:txBody>
                  <a:tcPr marL="114300" marR="114300" marT="76200" marB="57150" anchor="ctr">
                    <a:solidFill>
                      <a:srgbClr val="F1F5F8"/>
                    </a:solidFill>
                  </a:tcPr>
                </a:tc>
                <a:tc>
                  <a:txBody>
                    <a:bodyPr/>
                    <a:lstStyle/>
                    <a:p>
                      <a:r>
                        <a:rPr sz="1950" b="0">
                          <a:solidFill>
                            <a:srgbClr val="142D40"/>
                          </a:solidFill>
                          <a:latin typeface="Calibri"/>
                          <a:ea typeface="Calibri"/>
                          <a:cs typeface="Calibri"/>
                        </a:rPr>
                        <a:t>Keep all four internal modes explicit with separate permissions.</a:t>
                      </a:r>
                    </a:p>
                  </a:txBody>
                  <a:tcPr marL="114300" marR="114300" marT="76200" marB="57150" anchor="ctr">
                    <a:solidFill>
                      <a:srgbClr val="F1F5F8"/>
                    </a:solidFill>
                  </a:tcPr>
                </a:tc>
                <a:tc>
                  <a:txBody>
                    <a:bodyPr/>
                    <a:lstStyle/>
                    <a:p>
                      <a:r>
                        <a:rPr sz="1950" b="0">
                          <a:solidFill>
                            <a:srgbClr val="142D40"/>
                          </a:solidFill>
                          <a:latin typeface="Calibri"/>
                          <a:ea typeface="Calibri"/>
                          <a:cs typeface="Calibri"/>
                        </a:rPr>
                        <a:t>Confirm simulation scope and support representation policy</a:t>
                      </a:r>
                    </a:p>
                  </a:txBody>
                  <a:tcPr marL="114300" marR="114300" marT="76200" marB="57150" anchor="ctr">
                    <a:solidFill>
                      <a:srgbClr val="F1F5F8"/>
                    </a:solidFill>
                  </a:tcPr>
                </a:tc>
              </a:tr>
              <a:tr h="822960">
                <a:tc>
                  <a:txBody>
                    <a:bodyPr/>
                    <a:lstStyle/>
                    <a:p>
                      <a:r>
                        <a:rPr sz="1950" b="1">
                          <a:solidFill>
                            <a:srgbClr val="142D40"/>
                          </a:solidFill>
                          <a:latin typeface="Calibri"/>
                          <a:ea typeface="Calibri"/>
                          <a:cs typeface="Calibri"/>
                        </a:rPr>
                        <a:t>Federation routing</a:t>
                      </a:r>
                    </a:p>
                  </a:txBody>
                  <a:tcPr marL="114300" marR="114300" marT="76200" marB="57150" anchor="ctr">
                    <a:solidFill>
                      <a:srgbClr val="FFFFFF"/>
                    </a:solidFill>
                  </a:tcPr>
                </a:tc>
                <a:tc>
                  <a:txBody>
                    <a:bodyPr/>
                    <a:lstStyle/>
                    <a:p>
                      <a:r>
                        <a:rPr sz="1950" b="0">
                          <a:solidFill>
                            <a:srgbClr val="142D40"/>
                          </a:solidFill>
                          <a:latin typeface="Calibri"/>
                          <a:ea typeface="Calibri"/>
                          <a:cs typeface="Calibri"/>
                        </a:rPr>
                        <a:t>Use workforce federation for CIAM client contexts.</a:t>
                      </a:r>
                    </a:p>
                  </a:txBody>
                  <a:tcPr marL="114300" marR="114300" marT="76200" marB="57150" anchor="ctr">
                    <a:solidFill>
                      <a:srgbClr val="FFFFFF"/>
                    </a:solidFill>
                  </a:tcPr>
                </a:tc>
                <a:tc>
                  <a:txBody>
                    <a:bodyPr/>
                    <a:lstStyle/>
                    <a:p>
                      <a:r>
                        <a:rPr sz="1950" b="0">
                          <a:solidFill>
                            <a:srgbClr val="142D40"/>
                          </a:solidFill>
                          <a:latin typeface="Calibri"/>
                          <a:ea typeface="Calibri"/>
                          <a:cs typeface="Calibri"/>
                        </a:rPr>
                        <a:t>Confirm business-admin portal and management-plane routing</a:t>
                      </a:r>
                    </a:p>
                  </a:txBody>
                  <a:tcPr marL="114300" marR="114300" marT="76200" marB="57150" anchor="ctr">
                    <a:solidFill>
                      <a:srgbClr val="FFFFFF"/>
                    </a:solidFill>
                  </a:tcPr>
                </a:tc>
              </a:tr>
              <a:tr h="822960">
                <a:tc>
                  <a:txBody>
                    <a:bodyPr/>
                    <a:lstStyle/>
                    <a:p>
                      <a:r>
                        <a:rPr sz="1950" b="1">
                          <a:solidFill>
                            <a:srgbClr val="142D40"/>
                          </a:solidFill>
                          <a:latin typeface="Calibri"/>
                          <a:ea typeface="Calibri"/>
                          <a:cs typeface="Calibri"/>
                        </a:rPr>
                        <a:t>Workloads and migration</a:t>
                      </a:r>
                    </a:p>
                  </a:txBody>
                  <a:tcPr marL="114300" marR="114300" marT="76200" marB="57150" anchor="ctr">
                    <a:solidFill>
                      <a:srgbClr val="F1F5F8"/>
                    </a:solidFill>
                  </a:tcPr>
                </a:tc>
                <a:tc>
                  <a:txBody>
                    <a:bodyPr/>
                    <a:lstStyle/>
                    <a:p>
                      <a:r>
                        <a:rPr sz="1950" b="0">
                          <a:solidFill>
                            <a:srgbClr val="142D40"/>
                          </a:solidFill>
                          <a:latin typeface="Calibri"/>
                          <a:ea typeface="Calibri"/>
                          <a:cs typeface="Calibri"/>
                        </a:rPr>
                        <a:t>Preserve external integration and temporary migration entries.</a:t>
                      </a:r>
                    </a:p>
                  </a:txBody>
                  <a:tcPr marL="114300" marR="114300" marT="76200" marB="57150" anchor="ctr">
                    <a:solidFill>
                      <a:srgbClr val="F1F5F8"/>
                    </a:solidFill>
                  </a:tcPr>
                </a:tc>
                <a:tc>
                  <a:txBody>
                    <a:bodyPr/>
                    <a:lstStyle/>
                    <a:p>
                      <a:r>
                        <a:rPr sz="1950" b="0">
                          <a:solidFill>
                            <a:srgbClr val="142D40"/>
                          </a:solidFill>
                          <a:latin typeface="Calibri"/>
                          <a:ea typeface="Calibri"/>
                          <a:cs typeface="Calibri"/>
                        </a:rPr>
                        <a:t>Confirm financial system owner and migration authority</a:t>
                      </a:r>
                    </a:p>
                  </a:txBody>
                  <a:tcPr marL="114300" marR="114300" marT="76200" marB="57150" anchor="ctr">
                    <a:solidFill>
                      <a:srgbClr val="F1F5F8"/>
                    </a:solidFill>
                  </a:tcPr>
                </a:tc>
              </a:tr>
            </a:tbl>
          </a:graphicData>
        </a:graphic>
      </p:graphicFrame>
      <p:sp>
        <p:nvSpPr>
          <p:cNvPr id="8" name="text-137">
            <a:extLst xmlns:a="http://schemas.openxmlformats.org/drawingml/2006/main">
              <a:ext uri="{FF2B5EF4-FFF2-40B4-BE49-F238E27FC236}">
                <a16:creationId xmlns:a16="http://schemas.microsoft.com/office/drawing/2014/main" id="{4DFDF173-0082-4807-9E42-0630A0BC5207}"/>
              </a:ext>
            </a:extLst>
          </p:cNvPr>
          <p:cNvSpPr>
            <a:spLocks xmlns:a="http://schemas.openxmlformats.org/drawingml/2006/main" noGrp="1"/>
          </p:cNvSpPr>
          <p:nvPr/>
        </p:nvSpPr>
        <p:spPr>
          <a:xfrm xmlns:a="http://schemas.openxmlformats.org/drawingml/2006/main">
            <a:off x="571500" y="6724650"/>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42D40"/>
                </a:solidFill>
                <a:latin typeface="Calibri"/>
                <a:ea typeface="Calibri"/>
                <a:cs typeface="Calibri"/>
              </a:defRPr>
            </a:defPPr>
          </a:lstStyle>
          <a:p xmlns:a="http://schemas.openxmlformats.org/drawingml/2006/main">
            <a:pPr algn="l">
              <a:defRPr sz="2400" b="1">
                <a:solidFill>
                  <a:srgbClr val="142D40"/>
                </a:solidFill>
                <a:latin typeface="Calibri"/>
                <a:ea typeface="Calibri"/>
                <a:cs typeface="Calibri"/>
              </a:defRPr>
            </a:pPr>
            <a:r>
              <a:rPr sz="2400" b="1">
                <a:solidFill>
                  <a:srgbClr val="142D40"/>
                </a:solidFill>
                <a:latin typeface="Calibri"/>
                <a:ea typeface="Calibri"/>
                <a:cs typeface="Calibri"/>
              </a:rPr>
              <a:t>Next architecture specifications</a:t>
            </a:r>
          </a:p>
        </p:txBody>
      </p:sp>
      <p:sp>
        <p:nvSpPr>
          <p:cNvPr id="9" name="text-138">
            <a:extLst xmlns:a="http://schemas.openxmlformats.org/drawingml/2006/main">
              <a:ext uri="{FF2B5EF4-FFF2-40B4-BE49-F238E27FC236}">
                <a16:creationId xmlns:a16="http://schemas.microsoft.com/office/drawing/2014/main" id="{4950BC63-FF84-4C05-98D8-D28C4B11DE85}"/>
              </a:ext>
            </a:extLst>
          </p:cNvPr>
          <p:cNvSpPr>
            <a:spLocks xmlns:a="http://schemas.openxmlformats.org/drawingml/2006/main" noGrp="1"/>
          </p:cNvSpPr>
          <p:nvPr/>
        </p:nvSpPr>
        <p:spPr>
          <a:xfrm xmlns:a="http://schemas.openxmlformats.org/drawingml/2006/main">
            <a:off x="571500" y="7277100"/>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67083"/>
                </a:solidFill>
                <a:latin typeface="Calibri"/>
                <a:ea typeface="Calibri"/>
                <a:cs typeface="Calibri"/>
              </a:defRPr>
            </a:defPPr>
          </a:lstStyle>
          <a:p xmlns:a="http://schemas.openxmlformats.org/drawingml/2006/main">
            <a:pPr algn="l">
              <a:defRPr sz="1800" b="0">
                <a:solidFill>
                  <a:srgbClr val="567083"/>
                </a:solidFill>
                <a:latin typeface="Calibri"/>
                <a:ea typeface="Calibri"/>
                <a:cs typeface="Calibri"/>
              </a:defRPr>
            </a:pPr>
            <a:r>
              <a:rPr sz="1800" b="0">
                <a:solidFill>
                  <a:srgbClr val="567083"/>
                </a:solidFill>
                <a:latin typeface="Calibri"/>
                <a:ea typeface="Calibri"/>
                <a:cs typeface="Calibri"/>
              </a:rPr>
              <a:t>Authentication and assurance patterns</a:t>
            </a:r>
          </a:p>
          <a:p xmlns:a="http://schemas.openxmlformats.org/drawingml/2006/main">
            <a:pPr algn="l">
              <a:defRPr sz="1800" b="0">
                <a:solidFill>
                  <a:srgbClr val="567083"/>
                </a:solidFill>
                <a:latin typeface="Calibri"/>
                <a:ea typeface="Calibri"/>
                <a:cs typeface="Calibri"/>
              </a:defRPr>
            </a:pPr>
            <a:r>
              <a:rPr sz="1800" b="0">
                <a:solidFill>
                  <a:srgbClr val="567083"/>
                </a:solidFill>
                <a:latin typeface="Calibri"/>
                <a:ea typeface="Calibri"/>
                <a:cs typeface="Calibri"/>
              </a:rPr>
              <a:t>Authorization and entity-boundary policies</a:t>
            </a:r>
          </a:p>
        </p:txBody>
      </p:sp>
      <p:sp>
        <p:nvSpPr>
          <p:cNvPr id="10" name="text-139">
            <a:extLst xmlns:a="http://schemas.openxmlformats.org/drawingml/2006/main">
              <a:ext uri="{FF2B5EF4-FFF2-40B4-BE49-F238E27FC236}">
                <a16:creationId xmlns:a16="http://schemas.microsoft.com/office/drawing/2014/main" id="{D3490CE8-9A82-4CCB-8423-176254C79052}"/>
              </a:ext>
            </a:extLst>
          </p:cNvPr>
          <p:cNvSpPr>
            <a:spLocks xmlns:a="http://schemas.openxmlformats.org/drawingml/2006/main" noGrp="1"/>
          </p:cNvSpPr>
          <p:nvPr/>
        </p:nvSpPr>
        <p:spPr>
          <a:xfrm xmlns:a="http://schemas.openxmlformats.org/drawingml/2006/main">
            <a:off x="7810500" y="7277100"/>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67083"/>
                </a:solidFill>
                <a:latin typeface="Calibri"/>
                <a:ea typeface="Calibri"/>
                <a:cs typeface="Calibri"/>
              </a:defRPr>
            </a:defPPr>
          </a:lstStyle>
          <a:p xmlns:a="http://schemas.openxmlformats.org/drawingml/2006/main">
            <a:pPr algn="l">
              <a:defRPr sz="1800" b="0">
                <a:solidFill>
                  <a:srgbClr val="567083"/>
                </a:solidFill>
                <a:latin typeface="Calibri"/>
                <a:ea typeface="Calibri"/>
                <a:cs typeface="Calibri"/>
              </a:defRPr>
            </a:pPr>
            <a:r>
              <a:rPr sz="1800" b="0">
                <a:solidFill>
                  <a:srgbClr val="567083"/>
                </a:solidFill>
                <a:latin typeface="Calibri"/>
                <a:ea typeface="Calibri"/>
                <a:cs typeface="Calibri"/>
              </a:rPr>
              <a:t>Support representation and audit controls</a:t>
            </a:r>
          </a:p>
          <a:p xmlns:a="http://schemas.openxmlformats.org/drawingml/2006/main">
            <a:pPr algn="l">
              <a:defRPr sz="1800" b="0">
                <a:solidFill>
                  <a:srgbClr val="567083"/>
                </a:solidFill>
                <a:latin typeface="Calibri"/>
                <a:ea typeface="Calibri"/>
                <a:cs typeface="Calibri"/>
              </a:defRPr>
            </a:pPr>
            <a:r>
              <a:rPr sz="1800" b="0">
                <a:solidFill>
                  <a:srgbClr val="567083"/>
                </a:solidFill>
                <a:latin typeface="Calibri"/>
                <a:ea typeface="Calibri"/>
                <a:cs typeface="Calibri"/>
              </a:rPr>
              <a:t>Legacy coexistence and migration strategy</a:t>
            </a:r>
          </a:p>
        </p:txBody>
      </p:sp>
    </p:spTree>
    <p:extLst>
      <p:ext uri="{BB962C8B-B14F-4D97-AF65-F5344CB8AC3E}">
        <p14:creationId xmlns:p14="http://schemas.microsoft.com/office/powerpoint/2010/main" val="15068375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2026-10-08T12:22:00.3880000Z</dcterms:created>
  <dcterms:modified xsi:type="dcterms:W3CDTF">2026-10-08T12:22:00.3880000Z</dcterms:modified>
</coreProperties>
</file>