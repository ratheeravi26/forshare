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9368e6154194eea" /><Relationship Type="http://schemas.openxmlformats.org/officeDocument/2006/relationships/extended-properties" Target="/docProps/app.xml" Id="R6f748dfc3c82420c" /><Relationship Type="http://schemas.openxmlformats.org/officeDocument/2006/relationships/officeDocument" Target="/ppt/presentation.xml" Id="R510bb69fa10e4455" /></Relationships>
</file>

<file path=ppt/presentation.xml><?xml version="1.0" encoding="utf-8"?>
<p:presentation xmlns:p="http://schemas.openxmlformats.org/presentationml/2006/main">
  <p:sldMasterIdLst>
    <p:sldMasterId xmlns:r="http://schemas.openxmlformats.org/officeDocument/2006/relationships" id="2147483648" r:id="R45e9975217374f38"/>
  </p:sldMasterIdLst>
  <p:notesMasterIdLst>
    <p:notesMasterId xmlns:r="http://schemas.openxmlformats.org/officeDocument/2006/relationships" r:id="R1312e6d3de8b4076"/>
  </p:notesMasterIdLst>
  <p:sldIdLst>
    <p:sldId xmlns:r="http://schemas.openxmlformats.org/officeDocument/2006/relationships" id="256" r:id="R1c80afa61bbe4983"/>
    <p:sldId xmlns:r="http://schemas.openxmlformats.org/officeDocument/2006/relationships" id="257" r:id="Rd3d8122400db42a9"/>
    <p:sldId xmlns:r="http://schemas.openxmlformats.org/officeDocument/2006/relationships" id="258" r:id="Ree48d726d7154d22"/>
    <p:sldId xmlns:r="http://schemas.openxmlformats.org/officeDocument/2006/relationships" id="259" r:id="R1b35c5be43574783"/>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06084589c5445a" /><Relationship Type="http://schemas.openxmlformats.org/officeDocument/2006/relationships/slideMaster" Target="/ppt/slideMasters/slideMaster1.xml" Id="R45e9975217374f38" /><Relationship Type="http://schemas.openxmlformats.org/officeDocument/2006/relationships/notesMaster" Target="/ppt/notesMasters/notesMaster1.xml" Id="R1312e6d3de8b4076" /><Relationship Type="http://schemas.openxmlformats.org/officeDocument/2006/relationships/presProps" Target="/ppt/presProps.xml" Id="R240712d587c54168" /><Relationship Type="http://schemas.openxmlformats.org/officeDocument/2006/relationships/tableStyles" Target="/ppt/tableStyles.xml" Id="Rcb8bfac3471548ab" /><Relationship Type="http://schemas.openxmlformats.org/officeDocument/2006/relationships/slide" Target="/ppt/slides/slide1.xml" Id="R1c80afa61bbe4983" /><Relationship Type="http://schemas.openxmlformats.org/officeDocument/2006/relationships/slide" Target="/ppt/slides/slide2.xml" Id="Rd3d8122400db42a9" /><Relationship Type="http://schemas.openxmlformats.org/officeDocument/2006/relationships/slide" Target="/ppt/slides/slide3.xml" Id="Ree48d726d7154d22" /><Relationship Type="http://schemas.openxmlformats.org/officeDocument/2006/relationships/slide" Target="/ppt/slides/slide4.xml" Id="R1b35c5be435747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fbc3f4b8734bf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20def33153444c2" /><Relationship Type="http://schemas.openxmlformats.org/officeDocument/2006/relationships/notesMaster" Target="/ppt/notesMasters/notesMaster1.xml" Id="R08179cbd167244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a523352928884394" /><Relationship Type="http://schemas.openxmlformats.org/officeDocument/2006/relationships/notesMaster" Target="/ppt/notesMasters/notesMaster1.xml" Id="R8528ebe3c2f94894" /></Relationships>
</file>

<file path=ppt/notesSlides/_rels/notesSlide3.xml.rels>&#65279;<?xml version="1.0" encoding="utf-8"?><Relationships xmlns="http://schemas.openxmlformats.org/package/2006/relationships"><Relationship Type="http://schemas.openxmlformats.org/officeDocument/2006/relationships/slide" Target="/ppt/slides/slide3.xml" Id="Rb9cc81aba7b44ec5" /><Relationship Type="http://schemas.openxmlformats.org/officeDocument/2006/relationships/notesMaster" Target="/ppt/notesMasters/notesMaster1.xml" Id="R873c3c2cc58f4f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58b33066dd4eba" /><Relationship Type="http://schemas.openxmlformats.org/officeDocument/2006/relationships/notesMaster" Target="/ppt/notesMasters/notesMaster1.xml" Id="Rf1393df6d5f242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Euroclear responsibility model: CIAM covers external client identity and access. Workforce IDAM covers employee identities, authentication and workforce access governance for all four internal operating modes. Standards do not prescribe separate CIAM and IDAM products. Internal workload identity governance is a distinct capability and can be part of the broader enterprise IAM portfolio. Hollow machine markers are ownership alternatives, not simultaneous ownership. Non-billable is an overlapping commercial attribute. Internal modes describe roles or contexts, not necessarily separate accounts. This is a qualitative ownership matrix, not a statistical UpSet plot. Source population: supplied Euroclear catalogue, revised to nine entries. Additional context: architect draft photographs headed CIAM and Internal workforce, explicitly unvalidated. The draft proposes CIAM brokering and SCIM synchronization of workforce records. A local CIAM workforce representation is not a transfer of employee identity authority. Identity-authority dots do not enumerate all operational participants.</a:t>
            </a:r>
          </a:p>
          <a:p xmlns:a="http://schemas.openxmlformats.org/drawingml/2006/main">
            <a:r>
              <a:t>NIST SP 800-63-4, scope and assurance selection: https://pages.nist.gov/800-63-4/sp800-63.html</a:t>
            </a:r>
          </a:p>
          <a:p xmlns:a="http://schemas.openxmlformats.org/drawingml/2006/main">
            <a:r>
              <a:t>NIST SP 800-207, Zero Trust Architecture: https://csrc.nist.gov/pubs/sp/800/207/final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External delegated administrators manage approved client organization scopes only. Delegated administration is a role and can overlap single-entity or multi-entity membership. Non-billable is a commercial profile that can apply across client roles. It is not an assurance downgrade. Machine identity on this slide covers client-owned systems only, including transaction and provisioning integrations. Internal machines remain in internal workload governance. CIAM machine registration can rely on dedicated PKI/workload credential services. mTLS client authentication and token certificate binding are distinct controls under RFC 8705. NIST human AAL labels do not explicitly cover machine-to-machine authentication.</a:t>
            </a:r>
          </a:p>
          <a:p xmlns:a="http://schemas.openxmlformats.org/drawingml/2006/main">
            <a:r>
              <a:t>Entity examples are exact intersections: EB only = EB excluding ESES, EUI and Nordics. EB and ESES only = intersection excluding EUI and Nordics. EB, ESES and EUI only = intersection excluding Nordics. Plain intersection notation without these exclusions would also include larger intersections. Examples are illustrative rather than exhaustive. ESES and Nordics groupings require mapping to actual legal entities for implementation. The client organization mandate, entity membership, resource and requested operation all contribute to authorization. Workforce representations may be provisioned or established as needed for approved integrations, with stable IDAM correlation and lifecycle revocation. Synchronization is not authentication. Selective provisioning is preferable to assuming that all employees require CIAM records. The architect draft proposes broader synchronization, but this is an open design decision.</a:t>
            </a:r>
          </a:p>
          <a:p xmlns:a="http://schemas.openxmlformats.org/drawingml/2006/main">
            <a:r>
              <a:t>NIST SP 800-162, Guide to Attribute Based Access Control: https://csrc.nist.gov/pubs/sp/800/162/upd2/final</a:t>
            </a:r>
          </a:p>
          <a:p xmlns:a="http://schemas.openxmlformats.org/drawingml/2006/main">
            <a:r>
              <a:t>IETF RFC 8705, OAuth 2.0 mTLS Client Authentication and Certificate-Bound Access Tokens: https://www.rfc-editor.org/rfc/rfc8705.html</a:t>
            </a:r>
          </a:p>
          <a:p xmlns:a="http://schemas.openxmlformats.org/drawingml/2006/main">
            <a:r>
              <a:t>NIST SP 800-63-4, scope and assurance selection: https://pages.nist.gov/800-63-4/sp800-63.html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employee can hold multiple approved modes, with explicit mode selection and segregation-of-duties controls. IDAM is the employee identity and authentication authority. Workforce access governance/IGA approves role and application eligibility. Resource applications and policy services enforce detailed permissions. Acting as client means simulation, distinct from representing a real client user. A client record or backend CIAM administration API can remain a target/data source without making CIAM the employee access provider. For the familiar business label impersonation, the proposed technical pattern preserves sub=represented client and act=employee actor. RFC 8693 describes act as delegation semantics. Authorization of exchange, ticket validation, limited duration, scope and protected audit records are additional Euroclear controls. A signed token alone does not establish non-repudiation of a financial action. Technical administrators require privileged access controls as appropriate, but PAM is not a separate persona domain. CIAM involvement on this slide is conditional on the data/service/target: simulation may use a local application context without CIAM; representation accesses a CIAM-managed subject/context when that is authoritative; business administration targets CIAM records or APIs when CIAM owns those records; platform administration involves CIAM only when administering that platform. Entitlements held elsewhere remain owned by their authoritative service. Dedicated administrative accounts can link to the same employee identity. Supporting controls include ticket validation, limited scope/duration, actor-subject audit, least privilege and segregation of duties.</a:t>
            </a:r>
          </a:p>
          <a:p xmlns:a="http://schemas.openxmlformats.org/drawingml/2006/main">
            <a:r>
              <a:t>DORA RTS, Commission Delegated Regulation (EU) 2024/1774, Articles 12, 20 and 21: https://eur-lex.europa.eu/legal-content/EN/TXT/PDF/?uri=OJ:L_202401774</a:t>
            </a:r>
          </a:p>
          <a:p xmlns:a="http://schemas.openxmlformats.org/drawingml/2006/main">
            <a:r>
              <a:t>ECB Cyber Resilience Oversight Expectations for FMIs, December 2018, section 2.3: https://www.ecb.europa.eu/paym/pdf/cons/cyberresilience/Cyber_resilience_oversight_expectations_for_financial_market_infrastructures.pdf</a:t>
            </a:r>
          </a:p>
          <a:p xmlns:a="http://schemas.openxmlformats.org/drawingml/2006/main">
            <a:r>
              <a:t>Regulatory applicability requires legal-entity assessment. These references support control objectives, not a mandated CIAM/IDAM product split.</a:t>
            </a:r>
          </a:p>
          <a:p xmlns:a="http://schemas.openxmlformats.org/drawingml/2006/main">
            <a:r>
              <a:t>NIST SP 800-207, Zero Trust Architecture: https://csrc.nist.gov/pubs/sp/800/207/final</a:t>
            </a:r>
          </a:p>
          <a:p xmlns:a="http://schemas.openxmlformats.org/drawingml/2006/main">
            <a:r>
              <a:t>NIST SP 800-162, Guide to Attribute Based Access Control: https://csrc.nist.gov/pubs/sp/800/162/upd2/final</a:t>
            </a:r>
          </a:p>
          <a:p xmlns:a="http://schemas.openxmlformats.org/drawingml/2006/main">
            <a:r>
              <a:t>IETF RFC 8693, OAuth 2.0 Token Exchange, sections 1.1 and 4.1: https://www.rfc-editor.org/rfc/rfc8693.html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logical assertion/trust paths rather than browser redirect sequences. Workforce identity and primary authentication remain IDAM authoritative. Direct IDAM federation to CIAM administration is separate from CIAM brokering access onward to client applications. Federation support and administrative role mapping depend on the platform. Onward workforce brokering is a conditional design option, not a standards-mandated exception. The supplied architect draft explicitly proposes CIAM brokering and synchronized workforce records, but is marked not yet validated. Direct application trust and proxied trust must be assessed per application. No universal broker decision is established by this model. A governed local CIAM record may be needed without making CIAM the employee identity authority. SCIM provisioning, client record lookup, token exchange and backend API calls do not inherently require employee sign-in federation into CIAM. Representation still requires explicit actor/subject and independent authorization controls. Trust agreements, issuer/audience validation, signed assertions, replay protection, key lifecycle and agreed assurance/attribute release apply. IAL, AAL and FAL remain distinct.</a:t>
            </a:r>
          </a:p>
          <a:p xmlns:a="http://schemas.openxmlformats.org/drawingml/2006/main">
            <a:r>
              <a:t>NIST SP 800-63C-4, Common Federation Requirements: https://pages.nist.gov/800-63-4/sp800-63c/Federation/</a:t>
            </a:r>
          </a:p>
          <a:p xmlns:a="http://schemas.openxmlformats.org/drawingml/2006/main">
            <a:r>
              <a:t>IETF RFC 8693, OAuth 2.0 Token Exchange, sections 1.1 and 4.1: https://www.rfc-editor.org/rfc/rfc8693.html</a:t>
            </a:r>
          </a:p>
          <a:p xmlns:a="http://schemas.openxmlformats.org/drawingml/2006/main">
            <a:r>
              <a:t>IETF RFC 7644, SCIM provisioning: https://www.rfc-editor.org/rfc/rfc7644.html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df6a06aa7f407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ff01db12694481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3ef938b2d5447d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9a1b8a189c7457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fc7a45bbe1e439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b8ec557a0aa407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6F66AC-7114-4F89-9C5E-E1BD485FB73A}"/>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7D6CA5D-6066-40F9-82B5-8940E2AFF9C6}"/>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4EAA6CE-1F80-4924-BAC5-A95D70007A97}"/>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974FFBC-B987-45C7-A6F1-83B45F07F2D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D6271C5-7F5A-4F64-BEBD-7688D8521376}"/>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A5E4630-C415-4B4D-95A5-E70AFF9C60A1}"/>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BE7714-9F63-4AAA-A47C-830D95884DAA}"/>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E87EC83-534A-405D-AD91-8D5A2F8421B7}"/>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679EDE8-7AB0-4248-B95B-F97BF01346F8}"/>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225563B-1ACA-46CF-B81B-69638603065B}"/>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nSpc>
                <a:spcPct val="110000"/>
              </a:lnSpc>
              <a:spcBef>
                <a:spcPts val="0"/>
              </a:spcBef>
              <a:spcAft>
                <a:spcPts val="1500"/>
              </a:spcAft>
              <a:buChar char="•"/>
              <a:defRPr/>
            </a:lvl1pPr>
            <a:lvl2pPr marL="666750" indent="-285750">
              <a:lnSpc>
                <a:spcPct val="110000"/>
              </a:lnSpc>
              <a:spcBef>
                <a:spcPts val="0"/>
              </a:spcBef>
              <a:spcAft>
                <a:spcPts val="1500"/>
              </a:spcAft>
              <a:buChar char="•"/>
              <a:defRPr/>
            </a:lvl2pPr>
            <a:lvl3pPr marL="1047750" indent="-285750">
              <a:lnSpc>
                <a:spcPct val="110000"/>
              </a:lnSpc>
              <a:spcBef>
                <a:spcPts val="0"/>
              </a:spcBef>
              <a:spcAft>
                <a:spcPts val="1500"/>
              </a:spcAft>
              <a:buChar char="•"/>
              <a:defRPr/>
            </a:lvl3pPr>
            <a:lvl4pPr marL="1428750" indent="-285750">
              <a:lnSpc>
                <a:spcPct val="110000"/>
              </a:lnSpc>
              <a:spcBef>
                <a:spcPts val="0"/>
              </a:spcBef>
              <a:spcAft>
                <a:spcPts val="1500"/>
              </a:spcAft>
              <a:buChar char="•"/>
              <a:defRPr/>
            </a:lvl4pPr>
            <a:lvl5pPr marL="1809750" indent="-285750">
              <a:lnSpc>
                <a:spcPct val="110000"/>
              </a:lnSpc>
              <a:spcBef>
                <a:spcPts val="0"/>
              </a:spcBef>
              <a:spcAft>
                <a:spcPts val="1500"/>
              </a:spcAft>
              <a:buChar char="•"/>
              <a:defRPr/>
            </a:lvl5pPr>
            <a:lvl6pPr marL="2190750" indent="-285750">
              <a:lnSpc>
                <a:spcPct val="110000"/>
              </a:lnSpc>
              <a:spcBef>
                <a:spcPts val="0"/>
              </a:spcBef>
              <a:spcAft>
                <a:spcPts val="1500"/>
              </a:spcAft>
              <a:buChar char="•"/>
              <a:defRPr/>
            </a:lvl6pPr>
            <a:lvl7pPr marL="2571750" indent="-285750">
              <a:lnSpc>
                <a:spcPct val="110000"/>
              </a:lnSpc>
              <a:spcBef>
                <a:spcPts val="0"/>
              </a:spcBef>
              <a:spcAft>
                <a:spcPts val="1500"/>
              </a:spcAft>
              <a:buChar char="•"/>
              <a:defRPr/>
            </a:lvl7pPr>
            <a:lvl8pPr marL="2952750" indent="-285750">
              <a:lnSpc>
                <a:spcPct val="110000"/>
              </a:lnSpc>
              <a:spcBef>
                <a:spcPts val="0"/>
              </a:spcBef>
              <a:spcAft>
                <a:spcPts val="1500"/>
              </a:spcAft>
              <a:buChar char="•"/>
              <a:defRPr/>
            </a:lvl8pPr>
            <a:lvl9pPr marL="3333750" indent="-285750">
              <a:lnSpc>
                <a:spcPct val="110000"/>
              </a:lnSpc>
              <a:spcBef>
                <a:spcPts val="0"/>
              </a:spcBef>
              <a:spcAft>
                <a:spcPts val="15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7bd089f8b964531" /><Relationship Type="http://schemas.openxmlformats.org/officeDocument/2006/relationships/slideLayout" Target="/ppt/slideLayouts/slideLayout1.xml" Id="Rbc3968e8018d421b" /><Relationship Type="http://schemas.openxmlformats.org/officeDocument/2006/relationships/slideLayout" Target="/ppt/slideLayouts/slideLayout2.xml" Id="R41ab6be5a1c24de8" /><Relationship Type="http://schemas.openxmlformats.org/officeDocument/2006/relationships/slideLayout" Target="/ppt/slideLayouts/slideLayout3.xml" Id="R5ad3eecff529462e" /><Relationship Type="http://schemas.openxmlformats.org/officeDocument/2006/relationships/slideLayout" Target="/ppt/slideLayouts/slideLayout4.xml" Id="R8978148f086d4cd7" /><Relationship Type="http://schemas.openxmlformats.org/officeDocument/2006/relationships/slideLayout" Target="/ppt/slideLayouts/slideLayout5.xml" Id="Ra42b69f99dd041bc" /><Relationship Type="http://schemas.openxmlformats.org/officeDocument/2006/relationships/slideLayout" Target="/ppt/slideLayouts/slideLayout6.xml" Id="Re799089586284c4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3968e8018d421b"/>
    <p:sldLayoutId xmlns:r="http://schemas.openxmlformats.org/officeDocument/2006/relationships" id="2147483650" r:id="R41ab6be5a1c24de8"/>
    <p:sldLayoutId xmlns:r="http://schemas.openxmlformats.org/officeDocument/2006/relationships" id="2147483651" r:id="R5ad3eecff529462e"/>
    <p:sldLayoutId xmlns:r="http://schemas.openxmlformats.org/officeDocument/2006/relationships" id="2147483652" r:id="R8978148f086d4cd7"/>
    <p:sldLayoutId xmlns:r="http://schemas.openxmlformats.org/officeDocument/2006/relationships" id="2147483653" r:id="Ra42b69f99dd041bc"/>
    <p:sldLayoutId xmlns:r="http://schemas.openxmlformats.org/officeDocument/2006/relationships" id="2147483654" r:id="Re799089586284c4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ac025a198874f3b" /><Relationship Type="http://schemas.openxmlformats.org/officeDocument/2006/relationships/notesSlide" Target="/ppt/notesSlides/notesSlide1.xml" Id="R102af57bbd874c7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e8c66922f414e39" /><Relationship Type="http://schemas.openxmlformats.org/officeDocument/2006/relationships/notesSlide" Target="/ppt/notesSlides/notesSlide2.xml" Id="Rb094594509bc47d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51cd908b3cc40dc" /><Relationship Type="http://schemas.openxmlformats.org/officeDocument/2006/relationships/notesSlide" Target="/ppt/notesSlides/notesSlide3.xml" Id="R879d3416c7d044f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a24b63633e144cb" /><Relationship Type="http://schemas.openxmlformats.org/officeDocument/2006/relationships/notesSlide" Target="/ppt/notesSlides/notesSlide4.xml" Id="R9b1307792170495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2001">
            <a:extLst xmlns:a="http://schemas.openxmlformats.org/drawingml/2006/main">
              <a:ext uri="{FF2B5EF4-FFF2-40B4-BE49-F238E27FC236}">
                <a16:creationId xmlns:a16="http://schemas.microsoft.com/office/drawing/2014/main" id="{B9AD74B7-00AD-4BCA-A3FF-9F80BE96E891}"/>
              </a:ext>
            </a:extLst>
          </p:cNvPr>
          <p:cNvSpPr>
            <a:spLocks xmlns:a="http://schemas.openxmlformats.org/drawingml/2006/main" noGrp="1"/>
          </p:cNvSpPr>
          <p:nvPr/>
        </p:nvSpPr>
        <p:spPr>
          <a:xfrm xmlns:a="http://schemas.openxmlformats.org/drawingml/2006/main">
            <a:off x="571500" y="24765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67083"/>
                </a:solidFill>
                <a:latin typeface="Calibri"/>
                <a:ea typeface="Calibri"/>
                <a:cs typeface="Calibri"/>
              </a:defRPr>
            </a:defPPr>
          </a:lstStyle>
          <a:p xmlns:a="http://schemas.openxmlformats.org/drawingml/2006/main">
            <a:pPr algn="l">
              <a:defRPr sz="1350" b="1">
                <a:solidFill>
                  <a:srgbClr val="567083"/>
                </a:solidFill>
                <a:latin typeface="Calibri"/>
                <a:ea typeface="Calibri"/>
                <a:cs typeface="Calibri"/>
              </a:defRPr>
            </a:pPr>
            <a:r>
              <a:rPr sz="1350" b="1">
                <a:solidFill>
                  <a:srgbClr val="567083"/>
                </a:solidFill>
                <a:latin typeface="Calibri"/>
                <a:ea typeface="Calibri"/>
                <a:cs typeface="Calibri"/>
              </a:rPr>
              <a:t>EUROCLEAR   /   ENTERPRISE IDENTITY ARCHITECTURE</a:t>
            </a:r>
          </a:p>
        </p:txBody>
      </p:sp>
      <p:sp>
        <p:nvSpPr>
          <p:cNvPr id="2" name="text-2002">
            <a:extLst xmlns:a="http://schemas.openxmlformats.org/drawingml/2006/main">
              <a:ext uri="{FF2B5EF4-FFF2-40B4-BE49-F238E27FC236}">
                <a16:creationId xmlns:a16="http://schemas.microsoft.com/office/drawing/2014/main" id="{DA2343C4-25C4-4D5D-A07C-95720D681BEB}"/>
              </a:ext>
            </a:extLst>
          </p:cNvPr>
          <p:cNvSpPr>
            <a:spLocks xmlns:a="http://schemas.openxmlformats.org/drawingml/2006/main" noGrp="1"/>
          </p:cNvSpPr>
          <p:nvPr/>
        </p:nvSpPr>
        <p:spPr>
          <a:xfrm xmlns:a="http://schemas.openxmlformats.org/drawingml/2006/main">
            <a:off x="571500" y="7429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D40"/>
                </a:solidFill>
                <a:latin typeface="Calibri"/>
                <a:ea typeface="Calibri"/>
                <a:cs typeface="Calibri"/>
              </a:defRPr>
            </a:defPPr>
          </a:lstStyle>
          <a:p xmlns:a="http://schemas.openxmlformats.org/drawingml/2006/main">
            <a:pPr algn="l">
              <a:defRPr sz="3450" b="1">
                <a:solidFill>
                  <a:srgbClr val="142D40"/>
                </a:solidFill>
                <a:latin typeface="Calibri"/>
                <a:ea typeface="Calibri"/>
                <a:cs typeface="Calibri"/>
              </a:defRPr>
            </a:pPr>
            <a:r>
              <a:rPr sz="3450" b="1">
                <a:solidFill>
                  <a:srgbClr val="142D40"/>
                </a:solidFill>
                <a:latin typeface="Calibri"/>
                <a:ea typeface="Calibri"/>
                <a:cs typeface="Calibri"/>
              </a:rPr>
              <a:t>Persona ownership and access boundary</a:t>
            </a:r>
          </a:p>
        </p:txBody>
      </p:sp>
      <p:sp>
        <p:nvSpPr>
          <p:cNvPr id="3" name="text-2003">
            <a:extLst xmlns:a="http://schemas.openxmlformats.org/drawingml/2006/main">
              <a:ext uri="{FF2B5EF4-FFF2-40B4-BE49-F238E27FC236}">
                <a16:creationId xmlns:a16="http://schemas.microsoft.com/office/drawing/2014/main" id="{F7CC79D6-2D32-467D-A613-90FC890F6E2B}"/>
              </a:ext>
            </a:extLst>
          </p:cNvPr>
          <p:cNvSpPr>
            <a:spLocks xmlns:a="http://schemas.openxmlformats.org/drawingml/2006/main" noGrp="1"/>
          </p:cNvSpPr>
          <p:nvPr/>
        </p:nvSpPr>
        <p:spPr>
          <a:xfrm xmlns:a="http://schemas.openxmlformats.org/drawingml/2006/main">
            <a:off x="571500" y="1419225"/>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Dots show identity authority. CIAM can also participate in employee activities, as shown on slide 3.</a:t>
            </a:r>
          </a:p>
        </p:txBody>
      </p:sp>
      <p:sp>
        <p:nvSpPr>
          <p:cNvPr id="4" name="line-2004">
            <a:extLst xmlns:a="http://schemas.openxmlformats.org/drawingml/2006/main">
              <a:ext uri="{FF2B5EF4-FFF2-40B4-BE49-F238E27FC236}">
                <a16:creationId xmlns:a16="http://schemas.microsoft.com/office/drawing/2014/main" id="{FBC5B148-5CFD-4C07-BFC8-32671E370F26}"/>
              </a:ext>
            </a:extLst>
          </p:cNvPr>
          <p:cNvSpPr>
            <a:spLocks xmlns:a="http://schemas.openxmlformats.org/drawingml/2006/main" noGrp="1"/>
          </p:cNvSpPr>
          <p:nvPr/>
        </p:nvSpPr>
        <p:spPr>
          <a:xfrm xmlns:a="http://schemas.openxmlformats.org/drawingml/2006/main">
            <a:off x="571500" y="8048625"/>
            <a:ext cx="14097000" cy="0"/>
          </a:xfrm>
          <a:prstGeom xmlns:a="http://schemas.openxmlformats.org/drawingml/2006/main" prst="line">
            <a:avLst/>
          </a:prstGeom>
          <a:noFill xmlns:a="http://schemas.openxmlformats.org/drawingml/2006/main"/>
          <a:ln xmlns:a="http://schemas.openxmlformats.org/drawingml/2006/main" w="13335">
            <a:solidFill>
              <a:srgbClr val="D8E1E8"/>
            </a:solidFill>
          </a:ln>
        </p:spPr>
      </p:sp>
      <p:sp>
        <p:nvSpPr>
          <p:cNvPr id="5" name="text-2005">
            <a:extLst xmlns:a="http://schemas.openxmlformats.org/drawingml/2006/main">
              <a:ext uri="{FF2B5EF4-FFF2-40B4-BE49-F238E27FC236}">
                <a16:creationId xmlns:a16="http://schemas.microsoft.com/office/drawing/2014/main" id="{37AEAB80-1AF8-4EBE-BFEA-75DFF0B047FD}"/>
              </a:ext>
            </a:extLst>
          </p:cNvPr>
          <p:cNvSpPr>
            <a:spLocks xmlns:a="http://schemas.openxmlformats.org/drawingml/2006/main" noGrp="1"/>
          </p:cNvSpPr>
          <p:nvPr/>
        </p:nvSpPr>
        <p:spPr>
          <a:xfrm xmlns:a="http://schemas.openxmlformats.org/drawingml/2006/main">
            <a:off x="571500" y="8172450"/>
            <a:ext cx="1295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7083"/>
                </a:solidFill>
                <a:latin typeface="Calibri"/>
                <a:ea typeface="Calibri"/>
                <a:cs typeface="Calibri"/>
              </a:defRPr>
            </a:defPPr>
          </a:lstStyle>
          <a:p xmlns:a="http://schemas.openxmlformats.org/drawingml/2006/main">
            <a:pPr algn="l">
              <a:defRPr sz="1275" b="0">
                <a:solidFill>
                  <a:srgbClr val="567083"/>
                </a:solidFill>
                <a:latin typeface="Calibri"/>
                <a:ea typeface="Calibri"/>
                <a:cs typeface="Calibri"/>
              </a:defRPr>
            </a:pPr>
            <a:r>
              <a:rPr sz="1275" b="0">
                <a:solidFill>
                  <a:srgbClr val="567083"/>
                </a:solidFill>
                <a:latin typeface="Calibri"/>
                <a:ea typeface="Calibri"/>
                <a:cs typeface="Calibri"/>
              </a:rPr>
              <a:t>Proposed responsibility model for architecture alignment   /   Standards-informed</a:t>
            </a:r>
          </a:p>
        </p:txBody>
      </p:sp>
      <p:sp>
        <p:nvSpPr>
          <p:cNvPr id="6" name="text-2006">
            <a:extLst xmlns:a="http://schemas.openxmlformats.org/drawingml/2006/main">
              <a:ext uri="{FF2B5EF4-FFF2-40B4-BE49-F238E27FC236}">
                <a16:creationId xmlns:a16="http://schemas.microsoft.com/office/drawing/2014/main" id="{8BA5CDE7-8F81-4259-9B9E-3FBC6DD40160}"/>
              </a:ext>
            </a:extLst>
          </p:cNvPr>
          <p:cNvSpPr>
            <a:spLocks xmlns:a="http://schemas.openxmlformats.org/drawingml/2006/main" noGrp="1"/>
          </p:cNvSpPr>
          <p:nvPr/>
        </p:nvSpPr>
        <p:spPr>
          <a:xfrm xmlns:a="http://schemas.openxmlformats.org/drawingml/2006/main">
            <a:off x="14001750" y="81438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567083"/>
                </a:solidFill>
                <a:latin typeface="Calibri"/>
                <a:ea typeface="Calibri"/>
                <a:cs typeface="Calibri"/>
              </a:defRPr>
            </a:defPPr>
          </a:lstStyle>
          <a:p xmlns:a="http://schemas.openxmlformats.org/drawingml/2006/main">
            <a:pPr algn="r">
              <a:defRPr sz="1350" b="1">
                <a:solidFill>
                  <a:srgbClr val="567083"/>
                </a:solidFill>
                <a:latin typeface="Calibri"/>
                <a:ea typeface="Calibri"/>
                <a:cs typeface="Calibri"/>
              </a:defRPr>
            </a:pPr>
            <a:r>
              <a:rPr sz="1350" b="1">
                <a:solidFill>
                  <a:srgbClr val="567083"/>
                </a:solidFill>
                <a:latin typeface="Calibri"/>
                <a:ea typeface="Calibri"/>
                <a:cs typeface="Calibri"/>
              </a:rPr>
              <a:t>01</a:t>
            </a:r>
          </a:p>
        </p:txBody>
      </p:sp>
      <p:graphicFrame>
        <p:nvGraphicFramePr>
          <p:cNvPr id="7" name="">
            <a:extLst xmlns:a="http://schemas.openxmlformats.org/drawingml/2006/main">
              <a:ext uri="{FF2B5EF4-FFF2-40B4-BE49-F238E27FC236}">
                <a16:creationId xmlns:a16="http://schemas.microsoft.com/office/drawing/2014/main" id="{160BEA81-72D7-42EB-8BD4-4C24DA6B6978}"/>
              </a:ext>
            </a:extLst>
          </p:cNvPr>
          <p:cNvGraphicFramePr/>
          <p:nvPr/>
        </p:nvGraphicFramePr>
        <p:xfrm>
          <a:off xmlns:a="http://schemas.openxmlformats.org/drawingml/2006/main" x="571500" y="2085975"/>
          <a:ext xmlns:a="http://schemas.openxmlformats.org/drawingml/2006/main" cx="14097000" cy="5124450"/>
        </p:xfrm>
        <a:graphic xmlns:a="http://schemas.openxmlformats.org/drawingml/2006/main">
          <a:graphicData uri="http://schemas.openxmlformats.org/drawingml/2006/table">
            <a:tbl>
              <a:tblPr firstRow="0" bandRow="0"/>
              <a:tblGrid>
                <a:gridCol w="5286375"/>
                <a:gridCol w="1190625"/>
                <a:gridCol w="1381125"/>
                <a:gridCol w="1381125"/>
                <a:gridCol w="4857750"/>
              </a:tblGrid>
              <a:tr h="666750">
                <a:tc>
                  <a:txBody>
                    <a:bodyPr/>
                    <a:lstStyle/>
                    <a:p>
                      <a:pPr algn="l"/>
                      <a:r>
                        <a:rPr sz="1575" b="1">
                          <a:solidFill>
                            <a:srgbClr val="FFFFFF"/>
                          </a:solidFill>
                          <a:latin typeface="Calibri"/>
                          <a:ea typeface="Calibri"/>
                          <a:cs typeface="Calibri"/>
                        </a:rPr>
                        <a:t>Persona or operating profile</a:t>
                      </a:r>
                    </a:p>
                  </a:txBody>
                  <a:tcPr marL="95250" marR="95250" marT="38100" marB="38100" anchor="ctr">
                    <a:solidFill>
                      <a:srgbClr val="142D40"/>
                    </a:solidFill>
                  </a:tcPr>
                </a:tc>
                <a:tc>
                  <a:txBody>
                    <a:bodyPr/>
                    <a:lstStyle/>
                    <a:p>
                      <a:pPr algn="l"/>
                      <a:r>
                        <a:rPr sz="1575" b="1">
                          <a:solidFill>
                            <a:srgbClr val="FFFFFF"/>
                          </a:solidFill>
                          <a:latin typeface="Calibri"/>
                          <a:ea typeface="Calibri"/>
                          <a:cs typeface="Calibri"/>
                        </a:rPr>
                        <a:t>CIAM</a:t>
                      </a:r>
                    </a:p>
                    <a:p>
                      <a:pPr algn="l"/>
                      <a:r>
                        <a:rPr sz="1575" b="1">
                          <a:solidFill>
                            <a:srgbClr val="FFFFFF"/>
                          </a:solidFill>
                          <a:latin typeface="Calibri"/>
                          <a:ea typeface="Calibri"/>
                          <a:cs typeface="Calibri"/>
                        </a:rPr>
                        <a:t>clients</a:t>
                      </a:r>
                    </a:p>
                  </a:txBody>
                  <a:tcPr marL="95250" marR="95250" marT="38100" marB="38100" anchor="ctr">
                    <a:solidFill>
                      <a:srgbClr val="142D40"/>
                    </a:solidFill>
                  </a:tcPr>
                </a:tc>
                <a:tc>
                  <a:txBody>
                    <a:bodyPr/>
                    <a:lstStyle/>
                    <a:p>
                      <a:pPr algn="l"/>
                      <a:r>
                        <a:rPr sz="1575" b="1">
                          <a:solidFill>
                            <a:srgbClr val="FFFFFF"/>
                          </a:solidFill>
                          <a:latin typeface="Calibri"/>
                          <a:ea typeface="Calibri"/>
                          <a:cs typeface="Calibri"/>
                        </a:rPr>
                        <a:t>IDAM</a:t>
                      </a:r>
                    </a:p>
                    <a:p>
                      <a:pPr algn="l"/>
                      <a:r>
                        <a:rPr sz="1575" b="1">
                          <a:solidFill>
                            <a:srgbClr val="FFFFFF"/>
                          </a:solidFill>
                          <a:latin typeface="Calibri"/>
                          <a:ea typeface="Calibri"/>
                          <a:cs typeface="Calibri"/>
                        </a:rPr>
                        <a:t>workforce</a:t>
                      </a:r>
                    </a:p>
                  </a:txBody>
                  <a:tcPr marL="95250" marR="95250" marT="38100" marB="38100" anchor="ctr">
                    <a:solidFill>
                      <a:srgbClr val="142D40"/>
                    </a:solidFill>
                  </a:tcPr>
                </a:tc>
                <a:tc>
                  <a:txBody>
                    <a:bodyPr/>
                    <a:lstStyle/>
                    <a:p>
                      <a:pPr algn="l"/>
                      <a:r>
                        <a:rPr sz="1575" b="1">
                          <a:solidFill>
                            <a:srgbClr val="FFFFFF"/>
                          </a:solidFill>
                          <a:latin typeface="Calibri"/>
                          <a:ea typeface="Calibri"/>
                          <a:cs typeface="Calibri"/>
                        </a:rPr>
                        <a:t>Internal</a:t>
                      </a:r>
                    </a:p>
                    <a:p>
                      <a:pPr algn="l"/>
                      <a:r>
                        <a:rPr sz="1575" b="1">
                          <a:solidFill>
                            <a:srgbClr val="FFFFFF"/>
                          </a:solidFill>
                          <a:latin typeface="Calibri"/>
                          <a:ea typeface="Calibri"/>
                          <a:cs typeface="Calibri"/>
                        </a:rPr>
                        <a:t>workloads</a:t>
                      </a:r>
                    </a:p>
                  </a:txBody>
                  <a:tcPr marL="95250" marR="95250" marT="38100" marB="38100" anchor="ctr">
                    <a:solidFill>
                      <a:srgbClr val="142D40"/>
                    </a:solidFill>
                  </a:tcPr>
                </a:tc>
                <a:tc>
                  <a:txBody>
                    <a:bodyPr/>
                    <a:lstStyle/>
                    <a:p>
                      <a:pPr algn="l"/>
                      <a:r>
                        <a:rPr sz="1575" b="1">
                          <a:solidFill>
                            <a:srgbClr val="FFFFFF"/>
                          </a:solidFill>
                          <a:latin typeface="Calibri"/>
                          <a:ea typeface="Calibri"/>
                          <a:cs typeface="Calibri"/>
                        </a:rPr>
                        <a:t>Scope of identity governance</a:t>
                      </a:r>
                    </a:p>
                  </a:txBody>
                  <a:tcPr marL="95250" marR="95250" marT="38100" marB="38100" anchor="ctr">
                    <a:solidFill>
                      <a:srgbClr val="142D40"/>
                    </a:solidFill>
                  </a:tcPr>
                </a:tc>
              </a:tr>
              <a:tr h="495300">
                <a:tc>
                  <a:txBody>
                    <a:bodyPr/>
                    <a:lstStyle/>
                    <a:p>
                      <a:pPr algn="l"/>
                      <a:r>
                        <a:rPr sz="1650" b="1">
                          <a:solidFill>
                            <a:srgbClr val="142D40"/>
                          </a:solidFill>
                          <a:latin typeface="Calibri"/>
                          <a:ea typeface="Calibri"/>
                          <a:cs typeface="Calibri"/>
                        </a:rPr>
                        <a:t>Delegated client administrator</a:t>
                      </a:r>
                    </a:p>
                  </a:txBody>
                  <a:tcPr marL="95250" marR="95250" marT="38100" marB="38100" anchor="ctr">
                    <a:solidFill>
                      <a:srgbClr val="FFFFFF"/>
                    </a:solidFill>
                  </a:tcPr>
                </a:tc>
                <a:tc>
                  <a:txBody>
                    <a:bodyPr/>
                    <a:lstStyle/>
                    <a:p>
                      <a:pPr algn="ctr"/>
                      <a:r>
                        <a:rPr sz="2100" b="0">
                          <a:solidFill>
                            <a:srgbClr val="1C6090"/>
                          </a:solidFill>
                          <a:latin typeface="Calibri"/>
                          <a:ea typeface="Calibri"/>
                          <a:cs typeface="Calibri"/>
                        </a:rPr>
                        <a:t>●</a:t>
                      </a:r>
                    </a:p>
                  </a:txBody>
                  <a:tcPr marL="95250" marR="95250" marT="38100" marB="38100" anchor="ctr">
                    <a:solidFill>
                      <a:srgbClr val="FFFFFF"/>
                    </a:solidFill>
                  </a:tcPr>
                </a:tc>
                <a:tc>
                  <a:txBody>
                    <a:bodyPr/>
                    <a:lstStyle/>
                    <a:p>
                      <a:r>
                        <a:rPr sz="2100" b="0">
                          <a:solidFill>
                            <a:srgbClr val="087C80"/>
                          </a:solidFill>
                          <a:latin typeface="Calibri"/>
                          <a:ea typeface="Calibri"/>
                          <a:cs typeface="Calibri"/>
                        </a:rPr>
                        <a:t/>
                      </a:r>
                    </a:p>
                  </a:txBody>
                  <a:tcPr marL="95250" marR="95250" marT="38100" marB="38100" anchor="ctr">
                    <a:solidFill>
                      <a:srgbClr val="FFFFFF"/>
                    </a:solidFill>
                  </a:tcPr>
                </a:tc>
                <a:tc>
                  <a:txBody>
                    <a:bodyPr/>
                    <a:lstStyle/>
                    <a:p>
                      <a:r>
                        <a:rPr sz="2100" b="0">
                          <a:solidFill>
                            <a:srgbClr val="142D40"/>
                          </a:solidFill>
                          <a:latin typeface="Calibri"/>
                          <a:ea typeface="Calibri"/>
                          <a:cs typeface="Calibri"/>
                        </a:rPr>
                        <a:t/>
                      </a:r>
                    </a:p>
                  </a:txBody>
                  <a:tcPr marL="95250" marR="95250" marT="38100" marB="38100" anchor="ctr">
                    <a:solidFill>
                      <a:srgbClr val="FFFFFF"/>
                    </a:solidFill>
                  </a:tcPr>
                </a:tc>
                <a:tc>
                  <a:txBody>
                    <a:bodyPr/>
                    <a:lstStyle/>
                    <a:p>
                      <a:pPr algn="l"/>
                      <a:r>
                        <a:rPr sz="1650" b="0">
                          <a:solidFill>
                            <a:srgbClr val="142D40"/>
                          </a:solidFill>
                          <a:latin typeface="Calibri"/>
                          <a:ea typeface="Calibri"/>
                          <a:cs typeface="Calibri"/>
                        </a:rPr>
                        <a:t>Client organization administration</a:t>
                      </a:r>
                    </a:p>
                  </a:txBody>
                  <a:tcPr marL="95250" marR="95250" marT="38100" marB="38100" anchor="ctr">
                    <a:solidFill>
                      <a:srgbClr val="FFFFFF"/>
                    </a:solidFill>
                  </a:tcPr>
                </a:tc>
              </a:tr>
              <a:tr h="495300">
                <a:tc>
                  <a:txBody>
                    <a:bodyPr/>
                    <a:lstStyle/>
                    <a:p>
                      <a:pPr algn="l"/>
                      <a:r>
                        <a:rPr sz="1650" b="1">
                          <a:solidFill>
                            <a:srgbClr val="142D40"/>
                          </a:solidFill>
                          <a:latin typeface="Calibri"/>
                          <a:ea typeface="Calibri"/>
                          <a:cs typeface="Calibri"/>
                        </a:rPr>
                        <a:t>Single-entity client user</a:t>
                      </a:r>
                    </a:p>
                  </a:txBody>
                  <a:tcPr marL="95250" marR="95250" marT="38100" marB="38100" anchor="ctr">
                    <a:solidFill>
                      <a:srgbClr val="F1F5F8"/>
                    </a:solidFill>
                  </a:tcPr>
                </a:tc>
                <a:tc>
                  <a:txBody>
                    <a:bodyPr/>
                    <a:lstStyle/>
                    <a:p>
                      <a:pPr algn="ctr"/>
                      <a:r>
                        <a:rPr sz="2100" b="0">
                          <a:solidFill>
                            <a:srgbClr val="1C6090"/>
                          </a:solidFill>
                          <a:latin typeface="Calibri"/>
                          <a:ea typeface="Calibri"/>
                          <a:cs typeface="Calibri"/>
                        </a:rPr>
                        <a:t>●</a:t>
                      </a:r>
                    </a:p>
                  </a:txBody>
                  <a:tcPr marL="95250" marR="95250" marT="38100" marB="38100" anchor="ctr">
                    <a:solidFill>
                      <a:srgbClr val="F1F5F8"/>
                    </a:solidFill>
                  </a:tcPr>
                </a:tc>
                <a:tc>
                  <a:txBody>
                    <a:bodyPr/>
                    <a:lstStyle/>
                    <a:p>
                      <a:r>
                        <a:rPr sz="2100" b="0">
                          <a:solidFill>
                            <a:srgbClr val="087C80"/>
                          </a:solidFill>
                          <a:latin typeface="Calibri"/>
                          <a:ea typeface="Calibri"/>
                          <a:cs typeface="Calibri"/>
                        </a:rPr>
                        <a:t/>
                      </a:r>
                    </a:p>
                  </a:txBody>
                  <a:tcPr marL="95250" marR="95250" marT="38100" marB="38100" anchor="ctr">
                    <a:solidFill>
                      <a:srgbClr val="F1F5F8"/>
                    </a:solidFill>
                  </a:tcPr>
                </a:tc>
                <a:tc>
                  <a:txBody>
                    <a:bodyPr/>
                    <a:lstStyle/>
                    <a:p>
                      <a:r>
                        <a:rPr sz="2100" b="0">
                          <a:solidFill>
                            <a:srgbClr val="142D40"/>
                          </a:solidFill>
                          <a:latin typeface="Calibri"/>
                          <a:ea typeface="Calibri"/>
                          <a:cs typeface="Calibri"/>
                        </a:rPr>
                        <a:t/>
                      </a:r>
                    </a:p>
                  </a:txBody>
                  <a:tcPr marL="95250" marR="95250" marT="38100" marB="38100" anchor="ctr">
                    <a:solidFill>
                      <a:srgbClr val="F1F5F8"/>
                    </a:solidFill>
                  </a:tcPr>
                </a:tc>
                <a:tc>
                  <a:txBody>
                    <a:bodyPr/>
                    <a:lstStyle/>
                    <a:p>
                      <a:pPr algn="l"/>
                      <a:r>
                        <a:rPr sz="1650" b="0">
                          <a:solidFill>
                            <a:srgbClr val="142D40"/>
                          </a:solidFill>
                          <a:latin typeface="Calibri"/>
                          <a:ea typeface="Calibri"/>
                          <a:cs typeface="Calibri"/>
                        </a:rPr>
                        <a:t>Exactly one approved entity scope</a:t>
                      </a:r>
                    </a:p>
                  </a:txBody>
                  <a:tcPr marL="95250" marR="95250" marT="38100" marB="38100" anchor="ctr">
                    <a:solidFill>
                      <a:srgbClr val="F1F5F8"/>
                    </a:solidFill>
                  </a:tcPr>
                </a:tc>
              </a:tr>
              <a:tr h="495300">
                <a:tc>
                  <a:txBody>
                    <a:bodyPr/>
                    <a:lstStyle/>
                    <a:p>
                      <a:pPr algn="l"/>
                      <a:r>
                        <a:rPr sz="1650" b="1">
                          <a:solidFill>
                            <a:srgbClr val="142D40"/>
                          </a:solidFill>
                          <a:latin typeface="Calibri"/>
                          <a:ea typeface="Calibri"/>
                          <a:cs typeface="Calibri"/>
                        </a:rPr>
                        <a:t>Multi-entity client user</a:t>
                      </a:r>
                    </a:p>
                  </a:txBody>
                  <a:tcPr marL="95250" marR="95250" marT="38100" marB="38100" anchor="ctr">
                    <a:solidFill>
                      <a:srgbClr val="FFFFFF"/>
                    </a:solidFill>
                  </a:tcPr>
                </a:tc>
                <a:tc>
                  <a:txBody>
                    <a:bodyPr/>
                    <a:lstStyle/>
                    <a:p>
                      <a:pPr algn="ctr"/>
                      <a:r>
                        <a:rPr sz="2100" b="0">
                          <a:solidFill>
                            <a:srgbClr val="1C6090"/>
                          </a:solidFill>
                          <a:latin typeface="Calibri"/>
                          <a:ea typeface="Calibri"/>
                          <a:cs typeface="Calibri"/>
                        </a:rPr>
                        <a:t>●</a:t>
                      </a:r>
                    </a:p>
                  </a:txBody>
                  <a:tcPr marL="95250" marR="95250" marT="38100" marB="38100" anchor="ctr">
                    <a:solidFill>
                      <a:srgbClr val="FFFFFF"/>
                    </a:solidFill>
                  </a:tcPr>
                </a:tc>
                <a:tc>
                  <a:txBody>
                    <a:bodyPr/>
                    <a:lstStyle/>
                    <a:p>
                      <a:r>
                        <a:rPr sz="2100" b="0">
                          <a:solidFill>
                            <a:srgbClr val="087C80"/>
                          </a:solidFill>
                          <a:latin typeface="Calibri"/>
                          <a:ea typeface="Calibri"/>
                          <a:cs typeface="Calibri"/>
                        </a:rPr>
                        <a:t/>
                      </a:r>
                    </a:p>
                  </a:txBody>
                  <a:tcPr marL="95250" marR="95250" marT="38100" marB="38100" anchor="ctr">
                    <a:solidFill>
                      <a:srgbClr val="FFFFFF"/>
                    </a:solidFill>
                  </a:tcPr>
                </a:tc>
                <a:tc>
                  <a:txBody>
                    <a:bodyPr/>
                    <a:lstStyle/>
                    <a:p>
                      <a:r>
                        <a:rPr sz="2100" b="0">
                          <a:solidFill>
                            <a:srgbClr val="142D40"/>
                          </a:solidFill>
                          <a:latin typeface="Calibri"/>
                          <a:ea typeface="Calibri"/>
                          <a:cs typeface="Calibri"/>
                        </a:rPr>
                        <a:t/>
                      </a:r>
                    </a:p>
                  </a:txBody>
                  <a:tcPr marL="95250" marR="95250" marT="38100" marB="38100" anchor="ctr">
                    <a:solidFill>
                      <a:srgbClr val="FFFFFF"/>
                    </a:solidFill>
                  </a:tcPr>
                </a:tc>
                <a:tc>
                  <a:txBody>
                    <a:bodyPr/>
                    <a:lstStyle/>
                    <a:p>
                      <a:pPr algn="l"/>
                      <a:r>
                        <a:rPr sz="1650" b="0">
                          <a:solidFill>
                            <a:srgbClr val="142D40"/>
                          </a:solidFill>
                          <a:latin typeface="Calibri"/>
                          <a:ea typeface="Calibri"/>
                          <a:cs typeface="Calibri"/>
                        </a:rPr>
                        <a:t>Two or more approved entity scopes</a:t>
                      </a:r>
                    </a:p>
                  </a:txBody>
                  <a:tcPr marL="95250" marR="95250" marT="38100" marB="38100" anchor="ctr">
                    <a:solidFill>
                      <a:srgbClr val="FFFFFF"/>
                    </a:solidFill>
                  </a:tcPr>
                </a:tc>
              </a:tr>
              <a:tr h="495300">
                <a:tc>
                  <a:txBody>
                    <a:bodyPr/>
                    <a:lstStyle/>
                    <a:p>
                      <a:pPr algn="l"/>
                      <a:r>
                        <a:rPr sz="1650" b="1">
                          <a:solidFill>
                            <a:srgbClr val="142D40"/>
                          </a:solidFill>
                          <a:latin typeface="Calibri"/>
                          <a:ea typeface="Calibri"/>
                          <a:cs typeface="Calibri"/>
                        </a:rPr>
                        <a:t>Non-billable client user</a:t>
                      </a:r>
                    </a:p>
                  </a:txBody>
                  <a:tcPr marL="95250" marR="95250" marT="38100" marB="38100" anchor="ctr">
                    <a:solidFill>
                      <a:srgbClr val="F1F5F8"/>
                    </a:solidFill>
                  </a:tcPr>
                </a:tc>
                <a:tc>
                  <a:txBody>
                    <a:bodyPr/>
                    <a:lstStyle/>
                    <a:p>
                      <a:pPr algn="ctr"/>
                      <a:r>
                        <a:rPr sz="2100" b="0">
                          <a:solidFill>
                            <a:srgbClr val="1C6090"/>
                          </a:solidFill>
                          <a:latin typeface="Calibri"/>
                          <a:ea typeface="Calibri"/>
                          <a:cs typeface="Calibri"/>
                        </a:rPr>
                        <a:t>●</a:t>
                      </a:r>
                    </a:p>
                  </a:txBody>
                  <a:tcPr marL="95250" marR="95250" marT="38100" marB="38100" anchor="ctr">
                    <a:solidFill>
                      <a:srgbClr val="F1F5F8"/>
                    </a:solidFill>
                  </a:tcPr>
                </a:tc>
                <a:tc>
                  <a:txBody>
                    <a:bodyPr/>
                    <a:lstStyle/>
                    <a:p>
                      <a:r>
                        <a:rPr sz="2100" b="0">
                          <a:solidFill>
                            <a:srgbClr val="087C80"/>
                          </a:solidFill>
                          <a:latin typeface="Calibri"/>
                          <a:ea typeface="Calibri"/>
                          <a:cs typeface="Calibri"/>
                        </a:rPr>
                        <a:t/>
                      </a:r>
                    </a:p>
                  </a:txBody>
                  <a:tcPr marL="95250" marR="95250" marT="38100" marB="38100" anchor="ctr">
                    <a:solidFill>
                      <a:srgbClr val="F1F5F8"/>
                    </a:solidFill>
                  </a:tcPr>
                </a:tc>
                <a:tc>
                  <a:txBody>
                    <a:bodyPr/>
                    <a:lstStyle/>
                    <a:p>
                      <a:r>
                        <a:rPr sz="2100" b="0">
                          <a:solidFill>
                            <a:srgbClr val="142D40"/>
                          </a:solidFill>
                          <a:latin typeface="Calibri"/>
                          <a:ea typeface="Calibri"/>
                          <a:cs typeface="Calibri"/>
                        </a:rPr>
                        <a:t/>
                      </a:r>
                    </a:p>
                  </a:txBody>
                  <a:tcPr marL="95250" marR="95250" marT="38100" marB="38100" anchor="ctr">
                    <a:solidFill>
                      <a:srgbClr val="F1F5F8"/>
                    </a:solidFill>
                  </a:tcPr>
                </a:tc>
                <a:tc>
                  <a:txBody>
                    <a:bodyPr/>
                    <a:lstStyle/>
                    <a:p>
                      <a:pPr algn="l"/>
                      <a:r>
                        <a:rPr sz="1650" b="0">
                          <a:solidFill>
                            <a:srgbClr val="142D40"/>
                          </a:solidFill>
                          <a:latin typeface="Calibri"/>
                          <a:ea typeface="Calibri"/>
                          <a:cs typeface="Calibri"/>
                        </a:rPr>
                        <a:t>Commercial attribute overlapping client profiles</a:t>
                      </a:r>
                    </a:p>
                  </a:txBody>
                  <a:tcPr marL="95250" marR="95250" marT="38100" marB="38100" anchor="ctr">
                    <a:solidFill>
                      <a:srgbClr val="F1F5F8"/>
                    </a:solidFill>
                  </a:tcPr>
                </a:tc>
              </a:tr>
              <a:tr h="495300">
                <a:tc>
                  <a:txBody>
                    <a:bodyPr/>
                    <a:lstStyle/>
                    <a:p>
                      <a:pPr algn="l"/>
                      <a:r>
                        <a:rPr sz="1650" b="1">
                          <a:solidFill>
                            <a:srgbClr val="142D40"/>
                          </a:solidFill>
                          <a:latin typeface="Calibri"/>
                          <a:ea typeface="Calibri"/>
                          <a:cs typeface="Calibri"/>
                        </a:rPr>
                        <a:t>Internal user acting as client</a:t>
                      </a:r>
                    </a:p>
                  </a:txBody>
                  <a:tcPr marL="95250" marR="95250" marT="38100" marB="38100" anchor="ctr">
                    <a:solidFill>
                      <a:srgbClr val="FFFFFF"/>
                    </a:solidFill>
                  </a:tcPr>
                </a:tc>
                <a:tc>
                  <a:txBody>
                    <a:bodyPr/>
                    <a:lstStyle/>
                    <a:p>
                      <a:r>
                        <a:rPr sz="2100" b="0">
                          <a:solidFill>
                            <a:srgbClr val="1C6090"/>
                          </a:solidFill>
                          <a:latin typeface="Calibri"/>
                          <a:ea typeface="Calibri"/>
                          <a:cs typeface="Calibri"/>
                        </a:rPr>
                        <a:t/>
                      </a:r>
                    </a:p>
                  </a:txBody>
                  <a:tcPr marL="95250" marR="95250" marT="38100" marB="38100" anchor="ctr">
                    <a:solidFill>
                      <a:srgbClr val="FFFFFF"/>
                    </a:solidFill>
                  </a:tcPr>
                </a:tc>
                <a:tc>
                  <a:txBody>
                    <a:bodyPr/>
                    <a:lstStyle/>
                    <a:p>
                      <a:pPr algn="ctr"/>
                      <a:r>
                        <a:rPr sz="2100" b="0">
                          <a:solidFill>
                            <a:srgbClr val="087C80"/>
                          </a:solidFill>
                          <a:latin typeface="Calibri"/>
                          <a:ea typeface="Calibri"/>
                          <a:cs typeface="Calibri"/>
                        </a:rPr>
                        <a:t>●</a:t>
                      </a:r>
                    </a:p>
                  </a:txBody>
                  <a:tcPr marL="95250" marR="95250" marT="38100" marB="38100" anchor="ctr">
                    <a:solidFill>
                      <a:srgbClr val="FFFFFF"/>
                    </a:solidFill>
                  </a:tcPr>
                </a:tc>
                <a:tc>
                  <a:txBody>
                    <a:bodyPr/>
                    <a:lstStyle/>
                    <a:p>
                      <a:r>
                        <a:rPr sz="2100" b="0">
                          <a:solidFill>
                            <a:srgbClr val="142D40"/>
                          </a:solidFill>
                          <a:latin typeface="Calibri"/>
                          <a:ea typeface="Calibri"/>
                          <a:cs typeface="Calibri"/>
                        </a:rPr>
                        <a:t/>
                      </a:r>
                    </a:p>
                  </a:txBody>
                  <a:tcPr marL="95250" marR="95250" marT="38100" marB="38100" anchor="ctr">
                    <a:solidFill>
                      <a:srgbClr val="FFFFFF"/>
                    </a:solidFill>
                  </a:tcPr>
                </a:tc>
                <a:tc>
                  <a:txBody>
                    <a:bodyPr/>
                    <a:lstStyle/>
                    <a:p>
                      <a:pPr algn="l"/>
                      <a:r>
                        <a:rPr sz="1650" b="0">
                          <a:solidFill>
                            <a:srgbClr val="142D40"/>
                          </a:solidFill>
                          <a:latin typeface="Calibri"/>
                          <a:ea typeface="Calibri"/>
                          <a:cs typeface="Calibri"/>
                        </a:rPr>
                        <a:t>Approved client simulation context</a:t>
                      </a:r>
                    </a:p>
                  </a:txBody>
                  <a:tcPr marL="95250" marR="95250" marT="38100" marB="38100" anchor="ctr">
                    <a:solidFill>
                      <a:srgbClr val="FFFFFF"/>
                    </a:solidFill>
                  </a:tcPr>
                </a:tc>
              </a:tr>
              <a:tr h="495300">
                <a:tc>
                  <a:txBody>
                    <a:bodyPr/>
                    <a:lstStyle/>
                    <a:p>
                      <a:pPr algn="l"/>
                      <a:r>
                        <a:rPr sz="1650" b="1">
                          <a:solidFill>
                            <a:srgbClr val="142D40"/>
                          </a:solidFill>
                          <a:latin typeface="Calibri"/>
                          <a:ea typeface="Calibri"/>
                          <a:cs typeface="Calibri"/>
                        </a:rPr>
                        <a:t>Internal user acting with impersonation</a:t>
                      </a:r>
                    </a:p>
                  </a:txBody>
                  <a:tcPr marL="95250" marR="95250" marT="38100" marB="38100" anchor="ctr">
                    <a:solidFill>
                      <a:srgbClr val="F1F5F8"/>
                    </a:solidFill>
                  </a:tcPr>
                </a:tc>
                <a:tc>
                  <a:txBody>
                    <a:bodyPr/>
                    <a:lstStyle/>
                    <a:p>
                      <a:r>
                        <a:rPr sz="2100" b="0">
                          <a:solidFill>
                            <a:srgbClr val="1C6090"/>
                          </a:solidFill>
                          <a:latin typeface="Calibri"/>
                          <a:ea typeface="Calibri"/>
                          <a:cs typeface="Calibri"/>
                        </a:rPr>
                        <a:t/>
                      </a:r>
                    </a:p>
                  </a:txBody>
                  <a:tcPr marL="95250" marR="95250" marT="38100" marB="38100" anchor="ctr">
                    <a:solidFill>
                      <a:srgbClr val="F1F5F8"/>
                    </a:solidFill>
                  </a:tcPr>
                </a:tc>
                <a:tc>
                  <a:txBody>
                    <a:bodyPr/>
                    <a:lstStyle/>
                    <a:p>
                      <a:pPr algn="ctr"/>
                      <a:r>
                        <a:rPr sz="2100" b="0">
                          <a:solidFill>
                            <a:srgbClr val="087C80"/>
                          </a:solidFill>
                          <a:latin typeface="Calibri"/>
                          <a:ea typeface="Calibri"/>
                          <a:cs typeface="Calibri"/>
                        </a:rPr>
                        <a:t>●</a:t>
                      </a:r>
                    </a:p>
                  </a:txBody>
                  <a:tcPr marL="95250" marR="95250" marT="38100" marB="38100" anchor="ctr">
                    <a:solidFill>
                      <a:srgbClr val="F1F5F8"/>
                    </a:solidFill>
                  </a:tcPr>
                </a:tc>
                <a:tc>
                  <a:txBody>
                    <a:bodyPr/>
                    <a:lstStyle/>
                    <a:p>
                      <a:r>
                        <a:rPr sz="2100" b="0">
                          <a:solidFill>
                            <a:srgbClr val="142D40"/>
                          </a:solidFill>
                          <a:latin typeface="Calibri"/>
                          <a:ea typeface="Calibri"/>
                          <a:cs typeface="Calibri"/>
                        </a:rPr>
                        <a:t/>
                      </a:r>
                    </a:p>
                  </a:txBody>
                  <a:tcPr marL="95250" marR="95250" marT="38100" marB="38100" anchor="ctr">
                    <a:solidFill>
                      <a:srgbClr val="F1F5F8"/>
                    </a:solidFill>
                  </a:tcPr>
                </a:tc>
                <a:tc>
                  <a:txBody>
                    <a:bodyPr/>
                    <a:lstStyle/>
                    <a:p>
                      <a:pPr algn="l"/>
                      <a:r>
                        <a:rPr sz="1650" b="0">
                          <a:solidFill>
                            <a:srgbClr val="142D40"/>
                          </a:solidFill>
                          <a:latin typeface="Calibri"/>
                          <a:ea typeface="Calibri"/>
                          <a:cs typeface="Calibri"/>
                        </a:rPr>
                        <a:t>Employee representing a specific client user</a:t>
                      </a:r>
                    </a:p>
                  </a:txBody>
                  <a:tcPr marL="95250" marR="95250" marT="38100" marB="38100" anchor="ctr">
                    <a:solidFill>
                      <a:srgbClr val="F1F5F8"/>
                    </a:solidFill>
                  </a:tcPr>
                </a:tc>
              </a:tr>
              <a:tr h="495300">
                <a:tc>
                  <a:txBody>
                    <a:bodyPr/>
                    <a:lstStyle/>
                    <a:p>
                      <a:pPr algn="l"/>
                      <a:r>
                        <a:rPr sz="1650" b="1">
                          <a:solidFill>
                            <a:srgbClr val="142D40"/>
                          </a:solidFill>
                          <a:latin typeface="Calibri"/>
                          <a:ea typeface="Calibri"/>
                          <a:cs typeface="Calibri"/>
                        </a:rPr>
                        <a:t>Internal user acting as business administrator</a:t>
                      </a:r>
                    </a:p>
                  </a:txBody>
                  <a:tcPr marL="95250" marR="95250" marT="38100" marB="38100" anchor="ctr">
                    <a:solidFill>
                      <a:srgbClr val="FFFFFF"/>
                    </a:solidFill>
                  </a:tcPr>
                </a:tc>
                <a:tc>
                  <a:txBody>
                    <a:bodyPr/>
                    <a:lstStyle/>
                    <a:p>
                      <a:r>
                        <a:rPr sz="2100" b="0">
                          <a:solidFill>
                            <a:srgbClr val="1C6090"/>
                          </a:solidFill>
                          <a:latin typeface="Calibri"/>
                          <a:ea typeface="Calibri"/>
                          <a:cs typeface="Calibri"/>
                        </a:rPr>
                        <a:t/>
                      </a:r>
                    </a:p>
                  </a:txBody>
                  <a:tcPr marL="95250" marR="95250" marT="38100" marB="38100" anchor="ctr">
                    <a:solidFill>
                      <a:srgbClr val="FFFFFF"/>
                    </a:solidFill>
                  </a:tcPr>
                </a:tc>
                <a:tc>
                  <a:txBody>
                    <a:bodyPr/>
                    <a:lstStyle/>
                    <a:p>
                      <a:pPr algn="ctr"/>
                      <a:r>
                        <a:rPr sz="2100" b="0">
                          <a:solidFill>
                            <a:srgbClr val="087C80"/>
                          </a:solidFill>
                          <a:latin typeface="Calibri"/>
                          <a:ea typeface="Calibri"/>
                          <a:cs typeface="Calibri"/>
                        </a:rPr>
                        <a:t>●</a:t>
                      </a:r>
                    </a:p>
                  </a:txBody>
                  <a:tcPr marL="95250" marR="95250" marT="38100" marB="38100" anchor="ctr">
                    <a:solidFill>
                      <a:srgbClr val="FFFFFF"/>
                    </a:solidFill>
                  </a:tcPr>
                </a:tc>
                <a:tc>
                  <a:txBody>
                    <a:bodyPr/>
                    <a:lstStyle/>
                    <a:p>
                      <a:r>
                        <a:rPr sz="2100" b="0">
                          <a:solidFill>
                            <a:srgbClr val="142D40"/>
                          </a:solidFill>
                          <a:latin typeface="Calibri"/>
                          <a:ea typeface="Calibri"/>
                          <a:cs typeface="Calibri"/>
                        </a:rPr>
                        <a:t/>
                      </a:r>
                    </a:p>
                  </a:txBody>
                  <a:tcPr marL="95250" marR="95250" marT="38100" marB="38100" anchor="ctr">
                    <a:solidFill>
                      <a:srgbClr val="FFFFFF"/>
                    </a:solidFill>
                  </a:tcPr>
                </a:tc>
                <a:tc>
                  <a:txBody>
                    <a:bodyPr/>
                    <a:lstStyle/>
                    <a:p>
                      <a:pPr algn="l"/>
                      <a:r>
                        <a:rPr sz="1650" b="0">
                          <a:solidFill>
                            <a:srgbClr val="142D40"/>
                          </a:solidFill>
                          <a:latin typeface="Calibri"/>
                          <a:ea typeface="Calibri"/>
                          <a:cs typeface="Calibri"/>
                        </a:rPr>
                        <a:t>Client organization / access administration</a:t>
                      </a:r>
                    </a:p>
                  </a:txBody>
                  <a:tcPr marL="95250" marR="95250" marT="38100" marB="38100" anchor="ctr">
                    <a:solidFill>
                      <a:srgbClr val="FFFFFF"/>
                    </a:solidFill>
                  </a:tcPr>
                </a:tc>
              </a:tr>
              <a:tr h="495300">
                <a:tc>
                  <a:txBody>
                    <a:bodyPr/>
                    <a:lstStyle/>
                    <a:p>
                      <a:pPr algn="l"/>
                      <a:r>
                        <a:rPr sz="1650" b="1">
                          <a:solidFill>
                            <a:srgbClr val="142D40"/>
                          </a:solidFill>
                          <a:latin typeface="Calibri"/>
                          <a:ea typeface="Calibri"/>
                          <a:cs typeface="Calibri"/>
                        </a:rPr>
                        <a:t>Internal user acting as software administrator</a:t>
                      </a:r>
                    </a:p>
                  </a:txBody>
                  <a:tcPr marL="95250" marR="95250" marT="38100" marB="38100" anchor="ctr">
                    <a:solidFill>
                      <a:srgbClr val="F1F5F8"/>
                    </a:solidFill>
                  </a:tcPr>
                </a:tc>
                <a:tc>
                  <a:txBody>
                    <a:bodyPr/>
                    <a:lstStyle/>
                    <a:p>
                      <a:r>
                        <a:rPr sz="2100" b="0">
                          <a:solidFill>
                            <a:srgbClr val="1C6090"/>
                          </a:solidFill>
                          <a:latin typeface="Calibri"/>
                          <a:ea typeface="Calibri"/>
                          <a:cs typeface="Calibri"/>
                        </a:rPr>
                        <a:t/>
                      </a:r>
                    </a:p>
                  </a:txBody>
                  <a:tcPr marL="95250" marR="95250" marT="38100" marB="38100" anchor="ctr">
                    <a:solidFill>
                      <a:srgbClr val="F1F5F8"/>
                    </a:solidFill>
                  </a:tcPr>
                </a:tc>
                <a:tc>
                  <a:txBody>
                    <a:bodyPr/>
                    <a:lstStyle/>
                    <a:p>
                      <a:pPr algn="ctr"/>
                      <a:r>
                        <a:rPr sz="2100" b="0">
                          <a:solidFill>
                            <a:srgbClr val="087C80"/>
                          </a:solidFill>
                          <a:latin typeface="Calibri"/>
                          <a:ea typeface="Calibri"/>
                          <a:cs typeface="Calibri"/>
                        </a:rPr>
                        <a:t>●</a:t>
                      </a:r>
                    </a:p>
                  </a:txBody>
                  <a:tcPr marL="95250" marR="95250" marT="38100" marB="38100" anchor="ctr">
                    <a:solidFill>
                      <a:srgbClr val="F1F5F8"/>
                    </a:solidFill>
                  </a:tcPr>
                </a:tc>
                <a:tc>
                  <a:txBody>
                    <a:bodyPr/>
                    <a:lstStyle/>
                    <a:p>
                      <a:r>
                        <a:rPr sz="2100" b="0">
                          <a:solidFill>
                            <a:srgbClr val="142D40"/>
                          </a:solidFill>
                          <a:latin typeface="Calibri"/>
                          <a:ea typeface="Calibri"/>
                          <a:cs typeface="Calibri"/>
                        </a:rPr>
                        <a:t/>
                      </a:r>
                    </a:p>
                  </a:txBody>
                  <a:tcPr marL="95250" marR="95250" marT="38100" marB="38100" anchor="ctr">
                    <a:solidFill>
                      <a:srgbClr val="F1F5F8"/>
                    </a:solidFill>
                  </a:tcPr>
                </a:tc>
                <a:tc>
                  <a:txBody>
                    <a:bodyPr/>
                    <a:lstStyle/>
                    <a:p>
                      <a:pPr algn="l"/>
                      <a:r>
                        <a:rPr sz="1650" b="0">
                          <a:solidFill>
                            <a:srgbClr val="142D40"/>
                          </a:solidFill>
                          <a:latin typeface="Calibri"/>
                          <a:ea typeface="Calibri"/>
                          <a:cs typeface="Calibri"/>
                        </a:rPr>
                        <a:t>Platform and configuration administration</a:t>
                      </a:r>
                    </a:p>
                  </a:txBody>
                  <a:tcPr marL="95250" marR="95250" marT="38100" marB="38100" anchor="ctr">
                    <a:solidFill>
                      <a:srgbClr val="F1F5F8"/>
                    </a:solidFill>
                  </a:tcPr>
                </a:tc>
              </a:tr>
              <a:tr h="495300">
                <a:tc>
                  <a:txBody>
                    <a:bodyPr/>
                    <a:lstStyle/>
                    <a:p>
                      <a:pPr algn="l"/>
                      <a:r>
                        <a:rPr sz="1650" b="1">
                          <a:solidFill>
                            <a:srgbClr val="142D40"/>
                          </a:solidFill>
                          <a:latin typeface="Calibri"/>
                          <a:ea typeface="Calibri"/>
                          <a:cs typeface="Calibri"/>
                        </a:rPr>
                        <a:t>Machine identity - system-to-system access</a:t>
                      </a:r>
                    </a:p>
                  </a:txBody>
                  <a:tcPr marL="95250" marR="95250" marT="38100" marB="38100" anchor="ctr">
                    <a:solidFill>
                      <a:srgbClr val="FFFFFF"/>
                    </a:solidFill>
                  </a:tcPr>
                </a:tc>
                <a:tc>
                  <a:txBody>
                    <a:bodyPr/>
                    <a:lstStyle/>
                    <a:p>
                      <a:pPr algn="ctr"/>
                      <a:r>
                        <a:rPr sz="2100" b="0">
                          <a:solidFill>
                            <a:srgbClr val="1C6090"/>
                          </a:solidFill>
                          <a:latin typeface="Calibri"/>
                          <a:ea typeface="Calibri"/>
                          <a:cs typeface="Calibri"/>
                        </a:rPr>
                        <a:t>○</a:t>
                      </a:r>
                    </a:p>
                  </a:txBody>
                  <a:tcPr marL="95250" marR="95250" marT="38100" marB="38100" anchor="ctr">
                    <a:solidFill>
                      <a:srgbClr val="FFFFFF"/>
                    </a:solidFill>
                  </a:tcPr>
                </a:tc>
                <a:tc>
                  <a:txBody>
                    <a:bodyPr/>
                    <a:lstStyle/>
                    <a:p>
                      <a:r>
                        <a:rPr sz="2100" b="0">
                          <a:solidFill>
                            <a:srgbClr val="087C80"/>
                          </a:solidFill>
                          <a:latin typeface="Calibri"/>
                          <a:ea typeface="Calibri"/>
                          <a:cs typeface="Calibri"/>
                        </a:rPr>
                        <a:t/>
                      </a:r>
                    </a:p>
                  </a:txBody>
                  <a:tcPr marL="95250" marR="95250" marT="38100" marB="38100" anchor="ctr">
                    <a:solidFill>
                      <a:srgbClr val="FFFFFF"/>
                    </a:solidFill>
                  </a:tcPr>
                </a:tc>
                <a:tc>
                  <a:txBody>
                    <a:bodyPr/>
                    <a:lstStyle/>
                    <a:p>
                      <a:pPr algn="ctr"/>
                      <a:r>
                        <a:rPr sz="2100" b="0">
                          <a:solidFill>
                            <a:srgbClr val="142D40"/>
                          </a:solidFill>
                          <a:latin typeface="Calibri"/>
                          <a:ea typeface="Calibri"/>
                          <a:cs typeface="Calibri"/>
                        </a:rPr>
                        <a:t>○</a:t>
                      </a:r>
                    </a:p>
                  </a:txBody>
                  <a:tcPr marL="95250" marR="95250" marT="38100" marB="38100" anchor="ctr">
                    <a:solidFill>
                      <a:srgbClr val="FFFFFF"/>
                    </a:solidFill>
                  </a:tcPr>
                </a:tc>
                <a:tc>
                  <a:txBody>
                    <a:bodyPr/>
                    <a:lstStyle/>
                    <a:p>
                      <a:pPr algn="l"/>
                      <a:r>
                        <a:rPr sz="1650" b="0">
                          <a:solidFill>
                            <a:srgbClr val="142D40"/>
                          </a:solidFill>
                          <a:latin typeface="Calibri"/>
                          <a:ea typeface="Calibri"/>
                          <a:cs typeface="Calibri"/>
                        </a:rPr>
                        <a:t>Client-owned or Euroclear-owned workload</a:t>
                      </a:r>
                    </a:p>
                  </a:txBody>
                  <a:tcPr marL="95250" marR="95250" marT="38100" marB="38100" anchor="ctr">
                    <a:solidFill>
                      <a:srgbClr val="FFFFFF"/>
                    </a:solidFill>
                  </a:tcPr>
                </a:tc>
              </a:tr>
            </a:tbl>
          </a:graphicData>
        </a:graphic>
      </p:graphicFrame>
      <p:sp>
        <p:nvSpPr>
          <p:cNvPr id="8" name="text-2007">
            <a:extLst xmlns:a="http://schemas.openxmlformats.org/drawingml/2006/main">
              <a:ext uri="{FF2B5EF4-FFF2-40B4-BE49-F238E27FC236}">
                <a16:creationId xmlns:a16="http://schemas.microsoft.com/office/drawing/2014/main" id="{2BD80B15-B1AF-4BFE-BA36-97AD38243FDA}"/>
              </a:ext>
            </a:extLst>
          </p:cNvPr>
          <p:cNvSpPr>
            <a:spLocks xmlns:a="http://schemas.openxmlformats.org/drawingml/2006/main" noGrp="1"/>
          </p:cNvSpPr>
          <p:nvPr/>
        </p:nvSpPr>
        <p:spPr>
          <a:xfrm xmlns:a="http://schemas.openxmlformats.org/drawingml/2006/main">
            <a:off x="571500" y="7353300"/>
            <a:ext cx="1409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67083"/>
                </a:solidFill>
                <a:latin typeface="Calibri"/>
                <a:ea typeface="Calibri"/>
                <a:cs typeface="Calibri"/>
              </a:defRPr>
            </a:defPPr>
          </a:lstStyle>
          <a:p xmlns:a="http://schemas.openxmlformats.org/drawingml/2006/main">
            <a:pPr algn="l">
              <a:defRPr sz="1650" b="0">
                <a:solidFill>
                  <a:srgbClr val="567083"/>
                </a:solidFill>
                <a:latin typeface="Calibri"/>
                <a:ea typeface="Calibri"/>
                <a:cs typeface="Calibri"/>
              </a:defRPr>
            </a:pPr>
            <a:r>
              <a:rPr sz="1650" b="0">
                <a:solidFill>
                  <a:srgbClr val="567083"/>
                </a:solidFill>
                <a:latin typeface="Calibri"/>
                <a:ea typeface="Calibri"/>
                <a:cs typeface="Calibri"/>
              </a:rPr>
              <a:t>● Identity authority    ○ Ownership-dependent alternative    Blank: no identity authority in that domain</a:t>
            </a:r>
          </a:p>
        </p:txBody>
      </p:sp>
      <p:sp>
        <p:nvSpPr>
          <p:cNvPr id="9" name="text-2008">
            <a:extLst xmlns:a="http://schemas.openxmlformats.org/drawingml/2006/main">
              <a:ext uri="{FF2B5EF4-FFF2-40B4-BE49-F238E27FC236}">
                <a16:creationId xmlns:a16="http://schemas.microsoft.com/office/drawing/2014/main" id="{2DB419FF-F23B-4CBE-97FE-9F7B2028445A}"/>
              </a:ext>
            </a:extLst>
          </p:cNvPr>
          <p:cNvSpPr>
            <a:spLocks xmlns:a="http://schemas.openxmlformats.org/drawingml/2006/main" noGrp="1"/>
          </p:cNvSpPr>
          <p:nvPr/>
        </p:nvSpPr>
        <p:spPr>
          <a:xfrm xmlns:a="http://schemas.openxmlformats.org/drawingml/2006/main">
            <a:off x="571500" y="7715250"/>
            <a:ext cx="1409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67083"/>
                </a:solidFill>
                <a:latin typeface="Calibri"/>
                <a:ea typeface="Calibri"/>
                <a:cs typeface="Calibri"/>
              </a:defRPr>
            </a:defPPr>
          </a:lstStyle>
          <a:p xmlns:a="http://schemas.openxmlformats.org/drawingml/2006/main">
            <a:pPr algn="l">
              <a:defRPr sz="1650" b="0">
                <a:solidFill>
                  <a:srgbClr val="567083"/>
                </a:solidFill>
                <a:latin typeface="Calibri"/>
                <a:ea typeface="Calibri"/>
                <a:cs typeface="Calibri"/>
              </a:defRPr>
            </a:pPr>
            <a:r>
              <a:rPr sz="1650" b="0">
                <a:solidFill>
                  <a:srgbClr val="567083"/>
                </a:solidFill>
                <a:latin typeface="Calibri"/>
                <a:ea typeface="Calibri"/>
                <a:cs typeface="Calibri"/>
              </a:rPr>
              <a:t>Employee identity remains IDAM-owned. Machine authority follows client or Euroclear workload ownership.</a:t>
            </a:r>
          </a:p>
        </p:txBody>
      </p:sp>
    </p:spTree>
    <p:extLst>
      <p:ext uri="{BB962C8B-B14F-4D97-AF65-F5344CB8AC3E}">
        <p14:creationId xmlns:p14="http://schemas.microsoft.com/office/powerpoint/2010/main" val="31025838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 name="text-2009">
            <a:extLst xmlns:a="http://schemas.openxmlformats.org/drawingml/2006/main">
              <a:ext uri="{FF2B5EF4-FFF2-40B4-BE49-F238E27FC236}">
                <a16:creationId xmlns:a16="http://schemas.microsoft.com/office/drawing/2014/main" id="{7F9E970F-8D0D-4722-BBFA-2B319D91644F}"/>
              </a:ext>
            </a:extLst>
          </p:cNvPr>
          <p:cNvSpPr>
            <a:spLocks xmlns:a="http://schemas.openxmlformats.org/drawingml/2006/main" noGrp="1"/>
          </p:cNvSpPr>
          <p:nvPr/>
        </p:nvSpPr>
        <p:spPr>
          <a:xfrm xmlns:a="http://schemas.openxmlformats.org/drawingml/2006/main">
            <a:off x="571500" y="24765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67083"/>
                </a:solidFill>
                <a:latin typeface="Calibri"/>
                <a:ea typeface="Calibri"/>
                <a:cs typeface="Calibri"/>
              </a:defRPr>
            </a:defPPr>
          </a:lstStyle>
          <a:p xmlns:a="http://schemas.openxmlformats.org/drawingml/2006/main">
            <a:pPr algn="l">
              <a:defRPr sz="1350" b="1">
                <a:solidFill>
                  <a:srgbClr val="567083"/>
                </a:solidFill>
                <a:latin typeface="Calibri"/>
                <a:ea typeface="Calibri"/>
                <a:cs typeface="Calibri"/>
              </a:defRPr>
            </a:pPr>
            <a:r>
              <a:rPr sz="1350" b="1">
                <a:solidFill>
                  <a:srgbClr val="567083"/>
                </a:solidFill>
                <a:latin typeface="Calibri"/>
                <a:ea typeface="Calibri"/>
                <a:cs typeface="Calibri"/>
              </a:rPr>
              <a:t>EUROCLEAR   /   ENTERPRISE IDENTITY ARCHITECTURE</a:t>
            </a:r>
          </a:p>
        </p:txBody>
      </p:sp>
      <p:sp>
        <p:nvSpPr>
          <p:cNvPr id="2" name="text-2010">
            <a:extLst xmlns:a="http://schemas.openxmlformats.org/drawingml/2006/main">
              <a:ext uri="{FF2B5EF4-FFF2-40B4-BE49-F238E27FC236}">
                <a16:creationId xmlns:a16="http://schemas.microsoft.com/office/drawing/2014/main" id="{365CE030-4496-4217-8A60-772CBC08F50C}"/>
              </a:ext>
            </a:extLst>
          </p:cNvPr>
          <p:cNvSpPr>
            <a:spLocks xmlns:a="http://schemas.openxmlformats.org/drawingml/2006/main" noGrp="1"/>
          </p:cNvSpPr>
          <p:nvPr/>
        </p:nvSpPr>
        <p:spPr>
          <a:xfrm xmlns:a="http://schemas.openxmlformats.org/drawingml/2006/main">
            <a:off x="571500" y="7429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D40"/>
                </a:solidFill>
                <a:latin typeface="Calibri"/>
                <a:ea typeface="Calibri"/>
                <a:cs typeface="Calibri"/>
              </a:defRPr>
            </a:defPPr>
          </a:lstStyle>
          <a:p xmlns:a="http://schemas.openxmlformats.org/drawingml/2006/main">
            <a:pPr algn="l">
              <a:defRPr sz="3450" b="1">
                <a:solidFill>
                  <a:srgbClr val="142D40"/>
                </a:solidFill>
                <a:latin typeface="Calibri"/>
                <a:ea typeface="Calibri"/>
                <a:cs typeface="Calibri"/>
              </a:defRPr>
            </a:pPr>
            <a:r>
              <a:rPr sz="3450" b="1">
                <a:solidFill>
                  <a:srgbClr val="142D40"/>
                </a:solidFill>
                <a:latin typeface="Calibri"/>
                <a:ea typeface="Calibri"/>
                <a:cs typeface="Calibri"/>
              </a:rPr>
              <a:t>CIAM - external client access</a:t>
            </a:r>
          </a:p>
        </p:txBody>
      </p:sp>
      <p:sp>
        <p:nvSpPr>
          <p:cNvPr id="3" name="text-2011">
            <a:extLst xmlns:a="http://schemas.openxmlformats.org/drawingml/2006/main">
              <a:ext uri="{FF2B5EF4-FFF2-40B4-BE49-F238E27FC236}">
                <a16:creationId xmlns:a16="http://schemas.microsoft.com/office/drawing/2014/main" id="{D2E0705C-80BA-476D-818F-44F944EE189E}"/>
              </a:ext>
            </a:extLst>
          </p:cNvPr>
          <p:cNvSpPr>
            <a:spLocks xmlns:a="http://schemas.openxmlformats.org/drawingml/2006/main" noGrp="1"/>
          </p:cNvSpPr>
          <p:nvPr/>
        </p:nvSpPr>
        <p:spPr>
          <a:xfrm xmlns:a="http://schemas.openxmlformats.org/drawingml/2006/main">
            <a:off x="571500" y="1419225"/>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Client profiles define eligible scope. Application policies authorize specific resources and actions.</a:t>
            </a:r>
          </a:p>
        </p:txBody>
      </p:sp>
      <p:sp>
        <p:nvSpPr>
          <p:cNvPr id="4" name="line-2012">
            <a:extLst xmlns:a="http://schemas.openxmlformats.org/drawingml/2006/main">
              <a:ext uri="{FF2B5EF4-FFF2-40B4-BE49-F238E27FC236}">
                <a16:creationId xmlns:a16="http://schemas.microsoft.com/office/drawing/2014/main" id="{3E5EB239-BA5F-448C-9EB7-06E55AA791EF}"/>
              </a:ext>
            </a:extLst>
          </p:cNvPr>
          <p:cNvSpPr>
            <a:spLocks xmlns:a="http://schemas.openxmlformats.org/drawingml/2006/main" noGrp="1"/>
          </p:cNvSpPr>
          <p:nvPr/>
        </p:nvSpPr>
        <p:spPr>
          <a:xfrm xmlns:a="http://schemas.openxmlformats.org/drawingml/2006/main">
            <a:off x="571500" y="8048625"/>
            <a:ext cx="14097000" cy="0"/>
          </a:xfrm>
          <a:prstGeom xmlns:a="http://schemas.openxmlformats.org/drawingml/2006/main" prst="line">
            <a:avLst/>
          </a:prstGeom>
          <a:noFill xmlns:a="http://schemas.openxmlformats.org/drawingml/2006/main"/>
          <a:ln xmlns:a="http://schemas.openxmlformats.org/drawingml/2006/main" w="13335">
            <a:solidFill>
              <a:srgbClr val="D8E1E8"/>
            </a:solidFill>
          </a:ln>
        </p:spPr>
      </p:sp>
      <p:sp>
        <p:nvSpPr>
          <p:cNvPr id="5" name="text-2013">
            <a:extLst xmlns:a="http://schemas.openxmlformats.org/drawingml/2006/main">
              <a:ext uri="{FF2B5EF4-FFF2-40B4-BE49-F238E27FC236}">
                <a16:creationId xmlns:a16="http://schemas.microsoft.com/office/drawing/2014/main" id="{9DA2EFD2-DC40-4617-9AC1-B287C81CF993}"/>
              </a:ext>
            </a:extLst>
          </p:cNvPr>
          <p:cNvSpPr>
            <a:spLocks xmlns:a="http://schemas.openxmlformats.org/drawingml/2006/main" noGrp="1"/>
          </p:cNvSpPr>
          <p:nvPr/>
        </p:nvSpPr>
        <p:spPr>
          <a:xfrm xmlns:a="http://schemas.openxmlformats.org/drawingml/2006/main">
            <a:off x="571500" y="8172450"/>
            <a:ext cx="1295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7083"/>
                </a:solidFill>
                <a:latin typeface="Calibri"/>
                <a:ea typeface="Calibri"/>
                <a:cs typeface="Calibri"/>
              </a:defRPr>
            </a:defPPr>
          </a:lstStyle>
          <a:p xmlns:a="http://schemas.openxmlformats.org/drawingml/2006/main">
            <a:pPr algn="l">
              <a:defRPr sz="1275" b="0">
                <a:solidFill>
                  <a:srgbClr val="567083"/>
                </a:solidFill>
                <a:latin typeface="Calibri"/>
                <a:ea typeface="Calibri"/>
                <a:cs typeface="Calibri"/>
              </a:defRPr>
            </a:pPr>
            <a:r>
              <a:rPr sz="1275" b="0">
                <a:solidFill>
                  <a:srgbClr val="567083"/>
                </a:solidFill>
                <a:latin typeface="Calibri"/>
                <a:ea typeface="Calibri"/>
                <a:cs typeface="Calibri"/>
              </a:rPr>
              <a:t>Proposed responsibility model for architecture alignment   /   Standards-informed</a:t>
            </a:r>
          </a:p>
        </p:txBody>
      </p:sp>
      <p:sp>
        <p:nvSpPr>
          <p:cNvPr id="6" name="text-2014">
            <a:extLst xmlns:a="http://schemas.openxmlformats.org/drawingml/2006/main">
              <a:ext uri="{FF2B5EF4-FFF2-40B4-BE49-F238E27FC236}">
                <a16:creationId xmlns:a16="http://schemas.microsoft.com/office/drawing/2014/main" id="{A6DDE9BB-01C0-4433-BAF7-9D5FDF212FE8}"/>
              </a:ext>
            </a:extLst>
          </p:cNvPr>
          <p:cNvSpPr>
            <a:spLocks xmlns:a="http://schemas.openxmlformats.org/drawingml/2006/main" noGrp="1"/>
          </p:cNvSpPr>
          <p:nvPr/>
        </p:nvSpPr>
        <p:spPr>
          <a:xfrm xmlns:a="http://schemas.openxmlformats.org/drawingml/2006/main">
            <a:off x="14001750" y="81438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567083"/>
                </a:solidFill>
                <a:latin typeface="Calibri"/>
                <a:ea typeface="Calibri"/>
                <a:cs typeface="Calibri"/>
              </a:defRPr>
            </a:defPPr>
          </a:lstStyle>
          <a:p xmlns:a="http://schemas.openxmlformats.org/drawingml/2006/main">
            <a:pPr algn="r">
              <a:defRPr sz="1350" b="1">
                <a:solidFill>
                  <a:srgbClr val="567083"/>
                </a:solidFill>
                <a:latin typeface="Calibri"/>
                <a:ea typeface="Calibri"/>
                <a:cs typeface="Calibri"/>
              </a:defRPr>
            </a:pPr>
            <a:r>
              <a:rPr sz="1350" b="1">
                <a:solidFill>
                  <a:srgbClr val="567083"/>
                </a:solidFill>
                <a:latin typeface="Calibri"/>
                <a:ea typeface="Calibri"/>
                <a:cs typeface="Calibri"/>
              </a:rPr>
              <a:t>02</a:t>
            </a:r>
          </a:p>
        </p:txBody>
      </p:sp>
      <p:sp>
        <p:nvSpPr>
          <p:cNvPr id="7" name="text-2015">
            <a:extLst xmlns:a="http://schemas.openxmlformats.org/drawingml/2006/main">
              <a:ext uri="{FF2B5EF4-FFF2-40B4-BE49-F238E27FC236}">
                <a16:creationId xmlns:a16="http://schemas.microsoft.com/office/drawing/2014/main" id="{DE959368-4D0A-4CAA-A82B-9A1541FF6C19}"/>
              </a:ext>
            </a:extLst>
          </p:cNvPr>
          <p:cNvSpPr>
            <a:spLocks xmlns:a="http://schemas.openxmlformats.org/drawingml/2006/main" noGrp="1"/>
          </p:cNvSpPr>
          <p:nvPr/>
        </p:nvSpPr>
        <p:spPr>
          <a:xfrm xmlns:a="http://schemas.openxmlformats.org/drawingml/2006/main">
            <a:off x="571500" y="2085975"/>
            <a:ext cx="438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C6090"/>
                </a:solidFill>
                <a:latin typeface="Calibri"/>
                <a:ea typeface="Calibri"/>
                <a:cs typeface="Calibri"/>
              </a:defRPr>
            </a:defPPr>
          </a:lstStyle>
          <a:p xmlns:a="http://schemas.openxmlformats.org/drawingml/2006/main">
            <a:pPr algn="l">
              <a:defRPr sz="1725" b="1">
                <a:solidFill>
                  <a:srgbClr val="1C6090"/>
                </a:solidFill>
                <a:latin typeface="Calibri"/>
                <a:ea typeface="Calibri"/>
                <a:cs typeface="Calibri"/>
              </a:defRPr>
            </a:pPr>
            <a:r>
              <a:rPr sz="1725" b="1">
                <a:solidFill>
                  <a:srgbClr val="1C6090"/>
                </a:solidFill>
                <a:latin typeface="Calibri"/>
                <a:ea typeface="Calibri"/>
                <a:cs typeface="Calibri"/>
              </a:rPr>
              <a:t>CLIENT PEOPLE AND SYSTEMS</a:t>
            </a:r>
          </a:p>
        </p:txBody>
      </p:sp>
      <p:sp>
        <p:nvSpPr>
          <p:cNvPr id="8" name="text-2016">
            <a:extLst xmlns:a="http://schemas.openxmlformats.org/drawingml/2006/main">
              <a:ext uri="{FF2B5EF4-FFF2-40B4-BE49-F238E27FC236}">
                <a16:creationId xmlns:a16="http://schemas.microsoft.com/office/drawing/2014/main" id="{6845BADB-5076-49A0-B17D-B49BEA4D45B5}"/>
              </a:ext>
            </a:extLst>
          </p:cNvPr>
          <p:cNvSpPr>
            <a:spLocks xmlns:a="http://schemas.openxmlformats.org/drawingml/2006/main" noGrp="1"/>
          </p:cNvSpPr>
          <p:nvPr/>
        </p:nvSpPr>
        <p:spPr>
          <a:xfrm xmlns:a="http://schemas.openxmlformats.org/drawingml/2006/main">
            <a:off x="571500" y="251460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42D40"/>
                </a:solidFill>
                <a:latin typeface="Calibri"/>
                <a:ea typeface="Calibri"/>
                <a:cs typeface="Calibri"/>
              </a:defRPr>
            </a:defPPr>
          </a:lstStyle>
          <a:p xmlns:a="http://schemas.openxmlformats.org/drawingml/2006/main">
            <a:pPr algn="l">
              <a:defRPr sz="1800" b="1">
                <a:solidFill>
                  <a:srgbClr val="142D40"/>
                </a:solidFill>
                <a:latin typeface="Calibri"/>
                <a:ea typeface="Calibri"/>
                <a:cs typeface="Calibri"/>
              </a:defRPr>
            </a:pPr>
            <a:r>
              <a:rPr sz="1800" b="1">
                <a:solidFill>
                  <a:srgbClr val="142D40"/>
                </a:solidFill>
                <a:latin typeface="Calibri"/>
                <a:ea typeface="Calibri"/>
                <a:cs typeface="Calibri"/>
              </a:rPr>
              <a:t>Delegated client administrator</a:t>
            </a:r>
          </a:p>
        </p:txBody>
      </p:sp>
      <p:sp>
        <p:nvSpPr>
          <p:cNvPr id="9" name="text-2017">
            <a:extLst xmlns:a="http://schemas.openxmlformats.org/drawingml/2006/main">
              <a:ext uri="{FF2B5EF4-FFF2-40B4-BE49-F238E27FC236}">
                <a16:creationId xmlns:a16="http://schemas.microsoft.com/office/drawing/2014/main" id="{261EBA14-63F0-48E5-96BE-455CB3058F69}"/>
              </a:ext>
            </a:extLst>
          </p:cNvPr>
          <p:cNvSpPr>
            <a:spLocks xmlns:a="http://schemas.openxmlformats.org/drawingml/2006/main" noGrp="1"/>
          </p:cNvSpPr>
          <p:nvPr/>
        </p:nvSpPr>
        <p:spPr>
          <a:xfrm xmlns:a="http://schemas.openxmlformats.org/drawingml/2006/main">
            <a:off x="571500" y="2781300"/>
            <a:ext cx="428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67083"/>
                </a:solidFill>
                <a:latin typeface="Calibri"/>
                <a:ea typeface="Calibri"/>
                <a:cs typeface="Calibri"/>
              </a:defRPr>
            </a:defPPr>
          </a:lstStyle>
          <a:p xmlns:a="http://schemas.openxmlformats.org/drawingml/2006/main">
            <a:pPr algn="l">
              <a:defRPr sz="1500" b="0">
                <a:solidFill>
                  <a:srgbClr val="567083"/>
                </a:solidFill>
                <a:latin typeface="Calibri"/>
                <a:ea typeface="Calibri"/>
                <a:cs typeface="Calibri"/>
              </a:defRPr>
            </a:pPr>
            <a:r>
              <a:rPr sz="1500" b="0">
                <a:solidFill>
                  <a:srgbClr val="567083"/>
                </a:solidFill>
                <a:latin typeface="Calibri"/>
                <a:ea typeface="Calibri"/>
                <a:cs typeface="Calibri"/>
              </a:rPr>
              <a:t>Manages client users and approved access.</a:t>
            </a:r>
          </a:p>
        </p:txBody>
      </p:sp>
      <p:sp>
        <p:nvSpPr>
          <p:cNvPr id="10" name="text-2018">
            <a:extLst xmlns:a="http://schemas.openxmlformats.org/drawingml/2006/main">
              <a:ext uri="{FF2B5EF4-FFF2-40B4-BE49-F238E27FC236}">
                <a16:creationId xmlns:a16="http://schemas.microsoft.com/office/drawing/2014/main" id="{76C0196A-A6F9-40F7-B2EA-DE9C3141BC72}"/>
              </a:ext>
            </a:extLst>
          </p:cNvPr>
          <p:cNvSpPr>
            <a:spLocks xmlns:a="http://schemas.openxmlformats.org/drawingml/2006/main" noGrp="1"/>
          </p:cNvSpPr>
          <p:nvPr/>
        </p:nvSpPr>
        <p:spPr>
          <a:xfrm xmlns:a="http://schemas.openxmlformats.org/drawingml/2006/main">
            <a:off x="571500" y="307657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42D40"/>
                </a:solidFill>
                <a:latin typeface="Calibri"/>
                <a:ea typeface="Calibri"/>
                <a:cs typeface="Calibri"/>
              </a:defRPr>
            </a:defPPr>
          </a:lstStyle>
          <a:p xmlns:a="http://schemas.openxmlformats.org/drawingml/2006/main">
            <a:pPr algn="l">
              <a:defRPr sz="1800" b="1">
                <a:solidFill>
                  <a:srgbClr val="142D40"/>
                </a:solidFill>
                <a:latin typeface="Calibri"/>
                <a:ea typeface="Calibri"/>
                <a:cs typeface="Calibri"/>
              </a:defRPr>
            </a:pPr>
            <a:r>
              <a:rPr sz="1800" b="1">
                <a:solidFill>
                  <a:srgbClr val="142D40"/>
                </a:solidFill>
                <a:latin typeface="Calibri"/>
                <a:ea typeface="Calibri"/>
                <a:cs typeface="Calibri"/>
              </a:rPr>
              <a:t>Single-entity client user</a:t>
            </a:r>
          </a:p>
        </p:txBody>
      </p:sp>
      <p:sp>
        <p:nvSpPr>
          <p:cNvPr id="11" name="text-2019">
            <a:extLst xmlns:a="http://schemas.openxmlformats.org/drawingml/2006/main">
              <a:ext uri="{FF2B5EF4-FFF2-40B4-BE49-F238E27FC236}">
                <a16:creationId xmlns:a16="http://schemas.microsoft.com/office/drawing/2014/main" id="{34E8A21E-6A81-4A55-AED0-05BB6F4764C8}"/>
              </a:ext>
            </a:extLst>
          </p:cNvPr>
          <p:cNvSpPr>
            <a:spLocks xmlns:a="http://schemas.openxmlformats.org/drawingml/2006/main" noGrp="1"/>
          </p:cNvSpPr>
          <p:nvPr/>
        </p:nvSpPr>
        <p:spPr>
          <a:xfrm xmlns:a="http://schemas.openxmlformats.org/drawingml/2006/main">
            <a:off x="571500" y="3343275"/>
            <a:ext cx="428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67083"/>
                </a:solidFill>
                <a:latin typeface="Calibri"/>
                <a:ea typeface="Calibri"/>
                <a:cs typeface="Calibri"/>
              </a:defRPr>
            </a:defPPr>
          </a:lstStyle>
          <a:p xmlns:a="http://schemas.openxmlformats.org/drawingml/2006/main">
            <a:pPr algn="l">
              <a:defRPr sz="1500" b="0">
                <a:solidFill>
                  <a:srgbClr val="567083"/>
                </a:solidFill>
                <a:latin typeface="Calibri"/>
                <a:ea typeface="Calibri"/>
                <a:cs typeface="Calibri"/>
              </a:defRPr>
            </a:pPr>
            <a:r>
              <a:rPr sz="1500" b="0">
                <a:solidFill>
                  <a:srgbClr val="567083"/>
                </a:solidFill>
                <a:latin typeface="Calibri"/>
                <a:ea typeface="Calibri"/>
                <a:cs typeface="Calibri"/>
              </a:rPr>
              <a:t>Works in exactly one approved entity scope.</a:t>
            </a:r>
          </a:p>
        </p:txBody>
      </p:sp>
      <p:sp>
        <p:nvSpPr>
          <p:cNvPr id="12" name="text-2020">
            <a:extLst xmlns:a="http://schemas.openxmlformats.org/drawingml/2006/main">
              <a:ext uri="{FF2B5EF4-FFF2-40B4-BE49-F238E27FC236}">
                <a16:creationId xmlns:a16="http://schemas.microsoft.com/office/drawing/2014/main" id="{1BD617B9-569B-4F83-833B-EE4C9BF2D4C5}"/>
              </a:ext>
            </a:extLst>
          </p:cNvPr>
          <p:cNvSpPr>
            <a:spLocks xmlns:a="http://schemas.openxmlformats.org/drawingml/2006/main" noGrp="1"/>
          </p:cNvSpPr>
          <p:nvPr/>
        </p:nvSpPr>
        <p:spPr>
          <a:xfrm xmlns:a="http://schemas.openxmlformats.org/drawingml/2006/main">
            <a:off x="571500" y="3638550"/>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42D40"/>
                </a:solidFill>
                <a:latin typeface="Calibri"/>
                <a:ea typeface="Calibri"/>
                <a:cs typeface="Calibri"/>
              </a:defRPr>
            </a:defPPr>
          </a:lstStyle>
          <a:p xmlns:a="http://schemas.openxmlformats.org/drawingml/2006/main">
            <a:pPr algn="l">
              <a:defRPr sz="1800" b="1">
                <a:solidFill>
                  <a:srgbClr val="142D40"/>
                </a:solidFill>
                <a:latin typeface="Calibri"/>
                <a:ea typeface="Calibri"/>
                <a:cs typeface="Calibri"/>
              </a:defRPr>
            </a:pPr>
            <a:r>
              <a:rPr sz="1800" b="1">
                <a:solidFill>
                  <a:srgbClr val="142D40"/>
                </a:solidFill>
                <a:latin typeface="Calibri"/>
                <a:ea typeface="Calibri"/>
                <a:cs typeface="Calibri"/>
              </a:rPr>
              <a:t>Multi-entity client user</a:t>
            </a:r>
          </a:p>
        </p:txBody>
      </p:sp>
      <p:sp>
        <p:nvSpPr>
          <p:cNvPr id="13" name="text-2021">
            <a:extLst xmlns:a="http://schemas.openxmlformats.org/drawingml/2006/main">
              <a:ext uri="{FF2B5EF4-FFF2-40B4-BE49-F238E27FC236}">
                <a16:creationId xmlns:a16="http://schemas.microsoft.com/office/drawing/2014/main" id="{7AA9F608-407C-44A3-AC85-E7C0A5188E1A}"/>
              </a:ext>
            </a:extLst>
          </p:cNvPr>
          <p:cNvSpPr>
            <a:spLocks xmlns:a="http://schemas.openxmlformats.org/drawingml/2006/main" noGrp="1"/>
          </p:cNvSpPr>
          <p:nvPr/>
        </p:nvSpPr>
        <p:spPr>
          <a:xfrm xmlns:a="http://schemas.openxmlformats.org/drawingml/2006/main">
            <a:off x="571500" y="3905250"/>
            <a:ext cx="428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67083"/>
                </a:solidFill>
                <a:latin typeface="Calibri"/>
                <a:ea typeface="Calibri"/>
                <a:cs typeface="Calibri"/>
              </a:defRPr>
            </a:defPPr>
          </a:lstStyle>
          <a:p xmlns:a="http://schemas.openxmlformats.org/drawingml/2006/main">
            <a:pPr algn="l">
              <a:defRPr sz="1500" b="0">
                <a:solidFill>
                  <a:srgbClr val="567083"/>
                </a:solidFill>
                <a:latin typeface="Calibri"/>
                <a:ea typeface="Calibri"/>
                <a:cs typeface="Calibri"/>
              </a:defRPr>
            </a:pPr>
            <a:r>
              <a:rPr sz="1500" b="0">
                <a:solidFill>
                  <a:srgbClr val="567083"/>
                </a:solidFill>
                <a:latin typeface="Calibri"/>
                <a:ea typeface="Calibri"/>
                <a:cs typeface="Calibri"/>
              </a:rPr>
              <a:t>Works across approved entity scopes.</a:t>
            </a:r>
          </a:p>
        </p:txBody>
      </p:sp>
      <p:sp>
        <p:nvSpPr>
          <p:cNvPr id="14" name="text-2022">
            <a:extLst xmlns:a="http://schemas.openxmlformats.org/drawingml/2006/main">
              <a:ext uri="{FF2B5EF4-FFF2-40B4-BE49-F238E27FC236}">
                <a16:creationId xmlns:a16="http://schemas.microsoft.com/office/drawing/2014/main" id="{C004C79D-58CE-4684-B0EB-08CD06717C1C}"/>
              </a:ext>
            </a:extLst>
          </p:cNvPr>
          <p:cNvSpPr>
            <a:spLocks xmlns:a="http://schemas.openxmlformats.org/drawingml/2006/main" noGrp="1"/>
          </p:cNvSpPr>
          <p:nvPr/>
        </p:nvSpPr>
        <p:spPr>
          <a:xfrm xmlns:a="http://schemas.openxmlformats.org/drawingml/2006/main">
            <a:off x="571500" y="4200525"/>
            <a:ext cx="428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42D40"/>
                </a:solidFill>
                <a:latin typeface="Calibri"/>
                <a:ea typeface="Calibri"/>
                <a:cs typeface="Calibri"/>
              </a:defRPr>
            </a:defPPr>
          </a:lstStyle>
          <a:p xmlns:a="http://schemas.openxmlformats.org/drawingml/2006/main">
            <a:pPr algn="l">
              <a:defRPr sz="1800" b="1">
                <a:solidFill>
                  <a:srgbClr val="142D40"/>
                </a:solidFill>
                <a:latin typeface="Calibri"/>
                <a:ea typeface="Calibri"/>
                <a:cs typeface="Calibri"/>
              </a:defRPr>
            </a:pPr>
            <a:r>
              <a:rPr sz="1800" b="1">
                <a:solidFill>
                  <a:srgbClr val="142D40"/>
                </a:solidFill>
                <a:latin typeface="Calibri"/>
                <a:ea typeface="Calibri"/>
                <a:cs typeface="Calibri"/>
              </a:rPr>
              <a:t>Machine identity</a:t>
            </a:r>
          </a:p>
        </p:txBody>
      </p:sp>
      <p:sp>
        <p:nvSpPr>
          <p:cNvPr id="15" name="text-2023">
            <a:extLst xmlns:a="http://schemas.openxmlformats.org/drawingml/2006/main">
              <a:ext uri="{FF2B5EF4-FFF2-40B4-BE49-F238E27FC236}">
                <a16:creationId xmlns:a16="http://schemas.microsoft.com/office/drawing/2014/main" id="{C95128EB-6AC7-45A2-9739-65D1A3A7E503}"/>
              </a:ext>
            </a:extLst>
          </p:cNvPr>
          <p:cNvSpPr>
            <a:spLocks xmlns:a="http://schemas.openxmlformats.org/drawingml/2006/main" noGrp="1"/>
          </p:cNvSpPr>
          <p:nvPr/>
        </p:nvSpPr>
        <p:spPr>
          <a:xfrm xmlns:a="http://schemas.openxmlformats.org/drawingml/2006/main">
            <a:off x="571500" y="4467225"/>
            <a:ext cx="428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67083"/>
                </a:solidFill>
                <a:latin typeface="Calibri"/>
                <a:ea typeface="Calibri"/>
                <a:cs typeface="Calibri"/>
              </a:defRPr>
            </a:defPPr>
          </a:lstStyle>
          <a:p xmlns:a="http://schemas.openxmlformats.org/drawingml/2006/main">
            <a:pPr algn="l">
              <a:defRPr sz="1500" b="0">
                <a:solidFill>
                  <a:srgbClr val="567083"/>
                </a:solidFill>
                <a:latin typeface="Calibri"/>
                <a:ea typeface="Calibri"/>
                <a:cs typeface="Calibri"/>
              </a:defRPr>
            </a:pPr>
            <a:r>
              <a:rPr sz="1500" b="0">
                <a:solidFill>
                  <a:srgbClr val="567083"/>
                </a:solidFill>
                <a:latin typeface="Calibri"/>
                <a:ea typeface="Calibri"/>
                <a:cs typeface="Calibri"/>
              </a:rPr>
              <a:t>Client-owned system using authorized APIs.</a:t>
            </a:r>
          </a:p>
        </p:txBody>
      </p:sp>
      <p:sp>
        <p:nvSpPr>
          <p:cNvPr id="16" name="diagram-2024">
            <a:extLst xmlns:a="http://schemas.openxmlformats.org/drawingml/2006/main">
              <a:ext uri="{FF2B5EF4-FFF2-40B4-BE49-F238E27FC236}">
                <a16:creationId xmlns:a16="http://schemas.microsoft.com/office/drawing/2014/main" id="{C0C816D3-511E-482F-82B5-2BB66021A60F}"/>
              </a:ext>
            </a:extLst>
          </p:cNvPr>
          <p:cNvSpPr>
            <a:spLocks xmlns:a="http://schemas.openxmlformats.org/drawingml/2006/main" noGrp="1"/>
          </p:cNvSpPr>
          <p:nvPr/>
        </p:nvSpPr>
        <p:spPr>
          <a:xfrm xmlns:a="http://schemas.openxmlformats.org/drawingml/2006/main">
            <a:off x="5572125" y="2238375"/>
            <a:ext cx="3857625" cy="2457450"/>
          </a:xfrm>
          <a:prstGeom xmlns:a="http://schemas.openxmlformats.org/drawingml/2006/main" prst="rect">
            <a:avLst/>
          </a:prstGeom>
          <a:solidFill xmlns:a="http://schemas.openxmlformats.org/drawingml/2006/main">
            <a:srgbClr val="EDF5FA"/>
          </a:solidFill>
          <a:ln xmlns:a="http://schemas.openxmlformats.org/drawingml/2006/main" w="9525">
            <a:solidFill>
              <a:srgbClr val="1C6090"/>
            </a:solidFill>
          </a:ln>
        </p:spPr>
      </p:sp>
      <p:sp>
        <p:nvSpPr>
          <p:cNvPr id="17" name="text-2025">
            <a:extLst xmlns:a="http://schemas.openxmlformats.org/drawingml/2006/main">
              <a:ext uri="{FF2B5EF4-FFF2-40B4-BE49-F238E27FC236}">
                <a16:creationId xmlns:a16="http://schemas.microsoft.com/office/drawing/2014/main" id="{4F7041FC-7AF3-4386-9C2D-3F70B5A9AB4D}"/>
              </a:ext>
            </a:extLst>
          </p:cNvPr>
          <p:cNvSpPr>
            <a:spLocks xmlns:a="http://schemas.openxmlformats.org/drawingml/2006/main" noGrp="1"/>
          </p:cNvSpPr>
          <p:nvPr/>
        </p:nvSpPr>
        <p:spPr>
          <a:xfrm xmlns:a="http://schemas.openxmlformats.org/drawingml/2006/main">
            <a:off x="5819775" y="242887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C6090"/>
                </a:solidFill>
                <a:latin typeface="Calibri"/>
                <a:ea typeface="Calibri"/>
                <a:cs typeface="Calibri"/>
              </a:defRPr>
            </a:defPPr>
          </a:lstStyle>
          <a:p xmlns:a="http://schemas.openxmlformats.org/drawingml/2006/main">
            <a:pPr algn="l">
              <a:defRPr sz="2400" b="1">
                <a:solidFill>
                  <a:srgbClr val="1C6090"/>
                </a:solidFill>
                <a:latin typeface="Calibri"/>
                <a:ea typeface="Calibri"/>
                <a:cs typeface="Calibri"/>
              </a:defRPr>
            </a:pPr>
            <a:r>
              <a:rPr sz="2400" b="1">
                <a:solidFill>
                  <a:srgbClr val="1C6090"/>
                </a:solidFill>
                <a:latin typeface="Calibri"/>
                <a:ea typeface="Calibri"/>
                <a:cs typeface="Calibri"/>
              </a:rPr>
              <a:t>CIAM</a:t>
            </a:r>
          </a:p>
        </p:txBody>
      </p:sp>
      <p:sp>
        <p:nvSpPr>
          <p:cNvPr id="18" name="text-2026">
            <a:extLst xmlns:a="http://schemas.openxmlformats.org/drawingml/2006/main">
              <a:ext uri="{FF2B5EF4-FFF2-40B4-BE49-F238E27FC236}">
                <a16:creationId xmlns:a16="http://schemas.microsoft.com/office/drawing/2014/main" id="{5E0FB1EC-A989-4DB8-9F6F-877DA3667304}"/>
              </a:ext>
            </a:extLst>
          </p:cNvPr>
          <p:cNvSpPr>
            <a:spLocks xmlns:a="http://schemas.openxmlformats.org/drawingml/2006/main" noGrp="1"/>
          </p:cNvSpPr>
          <p:nvPr/>
        </p:nvSpPr>
        <p:spPr>
          <a:xfrm xmlns:a="http://schemas.openxmlformats.org/drawingml/2006/main">
            <a:off x="5819775" y="2990850"/>
            <a:ext cx="3333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42D40"/>
                </a:solidFill>
                <a:latin typeface="Calibri"/>
                <a:ea typeface="Calibri"/>
                <a:cs typeface="Calibri"/>
              </a:defRPr>
            </a:defPPr>
          </a:lstStyle>
          <a:p xmlns:a="http://schemas.openxmlformats.org/drawingml/2006/main">
            <a:pPr algn="l">
              <a:defRPr sz="2025" b="0">
                <a:solidFill>
                  <a:srgbClr val="142D40"/>
                </a:solidFill>
                <a:latin typeface="Calibri"/>
                <a:ea typeface="Calibri"/>
                <a:cs typeface="Calibri"/>
              </a:defRPr>
            </a:pPr>
            <a:r>
              <a:rPr sz="2025" b="0">
                <a:solidFill>
                  <a:srgbClr val="142D40"/>
                </a:solidFill>
                <a:latin typeface="Calibri"/>
                <a:ea typeface="Calibri"/>
                <a:cs typeface="Calibri"/>
              </a:rPr>
              <a:t>Client identity lifecycle</a:t>
            </a:r>
          </a:p>
          <a:p xmlns:a="http://schemas.openxmlformats.org/drawingml/2006/main">
            <a:pPr algn="l">
              <a:defRPr sz="2025" b="0">
                <a:solidFill>
                  <a:srgbClr val="142D40"/>
                </a:solidFill>
                <a:latin typeface="Calibri"/>
                <a:ea typeface="Calibri"/>
                <a:cs typeface="Calibri"/>
              </a:defRPr>
            </a:pPr>
            <a:r>
              <a:rPr sz="2025" b="0">
                <a:solidFill>
                  <a:srgbClr val="142D40"/>
                </a:solidFill>
                <a:latin typeface="Calibri"/>
                <a:ea typeface="Calibri"/>
                <a:cs typeface="Calibri"/>
              </a:rPr>
              <a:t>Direct or federated sign-in</a:t>
            </a:r>
          </a:p>
          <a:p xmlns:a="http://schemas.openxmlformats.org/drawingml/2006/main">
            <a:pPr algn="l">
              <a:defRPr sz="2025" b="0">
                <a:solidFill>
                  <a:srgbClr val="142D40"/>
                </a:solidFill>
                <a:latin typeface="Calibri"/>
                <a:ea typeface="Calibri"/>
                <a:cs typeface="Calibri"/>
              </a:defRPr>
            </a:pPr>
            <a:r>
              <a:rPr sz="2025" b="0">
                <a:solidFill>
                  <a:srgbClr val="142D40"/>
                </a:solidFill>
                <a:latin typeface="Calibri"/>
                <a:ea typeface="Calibri"/>
                <a:cs typeface="Calibri"/>
              </a:rPr>
              <a:t>Client application access</a:t>
            </a:r>
          </a:p>
        </p:txBody>
      </p:sp>
      <p:sp>
        <p:nvSpPr>
          <p:cNvPr id="19" name="text-2027">
            <a:extLst xmlns:a="http://schemas.openxmlformats.org/drawingml/2006/main">
              <a:ext uri="{FF2B5EF4-FFF2-40B4-BE49-F238E27FC236}">
                <a16:creationId xmlns:a16="http://schemas.microsoft.com/office/drawing/2014/main" id="{9EC91381-1B39-479F-A7ED-80DBD69D1625}"/>
              </a:ext>
            </a:extLst>
          </p:cNvPr>
          <p:cNvSpPr>
            <a:spLocks xmlns:a="http://schemas.openxmlformats.org/drawingml/2006/main" noGrp="1"/>
          </p:cNvSpPr>
          <p:nvPr/>
        </p:nvSpPr>
        <p:spPr>
          <a:xfrm xmlns:a="http://schemas.openxmlformats.org/drawingml/2006/main">
            <a:off x="5819775" y="3933825"/>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67083"/>
                </a:solidFill>
                <a:latin typeface="Calibri"/>
                <a:ea typeface="Calibri"/>
                <a:cs typeface="Calibri"/>
              </a:defRPr>
            </a:defPPr>
          </a:lstStyle>
          <a:p xmlns:a="http://schemas.openxmlformats.org/drawingml/2006/main">
            <a:pPr algn="l">
              <a:defRPr sz="1500" b="0">
                <a:solidFill>
                  <a:srgbClr val="567083"/>
                </a:solidFill>
                <a:latin typeface="Calibri"/>
                <a:ea typeface="Calibri"/>
                <a:cs typeface="Calibri"/>
              </a:defRPr>
            </a:pPr>
            <a:r>
              <a:rPr sz="1500" b="0">
                <a:solidFill>
                  <a:srgbClr val="567083"/>
                </a:solidFill>
                <a:latin typeface="Calibri"/>
                <a:ea typeface="Calibri"/>
                <a:cs typeface="Calibri"/>
              </a:rPr>
              <a:t>External machine registration</a:t>
            </a:r>
          </a:p>
        </p:txBody>
      </p:sp>
      <p:sp>
        <p:nvSpPr>
          <p:cNvPr id="20" name="text-2028">
            <a:extLst xmlns:a="http://schemas.openxmlformats.org/drawingml/2006/main">
              <a:ext uri="{FF2B5EF4-FFF2-40B4-BE49-F238E27FC236}">
                <a16:creationId xmlns:a16="http://schemas.microsoft.com/office/drawing/2014/main" id="{AD14322D-A653-4F81-A24A-34A84692AA1A}"/>
              </a:ext>
            </a:extLst>
          </p:cNvPr>
          <p:cNvSpPr>
            <a:spLocks xmlns:a="http://schemas.openxmlformats.org/drawingml/2006/main" noGrp="1"/>
          </p:cNvSpPr>
          <p:nvPr/>
        </p:nvSpPr>
        <p:spPr>
          <a:xfrm xmlns:a="http://schemas.openxmlformats.org/drawingml/2006/main">
            <a:off x="5819775" y="42767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7083"/>
                </a:solidFill>
                <a:latin typeface="Calibri"/>
                <a:ea typeface="Calibri"/>
                <a:cs typeface="Calibri"/>
              </a:defRPr>
            </a:defPPr>
          </a:lstStyle>
          <a:p xmlns:a="http://schemas.openxmlformats.org/drawingml/2006/main">
            <a:pPr algn="l">
              <a:defRPr sz="1350" b="0">
                <a:solidFill>
                  <a:srgbClr val="567083"/>
                </a:solidFill>
                <a:latin typeface="Calibri"/>
                <a:ea typeface="Calibri"/>
                <a:cs typeface="Calibri"/>
              </a:defRPr>
            </a:pPr>
            <a:r>
              <a:rPr sz="1350" b="0">
                <a:solidFill>
                  <a:srgbClr val="567083"/>
                </a:solidFill>
                <a:latin typeface="Calibri"/>
                <a:ea typeface="Calibri"/>
                <a:cs typeface="Calibri"/>
              </a:rPr>
              <a:t>Workforce record only where required.</a:t>
            </a:r>
          </a:p>
          <a:p xmlns:a="http://schemas.openxmlformats.org/drawingml/2006/main">
            <a:pPr algn="l">
              <a:defRPr sz="1350" b="0">
                <a:solidFill>
                  <a:srgbClr val="567083"/>
                </a:solidFill>
                <a:latin typeface="Calibri"/>
                <a:ea typeface="Calibri"/>
                <a:cs typeface="Calibri"/>
              </a:defRPr>
            </a:pPr>
            <a:r>
              <a:rPr sz="1350" b="0">
                <a:solidFill>
                  <a:srgbClr val="567083"/>
                </a:solidFill>
                <a:latin typeface="Calibri"/>
                <a:ea typeface="Calibri"/>
                <a:cs typeface="Calibri"/>
              </a:rPr>
              <a:t>IDAM retains employee authority.</a:t>
            </a:r>
          </a:p>
        </p:txBody>
      </p:sp>
      <p:sp>
        <p:nvSpPr>
          <p:cNvPr id="21" name="flow-2029">
            <a:extLst xmlns:a="http://schemas.openxmlformats.org/drawingml/2006/main">
              <a:ext uri="{FF2B5EF4-FFF2-40B4-BE49-F238E27FC236}">
                <a16:creationId xmlns:a16="http://schemas.microsoft.com/office/drawing/2014/main" id="{A3CA0030-2FDF-4B18-81FE-5789814300B4}"/>
              </a:ext>
            </a:extLst>
          </p:cNvPr>
          <p:cNvSpPr>
            <a:spLocks xmlns:a="http://schemas.openxmlformats.org/drawingml/2006/main" noGrp="1"/>
          </p:cNvSpPr>
          <p:nvPr/>
        </p:nvSpPr>
        <p:spPr>
          <a:xfrm xmlns:a="http://schemas.openxmlformats.org/drawingml/2006/main">
            <a:off x="5010150" y="3267075"/>
            <a:ext cx="371475" cy="209550"/>
          </a:xfrm>
          <a:prstGeom xmlns:a="http://schemas.openxmlformats.org/drawingml/2006/main" prst="rightArrow">
            <a:avLst/>
          </a:prstGeom>
          <a:solidFill xmlns:a="http://schemas.openxmlformats.org/drawingml/2006/main">
            <a:srgbClr val="1C6090"/>
          </a:solidFill>
          <a:ln xmlns:a="http://schemas.openxmlformats.org/drawingml/2006/main" w="0">
            <a:noFill/>
          </a:ln>
        </p:spPr>
      </p:sp>
      <p:sp>
        <p:nvSpPr>
          <p:cNvPr id="22" name="diagram-2030">
            <a:extLst xmlns:a="http://schemas.openxmlformats.org/drawingml/2006/main">
              <a:ext uri="{FF2B5EF4-FFF2-40B4-BE49-F238E27FC236}">
                <a16:creationId xmlns:a16="http://schemas.microsoft.com/office/drawing/2014/main" id="{B768FD1B-2F5A-4629-A25A-FE93F9655499}"/>
              </a:ext>
            </a:extLst>
          </p:cNvPr>
          <p:cNvSpPr>
            <a:spLocks xmlns:a="http://schemas.openxmlformats.org/drawingml/2006/main" noGrp="1"/>
          </p:cNvSpPr>
          <p:nvPr/>
        </p:nvSpPr>
        <p:spPr>
          <a:xfrm xmlns:a="http://schemas.openxmlformats.org/drawingml/2006/main">
            <a:off x="10477500" y="2238375"/>
            <a:ext cx="4191000" cy="2457450"/>
          </a:xfrm>
          <a:prstGeom xmlns:a="http://schemas.openxmlformats.org/drawingml/2006/main" prst="rect">
            <a:avLst/>
          </a:prstGeom>
          <a:solidFill xmlns:a="http://schemas.openxmlformats.org/drawingml/2006/main">
            <a:srgbClr val="F1F5F8"/>
          </a:solidFill>
          <a:ln xmlns:a="http://schemas.openxmlformats.org/drawingml/2006/main" w="9525">
            <a:solidFill>
              <a:srgbClr val="142D40"/>
            </a:solidFill>
          </a:ln>
        </p:spPr>
      </p:sp>
      <p:sp>
        <p:nvSpPr>
          <p:cNvPr id="23" name="text-2031">
            <a:extLst xmlns:a="http://schemas.openxmlformats.org/drawingml/2006/main">
              <a:ext uri="{FF2B5EF4-FFF2-40B4-BE49-F238E27FC236}">
                <a16:creationId xmlns:a16="http://schemas.microsoft.com/office/drawing/2014/main" id="{57DF9231-5302-453B-9850-5840668DD6D6}"/>
              </a:ext>
            </a:extLst>
          </p:cNvPr>
          <p:cNvSpPr>
            <a:spLocks xmlns:a="http://schemas.openxmlformats.org/drawingml/2006/main" noGrp="1"/>
          </p:cNvSpPr>
          <p:nvPr/>
        </p:nvSpPr>
        <p:spPr>
          <a:xfrm xmlns:a="http://schemas.openxmlformats.org/drawingml/2006/main">
            <a:off x="10715625" y="2428875"/>
            <a:ext cx="3762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42D40"/>
                </a:solidFill>
                <a:latin typeface="Calibri"/>
                <a:ea typeface="Calibri"/>
                <a:cs typeface="Calibri"/>
              </a:defRPr>
            </a:defPPr>
          </a:lstStyle>
          <a:p xmlns:a="http://schemas.openxmlformats.org/drawingml/2006/main">
            <a:pPr algn="l">
              <a:defRPr sz="2250" b="1">
                <a:solidFill>
                  <a:srgbClr val="142D40"/>
                </a:solidFill>
                <a:latin typeface="Calibri"/>
                <a:ea typeface="Calibri"/>
                <a:cs typeface="Calibri"/>
              </a:defRPr>
            </a:pPr>
            <a:r>
              <a:rPr sz="2250" b="1">
                <a:solidFill>
                  <a:srgbClr val="142D40"/>
                </a:solidFill>
                <a:latin typeface="Calibri"/>
                <a:ea typeface="Calibri"/>
                <a:cs typeface="Calibri"/>
              </a:rPr>
              <a:t>Client applications / APIs</a:t>
            </a:r>
          </a:p>
        </p:txBody>
      </p:sp>
      <p:sp>
        <p:nvSpPr>
          <p:cNvPr id="24" name="text-2032">
            <a:extLst xmlns:a="http://schemas.openxmlformats.org/drawingml/2006/main">
              <a:ext uri="{FF2B5EF4-FFF2-40B4-BE49-F238E27FC236}">
                <a16:creationId xmlns:a16="http://schemas.microsoft.com/office/drawing/2014/main" id="{D16ECE3D-E444-4A63-82D9-953700F402FE}"/>
              </a:ext>
            </a:extLst>
          </p:cNvPr>
          <p:cNvSpPr>
            <a:spLocks xmlns:a="http://schemas.openxmlformats.org/drawingml/2006/main" noGrp="1"/>
          </p:cNvSpPr>
          <p:nvPr/>
        </p:nvSpPr>
        <p:spPr>
          <a:xfrm xmlns:a="http://schemas.openxmlformats.org/drawingml/2006/main">
            <a:off x="10715625" y="2990850"/>
            <a:ext cx="3714750" cy="1400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D40"/>
                </a:solidFill>
                <a:latin typeface="Calibri"/>
                <a:ea typeface="Calibri"/>
                <a:cs typeface="Calibri"/>
              </a:defRPr>
            </a:defPPr>
          </a:lstStyle>
          <a:p xmlns:a="http://schemas.openxmlformats.org/drawingml/2006/main">
            <a:pPr algn="l">
              <a:defRPr sz="1950" b="0">
                <a:solidFill>
                  <a:srgbClr val="142D40"/>
                </a:solidFill>
                <a:latin typeface="Calibri"/>
                <a:ea typeface="Calibri"/>
                <a:cs typeface="Calibri"/>
              </a:defRPr>
            </a:pPr>
            <a:r>
              <a:rPr sz="1950" b="0">
                <a:solidFill>
                  <a:srgbClr val="142D40"/>
                </a:solidFill>
                <a:latin typeface="Calibri"/>
                <a:ea typeface="Calibri"/>
                <a:cs typeface="Calibri"/>
              </a:rPr>
              <a:t>Enforce organization and entity scope</a:t>
            </a:r>
          </a:p>
          <a:p xmlns:a="http://schemas.openxmlformats.org/drawingml/2006/main">
            <a:pPr algn="l">
              <a:defRPr sz="1950" b="0">
                <a:solidFill>
                  <a:srgbClr val="142D40"/>
                </a:solidFill>
                <a:latin typeface="Calibri"/>
                <a:ea typeface="Calibri"/>
                <a:cs typeface="Calibri"/>
              </a:defRPr>
            </a:pPr>
            <a:r>
              <a:rPr sz="1950" b="0">
                <a:solidFill>
                  <a:srgbClr val="142D40"/>
                </a:solidFill>
                <a:latin typeface="Calibri"/>
                <a:ea typeface="Calibri"/>
                <a:cs typeface="Calibri"/>
              </a:rPr>
              <a:t>Authorize requested actions</a:t>
            </a:r>
          </a:p>
          <a:p xmlns:a="http://schemas.openxmlformats.org/drawingml/2006/main">
            <a:pPr algn="l">
              <a:defRPr sz="1950" b="0">
                <a:solidFill>
                  <a:srgbClr val="142D40"/>
                </a:solidFill>
                <a:latin typeface="Calibri"/>
                <a:ea typeface="Calibri"/>
                <a:cs typeface="Calibri"/>
              </a:defRPr>
            </a:pPr>
            <a:r>
              <a:rPr sz="1950" b="0">
                <a:solidFill>
                  <a:srgbClr val="142D40"/>
                </a:solidFill>
                <a:latin typeface="Calibri"/>
                <a:ea typeface="Calibri"/>
                <a:cs typeface="Calibri"/>
              </a:rPr>
              <a:t>Record access decisions</a:t>
            </a:r>
          </a:p>
        </p:txBody>
      </p:sp>
      <p:sp>
        <p:nvSpPr>
          <p:cNvPr id="25" name="flow-2033">
            <a:extLst xmlns:a="http://schemas.openxmlformats.org/drawingml/2006/main">
              <a:ext uri="{FF2B5EF4-FFF2-40B4-BE49-F238E27FC236}">
                <a16:creationId xmlns:a16="http://schemas.microsoft.com/office/drawing/2014/main" id="{D946905F-BA9C-4FDD-B0AF-F0EF1388F0F7}"/>
              </a:ext>
            </a:extLst>
          </p:cNvPr>
          <p:cNvSpPr>
            <a:spLocks xmlns:a="http://schemas.openxmlformats.org/drawingml/2006/main" noGrp="1"/>
          </p:cNvSpPr>
          <p:nvPr/>
        </p:nvSpPr>
        <p:spPr>
          <a:xfrm xmlns:a="http://schemas.openxmlformats.org/drawingml/2006/main">
            <a:off x="9667875" y="3267075"/>
            <a:ext cx="571500" cy="209550"/>
          </a:xfrm>
          <a:prstGeom xmlns:a="http://schemas.openxmlformats.org/drawingml/2006/main" prst="rightArrow">
            <a:avLst/>
          </a:prstGeom>
          <a:solidFill xmlns:a="http://schemas.openxmlformats.org/drawingml/2006/main">
            <a:srgbClr val="1C6090"/>
          </a:solidFill>
          <a:ln xmlns:a="http://schemas.openxmlformats.org/drawingml/2006/main" w="0">
            <a:noFill/>
          </a:ln>
        </p:spPr>
      </p:sp>
      <p:sp>
        <p:nvSpPr>
          <p:cNvPr id="26" name="line-2034">
            <a:extLst xmlns:a="http://schemas.openxmlformats.org/drawingml/2006/main">
              <a:ext uri="{FF2B5EF4-FFF2-40B4-BE49-F238E27FC236}">
                <a16:creationId xmlns:a16="http://schemas.microsoft.com/office/drawing/2014/main" id="{EEB94C92-F4DC-4AC8-A6BB-9639ABF6CB9E}"/>
              </a:ext>
            </a:extLst>
          </p:cNvPr>
          <p:cNvSpPr>
            <a:spLocks xmlns:a="http://schemas.openxmlformats.org/drawingml/2006/main" noGrp="1"/>
          </p:cNvSpPr>
          <p:nvPr/>
        </p:nvSpPr>
        <p:spPr>
          <a:xfrm xmlns:a="http://schemas.openxmlformats.org/drawingml/2006/main">
            <a:off x="571500" y="4857750"/>
            <a:ext cx="14097000" cy="0"/>
          </a:xfrm>
          <a:prstGeom xmlns:a="http://schemas.openxmlformats.org/drawingml/2006/main" prst="line">
            <a:avLst/>
          </a:prstGeom>
          <a:noFill xmlns:a="http://schemas.openxmlformats.org/drawingml/2006/main"/>
          <a:ln xmlns:a="http://schemas.openxmlformats.org/drawingml/2006/main" w="13335">
            <a:solidFill>
              <a:srgbClr val="D8E1E8"/>
            </a:solidFill>
          </a:ln>
        </p:spPr>
      </p:sp>
      <p:sp>
        <p:nvSpPr>
          <p:cNvPr id="27" name="text-2035">
            <a:extLst xmlns:a="http://schemas.openxmlformats.org/drawingml/2006/main">
              <a:ext uri="{FF2B5EF4-FFF2-40B4-BE49-F238E27FC236}">
                <a16:creationId xmlns:a16="http://schemas.microsoft.com/office/drawing/2014/main" id="{F07EEBEF-6781-4FE2-B76C-86D364336565}"/>
              </a:ext>
            </a:extLst>
          </p:cNvPr>
          <p:cNvSpPr>
            <a:spLocks xmlns:a="http://schemas.openxmlformats.org/drawingml/2006/main" noGrp="1"/>
          </p:cNvSpPr>
          <p:nvPr/>
        </p:nvSpPr>
        <p:spPr>
          <a:xfrm xmlns:a="http://schemas.openxmlformats.org/drawingml/2006/main">
            <a:off x="571500" y="502920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C6090"/>
                </a:solidFill>
                <a:latin typeface="Calibri"/>
                <a:ea typeface="Calibri"/>
                <a:cs typeface="Calibri"/>
              </a:defRPr>
            </a:defPPr>
          </a:lstStyle>
          <a:p xmlns:a="http://schemas.openxmlformats.org/drawingml/2006/main">
            <a:pPr algn="l">
              <a:defRPr sz="1875" b="1">
                <a:solidFill>
                  <a:srgbClr val="1C6090"/>
                </a:solidFill>
                <a:latin typeface="Calibri"/>
                <a:ea typeface="Calibri"/>
                <a:cs typeface="Calibri"/>
              </a:defRPr>
            </a:pPr>
            <a:r>
              <a:rPr sz="1875" b="1">
                <a:solidFill>
                  <a:srgbClr val="1C6090"/>
                </a:solidFill>
                <a:latin typeface="Calibri"/>
                <a:ea typeface="Calibri"/>
                <a:cs typeface="Calibri"/>
              </a:rPr>
              <a:t>Non-billable client user</a:t>
            </a:r>
          </a:p>
        </p:txBody>
      </p:sp>
      <p:sp>
        <p:nvSpPr>
          <p:cNvPr id="28" name="text-2036">
            <a:extLst xmlns:a="http://schemas.openxmlformats.org/drawingml/2006/main">
              <a:ext uri="{FF2B5EF4-FFF2-40B4-BE49-F238E27FC236}">
                <a16:creationId xmlns:a16="http://schemas.microsoft.com/office/drawing/2014/main" id="{62FBF4E7-CECC-4BCE-B58B-7CC6CCA7C46F}"/>
              </a:ext>
            </a:extLst>
          </p:cNvPr>
          <p:cNvSpPr>
            <a:spLocks xmlns:a="http://schemas.openxmlformats.org/drawingml/2006/main" noGrp="1"/>
          </p:cNvSpPr>
          <p:nvPr/>
        </p:nvSpPr>
        <p:spPr>
          <a:xfrm xmlns:a="http://schemas.openxmlformats.org/drawingml/2006/main">
            <a:off x="4191000" y="5029200"/>
            <a:ext cx="10477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67083"/>
                </a:solidFill>
                <a:latin typeface="Calibri"/>
                <a:ea typeface="Calibri"/>
                <a:cs typeface="Calibri"/>
              </a:defRPr>
            </a:defPPr>
          </a:lstStyle>
          <a:p xmlns:a="http://schemas.openxmlformats.org/drawingml/2006/main">
            <a:pPr algn="l">
              <a:defRPr sz="1725" b="0">
                <a:solidFill>
                  <a:srgbClr val="567083"/>
                </a:solidFill>
                <a:latin typeface="Calibri"/>
                <a:ea typeface="Calibri"/>
                <a:cs typeface="Calibri"/>
              </a:defRPr>
            </a:pPr>
            <a:r>
              <a:rPr sz="1725" b="0">
                <a:solidFill>
                  <a:srgbClr val="567083"/>
                </a:solidFill>
                <a:latin typeface="Calibri"/>
                <a:ea typeface="Calibri"/>
                <a:cs typeface="Calibri"/>
              </a:rPr>
              <a:t>An overlapping commercial profile, such as a regulator, observer or test user. Access follows the approved mandate.</a:t>
            </a:r>
          </a:p>
        </p:txBody>
      </p:sp>
      <p:sp>
        <p:nvSpPr>
          <p:cNvPr id="29" name="text-2037">
            <a:extLst xmlns:a="http://schemas.openxmlformats.org/drawingml/2006/main">
              <a:ext uri="{FF2B5EF4-FFF2-40B4-BE49-F238E27FC236}">
                <a16:creationId xmlns:a16="http://schemas.microsoft.com/office/drawing/2014/main" id="{2A35276E-D4FE-4C97-BEEC-50927DBF6A55}"/>
              </a:ext>
            </a:extLst>
          </p:cNvPr>
          <p:cNvSpPr>
            <a:spLocks xmlns:a="http://schemas.openxmlformats.org/drawingml/2006/main" noGrp="1"/>
          </p:cNvSpPr>
          <p:nvPr/>
        </p:nvSpPr>
        <p:spPr>
          <a:xfrm xmlns:a="http://schemas.openxmlformats.org/drawingml/2006/main">
            <a:off x="571500" y="5686425"/>
            <a:ext cx="4762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42D40"/>
                </a:solidFill>
                <a:latin typeface="Calibri"/>
                <a:ea typeface="Calibri"/>
                <a:cs typeface="Calibri"/>
              </a:defRPr>
            </a:defPPr>
          </a:lstStyle>
          <a:p xmlns:a="http://schemas.openxmlformats.org/drawingml/2006/main">
            <a:pPr algn="l">
              <a:defRPr sz="2100" b="1">
                <a:solidFill>
                  <a:srgbClr val="142D40"/>
                </a:solidFill>
                <a:latin typeface="Calibri"/>
                <a:ea typeface="Calibri"/>
                <a:cs typeface="Calibri"/>
              </a:defRPr>
            </a:pPr>
            <a:r>
              <a:rPr sz="2100" b="1">
                <a:solidFill>
                  <a:srgbClr val="142D40"/>
                </a:solidFill>
                <a:latin typeface="Calibri"/>
                <a:ea typeface="Calibri"/>
                <a:cs typeface="Calibri"/>
              </a:rPr>
              <a:t>Entity scope examples</a:t>
            </a:r>
          </a:p>
        </p:txBody>
      </p:sp>
      <p:sp>
        <p:nvSpPr>
          <p:cNvPr id="30" name="text-2038">
            <a:extLst xmlns:a="http://schemas.openxmlformats.org/drawingml/2006/main">
              <a:ext uri="{FF2B5EF4-FFF2-40B4-BE49-F238E27FC236}">
                <a16:creationId xmlns:a16="http://schemas.microsoft.com/office/drawing/2014/main" id="{0A656ABF-B924-4E8E-B541-1B40F0322F91}"/>
              </a:ext>
            </a:extLst>
          </p:cNvPr>
          <p:cNvSpPr>
            <a:spLocks xmlns:a="http://schemas.openxmlformats.org/drawingml/2006/main" noGrp="1"/>
          </p:cNvSpPr>
          <p:nvPr/>
        </p:nvSpPr>
        <p:spPr>
          <a:xfrm xmlns:a="http://schemas.openxmlformats.org/drawingml/2006/main">
            <a:off x="5619750" y="5724525"/>
            <a:ext cx="90487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67083"/>
                </a:solidFill>
                <a:latin typeface="Calibri"/>
                <a:ea typeface="Calibri"/>
                <a:cs typeface="Calibri"/>
              </a:defRPr>
            </a:defPPr>
          </a:lstStyle>
          <a:p xmlns:a="http://schemas.openxmlformats.org/drawingml/2006/main">
            <a:pPr algn="l">
              <a:defRPr sz="1725" b="0">
                <a:solidFill>
                  <a:srgbClr val="567083"/>
                </a:solidFill>
                <a:latin typeface="Calibri"/>
                <a:ea typeface="Calibri"/>
                <a:cs typeface="Calibri"/>
              </a:defRPr>
            </a:pPr>
            <a:r>
              <a:rPr sz="1725" b="0">
                <a:solidFill>
                  <a:srgbClr val="567083"/>
                </a:solidFill>
                <a:latin typeface="Calibri"/>
                <a:ea typeface="Calibri"/>
                <a:cs typeface="Calibri"/>
              </a:rPr>
              <a:t>Euroclear Bank (EB), ESES, EUI and Nordics are the population families.</a:t>
            </a:r>
          </a:p>
        </p:txBody>
      </p:sp>
      <p:graphicFrame>
        <p:nvGraphicFramePr>
          <p:cNvPr id="31" name="">
            <a:extLst xmlns:a="http://schemas.openxmlformats.org/drawingml/2006/main">
              <a:ext uri="{FF2B5EF4-FFF2-40B4-BE49-F238E27FC236}">
                <a16:creationId xmlns:a16="http://schemas.microsoft.com/office/drawing/2014/main" id="{92F2F5BA-AF1B-4F5B-9620-02BC4EA2D51A}"/>
              </a:ext>
            </a:extLst>
          </p:cNvPr>
          <p:cNvGraphicFramePr/>
          <p:nvPr/>
        </p:nvGraphicFramePr>
        <p:xfrm>
          <a:off xmlns:a="http://schemas.openxmlformats.org/drawingml/2006/main" x="571500" y="6153150"/>
          <a:ext xmlns:a="http://schemas.openxmlformats.org/drawingml/2006/main" cx="14097000" cy="1752600"/>
        </p:xfrm>
        <a:graphic xmlns:a="http://schemas.openxmlformats.org/drawingml/2006/main">
          <a:graphicData uri="http://schemas.openxmlformats.org/drawingml/2006/table">
            <a:tbl>
              <a:tblPr firstRow="0" bandRow="0"/>
              <a:tblGrid>
                <a:gridCol w="5619750"/>
                <a:gridCol w="4762500"/>
                <a:gridCol w="3714750"/>
              </a:tblGrid>
              <a:tr h="381000">
                <a:tc>
                  <a:txBody>
                    <a:bodyPr/>
                    <a:lstStyle/>
                    <a:p>
                      <a:pPr algn="l"/>
                      <a:r>
                        <a:rPr sz="1575" b="1">
                          <a:solidFill>
                            <a:srgbClr val="FFFFFF"/>
                          </a:solidFill>
                          <a:latin typeface="Calibri"/>
                          <a:ea typeface="Calibri"/>
                          <a:cs typeface="Calibri"/>
                        </a:rPr>
                        <a:t>Exact population example</a:t>
                      </a:r>
                    </a:p>
                  </a:txBody>
                  <a:tcPr marL="95250" marR="95250" marT="38100" marB="38100" anchor="ctr">
                    <a:solidFill>
                      <a:srgbClr val="142D40"/>
                    </a:solidFill>
                  </a:tcPr>
                </a:tc>
                <a:tc>
                  <a:txBody>
                    <a:bodyPr/>
                    <a:lstStyle/>
                    <a:p>
                      <a:pPr algn="l"/>
                      <a:r>
                        <a:rPr sz="1575" b="1">
                          <a:solidFill>
                            <a:srgbClr val="FFFFFF"/>
                          </a:solidFill>
                          <a:latin typeface="Calibri"/>
                          <a:ea typeface="Calibri"/>
                          <a:cs typeface="Calibri"/>
                        </a:rPr>
                        <a:t>Included entity scopes</a:t>
                      </a:r>
                    </a:p>
                  </a:txBody>
                  <a:tcPr marL="95250" marR="95250" marT="38100" marB="38100" anchor="ctr">
                    <a:solidFill>
                      <a:srgbClr val="142D40"/>
                    </a:solidFill>
                  </a:tcPr>
                </a:tc>
                <a:tc>
                  <a:txBody>
                    <a:bodyPr/>
                    <a:lstStyle/>
                    <a:p>
                      <a:pPr algn="l"/>
                      <a:r>
                        <a:rPr sz="1575" b="1">
                          <a:solidFill>
                            <a:srgbClr val="FFFFFF"/>
                          </a:solidFill>
                          <a:latin typeface="Calibri"/>
                          <a:ea typeface="Calibri"/>
                          <a:cs typeface="Calibri"/>
                        </a:rPr>
                        <a:t>Excluded entity scopes</a:t>
                      </a:r>
                    </a:p>
                  </a:txBody>
                  <a:tcPr marL="95250" marR="95250" marT="38100" marB="38100" anchor="ctr">
                    <a:solidFill>
                      <a:srgbClr val="142D40"/>
                    </a:solidFill>
                  </a:tcPr>
                </a:tc>
              </a:tr>
              <a:tr h="457200">
                <a:tc>
                  <a:txBody>
                    <a:bodyPr/>
                    <a:lstStyle/>
                    <a:p>
                      <a:pPr algn="l"/>
                      <a:r>
                        <a:rPr sz="1650" b="1">
                          <a:solidFill>
                            <a:srgbClr val="142D40"/>
                          </a:solidFill>
                          <a:latin typeface="Calibri"/>
                          <a:ea typeface="Calibri"/>
                          <a:cs typeface="Calibri"/>
                        </a:rPr>
                        <a:t>Single entity: EB only</a:t>
                      </a:r>
                    </a:p>
                  </a:txBody>
                  <a:tcPr marL="95250" marR="95250" marT="38100" marB="38100" anchor="ctr">
                    <a:solidFill>
                      <a:srgbClr val="FFFFFF"/>
                    </a:solidFill>
                  </a:tcPr>
                </a:tc>
                <a:tc>
                  <a:txBody>
                    <a:bodyPr/>
                    <a:lstStyle/>
                    <a:p>
                      <a:pPr algn="l"/>
                      <a:r>
                        <a:rPr sz="1650" b="0">
                          <a:solidFill>
                            <a:srgbClr val="142D40"/>
                          </a:solidFill>
                          <a:latin typeface="Calibri"/>
                          <a:ea typeface="Calibri"/>
                          <a:cs typeface="Calibri"/>
                        </a:rPr>
                        <a:t>Euroclear Bank</a:t>
                      </a:r>
                    </a:p>
                  </a:txBody>
                  <a:tcPr marL="95250" marR="95250" marT="38100" marB="38100" anchor="ctr">
                    <a:solidFill>
                      <a:srgbClr val="FFFFFF"/>
                    </a:solidFill>
                  </a:tcPr>
                </a:tc>
                <a:tc>
                  <a:txBody>
                    <a:bodyPr/>
                    <a:lstStyle/>
                    <a:p>
                      <a:pPr algn="l"/>
                      <a:r>
                        <a:rPr sz="1650" b="0">
                          <a:solidFill>
                            <a:srgbClr val="142D40"/>
                          </a:solidFill>
                          <a:latin typeface="Calibri"/>
                          <a:ea typeface="Calibri"/>
                          <a:cs typeface="Calibri"/>
                        </a:rPr>
                        <a:t>ESES, EUI and Nordics</a:t>
                      </a:r>
                    </a:p>
                  </a:txBody>
                  <a:tcPr marL="95250" marR="95250" marT="38100" marB="38100" anchor="ctr">
                    <a:solidFill>
                      <a:srgbClr val="FFFFFF"/>
                    </a:solidFill>
                  </a:tcPr>
                </a:tc>
              </a:tr>
              <a:tr h="457200">
                <a:tc>
                  <a:txBody>
                    <a:bodyPr/>
                    <a:lstStyle/>
                    <a:p>
                      <a:pPr algn="l"/>
                      <a:r>
                        <a:rPr sz="1650" b="1">
                          <a:solidFill>
                            <a:srgbClr val="142D40"/>
                          </a:solidFill>
                          <a:latin typeface="Calibri"/>
                          <a:ea typeface="Calibri"/>
                          <a:cs typeface="Calibri"/>
                        </a:rPr>
                        <a:t>Multiple entities: EB ∩ ESES only</a:t>
                      </a:r>
                    </a:p>
                  </a:txBody>
                  <a:tcPr marL="95250" marR="95250" marT="38100" marB="38100" anchor="ctr">
                    <a:solidFill>
                      <a:srgbClr val="F1F5F8"/>
                    </a:solidFill>
                  </a:tcPr>
                </a:tc>
                <a:tc>
                  <a:txBody>
                    <a:bodyPr/>
                    <a:lstStyle/>
                    <a:p>
                      <a:pPr algn="l"/>
                      <a:r>
                        <a:rPr sz="1650" b="0">
                          <a:solidFill>
                            <a:srgbClr val="142D40"/>
                          </a:solidFill>
                          <a:latin typeface="Calibri"/>
                          <a:ea typeface="Calibri"/>
                          <a:cs typeface="Calibri"/>
                        </a:rPr>
                        <a:t>Euroclear Bank + ESES</a:t>
                      </a:r>
                    </a:p>
                  </a:txBody>
                  <a:tcPr marL="95250" marR="95250" marT="38100" marB="38100" anchor="ctr">
                    <a:solidFill>
                      <a:srgbClr val="F1F5F8"/>
                    </a:solidFill>
                  </a:tcPr>
                </a:tc>
                <a:tc>
                  <a:txBody>
                    <a:bodyPr/>
                    <a:lstStyle/>
                    <a:p>
                      <a:pPr algn="l"/>
                      <a:r>
                        <a:rPr sz="1650" b="0">
                          <a:solidFill>
                            <a:srgbClr val="142D40"/>
                          </a:solidFill>
                          <a:latin typeface="Calibri"/>
                          <a:ea typeface="Calibri"/>
                          <a:cs typeface="Calibri"/>
                        </a:rPr>
                        <a:t>EUI and Nordics</a:t>
                      </a:r>
                    </a:p>
                  </a:txBody>
                  <a:tcPr marL="95250" marR="95250" marT="38100" marB="38100" anchor="ctr">
                    <a:solidFill>
                      <a:srgbClr val="F1F5F8"/>
                    </a:solidFill>
                  </a:tcPr>
                </a:tc>
              </a:tr>
              <a:tr h="457200">
                <a:tc>
                  <a:txBody>
                    <a:bodyPr/>
                    <a:lstStyle/>
                    <a:p>
                      <a:pPr algn="l"/>
                      <a:r>
                        <a:rPr sz="1650" b="1">
                          <a:solidFill>
                            <a:srgbClr val="142D40"/>
                          </a:solidFill>
                          <a:latin typeface="Calibri"/>
                          <a:ea typeface="Calibri"/>
                          <a:cs typeface="Calibri"/>
                        </a:rPr>
                        <a:t>Multiple entities: EB ∩ ESES ∩ EUI only</a:t>
                      </a:r>
                    </a:p>
                  </a:txBody>
                  <a:tcPr marL="95250" marR="95250" marT="38100" marB="38100" anchor="ctr">
                    <a:solidFill>
                      <a:srgbClr val="FFFFFF"/>
                    </a:solidFill>
                  </a:tcPr>
                </a:tc>
                <a:tc>
                  <a:txBody>
                    <a:bodyPr/>
                    <a:lstStyle/>
                    <a:p>
                      <a:pPr algn="l"/>
                      <a:r>
                        <a:rPr sz="1650" b="0">
                          <a:solidFill>
                            <a:srgbClr val="142D40"/>
                          </a:solidFill>
                          <a:latin typeface="Calibri"/>
                          <a:ea typeface="Calibri"/>
                          <a:cs typeface="Calibri"/>
                        </a:rPr>
                        <a:t>Euroclear Bank + ESES + EUI</a:t>
                      </a:r>
                    </a:p>
                  </a:txBody>
                  <a:tcPr marL="95250" marR="95250" marT="38100" marB="38100" anchor="ctr">
                    <a:solidFill>
                      <a:srgbClr val="FFFFFF"/>
                    </a:solidFill>
                  </a:tcPr>
                </a:tc>
                <a:tc>
                  <a:txBody>
                    <a:bodyPr/>
                    <a:lstStyle/>
                    <a:p>
                      <a:pPr algn="l"/>
                      <a:r>
                        <a:rPr sz="1650" b="0">
                          <a:solidFill>
                            <a:srgbClr val="142D40"/>
                          </a:solidFill>
                          <a:latin typeface="Calibri"/>
                          <a:ea typeface="Calibri"/>
                          <a:cs typeface="Calibri"/>
                        </a:rPr>
                        <a:t>Nordics</a:t>
                      </a:r>
                    </a:p>
                  </a:txBody>
                  <a:tcPr marL="95250" marR="95250" marT="38100" marB="38100" anchor="ctr">
                    <a:solidFill>
                      <a:srgbClr val="FFFFFF"/>
                    </a:solidFill>
                  </a:tcPr>
                </a:tc>
              </a:tr>
            </a:tbl>
          </a:graphicData>
        </a:graphic>
      </p:graphicFrame>
    </p:spTree>
    <p:extLst>
      <p:ext uri="{BB962C8B-B14F-4D97-AF65-F5344CB8AC3E}">
        <p14:creationId xmlns:p14="http://schemas.microsoft.com/office/powerpoint/2010/main" val="17267646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text-2039">
            <a:extLst xmlns:a="http://schemas.openxmlformats.org/drawingml/2006/main">
              <a:ext uri="{FF2B5EF4-FFF2-40B4-BE49-F238E27FC236}">
                <a16:creationId xmlns:a16="http://schemas.microsoft.com/office/drawing/2014/main" id="{2E9D6943-836C-46C0-919F-FCB2F1525506}"/>
              </a:ext>
            </a:extLst>
          </p:cNvPr>
          <p:cNvSpPr>
            <a:spLocks xmlns:a="http://schemas.openxmlformats.org/drawingml/2006/main" noGrp="1"/>
          </p:cNvSpPr>
          <p:nvPr/>
        </p:nvSpPr>
        <p:spPr>
          <a:xfrm xmlns:a="http://schemas.openxmlformats.org/drawingml/2006/main">
            <a:off x="571500" y="24765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67083"/>
                </a:solidFill>
                <a:latin typeface="Calibri"/>
                <a:ea typeface="Calibri"/>
                <a:cs typeface="Calibri"/>
              </a:defRPr>
            </a:defPPr>
          </a:lstStyle>
          <a:p xmlns:a="http://schemas.openxmlformats.org/drawingml/2006/main">
            <a:pPr algn="l">
              <a:defRPr sz="1350" b="1">
                <a:solidFill>
                  <a:srgbClr val="567083"/>
                </a:solidFill>
                <a:latin typeface="Calibri"/>
                <a:ea typeface="Calibri"/>
                <a:cs typeface="Calibri"/>
              </a:defRPr>
            </a:pPr>
            <a:r>
              <a:rPr sz="1350" b="1">
                <a:solidFill>
                  <a:srgbClr val="567083"/>
                </a:solidFill>
                <a:latin typeface="Calibri"/>
                <a:ea typeface="Calibri"/>
                <a:cs typeface="Calibri"/>
              </a:rPr>
              <a:t>EUROCLEAR   /   ENTERPRISE IDENTITY ARCHITECTURE</a:t>
            </a:r>
          </a:p>
        </p:txBody>
      </p:sp>
      <p:sp>
        <p:nvSpPr>
          <p:cNvPr id="2" name="text-2040">
            <a:extLst xmlns:a="http://schemas.openxmlformats.org/drawingml/2006/main">
              <a:ext uri="{FF2B5EF4-FFF2-40B4-BE49-F238E27FC236}">
                <a16:creationId xmlns:a16="http://schemas.microsoft.com/office/drawing/2014/main" id="{1886CDC4-FEBD-4953-9889-4EEF8B41B5D5}"/>
              </a:ext>
            </a:extLst>
          </p:cNvPr>
          <p:cNvSpPr>
            <a:spLocks xmlns:a="http://schemas.openxmlformats.org/drawingml/2006/main" noGrp="1"/>
          </p:cNvSpPr>
          <p:nvPr/>
        </p:nvSpPr>
        <p:spPr>
          <a:xfrm xmlns:a="http://schemas.openxmlformats.org/drawingml/2006/main">
            <a:off x="571500" y="7429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D40"/>
                </a:solidFill>
                <a:latin typeface="Calibri"/>
                <a:ea typeface="Calibri"/>
                <a:cs typeface="Calibri"/>
              </a:defRPr>
            </a:defPPr>
          </a:lstStyle>
          <a:p xmlns:a="http://schemas.openxmlformats.org/drawingml/2006/main">
            <a:pPr algn="l">
              <a:defRPr sz="3450" b="1">
                <a:solidFill>
                  <a:srgbClr val="142D40"/>
                </a:solidFill>
                <a:latin typeface="Calibri"/>
                <a:ea typeface="Calibri"/>
                <a:cs typeface="Calibri"/>
              </a:defRPr>
            </a:pPr>
            <a:r>
              <a:rPr sz="3450" b="1">
                <a:solidFill>
                  <a:srgbClr val="142D40"/>
                </a:solidFill>
                <a:latin typeface="Calibri"/>
                <a:ea typeface="Calibri"/>
                <a:cs typeface="Calibri"/>
              </a:rPr>
              <a:t>IDAM - internal workforce operating modes</a:t>
            </a:r>
          </a:p>
        </p:txBody>
      </p:sp>
      <p:sp>
        <p:nvSpPr>
          <p:cNvPr id="3" name="text-2041">
            <a:extLst xmlns:a="http://schemas.openxmlformats.org/drawingml/2006/main">
              <a:ext uri="{FF2B5EF4-FFF2-40B4-BE49-F238E27FC236}">
                <a16:creationId xmlns:a16="http://schemas.microsoft.com/office/drawing/2014/main" id="{EA620FE5-C57D-4A00-8137-676BC34641CB}"/>
              </a:ext>
            </a:extLst>
          </p:cNvPr>
          <p:cNvSpPr>
            <a:spLocks xmlns:a="http://schemas.openxmlformats.org/drawingml/2006/main" noGrp="1"/>
          </p:cNvSpPr>
          <p:nvPr/>
        </p:nvSpPr>
        <p:spPr>
          <a:xfrm xmlns:a="http://schemas.openxmlformats.org/drawingml/2006/main">
            <a:off x="571500" y="1419225"/>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Each employee retains a workforce identity across approved operating modes.</a:t>
            </a:r>
          </a:p>
        </p:txBody>
      </p:sp>
      <p:sp>
        <p:nvSpPr>
          <p:cNvPr id="4" name="line-2042">
            <a:extLst xmlns:a="http://schemas.openxmlformats.org/drawingml/2006/main">
              <a:ext uri="{FF2B5EF4-FFF2-40B4-BE49-F238E27FC236}">
                <a16:creationId xmlns:a16="http://schemas.microsoft.com/office/drawing/2014/main" id="{85230013-7C41-4AF1-A702-208670E9CE27}"/>
              </a:ext>
            </a:extLst>
          </p:cNvPr>
          <p:cNvSpPr>
            <a:spLocks xmlns:a="http://schemas.openxmlformats.org/drawingml/2006/main" noGrp="1"/>
          </p:cNvSpPr>
          <p:nvPr/>
        </p:nvSpPr>
        <p:spPr>
          <a:xfrm xmlns:a="http://schemas.openxmlformats.org/drawingml/2006/main">
            <a:off x="571500" y="8048625"/>
            <a:ext cx="14097000" cy="0"/>
          </a:xfrm>
          <a:prstGeom xmlns:a="http://schemas.openxmlformats.org/drawingml/2006/main" prst="line">
            <a:avLst/>
          </a:prstGeom>
          <a:noFill xmlns:a="http://schemas.openxmlformats.org/drawingml/2006/main"/>
          <a:ln xmlns:a="http://schemas.openxmlformats.org/drawingml/2006/main" w="13335">
            <a:solidFill>
              <a:srgbClr val="D8E1E8"/>
            </a:solidFill>
          </a:ln>
        </p:spPr>
      </p:sp>
      <p:sp>
        <p:nvSpPr>
          <p:cNvPr id="5" name="text-2043">
            <a:extLst xmlns:a="http://schemas.openxmlformats.org/drawingml/2006/main">
              <a:ext uri="{FF2B5EF4-FFF2-40B4-BE49-F238E27FC236}">
                <a16:creationId xmlns:a16="http://schemas.microsoft.com/office/drawing/2014/main" id="{49379951-AC8E-49CA-BFD5-2CE4C06A7DB7}"/>
              </a:ext>
            </a:extLst>
          </p:cNvPr>
          <p:cNvSpPr>
            <a:spLocks xmlns:a="http://schemas.openxmlformats.org/drawingml/2006/main" noGrp="1"/>
          </p:cNvSpPr>
          <p:nvPr/>
        </p:nvSpPr>
        <p:spPr>
          <a:xfrm xmlns:a="http://schemas.openxmlformats.org/drawingml/2006/main">
            <a:off x="571500" y="8172450"/>
            <a:ext cx="1295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7083"/>
                </a:solidFill>
                <a:latin typeface="Calibri"/>
                <a:ea typeface="Calibri"/>
                <a:cs typeface="Calibri"/>
              </a:defRPr>
            </a:defPPr>
          </a:lstStyle>
          <a:p xmlns:a="http://schemas.openxmlformats.org/drawingml/2006/main">
            <a:pPr algn="l">
              <a:defRPr sz="1275" b="0">
                <a:solidFill>
                  <a:srgbClr val="567083"/>
                </a:solidFill>
                <a:latin typeface="Calibri"/>
                <a:ea typeface="Calibri"/>
                <a:cs typeface="Calibri"/>
              </a:defRPr>
            </a:pPr>
            <a:r>
              <a:rPr sz="1275" b="0">
                <a:solidFill>
                  <a:srgbClr val="567083"/>
                </a:solidFill>
                <a:latin typeface="Calibri"/>
                <a:ea typeface="Calibri"/>
                <a:cs typeface="Calibri"/>
              </a:rPr>
              <a:t>Proposed responsibility model for architecture alignment   /   Standards-informed</a:t>
            </a:r>
          </a:p>
        </p:txBody>
      </p:sp>
      <p:sp>
        <p:nvSpPr>
          <p:cNvPr id="6" name="text-2044">
            <a:extLst xmlns:a="http://schemas.openxmlformats.org/drawingml/2006/main">
              <a:ext uri="{FF2B5EF4-FFF2-40B4-BE49-F238E27FC236}">
                <a16:creationId xmlns:a16="http://schemas.microsoft.com/office/drawing/2014/main" id="{7584A3DF-A591-47FB-8F7E-6597A8E4DEA5}"/>
              </a:ext>
            </a:extLst>
          </p:cNvPr>
          <p:cNvSpPr>
            <a:spLocks xmlns:a="http://schemas.openxmlformats.org/drawingml/2006/main" noGrp="1"/>
          </p:cNvSpPr>
          <p:nvPr/>
        </p:nvSpPr>
        <p:spPr>
          <a:xfrm xmlns:a="http://schemas.openxmlformats.org/drawingml/2006/main">
            <a:off x="14001750" y="81438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567083"/>
                </a:solidFill>
                <a:latin typeface="Calibri"/>
                <a:ea typeface="Calibri"/>
                <a:cs typeface="Calibri"/>
              </a:defRPr>
            </a:defPPr>
          </a:lstStyle>
          <a:p xmlns:a="http://schemas.openxmlformats.org/drawingml/2006/main">
            <a:pPr algn="r">
              <a:defRPr sz="1350" b="1">
                <a:solidFill>
                  <a:srgbClr val="567083"/>
                </a:solidFill>
                <a:latin typeface="Calibri"/>
                <a:ea typeface="Calibri"/>
                <a:cs typeface="Calibri"/>
              </a:defRPr>
            </a:pPr>
            <a:r>
              <a:rPr sz="1350" b="1">
                <a:solidFill>
                  <a:srgbClr val="567083"/>
                </a:solidFill>
                <a:latin typeface="Calibri"/>
                <a:ea typeface="Calibri"/>
                <a:cs typeface="Calibri"/>
              </a:rPr>
              <a:t>03</a:t>
            </a:r>
          </a:p>
        </p:txBody>
      </p:sp>
      <p:sp>
        <p:nvSpPr>
          <p:cNvPr id="7" name="diagram-2045">
            <a:extLst xmlns:a="http://schemas.openxmlformats.org/drawingml/2006/main">
              <a:ext uri="{FF2B5EF4-FFF2-40B4-BE49-F238E27FC236}">
                <a16:creationId xmlns:a16="http://schemas.microsoft.com/office/drawing/2014/main" id="{EAB2B555-FFDC-4EE8-B71A-DCCE57C74C79}"/>
              </a:ext>
            </a:extLst>
          </p:cNvPr>
          <p:cNvSpPr>
            <a:spLocks xmlns:a="http://schemas.openxmlformats.org/drawingml/2006/main" noGrp="1"/>
          </p:cNvSpPr>
          <p:nvPr/>
        </p:nvSpPr>
        <p:spPr>
          <a:xfrm xmlns:a="http://schemas.openxmlformats.org/drawingml/2006/main">
            <a:off x="571500" y="2095500"/>
            <a:ext cx="14097000" cy="1009650"/>
          </a:xfrm>
          <a:prstGeom xmlns:a="http://schemas.openxmlformats.org/drawingml/2006/main" prst="rect">
            <a:avLst/>
          </a:prstGeom>
          <a:solidFill xmlns:a="http://schemas.openxmlformats.org/drawingml/2006/main">
            <a:srgbClr val="EAF5F4"/>
          </a:solidFill>
          <a:ln xmlns:a="http://schemas.openxmlformats.org/drawingml/2006/main" w="9525">
            <a:solidFill>
              <a:srgbClr val="087C80"/>
            </a:solidFill>
          </a:ln>
        </p:spPr>
      </p:sp>
      <p:sp>
        <p:nvSpPr>
          <p:cNvPr id="8" name="text-2046">
            <a:extLst xmlns:a="http://schemas.openxmlformats.org/drawingml/2006/main">
              <a:ext uri="{FF2B5EF4-FFF2-40B4-BE49-F238E27FC236}">
                <a16:creationId xmlns:a16="http://schemas.microsoft.com/office/drawing/2014/main" id="{E9D3C959-0356-4110-84B7-1247825C8BFA}"/>
              </a:ext>
            </a:extLst>
          </p:cNvPr>
          <p:cNvSpPr>
            <a:spLocks xmlns:a="http://schemas.openxmlformats.org/drawingml/2006/main" noGrp="1"/>
          </p:cNvSpPr>
          <p:nvPr/>
        </p:nvSpPr>
        <p:spPr>
          <a:xfrm xmlns:a="http://schemas.openxmlformats.org/drawingml/2006/main">
            <a:off x="800100" y="2276475"/>
            <a:ext cx="4095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87C80"/>
                </a:solidFill>
                <a:latin typeface="Calibri"/>
                <a:ea typeface="Calibri"/>
                <a:cs typeface="Calibri"/>
              </a:defRPr>
            </a:defPPr>
          </a:lstStyle>
          <a:p xmlns:a="http://schemas.openxmlformats.org/drawingml/2006/main">
            <a:pPr algn="l">
              <a:defRPr sz="2250" b="1">
                <a:solidFill>
                  <a:srgbClr val="087C80"/>
                </a:solidFill>
                <a:latin typeface="Calibri"/>
                <a:ea typeface="Calibri"/>
                <a:cs typeface="Calibri"/>
              </a:defRPr>
            </a:pPr>
            <a:r>
              <a:rPr sz="2250" b="1">
                <a:solidFill>
                  <a:srgbClr val="087C80"/>
                </a:solidFill>
                <a:latin typeface="Calibri"/>
                <a:ea typeface="Calibri"/>
                <a:cs typeface="Calibri"/>
              </a:rPr>
              <a:t>Shared IDAM foundation</a:t>
            </a:r>
          </a:p>
        </p:txBody>
      </p:sp>
      <p:sp>
        <p:nvSpPr>
          <p:cNvPr id="9" name="text-2047">
            <a:extLst xmlns:a="http://schemas.openxmlformats.org/drawingml/2006/main">
              <a:ext uri="{FF2B5EF4-FFF2-40B4-BE49-F238E27FC236}">
                <a16:creationId xmlns:a16="http://schemas.microsoft.com/office/drawing/2014/main" id="{49D972E2-F79D-4C83-8CB6-4F3C1C6FDCA1}"/>
              </a:ext>
            </a:extLst>
          </p:cNvPr>
          <p:cNvSpPr>
            <a:spLocks xmlns:a="http://schemas.openxmlformats.org/drawingml/2006/main" noGrp="1"/>
          </p:cNvSpPr>
          <p:nvPr/>
        </p:nvSpPr>
        <p:spPr>
          <a:xfrm xmlns:a="http://schemas.openxmlformats.org/drawingml/2006/main">
            <a:off x="5095875" y="2266950"/>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42D40"/>
                </a:solidFill>
                <a:latin typeface="Calibri"/>
                <a:ea typeface="Calibri"/>
                <a:cs typeface="Calibri"/>
              </a:defRPr>
            </a:defPPr>
          </a:lstStyle>
          <a:p xmlns:a="http://schemas.openxmlformats.org/drawingml/2006/main">
            <a:pPr algn="l">
              <a:defRPr sz="1950" b="1">
                <a:solidFill>
                  <a:srgbClr val="142D40"/>
                </a:solidFill>
                <a:latin typeface="Calibri"/>
                <a:ea typeface="Calibri"/>
                <a:cs typeface="Calibri"/>
              </a:defRPr>
            </a:pPr>
            <a:r>
              <a:rPr sz="1950" b="1">
                <a:solidFill>
                  <a:srgbClr val="142D40"/>
                </a:solidFill>
                <a:latin typeface="Calibri"/>
                <a:ea typeface="Calibri"/>
                <a:cs typeface="Calibri"/>
              </a:rPr>
              <a:t>Employee identity and lifecycle</a:t>
            </a:r>
          </a:p>
        </p:txBody>
      </p:sp>
      <p:sp>
        <p:nvSpPr>
          <p:cNvPr id="10" name="text-2048">
            <a:extLst xmlns:a="http://schemas.openxmlformats.org/drawingml/2006/main">
              <a:ext uri="{FF2B5EF4-FFF2-40B4-BE49-F238E27FC236}">
                <a16:creationId xmlns:a16="http://schemas.microsoft.com/office/drawing/2014/main" id="{2A408C6E-576D-4BEA-9B5D-DEE42BCAB6BB}"/>
              </a:ext>
            </a:extLst>
          </p:cNvPr>
          <p:cNvSpPr>
            <a:spLocks xmlns:a="http://schemas.openxmlformats.org/drawingml/2006/main" noGrp="1"/>
          </p:cNvSpPr>
          <p:nvPr/>
        </p:nvSpPr>
        <p:spPr>
          <a:xfrm xmlns:a="http://schemas.openxmlformats.org/drawingml/2006/main">
            <a:off x="5095875" y="2676525"/>
            <a:ext cx="590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42D40"/>
                </a:solidFill>
                <a:latin typeface="Calibri"/>
                <a:ea typeface="Calibri"/>
                <a:cs typeface="Calibri"/>
              </a:defRPr>
            </a:defPPr>
          </a:lstStyle>
          <a:p xmlns:a="http://schemas.openxmlformats.org/drawingml/2006/main">
            <a:pPr algn="l">
              <a:defRPr sz="1950" b="0">
                <a:solidFill>
                  <a:srgbClr val="142D40"/>
                </a:solidFill>
                <a:latin typeface="Calibri"/>
                <a:ea typeface="Calibri"/>
                <a:cs typeface="Calibri"/>
              </a:defRPr>
            </a:pPr>
            <a:r>
              <a:rPr sz="1950" b="0">
                <a:solidFill>
                  <a:srgbClr val="142D40"/>
                </a:solidFill>
                <a:latin typeface="Calibri"/>
                <a:ea typeface="Calibri"/>
                <a:cs typeface="Calibri"/>
              </a:rPr>
              <a:t>Authentication and workforce access</a:t>
            </a:r>
          </a:p>
        </p:txBody>
      </p:sp>
      <p:sp>
        <p:nvSpPr>
          <p:cNvPr id="11" name="text-2049">
            <a:extLst xmlns:a="http://schemas.openxmlformats.org/drawingml/2006/main">
              <a:ext uri="{FF2B5EF4-FFF2-40B4-BE49-F238E27FC236}">
                <a16:creationId xmlns:a16="http://schemas.microsoft.com/office/drawing/2014/main" id="{B5978125-6D31-4503-9161-D6C121B8F3C5}"/>
              </a:ext>
            </a:extLst>
          </p:cNvPr>
          <p:cNvSpPr>
            <a:spLocks xmlns:a="http://schemas.openxmlformats.org/drawingml/2006/main" noGrp="1"/>
          </p:cNvSpPr>
          <p:nvPr/>
        </p:nvSpPr>
        <p:spPr>
          <a:xfrm xmlns:a="http://schemas.openxmlformats.org/drawingml/2006/main">
            <a:off x="10810875" y="2324100"/>
            <a:ext cx="3619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67083"/>
                </a:solidFill>
                <a:latin typeface="Calibri"/>
                <a:ea typeface="Calibri"/>
                <a:cs typeface="Calibri"/>
              </a:defRPr>
            </a:defPPr>
          </a:lstStyle>
          <a:p xmlns:a="http://schemas.openxmlformats.org/drawingml/2006/main">
            <a:pPr algn="l">
              <a:defRPr sz="1725" b="0">
                <a:solidFill>
                  <a:srgbClr val="567083"/>
                </a:solidFill>
                <a:latin typeface="Calibri"/>
                <a:ea typeface="Calibri"/>
                <a:cs typeface="Calibri"/>
              </a:defRPr>
            </a:pPr>
            <a:r>
              <a:rPr sz="1725" b="0">
                <a:solidFill>
                  <a:srgbClr val="567083"/>
                </a:solidFill>
                <a:latin typeface="Calibri"/>
                <a:ea typeface="Calibri"/>
                <a:cs typeface="Calibri"/>
              </a:rPr>
              <a:t>Approved role / application eligibility</a:t>
            </a:r>
          </a:p>
        </p:txBody>
      </p:sp>
      <p:sp>
        <p:nvSpPr>
          <p:cNvPr id="12" name="diagram-2050">
            <a:extLst xmlns:a="http://schemas.openxmlformats.org/drawingml/2006/main">
              <a:ext uri="{FF2B5EF4-FFF2-40B4-BE49-F238E27FC236}">
                <a16:creationId xmlns:a16="http://schemas.microsoft.com/office/drawing/2014/main" id="{380F9429-BEEE-47C5-A609-AA3EB9DDE861}"/>
              </a:ext>
            </a:extLst>
          </p:cNvPr>
          <p:cNvSpPr>
            <a:spLocks xmlns:a="http://schemas.openxmlformats.org/drawingml/2006/main" noGrp="1"/>
          </p:cNvSpPr>
          <p:nvPr/>
        </p:nvSpPr>
        <p:spPr>
          <a:xfrm xmlns:a="http://schemas.openxmlformats.org/drawingml/2006/main">
            <a:off x="571500" y="3476625"/>
            <a:ext cx="3238500" cy="3667125"/>
          </a:xfrm>
          <a:prstGeom xmlns:a="http://schemas.openxmlformats.org/drawingml/2006/main" prst="rect">
            <a:avLst/>
          </a:prstGeom>
          <a:solidFill xmlns:a="http://schemas.openxmlformats.org/drawingml/2006/main">
            <a:srgbClr val="F1F5F8"/>
          </a:solidFill>
          <a:ln xmlns:a="http://schemas.openxmlformats.org/drawingml/2006/main" w="9525">
            <a:solidFill>
              <a:srgbClr val="D8E1E8"/>
            </a:solidFill>
          </a:ln>
        </p:spPr>
      </p:sp>
      <p:sp>
        <p:nvSpPr>
          <p:cNvPr id="13" name="diagram-2051">
            <a:extLst xmlns:a="http://schemas.openxmlformats.org/drawingml/2006/main">
              <a:ext uri="{FF2B5EF4-FFF2-40B4-BE49-F238E27FC236}">
                <a16:creationId xmlns:a16="http://schemas.microsoft.com/office/drawing/2014/main" id="{4E739AF6-3153-4B20-B659-860753F26CC5}"/>
              </a:ext>
            </a:extLst>
          </p:cNvPr>
          <p:cNvSpPr>
            <a:spLocks xmlns:a="http://schemas.openxmlformats.org/drawingml/2006/main" noGrp="1"/>
          </p:cNvSpPr>
          <p:nvPr/>
        </p:nvSpPr>
        <p:spPr>
          <a:xfrm xmlns:a="http://schemas.openxmlformats.org/drawingml/2006/main">
            <a:off x="571500" y="3476625"/>
            <a:ext cx="3238500" cy="66675"/>
          </a:xfrm>
          <a:prstGeom xmlns:a="http://schemas.openxmlformats.org/drawingml/2006/main" prst="rect">
            <a:avLst/>
          </a:prstGeom>
          <a:solidFill xmlns:a="http://schemas.openxmlformats.org/drawingml/2006/main">
            <a:srgbClr val="087C80"/>
          </a:solidFill>
          <a:ln xmlns:a="http://schemas.openxmlformats.org/drawingml/2006/main" w="9525">
            <a:solidFill>
              <a:srgbClr val="087C80"/>
            </a:solidFill>
          </a:ln>
        </p:spPr>
      </p:sp>
      <p:sp>
        <p:nvSpPr>
          <p:cNvPr id="14" name="text-2052">
            <a:extLst xmlns:a="http://schemas.openxmlformats.org/drawingml/2006/main">
              <a:ext uri="{FF2B5EF4-FFF2-40B4-BE49-F238E27FC236}">
                <a16:creationId xmlns:a16="http://schemas.microsoft.com/office/drawing/2014/main" id="{954600FA-BC19-48FD-847F-5563687AF868}"/>
              </a:ext>
            </a:extLst>
          </p:cNvPr>
          <p:cNvSpPr>
            <a:spLocks xmlns:a="http://schemas.openxmlformats.org/drawingml/2006/main" noGrp="1"/>
          </p:cNvSpPr>
          <p:nvPr/>
        </p:nvSpPr>
        <p:spPr>
          <a:xfrm xmlns:a="http://schemas.openxmlformats.org/drawingml/2006/main">
            <a:off x="742950" y="3724275"/>
            <a:ext cx="28956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C80"/>
                </a:solidFill>
                <a:latin typeface="Calibri"/>
                <a:ea typeface="Calibri"/>
                <a:cs typeface="Calibri"/>
              </a:defRPr>
            </a:defPPr>
          </a:lstStyle>
          <a:p xmlns:a="http://schemas.openxmlformats.org/drawingml/2006/main">
            <a:pPr algn="l">
              <a:defRPr sz="2025" b="1">
                <a:solidFill>
                  <a:srgbClr val="087C80"/>
                </a:solidFill>
                <a:latin typeface="Calibri"/>
                <a:ea typeface="Calibri"/>
                <a:cs typeface="Calibri"/>
              </a:defRPr>
            </a:pPr>
            <a:r>
              <a:rPr sz="2025" b="1">
                <a:solidFill>
                  <a:srgbClr val="087C80"/>
                </a:solidFill>
                <a:latin typeface="Calibri"/>
                <a:ea typeface="Calibri"/>
                <a:cs typeface="Calibri"/>
              </a:rPr>
              <a:t>Internal user acting</a:t>
            </a:r>
          </a:p>
          <a:p xmlns:a="http://schemas.openxmlformats.org/drawingml/2006/main">
            <a:pPr algn="l">
              <a:defRPr sz="2025" b="1">
                <a:solidFill>
                  <a:srgbClr val="087C80"/>
                </a:solidFill>
                <a:latin typeface="Calibri"/>
                <a:ea typeface="Calibri"/>
                <a:cs typeface="Calibri"/>
              </a:defRPr>
            </a:pPr>
            <a:r>
              <a:rPr sz="2025" b="1">
                <a:solidFill>
                  <a:srgbClr val="087C80"/>
                </a:solidFill>
                <a:latin typeface="Calibri"/>
                <a:ea typeface="Calibri"/>
                <a:cs typeface="Calibri"/>
              </a:rPr>
              <a:t>as client</a:t>
            </a:r>
          </a:p>
        </p:txBody>
      </p:sp>
      <p:sp>
        <p:nvSpPr>
          <p:cNvPr id="15" name="text-2053">
            <a:extLst xmlns:a="http://schemas.openxmlformats.org/drawingml/2006/main">
              <a:ext uri="{FF2B5EF4-FFF2-40B4-BE49-F238E27FC236}">
                <a16:creationId xmlns:a16="http://schemas.microsoft.com/office/drawing/2014/main" id="{07892696-8479-4A14-8EDF-0E4BADF2160E}"/>
              </a:ext>
            </a:extLst>
          </p:cNvPr>
          <p:cNvSpPr>
            <a:spLocks xmlns:a="http://schemas.openxmlformats.org/drawingml/2006/main" noGrp="1"/>
          </p:cNvSpPr>
          <p:nvPr/>
        </p:nvSpPr>
        <p:spPr>
          <a:xfrm xmlns:a="http://schemas.openxmlformats.org/drawingml/2006/main">
            <a:off x="742950" y="4695825"/>
            <a:ext cx="2895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0"/>
                </a:solidFill>
                <a:latin typeface="Calibri"/>
                <a:ea typeface="Calibri"/>
                <a:cs typeface="Calibri"/>
              </a:defRPr>
            </a:defPPr>
          </a:lstStyle>
          <a:p xmlns:a="http://schemas.openxmlformats.org/drawingml/2006/main">
            <a:pPr algn="l">
              <a:defRPr sz="1875" b="0">
                <a:solidFill>
                  <a:srgbClr val="142D40"/>
                </a:solidFill>
                <a:latin typeface="Calibri"/>
                <a:ea typeface="Calibri"/>
                <a:cs typeface="Calibri"/>
              </a:defRPr>
            </a:pPr>
            <a:r>
              <a:rPr sz="1875" b="0">
                <a:solidFill>
                  <a:srgbClr val="142D40"/>
                </a:solidFill>
                <a:latin typeface="Calibri"/>
                <a:ea typeface="Calibri"/>
                <a:cs typeface="Calibri"/>
              </a:rPr>
              <a:t>Uses an approved simulated client context for testing or operational validation.</a:t>
            </a:r>
          </a:p>
        </p:txBody>
      </p:sp>
      <p:sp>
        <p:nvSpPr>
          <p:cNvPr id="16" name="text-2054">
            <a:extLst xmlns:a="http://schemas.openxmlformats.org/drawingml/2006/main">
              <a:ext uri="{FF2B5EF4-FFF2-40B4-BE49-F238E27FC236}">
                <a16:creationId xmlns:a16="http://schemas.microsoft.com/office/drawing/2014/main" id="{3E942329-5CDC-45FD-AB9B-DE3DCE8A5613}"/>
              </a:ext>
            </a:extLst>
          </p:cNvPr>
          <p:cNvSpPr>
            <a:spLocks xmlns:a="http://schemas.openxmlformats.org/drawingml/2006/main" noGrp="1"/>
          </p:cNvSpPr>
          <p:nvPr/>
        </p:nvSpPr>
        <p:spPr>
          <a:xfrm xmlns:a="http://schemas.openxmlformats.org/drawingml/2006/main">
            <a:off x="742950" y="5857875"/>
            <a:ext cx="2895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567083"/>
                </a:solidFill>
                <a:latin typeface="Calibri"/>
                <a:ea typeface="Calibri"/>
                <a:cs typeface="Calibri"/>
              </a:defRPr>
            </a:defPPr>
          </a:lstStyle>
          <a:p xmlns:a="http://schemas.openxmlformats.org/drawingml/2006/main">
            <a:pPr algn="l">
              <a:defRPr sz="1650" b="1">
                <a:solidFill>
                  <a:srgbClr val="567083"/>
                </a:solidFill>
                <a:latin typeface="Calibri"/>
                <a:ea typeface="Calibri"/>
                <a:cs typeface="Calibri"/>
              </a:defRPr>
            </a:pPr>
            <a:r>
              <a:rPr sz="1650" b="1">
                <a:solidFill>
                  <a:srgbClr val="567083"/>
                </a:solidFill>
                <a:latin typeface="Calibri"/>
                <a:ea typeface="Calibri"/>
                <a:cs typeface="Calibri"/>
              </a:rPr>
              <a:t>CIAM involvement</a:t>
            </a:r>
          </a:p>
        </p:txBody>
      </p:sp>
      <p:sp>
        <p:nvSpPr>
          <p:cNvPr id="17" name="text-2055">
            <a:extLst xmlns:a="http://schemas.openxmlformats.org/drawingml/2006/main">
              <a:ext uri="{FF2B5EF4-FFF2-40B4-BE49-F238E27FC236}">
                <a16:creationId xmlns:a16="http://schemas.microsoft.com/office/drawing/2014/main" id="{42C2208C-FC81-4A84-91CB-B490A4C69DC7}"/>
              </a:ext>
            </a:extLst>
          </p:cNvPr>
          <p:cNvSpPr>
            <a:spLocks xmlns:a="http://schemas.openxmlformats.org/drawingml/2006/main" noGrp="1"/>
          </p:cNvSpPr>
          <p:nvPr/>
        </p:nvSpPr>
        <p:spPr>
          <a:xfrm xmlns:a="http://schemas.openxmlformats.org/drawingml/2006/main">
            <a:off x="742950" y="6210300"/>
            <a:ext cx="2895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67083"/>
                </a:solidFill>
                <a:latin typeface="Calibri"/>
                <a:ea typeface="Calibri"/>
                <a:cs typeface="Calibri"/>
              </a:defRPr>
            </a:defPPr>
          </a:lstStyle>
          <a:p xmlns:a="http://schemas.openxmlformats.org/drawingml/2006/main">
            <a:pPr algn="l">
              <a:defRPr sz="1650" b="0">
                <a:solidFill>
                  <a:srgbClr val="567083"/>
                </a:solidFill>
                <a:latin typeface="Calibri"/>
                <a:ea typeface="Calibri"/>
                <a:cs typeface="Calibri"/>
              </a:defRPr>
            </a:pPr>
            <a:r>
              <a:rPr sz="1650" b="0">
                <a:solidFill>
                  <a:srgbClr val="567083"/>
                </a:solidFill>
                <a:latin typeface="Calibri"/>
                <a:ea typeface="Calibri"/>
                <a:cs typeface="Calibri"/>
              </a:rPr>
              <a:t>Conditional: test client profile or client journey under test.</a:t>
            </a:r>
          </a:p>
        </p:txBody>
      </p:sp>
      <p:sp>
        <p:nvSpPr>
          <p:cNvPr id="18" name="diagram-2056">
            <a:extLst xmlns:a="http://schemas.openxmlformats.org/drawingml/2006/main">
              <a:ext uri="{FF2B5EF4-FFF2-40B4-BE49-F238E27FC236}">
                <a16:creationId xmlns:a16="http://schemas.microsoft.com/office/drawing/2014/main" id="{59D15B28-C5BF-4518-BD92-51C40C99E7A3}"/>
              </a:ext>
            </a:extLst>
          </p:cNvPr>
          <p:cNvSpPr>
            <a:spLocks xmlns:a="http://schemas.openxmlformats.org/drawingml/2006/main" noGrp="1"/>
          </p:cNvSpPr>
          <p:nvPr/>
        </p:nvSpPr>
        <p:spPr>
          <a:xfrm xmlns:a="http://schemas.openxmlformats.org/drawingml/2006/main">
            <a:off x="4191000" y="3476625"/>
            <a:ext cx="3238500" cy="3667125"/>
          </a:xfrm>
          <a:prstGeom xmlns:a="http://schemas.openxmlformats.org/drawingml/2006/main" prst="rect">
            <a:avLst/>
          </a:prstGeom>
          <a:solidFill xmlns:a="http://schemas.openxmlformats.org/drawingml/2006/main">
            <a:srgbClr val="F1F5F8"/>
          </a:solidFill>
          <a:ln xmlns:a="http://schemas.openxmlformats.org/drawingml/2006/main" w="9525">
            <a:solidFill>
              <a:srgbClr val="D8E1E8"/>
            </a:solidFill>
          </a:ln>
        </p:spPr>
      </p:sp>
      <p:sp>
        <p:nvSpPr>
          <p:cNvPr id="19" name="diagram-2057">
            <a:extLst xmlns:a="http://schemas.openxmlformats.org/drawingml/2006/main">
              <a:ext uri="{FF2B5EF4-FFF2-40B4-BE49-F238E27FC236}">
                <a16:creationId xmlns:a16="http://schemas.microsoft.com/office/drawing/2014/main" id="{1DEA3CA8-9D26-46C1-B54B-E668101ACABE}"/>
              </a:ext>
            </a:extLst>
          </p:cNvPr>
          <p:cNvSpPr>
            <a:spLocks xmlns:a="http://schemas.openxmlformats.org/drawingml/2006/main" noGrp="1"/>
          </p:cNvSpPr>
          <p:nvPr/>
        </p:nvSpPr>
        <p:spPr>
          <a:xfrm xmlns:a="http://schemas.openxmlformats.org/drawingml/2006/main">
            <a:off x="4191000" y="3476625"/>
            <a:ext cx="3238500" cy="66675"/>
          </a:xfrm>
          <a:prstGeom xmlns:a="http://schemas.openxmlformats.org/drawingml/2006/main" prst="rect">
            <a:avLst/>
          </a:prstGeom>
          <a:solidFill xmlns:a="http://schemas.openxmlformats.org/drawingml/2006/main">
            <a:srgbClr val="087C80"/>
          </a:solidFill>
          <a:ln xmlns:a="http://schemas.openxmlformats.org/drawingml/2006/main" w="9525">
            <a:solidFill>
              <a:srgbClr val="087C80"/>
            </a:solidFill>
          </a:ln>
        </p:spPr>
      </p:sp>
      <p:sp>
        <p:nvSpPr>
          <p:cNvPr id="20" name="text-2058">
            <a:extLst xmlns:a="http://schemas.openxmlformats.org/drawingml/2006/main">
              <a:ext uri="{FF2B5EF4-FFF2-40B4-BE49-F238E27FC236}">
                <a16:creationId xmlns:a16="http://schemas.microsoft.com/office/drawing/2014/main" id="{7FBC0B5D-B311-4D9D-87DB-7A6356744E77}"/>
              </a:ext>
            </a:extLst>
          </p:cNvPr>
          <p:cNvSpPr>
            <a:spLocks xmlns:a="http://schemas.openxmlformats.org/drawingml/2006/main" noGrp="1"/>
          </p:cNvSpPr>
          <p:nvPr/>
        </p:nvSpPr>
        <p:spPr>
          <a:xfrm xmlns:a="http://schemas.openxmlformats.org/drawingml/2006/main">
            <a:off x="4362450" y="3724275"/>
            <a:ext cx="28956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C80"/>
                </a:solidFill>
                <a:latin typeface="Calibri"/>
                <a:ea typeface="Calibri"/>
                <a:cs typeface="Calibri"/>
              </a:defRPr>
            </a:defPPr>
          </a:lstStyle>
          <a:p xmlns:a="http://schemas.openxmlformats.org/drawingml/2006/main">
            <a:pPr algn="l">
              <a:defRPr sz="2025" b="1">
                <a:solidFill>
                  <a:srgbClr val="087C80"/>
                </a:solidFill>
                <a:latin typeface="Calibri"/>
                <a:ea typeface="Calibri"/>
                <a:cs typeface="Calibri"/>
              </a:defRPr>
            </a:pPr>
            <a:r>
              <a:rPr sz="2025" b="1">
                <a:solidFill>
                  <a:srgbClr val="087C80"/>
                </a:solidFill>
                <a:latin typeface="Calibri"/>
                <a:ea typeface="Calibri"/>
                <a:cs typeface="Calibri"/>
              </a:rPr>
              <a:t>Internal user acting</a:t>
            </a:r>
          </a:p>
          <a:p xmlns:a="http://schemas.openxmlformats.org/drawingml/2006/main">
            <a:pPr algn="l">
              <a:defRPr sz="2025" b="1">
                <a:solidFill>
                  <a:srgbClr val="087C80"/>
                </a:solidFill>
                <a:latin typeface="Calibri"/>
                <a:ea typeface="Calibri"/>
                <a:cs typeface="Calibri"/>
              </a:defRPr>
            </a:pPr>
            <a:r>
              <a:rPr sz="2025" b="1">
                <a:solidFill>
                  <a:srgbClr val="087C80"/>
                </a:solidFill>
                <a:latin typeface="Calibri"/>
                <a:ea typeface="Calibri"/>
                <a:cs typeface="Calibri"/>
              </a:rPr>
              <a:t>with impersonation</a:t>
            </a:r>
          </a:p>
        </p:txBody>
      </p:sp>
      <p:sp>
        <p:nvSpPr>
          <p:cNvPr id="21" name="text-2059">
            <a:extLst xmlns:a="http://schemas.openxmlformats.org/drawingml/2006/main">
              <a:ext uri="{FF2B5EF4-FFF2-40B4-BE49-F238E27FC236}">
                <a16:creationId xmlns:a16="http://schemas.microsoft.com/office/drawing/2014/main" id="{88FB7CDA-DD25-4392-B9E9-5BF55F8326D4}"/>
              </a:ext>
            </a:extLst>
          </p:cNvPr>
          <p:cNvSpPr>
            <a:spLocks xmlns:a="http://schemas.openxmlformats.org/drawingml/2006/main" noGrp="1"/>
          </p:cNvSpPr>
          <p:nvPr/>
        </p:nvSpPr>
        <p:spPr>
          <a:xfrm xmlns:a="http://schemas.openxmlformats.org/drawingml/2006/main">
            <a:off x="4362450" y="4695825"/>
            <a:ext cx="2895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0"/>
                </a:solidFill>
                <a:latin typeface="Calibri"/>
                <a:ea typeface="Calibri"/>
                <a:cs typeface="Calibri"/>
              </a:defRPr>
            </a:defPPr>
          </a:lstStyle>
          <a:p xmlns:a="http://schemas.openxmlformats.org/drawingml/2006/main">
            <a:pPr algn="l">
              <a:defRPr sz="1875" b="0">
                <a:solidFill>
                  <a:srgbClr val="142D40"/>
                </a:solidFill>
                <a:latin typeface="Calibri"/>
                <a:ea typeface="Calibri"/>
                <a:cs typeface="Calibri"/>
              </a:defRPr>
            </a:pPr>
            <a:r>
              <a:rPr sz="1875" b="0">
                <a:solidFill>
                  <a:srgbClr val="142D40"/>
                </a:solidFill>
                <a:latin typeface="Calibri"/>
                <a:ea typeface="Calibri"/>
                <a:cs typeface="Calibri"/>
              </a:rPr>
              <a:t>Represents a specific client user for an approved support task.</a:t>
            </a:r>
          </a:p>
        </p:txBody>
      </p:sp>
      <p:sp>
        <p:nvSpPr>
          <p:cNvPr id="22" name="text-2060">
            <a:extLst xmlns:a="http://schemas.openxmlformats.org/drawingml/2006/main">
              <a:ext uri="{FF2B5EF4-FFF2-40B4-BE49-F238E27FC236}">
                <a16:creationId xmlns:a16="http://schemas.microsoft.com/office/drawing/2014/main" id="{68814C38-4C12-4BAB-A4BE-5EA6B22E8BC2}"/>
              </a:ext>
            </a:extLst>
          </p:cNvPr>
          <p:cNvSpPr>
            <a:spLocks xmlns:a="http://schemas.openxmlformats.org/drawingml/2006/main" noGrp="1"/>
          </p:cNvSpPr>
          <p:nvPr/>
        </p:nvSpPr>
        <p:spPr>
          <a:xfrm xmlns:a="http://schemas.openxmlformats.org/drawingml/2006/main">
            <a:off x="4362450" y="5857875"/>
            <a:ext cx="2895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567083"/>
                </a:solidFill>
                <a:latin typeface="Calibri"/>
                <a:ea typeface="Calibri"/>
                <a:cs typeface="Calibri"/>
              </a:defRPr>
            </a:defPPr>
          </a:lstStyle>
          <a:p xmlns:a="http://schemas.openxmlformats.org/drawingml/2006/main">
            <a:pPr algn="l">
              <a:defRPr sz="1650" b="1">
                <a:solidFill>
                  <a:srgbClr val="567083"/>
                </a:solidFill>
                <a:latin typeface="Calibri"/>
                <a:ea typeface="Calibri"/>
                <a:cs typeface="Calibri"/>
              </a:defRPr>
            </a:pPr>
            <a:r>
              <a:rPr sz="1650" b="1">
                <a:solidFill>
                  <a:srgbClr val="567083"/>
                </a:solidFill>
                <a:latin typeface="Calibri"/>
                <a:ea typeface="Calibri"/>
                <a:cs typeface="Calibri"/>
              </a:rPr>
              <a:t>CIAM involvement</a:t>
            </a:r>
          </a:p>
        </p:txBody>
      </p:sp>
      <p:sp>
        <p:nvSpPr>
          <p:cNvPr id="23" name="text-2061">
            <a:extLst xmlns:a="http://schemas.openxmlformats.org/drawingml/2006/main">
              <a:ext uri="{FF2B5EF4-FFF2-40B4-BE49-F238E27FC236}">
                <a16:creationId xmlns:a16="http://schemas.microsoft.com/office/drawing/2014/main" id="{4D24C131-143E-45EF-8A62-8541DC1ED1AF}"/>
              </a:ext>
            </a:extLst>
          </p:cNvPr>
          <p:cNvSpPr>
            <a:spLocks xmlns:a="http://schemas.openxmlformats.org/drawingml/2006/main" noGrp="1"/>
          </p:cNvSpPr>
          <p:nvPr/>
        </p:nvSpPr>
        <p:spPr>
          <a:xfrm xmlns:a="http://schemas.openxmlformats.org/drawingml/2006/main">
            <a:off x="4362450" y="6210300"/>
            <a:ext cx="2895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67083"/>
                </a:solidFill>
                <a:latin typeface="Calibri"/>
                <a:ea typeface="Calibri"/>
                <a:cs typeface="Calibri"/>
              </a:defRPr>
            </a:defPPr>
          </a:lstStyle>
          <a:p xmlns:a="http://schemas.openxmlformats.org/drawingml/2006/main">
            <a:pPr algn="l">
              <a:defRPr sz="1650" b="0">
                <a:solidFill>
                  <a:srgbClr val="567083"/>
                </a:solidFill>
                <a:latin typeface="Calibri"/>
                <a:ea typeface="Calibri"/>
                <a:cs typeface="Calibri"/>
              </a:defRPr>
            </a:pPr>
            <a:r>
              <a:rPr sz="1650" b="0">
                <a:solidFill>
                  <a:srgbClr val="567083"/>
                </a:solidFill>
                <a:latin typeface="Calibri"/>
                <a:ea typeface="Calibri"/>
                <a:cs typeface="Calibri"/>
              </a:rPr>
              <a:t>Client identity and context. Token service where designed.</a:t>
            </a:r>
          </a:p>
        </p:txBody>
      </p:sp>
      <p:sp>
        <p:nvSpPr>
          <p:cNvPr id="24" name="diagram-2062">
            <a:extLst xmlns:a="http://schemas.openxmlformats.org/drawingml/2006/main">
              <a:ext uri="{FF2B5EF4-FFF2-40B4-BE49-F238E27FC236}">
                <a16:creationId xmlns:a16="http://schemas.microsoft.com/office/drawing/2014/main" id="{D93DF637-7995-4904-BA40-3F19804BC786}"/>
              </a:ext>
            </a:extLst>
          </p:cNvPr>
          <p:cNvSpPr>
            <a:spLocks xmlns:a="http://schemas.openxmlformats.org/drawingml/2006/main" noGrp="1"/>
          </p:cNvSpPr>
          <p:nvPr/>
        </p:nvSpPr>
        <p:spPr>
          <a:xfrm xmlns:a="http://schemas.openxmlformats.org/drawingml/2006/main">
            <a:off x="7810500" y="3476625"/>
            <a:ext cx="3238500" cy="3667125"/>
          </a:xfrm>
          <a:prstGeom xmlns:a="http://schemas.openxmlformats.org/drawingml/2006/main" prst="rect">
            <a:avLst/>
          </a:prstGeom>
          <a:solidFill xmlns:a="http://schemas.openxmlformats.org/drawingml/2006/main">
            <a:srgbClr val="F1F5F8"/>
          </a:solidFill>
          <a:ln xmlns:a="http://schemas.openxmlformats.org/drawingml/2006/main" w="9525">
            <a:solidFill>
              <a:srgbClr val="D8E1E8"/>
            </a:solidFill>
          </a:ln>
        </p:spPr>
      </p:sp>
      <p:sp>
        <p:nvSpPr>
          <p:cNvPr id="25" name="diagram-2063">
            <a:extLst xmlns:a="http://schemas.openxmlformats.org/drawingml/2006/main">
              <a:ext uri="{FF2B5EF4-FFF2-40B4-BE49-F238E27FC236}">
                <a16:creationId xmlns:a16="http://schemas.microsoft.com/office/drawing/2014/main" id="{A6209392-DDDD-4ECA-A448-1871E7EADE16}"/>
              </a:ext>
            </a:extLst>
          </p:cNvPr>
          <p:cNvSpPr>
            <a:spLocks xmlns:a="http://schemas.openxmlformats.org/drawingml/2006/main" noGrp="1"/>
          </p:cNvSpPr>
          <p:nvPr/>
        </p:nvSpPr>
        <p:spPr>
          <a:xfrm xmlns:a="http://schemas.openxmlformats.org/drawingml/2006/main">
            <a:off x="7810500" y="3476625"/>
            <a:ext cx="3238500" cy="66675"/>
          </a:xfrm>
          <a:prstGeom xmlns:a="http://schemas.openxmlformats.org/drawingml/2006/main" prst="rect">
            <a:avLst/>
          </a:prstGeom>
          <a:solidFill xmlns:a="http://schemas.openxmlformats.org/drawingml/2006/main">
            <a:srgbClr val="087C80"/>
          </a:solidFill>
          <a:ln xmlns:a="http://schemas.openxmlformats.org/drawingml/2006/main" w="9525">
            <a:solidFill>
              <a:srgbClr val="087C80"/>
            </a:solidFill>
          </a:ln>
        </p:spPr>
      </p:sp>
      <p:sp>
        <p:nvSpPr>
          <p:cNvPr id="26" name="text-2064">
            <a:extLst xmlns:a="http://schemas.openxmlformats.org/drawingml/2006/main">
              <a:ext uri="{FF2B5EF4-FFF2-40B4-BE49-F238E27FC236}">
                <a16:creationId xmlns:a16="http://schemas.microsoft.com/office/drawing/2014/main" id="{22AB310E-C2A8-4663-8C85-4C03400FC9ED}"/>
              </a:ext>
            </a:extLst>
          </p:cNvPr>
          <p:cNvSpPr>
            <a:spLocks xmlns:a="http://schemas.openxmlformats.org/drawingml/2006/main" noGrp="1"/>
          </p:cNvSpPr>
          <p:nvPr/>
        </p:nvSpPr>
        <p:spPr>
          <a:xfrm xmlns:a="http://schemas.openxmlformats.org/drawingml/2006/main">
            <a:off x="7981950" y="3724275"/>
            <a:ext cx="28956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C80"/>
                </a:solidFill>
                <a:latin typeface="Calibri"/>
                <a:ea typeface="Calibri"/>
                <a:cs typeface="Calibri"/>
              </a:defRPr>
            </a:defPPr>
          </a:lstStyle>
          <a:p xmlns:a="http://schemas.openxmlformats.org/drawingml/2006/main">
            <a:pPr algn="l">
              <a:defRPr sz="2025" b="1">
                <a:solidFill>
                  <a:srgbClr val="087C80"/>
                </a:solidFill>
                <a:latin typeface="Calibri"/>
                <a:ea typeface="Calibri"/>
                <a:cs typeface="Calibri"/>
              </a:defRPr>
            </a:pPr>
            <a:r>
              <a:rPr sz="2025" b="1">
                <a:solidFill>
                  <a:srgbClr val="087C80"/>
                </a:solidFill>
                <a:latin typeface="Calibri"/>
                <a:ea typeface="Calibri"/>
                <a:cs typeface="Calibri"/>
              </a:rPr>
              <a:t>Internal user acting as</a:t>
            </a:r>
          </a:p>
          <a:p xmlns:a="http://schemas.openxmlformats.org/drawingml/2006/main">
            <a:pPr algn="l">
              <a:defRPr sz="2025" b="1">
                <a:solidFill>
                  <a:srgbClr val="087C80"/>
                </a:solidFill>
                <a:latin typeface="Calibri"/>
                <a:ea typeface="Calibri"/>
                <a:cs typeface="Calibri"/>
              </a:defRPr>
            </a:pPr>
            <a:r>
              <a:rPr sz="2025" b="1">
                <a:solidFill>
                  <a:srgbClr val="087C80"/>
                </a:solidFill>
                <a:latin typeface="Calibri"/>
                <a:ea typeface="Calibri"/>
                <a:cs typeface="Calibri"/>
              </a:rPr>
              <a:t>business administrator</a:t>
            </a:r>
          </a:p>
        </p:txBody>
      </p:sp>
      <p:sp>
        <p:nvSpPr>
          <p:cNvPr id="27" name="text-2065">
            <a:extLst xmlns:a="http://schemas.openxmlformats.org/drawingml/2006/main">
              <a:ext uri="{FF2B5EF4-FFF2-40B4-BE49-F238E27FC236}">
                <a16:creationId xmlns:a16="http://schemas.microsoft.com/office/drawing/2014/main" id="{95047999-3DEB-4A6B-A219-8C0E851DE424}"/>
              </a:ext>
            </a:extLst>
          </p:cNvPr>
          <p:cNvSpPr>
            <a:spLocks xmlns:a="http://schemas.openxmlformats.org/drawingml/2006/main" noGrp="1"/>
          </p:cNvSpPr>
          <p:nvPr/>
        </p:nvSpPr>
        <p:spPr>
          <a:xfrm xmlns:a="http://schemas.openxmlformats.org/drawingml/2006/main">
            <a:off x="7981950" y="4695825"/>
            <a:ext cx="2895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0"/>
                </a:solidFill>
                <a:latin typeface="Calibri"/>
                <a:ea typeface="Calibri"/>
                <a:cs typeface="Calibri"/>
              </a:defRPr>
            </a:defPPr>
          </a:lstStyle>
          <a:p xmlns:a="http://schemas.openxmlformats.org/drawingml/2006/main">
            <a:pPr algn="l">
              <a:defRPr sz="1875" b="0">
                <a:solidFill>
                  <a:srgbClr val="142D40"/>
                </a:solidFill>
                <a:latin typeface="Calibri"/>
                <a:ea typeface="Calibri"/>
                <a:cs typeface="Calibri"/>
              </a:defRPr>
            </a:pPr>
            <a:r>
              <a:rPr sz="1875" b="0">
                <a:solidFill>
                  <a:srgbClr val="142D40"/>
                </a:solidFill>
                <a:latin typeface="Calibri"/>
                <a:ea typeface="Calibri"/>
                <a:cs typeface="Calibri"/>
              </a:rPr>
              <a:t>Manages client organizations, users or entitlements within an approved business scope.</a:t>
            </a:r>
          </a:p>
        </p:txBody>
      </p:sp>
      <p:sp>
        <p:nvSpPr>
          <p:cNvPr id="28" name="text-2066">
            <a:extLst xmlns:a="http://schemas.openxmlformats.org/drawingml/2006/main">
              <a:ext uri="{FF2B5EF4-FFF2-40B4-BE49-F238E27FC236}">
                <a16:creationId xmlns:a16="http://schemas.microsoft.com/office/drawing/2014/main" id="{CADA5C51-7502-4D28-8B4B-FEC05A394767}"/>
              </a:ext>
            </a:extLst>
          </p:cNvPr>
          <p:cNvSpPr>
            <a:spLocks xmlns:a="http://schemas.openxmlformats.org/drawingml/2006/main" noGrp="1"/>
          </p:cNvSpPr>
          <p:nvPr/>
        </p:nvSpPr>
        <p:spPr>
          <a:xfrm xmlns:a="http://schemas.openxmlformats.org/drawingml/2006/main">
            <a:off x="7981950" y="5857875"/>
            <a:ext cx="2895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567083"/>
                </a:solidFill>
                <a:latin typeface="Calibri"/>
                <a:ea typeface="Calibri"/>
                <a:cs typeface="Calibri"/>
              </a:defRPr>
            </a:defPPr>
          </a:lstStyle>
          <a:p xmlns:a="http://schemas.openxmlformats.org/drawingml/2006/main">
            <a:pPr algn="l">
              <a:defRPr sz="1650" b="1">
                <a:solidFill>
                  <a:srgbClr val="567083"/>
                </a:solidFill>
                <a:latin typeface="Calibri"/>
                <a:ea typeface="Calibri"/>
                <a:cs typeface="Calibri"/>
              </a:defRPr>
            </a:pPr>
            <a:r>
              <a:rPr sz="1650" b="1">
                <a:solidFill>
                  <a:srgbClr val="567083"/>
                </a:solidFill>
                <a:latin typeface="Calibri"/>
                <a:ea typeface="Calibri"/>
                <a:cs typeface="Calibri"/>
              </a:rPr>
              <a:t>CIAM involvement</a:t>
            </a:r>
          </a:p>
        </p:txBody>
      </p:sp>
      <p:sp>
        <p:nvSpPr>
          <p:cNvPr id="29" name="text-2067">
            <a:extLst xmlns:a="http://schemas.openxmlformats.org/drawingml/2006/main">
              <a:ext uri="{FF2B5EF4-FFF2-40B4-BE49-F238E27FC236}">
                <a16:creationId xmlns:a16="http://schemas.microsoft.com/office/drawing/2014/main" id="{B11193A2-16F6-4D2F-9B57-BA849E83CE86}"/>
              </a:ext>
            </a:extLst>
          </p:cNvPr>
          <p:cNvSpPr>
            <a:spLocks xmlns:a="http://schemas.openxmlformats.org/drawingml/2006/main" noGrp="1"/>
          </p:cNvSpPr>
          <p:nvPr/>
        </p:nvSpPr>
        <p:spPr>
          <a:xfrm xmlns:a="http://schemas.openxmlformats.org/drawingml/2006/main">
            <a:off x="7981950" y="6210300"/>
            <a:ext cx="2895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67083"/>
                </a:solidFill>
                <a:latin typeface="Calibri"/>
                <a:ea typeface="Calibri"/>
                <a:cs typeface="Calibri"/>
              </a:defRPr>
            </a:defPPr>
          </a:lstStyle>
          <a:p xmlns:a="http://schemas.openxmlformats.org/drawingml/2006/main">
            <a:pPr algn="l">
              <a:defRPr sz="1650" b="0">
                <a:solidFill>
                  <a:srgbClr val="567083"/>
                </a:solidFill>
                <a:latin typeface="Calibri"/>
                <a:ea typeface="Calibri"/>
                <a:cs typeface="Calibri"/>
              </a:defRPr>
            </a:pPr>
            <a:r>
              <a:rPr sz="1650" b="0">
                <a:solidFill>
                  <a:srgbClr val="567083"/>
                </a:solidFill>
                <a:latin typeface="Calibri"/>
                <a:ea typeface="Calibri"/>
                <a:cs typeface="Calibri"/>
              </a:rPr>
              <a:t>Client directory and lifecycle or entitlement APIs.</a:t>
            </a:r>
          </a:p>
        </p:txBody>
      </p:sp>
      <p:sp>
        <p:nvSpPr>
          <p:cNvPr id="30" name="diagram-2068">
            <a:extLst xmlns:a="http://schemas.openxmlformats.org/drawingml/2006/main">
              <a:ext uri="{FF2B5EF4-FFF2-40B4-BE49-F238E27FC236}">
                <a16:creationId xmlns:a16="http://schemas.microsoft.com/office/drawing/2014/main" id="{9BD09D6B-0C56-4F31-A239-95115DEDB9A4}"/>
              </a:ext>
            </a:extLst>
          </p:cNvPr>
          <p:cNvSpPr>
            <a:spLocks xmlns:a="http://schemas.openxmlformats.org/drawingml/2006/main" noGrp="1"/>
          </p:cNvSpPr>
          <p:nvPr/>
        </p:nvSpPr>
        <p:spPr>
          <a:xfrm xmlns:a="http://schemas.openxmlformats.org/drawingml/2006/main">
            <a:off x="11430000" y="3476625"/>
            <a:ext cx="3238500" cy="3667125"/>
          </a:xfrm>
          <a:prstGeom xmlns:a="http://schemas.openxmlformats.org/drawingml/2006/main" prst="rect">
            <a:avLst/>
          </a:prstGeom>
          <a:solidFill xmlns:a="http://schemas.openxmlformats.org/drawingml/2006/main">
            <a:srgbClr val="F1F5F8"/>
          </a:solidFill>
          <a:ln xmlns:a="http://schemas.openxmlformats.org/drawingml/2006/main" w="9525">
            <a:solidFill>
              <a:srgbClr val="D8E1E8"/>
            </a:solidFill>
          </a:ln>
        </p:spPr>
      </p:sp>
      <p:sp>
        <p:nvSpPr>
          <p:cNvPr id="31" name="diagram-2069">
            <a:extLst xmlns:a="http://schemas.openxmlformats.org/drawingml/2006/main">
              <a:ext uri="{FF2B5EF4-FFF2-40B4-BE49-F238E27FC236}">
                <a16:creationId xmlns:a16="http://schemas.microsoft.com/office/drawing/2014/main" id="{02195CC4-93F3-45D2-91D1-EA65A3B6ADE9}"/>
              </a:ext>
            </a:extLst>
          </p:cNvPr>
          <p:cNvSpPr>
            <a:spLocks xmlns:a="http://schemas.openxmlformats.org/drawingml/2006/main" noGrp="1"/>
          </p:cNvSpPr>
          <p:nvPr/>
        </p:nvSpPr>
        <p:spPr>
          <a:xfrm xmlns:a="http://schemas.openxmlformats.org/drawingml/2006/main">
            <a:off x="11430000" y="3476625"/>
            <a:ext cx="3238500" cy="66675"/>
          </a:xfrm>
          <a:prstGeom xmlns:a="http://schemas.openxmlformats.org/drawingml/2006/main" prst="rect">
            <a:avLst/>
          </a:prstGeom>
          <a:solidFill xmlns:a="http://schemas.openxmlformats.org/drawingml/2006/main">
            <a:srgbClr val="087C80"/>
          </a:solidFill>
          <a:ln xmlns:a="http://schemas.openxmlformats.org/drawingml/2006/main" w="9525">
            <a:solidFill>
              <a:srgbClr val="087C80"/>
            </a:solidFill>
          </a:ln>
        </p:spPr>
      </p:sp>
      <p:sp>
        <p:nvSpPr>
          <p:cNvPr id="32" name="text-2070">
            <a:extLst xmlns:a="http://schemas.openxmlformats.org/drawingml/2006/main">
              <a:ext uri="{FF2B5EF4-FFF2-40B4-BE49-F238E27FC236}">
                <a16:creationId xmlns:a16="http://schemas.microsoft.com/office/drawing/2014/main" id="{4C8F3614-3C07-469D-B769-0CBF9DEF7E34}"/>
              </a:ext>
            </a:extLst>
          </p:cNvPr>
          <p:cNvSpPr>
            <a:spLocks xmlns:a="http://schemas.openxmlformats.org/drawingml/2006/main" noGrp="1"/>
          </p:cNvSpPr>
          <p:nvPr/>
        </p:nvSpPr>
        <p:spPr>
          <a:xfrm xmlns:a="http://schemas.openxmlformats.org/drawingml/2006/main">
            <a:off x="11601450" y="3724275"/>
            <a:ext cx="28956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87C80"/>
                </a:solidFill>
                <a:latin typeface="Calibri"/>
                <a:ea typeface="Calibri"/>
                <a:cs typeface="Calibri"/>
              </a:defRPr>
            </a:defPPr>
          </a:lstStyle>
          <a:p xmlns:a="http://schemas.openxmlformats.org/drawingml/2006/main">
            <a:pPr algn="l">
              <a:defRPr sz="2025" b="1">
                <a:solidFill>
                  <a:srgbClr val="087C80"/>
                </a:solidFill>
                <a:latin typeface="Calibri"/>
                <a:ea typeface="Calibri"/>
                <a:cs typeface="Calibri"/>
              </a:defRPr>
            </a:pPr>
            <a:r>
              <a:rPr sz="2025" b="1">
                <a:solidFill>
                  <a:srgbClr val="087C80"/>
                </a:solidFill>
                <a:latin typeface="Calibri"/>
                <a:ea typeface="Calibri"/>
                <a:cs typeface="Calibri"/>
              </a:rPr>
              <a:t>Internal user acting as</a:t>
            </a:r>
          </a:p>
          <a:p xmlns:a="http://schemas.openxmlformats.org/drawingml/2006/main">
            <a:pPr algn="l">
              <a:defRPr sz="2025" b="1">
                <a:solidFill>
                  <a:srgbClr val="087C80"/>
                </a:solidFill>
                <a:latin typeface="Calibri"/>
                <a:ea typeface="Calibri"/>
                <a:cs typeface="Calibri"/>
              </a:defRPr>
            </a:pPr>
            <a:r>
              <a:rPr sz="2025" b="1">
                <a:solidFill>
                  <a:srgbClr val="087C80"/>
                </a:solidFill>
                <a:latin typeface="Calibri"/>
                <a:ea typeface="Calibri"/>
                <a:cs typeface="Calibri"/>
              </a:rPr>
              <a:t>software administrator</a:t>
            </a:r>
          </a:p>
        </p:txBody>
      </p:sp>
      <p:sp>
        <p:nvSpPr>
          <p:cNvPr id="33" name="text-2071">
            <a:extLst xmlns:a="http://schemas.openxmlformats.org/drawingml/2006/main">
              <a:ext uri="{FF2B5EF4-FFF2-40B4-BE49-F238E27FC236}">
                <a16:creationId xmlns:a16="http://schemas.microsoft.com/office/drawing/2014/main" id="{67002F04-20FB-4042-AEAB-B87812A3F02F}"/>
              </a:ext>
            </a:extLst>
          </p:cNvPr>
          <p:cNvSpPr>
            <a:spLocks xmlns:a="http://schemas.openxmlformats.org/drawingml/2006/main" noGrp="1"/>
          </p:cNvSpPr>
          <p:nvPr/>
        </p:nvSpPr>
        <p:spPr>
          <a:xfrm xmlns:a="http://schemas.openxmlformats.org/drawingml/2006/main">
            <a:off x="11601450" y="4695825"/>
            <a:ext cx="28956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D40"/>
                </a:solidFill>
                <a:latin typeface="Calibri"/>
                <a:ea typeface="Calibri"/>
                <a:cs typeface="Calibri"/>
              </a:defRPr>
            </a:defPPr>
          </a:lstStyle>
          <a:p xmlns:a="http://schemas.openxmlformats.org/drawingml/2006/main">
            <a:pPr algn="l">
              <a:defRPr sz="1875" b="0">
                <a:solidFill>
                  <a:srgbClr val="142D40"/>
                </a:solidFill>
                <a:latin typeface="Calibri"/>
                <a:ea typeface="Calibri"/>
                <a:cs typeface="Calibri"/>
              </a:defRPr>
            </a:pPr>
            <a:r>
              <a:rPr sz="1875" b="0">
                <a:solidFill>
                  <a:srgbClr val="142D40"/>
                </a:solidFill>
                <a:latin typeface="Calibri"/>
                <a:ea typeface="Calibri"/>
                <a:cs typeface="Calibri"/>
              </a:rPr>
              <a:t>Administers platforms and technical configuration in the management plane.</a:t>
            </a:r>
          </a:p>
        </p:txBody>
      </p:sp>
      <p:sp>
        <p:nvSpPr>
          <p:cNvPr id="34" name="text-2072">
            <a:extLst xmlns:a="http://schemas.openxmlformats.org/drawingml/2006/main">
              <a:ext uri="{FF2B5EF4-FFF2-40B4-BE49-F238E27FC236}">
                <a16:creationId xmlns:a16="http://schemas.microsoft.com/office/drawing/2014/main" id="{4EF2F6E6-760D-43E6-A9B1-7FEB6F2B7672}"/>
              </a:ext>
            </a:extLst>
          </p:cNvPr>
          <p:cNvSpPr>
            <a:spLocks xmlns:a="http://schemas.openxmlformats.org/drawingml/2006/main" noGrp="1"/>
          </p:cNvSpPr>
          <p:nvPr/>
        </p:nvSpPr>
        <p:spPr>
          <a:xfrm xmlns:a="http://schemas.openxmlformats.org/drawingml/2006/main">
            <a:off x="11601450" y="5857875"/>
            <a:ext cx="2895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567083"/>
                </a:solidFill>
                <a:latin typeface="Calibri"/>
                <a:ea typeface="Calibri"/>
                <a:cs typeface="Calibri"/>
              </a:defRPr>
            </a:defPPr>
          </a:lstStyle>
          <a:p xmlns:a="http://schemas.openxmlformats.org/drawingml/2006/main">
            <a:pPr algn="l">
              <a:defRPr sz="1650" b="1">
                <a:solidFill>
                  <a:srgbClr val="567083"/>
                </a:solidFill>
                <a:latin typeface="Calibri"/>
                <a:ea typeface="Calibri"/>
                <a:cs typeface="Calibri"/>
              </a:defRPr>
            </a:pPr>
            <a:r>
              <a:rPr sz="1650" b="1">
                <a:solidFill>
                  <a:srgbClr val="567083"/>
                </a:solidFill>
                <a:latin typeface="Calibri"/>
                <a:ea typeface="Calibri"/>
                <a:cs typeface="Calibri"/>
              </a:rPr>
              <a:t>CIAM involvement</a:t>
            </a:r>
          </a:p>
        </p:txBody>
      </p:sp>
      <p:sp>
        <p:nvSpPr>
          <p:cNvPr id="35" name="text-2073">
            <a:extLst xmlns:a="http://schemas.openxmlformats.org/drawingml/2006/main">
              <a:ext uri="{FF2B5EF4-FFF2-40B4-BE49-F238E27FC236}">
                <a16:creationId xmlns:a16="http://schemas.microsoft.com/office/drawing/2014/main" id="{7AF0CC17-1296-4DC0-A634-BC7E562FA41E}"/>
              </a:ext>
            </a:extLst>
          </p:cNvPr>
          <p:cNvSpPr>
            <a:spLocks xmlns:a="http://schemas.openxmlformats.org/drawingml/2006/main" noGrp="1"/>
          </p:cNvSpPr>
          <p:nvPr/>
        </p:nvSpPr>
        <p:spPr>
          <a:xfrm xmlns:a="http://schemas.openxmlformats.org/drawingml/2006/main">
            <a:off x="11601450" y="6210300"/>
            <a:ext cx="28956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67083"/>
                </a:solidFill>
                <a:latin typeface="Calibri"/>
                <a:ea typeface="Calibri"/>
                <a:cs typeface="Calibri"/>
              </a:defRPr>
            </a:defPPr>
          </a:lstStyle>
          <a:p xmlns:a="http://schemas.openxmlformats.org/drawingml/2006/main">
            <a:pPr algn="l">
              <a:defRPr sz="1650" b="0">
                <a:solidFill>
                  <a:srgbClr val="567083"/>
                </a:solidFill>
                <a:latin typeface="Calibri"/>
                <a:ea typeface="Calibri"/>
                <a:cs typeface="Calibri"/>
              </a:defRPr>
            </a:pPr>
            <a:r>
              <a:rPr sz="1650" b="0">
                <a:solidFill>
                  <a:srgbClr val="567083"/>
                </a:solidFill>
                <a:latin typeface="Calibri"/>
                <a:ea typeface="Calibri"/>
                <a:cs typeface="Calibri"/>
              </a:rPr>
              <a:t>Managed CIAM platform, when that is the target.</a:t>
            </a:r>
          </a:p>
        </p:txBody>
      </p:sp>
      <p:sp>
        <p:nvSpPr>
          <p:cNvPr id="36" name="text-2074">
            <a:extLst xmlns:a="http://schemas.openxmlformats.org/drawingml/2006/main">
              <a:ext uri="{FF2B5EF4-FFF2-40B4-BE49-F238E27FC236}">
                <a16:creationId xmlns:a16="http://schemas.microsoft.com/office/drawing/2014/main" id="{5FC33AB6-703C-4E52-BB6A-B6D911F728C2}"/>
              </a:ext>
            </a:extLst>
          </p:cNvPr>
          <p:cNvSpPr>
            <a:spLocks xmlns:a="http://schemas.openxmlformats.org/drawingml/2006/main" noGrp="1"/>
          </p:cNvSpPr>
          <p:nvPr/>
        </p:nvSpPr>
        <p:spPr>
          <a:xfrm xmlns:a="http://schemas.openxmlformats.org/drawingml/2006/main">
            <a:off x="571500" y="7353300"/>
            <a:ext cx="140970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42D40"/>
                </a:solidFill>
                <a:latin typeface="Calibri"/>
                <a:ea typeface="Calibri"/>
                <a:cs typeface="Calibri"/>
              </a:defRPr>
            </a:defPPr>
          </a:lstStyle>
          <a:p xmlns:a="http://schemas.openxmlformats.org/drawingml/2006/main">
            <a:pPr algn="l">
              <a:defRPr sz="2025" b="1">
                <a:solidFill>
                  <a:srgbClr val="142D40"/>
                </a:solidFill>
                <a:latin typeface="Calibri"/>
                <a:ea typeface="Calibri"/>
                <a:cs typeface="Calibri"/>
              </a:defRPr>
            </a:pPr>
            <a:r>
              <a:rPr sz="2025" b="1">
                <a:solidFill>
                  <a:srgbClr val="142D40"/>
                </a:solidFill>
                <a:latin typeface="Calibri"/>
                <a:ea typeface="Calibri"/>
                <a:cs typeface="Calibri"/>
              </a:rPr>
              <a:t>IDAM owns employee identity and authentication. Applications enforce mode and action scope. CIAM involvement follows the task.</a:t>
            </a:r>
          </a:p>
        </p:txBody>
      </p:sp>
    </p:spTree>
    <p:extLst>
      <p:ext uri="{BB962C8B-B14F-4D97-AF65-F5344CB8AC3E}">
        <p14:creationId xmlns:p14="http://schemas.microsoft.com/office/powerpoint/2010/main" val="968189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 name="text-2075">
            <a:extLst xmlns:a="http://schemas.openxmlformats.org/drawingml/2006/main">
              <a:ext uri="{FF2B5EF4-FFF2-40B4-BE49-F238E27FC236}">
                <a16:creationId xmlns:a16="http://schemas.microsoft.com/office/drawing/2014/main" id="{25CFA584-334F-4F81-BD83-E6E0BACF2B55}"/>
              </a:ext>
            </a:extLst>
          </p:cNvPr>
          <p:cNvSpPr>
            <a:spLocks xmlns:a="http://schemas.openxmlformats.org/drawingml/2006/main" noGrp="1"/>
          </p:cNvSpPr>
          <p:nvPr/>
        </p:nvSpPr>
        <p:spPr>
          <a:xfrm xmlns:a="http://schemas.openxmlformats.org/drawingml/2006/main">
            <a:off x="571500" y="247650"/>
            <a:ext cx="1333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567083"/>
                </a:solidFill>
                <a:latin typeface="Calibri"/>
                <a:ea typeface="Calibri"/>
                <a:cs typeface="Calibri"/>
              </a:defRPr>
            </a:defPPr>
          </a:lstStyle>
          <a:p xmlns:a="http://schemas.openxmlformats.org/drawingml/2006/main">
            <a:pPr algn="l">
              <a:defRPr sz="1350" b="1">
                <a:solidFill>
                  <a:srgbClr val="567083"/>
                </a:solidFill>
                <a:latin typeface="Calibri"/>
                <a:ea typeface="Calibri"/>
                <a:cs typeface="Calibri"/>
              </a:defRPr>
            </a:pPr>
            <a:r>
              <a:rPr sz="1350" b="1">
                <a:solidFill>
                  <a:srgbClr val="567083"/>
                </a:solidFill>
                <a:latin typeface="Calibri"/>
                <a:ea typeface="Calibri"/>
                <a:cs typeface="Calibri"/>
              </a:rPr>
              <a:t>EUROCLEAR   /   ENTERPRISE IDENTITY ARCHITECTURE</a:t>
            </a:r>
          </a:p>
        </p:txBody>
      </p:sp>
      <p:sp>
        <p:nvSpPr>
          <p:cNvPr id="2" name="text-2076">
            <a:extLst xmlns:a="http://schemas.openxmlformats.org/drawingml/2006/main">
              <a:ext uri="{FF2B5EF4-FFF2-40B4-BE49-F238E27FC236}">
                <a16:creationId xmlns:a16="http://schemas.microsoft.com/office/drawing/2014/main" id="{F3B52193-D8CC-4CA4-94CF-20882241D463}"/>
              </a:ext>
            </a:extLst>
          </p:cNvPr>
          <p:cNvSpPr>
            <a:spLocks xmlns:a="http://schemas.openxmlformats.org/drawingml/2006/main" noGrp="1"/>
          </p:cNvSpPr>
          <p:nvPr/>
        </p:nvSpPr>
        <p:spPr>
          <a:xfrm xmlns:a="http://schemas.openxmlformats.org/drawingml/2006/main">
            <a:off x="571500" y="742950"/>
            <a:ext cx="14097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D40"/>
                </a:solidFill>
                <a:latin typeface="Calibri"/>
                <a:ea typeface="Calibri"/>
                <a:cs typeface="Calibri"/>
              </a:defRPr>
            </a:defPPr>
          </a:lstStyle>
          <a:p xmlns:a="http://schemas.openxmlformats.org/drawingml/2006/main">
            <a:pPr algn="l">
              <a:defRPr sz="3450" b="1">
                <a:solidFill>
                  <a:srgbClr val="142D40"/>
                </a:solidFill>
                <a:latin typeface="Calibri"/>
                <a:ea typeface="Calibri"/>
                <a:cs typeface="Calibri"/>
              </a:defRPr>
            </a:pPr>
            <a:r>
              <a:rPr sz="3450" b="1">
                <a:solidFill>
                  <a:srgbClr val="142D40"/>
                </a:solidFill>
                <a:latin typeface="Calibri"/>
                <a:ea typeface="Calibri"/>
                <a:cs typeface="Calibri"/>
              </a:rPr>
              <a:t>Federation - when and why</a:t>
            </a:r>
          </a:p>
        </p:txBody>
      </p:sp>
      <p:sp>
        <p:nvSpPr>
          <p:cNvPr id="3" name="text-2077">
            <a:extLst xmlns:a="http://schemas.openxmlformats.org/drawingml/2006/main">
              <a:ext uri="{FF2B5EF4-FFF2-40B4-BE49-F238E27FC236}">
                <a16:creationId xmlns:a16="http://schemas.microsoft.com/office/drawing/2014/main" id="{3E6EDB23-682B-429B-B95E-1F0487CBD19A}"/>
              </a:ext>
            </a:extLst>
          </p:cNvPr>
          <p:cNvSpPr>
            <a:spLocks xmlns:a="http://schemas.openxmlformats.org/drawingml/2006/main" noGrp="1"/>
          </p:cNvSpPr>
          <p:nvPr/>
        </p:nvSpPr>
        <p:spPr>
          <a:xfrm xmlns:a="http://schemas.openxmlformats.org/drawingml/2006/main">
            <a:off x="571500" y="1419225"/>
            <a:ext cx="14097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7083"/>
                </a:solidFill>
                <a:latin typeface="Calibri"/>
                <a:ea typeface="Calibri"/>
                <a:cs typeface="Calibri"/>
              </a:defRPr>
            </a:defPPr>
          </a:lstStyle>
          <a:p xmlns:a="http://schemas.openxmlformats.org/drawingml/2006/main">
            <a:pPr algn="l">
              <a:defRPr sz="1875" b="0">
                <a:solidFill>
                  <a:srgbClr val="567083"/>
                </a:solidFill>
                <a:latin typeface="Calibri"/>
                <a:ea typeface="Calibri"/>
                <a:cs typeface="Calibri"/>
              </a:defRPr>
            </a:pPr>
            <a:r>
              <a:rPr sz="1875" b="0">
                <a:solidFill>
                  <a:srgbClr val="567083"/>
                </a:solidFill>
                <a:latin typeface="Calibri"/>
                <a:ea typeface="Calibri"/>
                <a:cs typeface="Calibri"/>
              </a:rPr>
              <a:t>IDAM remains the employee authentication authority in each workforce federation pattern.</a:t>
            </a:r>
          </a:p>
        </p:txBody>
      </p:sp>
      <p:sp>
        <p:nvSpPr>
          <p:cNvPr id="4" name="line-2078">
            <a:extLst xmlns:a="http://schemas.openxmlformats.org/drawingml/2006/main">
              <a:ext uri="{FF2B5EF4-FFF2-40B4-BE49-F238E27FC236}">
                <a16:creationId xmlns:a16="http://schemas.microsoft.com/office/drawing/2014/main" id="{B152E524-38DF-46C6-A936-6997C96DE1B4}"/>
              </a:ext>
            </a:extLst>
          </p:cNvPr>
          <p:cNvSpPr>
            <a:spLocks xmlns:a="http://schemas.openxmlformats.org/drawingml/2006/main" noGrp="1"/>
          </p:cNvSpPr>
          <p:nvPr/>
        </p:nvSpPr>
        <p:spPr>
          <a:xfrm xmlns:a="http://schemas.openxmlformats.org/drawingml/2006/main">
            <a:off x="571500" y="8048625"/>
            <a:ext cx="14097000" cy="0"/>
          </a:xfrm>
          <a:prstGeom xmlns:a="http://schemas.openxmlformats.org/drawingml/2006/main" prst="line">
            <a:avLst/>
          </a:prstGeom>
          <a:noFill xmlns:a="http://schemas.openxmlformats.org/drawingml/2006/main"/>
          <a:ln xmlns:a="http://schemas.openxmlformats.org/drawingml/2006/main" w="13335">
            <a:solidFill>
              <a:srgbClr val="D8E1E8"/>
            </a:solidFill>
          </a:ln>
        </p:spPr>
      </p:sp>
      <p:sp>
        <p:nvSpPr>
          <p:cNvPr id="5" name="text-2079">
            <a:extLst xmlns:a="http://schemas.openxmlformats.org/drawingml/2006/main">
              <a:ext uri="{FF2B5EF4-FFF2-40B4-BE49-F238E27FC236}">
                <a16:creationId xmlns:a16="http://schemas.microsoft.com/office/drawing/2014/main" id="{33DB6AE9-95BC-4B19-AE8E-823F90503FDC}"/>
              </a:ext>
            </a:extLst>
          </p:cNvPr>
          <p:cNvSpPr>
            <a:spLocks xmlns:a="http://schemas.openxmlformats.org/drawingml/2006/main" noGrp="1"/>
          </p:cNvSpPr>
          <p:nvPr/>
        </p:nvSpPr>
        <p:spPr>
          <a:xfrm xmlns:a="http://schemas.openxmlformats.org/drawingml/2006/main">
            <a:off x="571500" y="8172450"/>
            <a:ext cx="12954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7083"/>
                </a:solidFill>
                <a:latin typeface="Calibri"/>
                <a:ea typeface="Calibri"/>
                <a:cs typeface="Calibri"/>
              </a:defRPr>
            </a:defPPr>
          </a:lstStyle>
          <a:p xmlns:a="http://schemas.openxmlformats.org/drawingml/2006/main">
            <a:pPr algn="l">
              <a:defRPr sz="1275" b="0">
                <a:solidFill>
                  <a:srgbClr val="567083"/>
                </a:solidFill>
                <a:latin typeface="Calibri"/>
                <a:ea typeface="Calibri"/>
                <a:cs typeface="Calibri"/>
              </a:defRPr>
            </a:pPr>
            <a:r>
              <a:rPr sz="1275" b="0">
                <a:solidFill>
                  <a:srgbClr val="567083"/>
                </a:solidFill>
                <a:latin typeface="Calibri"/>
                <a:ea typeface="Calibri"/>
                <a:cs typeface="Calibri"/>
              </a:rPr>
              <a:t>Proposed responsibility model for architecture alignment   /   Standards-informed</a:t>
            </a:r>
          </a:p>
        </p:txBody>
      </p:sp>
      <p:sp>
        <p:nvSpPr>
          <p:cNvPr id="6" name="text-2080">
            <a:extLst xmlns:a="http://schemas.openxmlformats.org/drawingml/2006/main">
              <a:ext uri="{FF2B5EF4-FFF2-40B4-BE49-F238E27FC236}">
                <a16:creationId xmlns:a16="http://schemas.microsoft.com/office/drawing/2014/main" id="{097BFB0B-93CA-4A08-9046-DE2F691B9E87}"/>
              </a:ext>
            </a:extLst>
          </p:cNvPr>
          <p:cNvSpPr>
            <a:spLocks xmlns:a="http://schemas.openxmlformats.org/drawingml/2006/main" noGrp="1"/>
          </p:cNvSpPr>
          <p:nvPr/>
        </p:nvSpPr>
        <p:spPr>
          <a:xfrm xmlns:a="http://schemas.openxmlformats.org/drawingml/2006/main">
            <a:off x="14001750" y="8143875"/>
            <a:ext cx="666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1">
                <a:solidFill>
                  <a:srgbClr val="567083"/>
                </a:solidFill>
                <a:latin typeface="Calibri"/>
                <a:ea typeface="Calibri"/>
                <a:cs typeface="Calibri"/>
              </a:defRPr>
            </a:defPPr>
          </a:lstStyle>
          <a:p xmlns:a="http://schemas.openxmlformats.org/drawingml/2006/main">
            <a:pPr algn="r">
              <a:defRPr sz="1350" b="1">
                <a:solidFill>
                  <a:srgbClr val="567083"/>
                </a:solidFill>
                <a:latin typeface="Calibri"/>
                <a:ea typeface="Calibri"/>
                <a:cs typeface="Calibri"/>
              </a:defRPr>
            </a:pPr>
            <a:r>
              <a:rPr sz="1350" b="1">
                <a:solidFill>
                  <a:srgbClr val="567083"/>
                </a:solidFill>
                <a:latin typeface="Calibri"/>
                <a:ea typeface="Calibri"/>
                <a:cs typeface="Calibri"/>
              </a:rPr>
              <a:t>04</a:t>
            </a:r>
          </a:p>
        </p:txBody>
      </p:sp>
      <p:sp>
        <p:nvSpPr>
          <p:cNvPr id="7" name="text-2081">
            <a:extLst xmlns:a="http://schemas.openxmlformats.org/drawingml/2006/main">
              <a:ext uri="{FF2B5EF4-FFF2-40B4-BE49-F238E27FC236}">
                <a16:creationId xmlns:a16="http://schemas.microsoft.com/office/drawing/2014/main" id="{BB70E2E1-2CA4-4713-B8A4-A1E662244139}"/>
              </a:ext>
            </a:extLst>
          </p:cNvPr>
          <p:cNvSpPr>
            <a:spLocks xmlns:a="http://schemas.openxmlformats.org/drawingml/2006/main" noGrp="1"/>
          </p:cNvSpPr>
          <p:nvPr/>
        </p:nvSpPr>
        <p:spPr>
          <a:xfrm xmlns:a="http://schemas.openxmlformats.org/drawingml/2006/main">
            <a:off x="571500" y="2047875"/>
            <a:ext cx="14097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C6090"/>
                </a:solidFill>
                <a:latin typeface="Calibri"/>
                <a:ea typeface="Calibri"/>
                <a:cs typeface="Calibri"/>
              </a:defRPr>
            </a:defPPr>
          </a:lstStyle>
          <a:p xmlns:a="http://schemas.openxmlformats.org/drawingml/2006/main">
            <a:pPr algn="l">
              <a:defRPr sz="2100" b="1">
                <a:solidFill>
                  <a:srgbClr val="1C6090"/>
                </a:solidFill>
                <a:latin typeface="Calibri"/>
                <a:ea typeface="Calibri"/>
                <a:cs typeface="Calibri"/>
              </a:defRPr>
            </a:pPr>
            <a:r>
              <a:rPr sz="2100" b="1">
                <a:solidFill>
                  <a:srgbClr val="1C6090"/>
                </a:solidFill>
                <a:latin typeface="Calibri"/>
                <a:ea typeface="Calibri"/>
                <a:cs typeface="Calibri"/>
              </a:rPr>
              <a:t>1  External client federation</a:t>
            </a:r>
          </a:p>
        </p:txBody>
      </p:sp>
      <p:sp>
        <p:nvSpPr>
          <p:cNvPr id="8" name="text-2082">
            <a:extLst xmlns:a="http://schemas.openxmlformats.org/drawingml/2006/main">
              <a:ext uri="{FF2B5EF4-FFF2-40B4-BE49-F238E27FC236}">
                <a16:creationId xmlns:a16="http://schemas.microsoft.com/office/drawing/2014/main" id="{41F703ED-E87C-4A41-870A-47432C009CB0}"/>
              </a:ext>
            </a:extLst>
          </p:cNvPr>
          <p:cNvSpPr>
            <a:spLocks xmlns:a="http://schemas.openxmlformats.org/drawingml/2006/main" noGrp="1"/>
          </p:cNvSpPr>
          <p:nvPr/>
        </p:nvSpPr>
        <p:spPr>
          <a:xfrm xmlns:a="http://schemas.openxmlformats.org/drawingml/2006/main">
            <a:off x="571500" y="2400300"/>
            <a:ext cx="1409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67083"/>
                </a:solidFill>
                <a:latin typeface="Calibri"/>
                <a:ea typeface="Calibri"/>
                <a:cs typeface="Calibri"/>
              </a:defRPr>
            </a:defPPr>
          </a:lstStyle>
          <a:p xmlns:a="http://schemas.openxmlformats.org/drawingml/2006/main">
            <a:pPr algn="l">
              <a:defRPr sz="1725" b="0">
                <a:solidFill>
                  <a:srgbClr val="567083"/>
                </a:solidFill>
                <a:latin typeface="Calibri"/>
                <a:ea typeface="Calibri"/>
                <a:cs typeface="Calibri"/>
              </a:defRPr>
            </a:pPr>
            <a:r>
              <a:rPr sz="1725" b="0">
                <a:solidFill>
                  <a:srgbClr val="567083"/>
                </a:solidFill>
                <a:latin typeface="Calibri"/>
                <a:ea typeface="Calibri"/>
                <a:cs typeface="Calibri"/>
              </a:rPr>
              <a:t>When a client uses its corporate identity provider. Enables corporate sign-in and SSO to client services.</a:t>
            </a:r>
          </a:p>
        </p:txBody>
      </p:sp>
      <p:sp>
        <p:nvSpPr>
          <p:cNvPr id="9" name="diagram-2083">
            <a:extLst xmlns:a="http://schemas.openxmlformats.org/drawingml/2006/main">
              <a:ext uri="{FF2B5EF4-FFF2-40B4-BE49-F238E27FC236}">
                <a16:creationId xmlns:a16="http://schemas.microsoft.com/office/drawing/2014/main" id="{9DCA3609-E819-4A53-9EC3-099A6ED0D579}"/>
              </a:ext>
            </a:extLst>
          </p:cNvPr>
          <p:cNvSpPr>
            <a:spLocks xmlns:a="http://schemas.openxmlformats.org/drawingml/2006/main" noGrp="1"/>
          </p:cNvSpPr>
          <p:nvPr/>
        </p:nvSpPr>
        <p:spPr>
          <a:xfrm xmlns:a="http://schemas.openxmlformats.org/drawingml/2006/main">
            <a:off x="571500" y="2790825"/>
            <a:ext cx="404812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C6090"/>
            </a:solidFill>
          </a:ln>
        </p:spPr>
      </p:sp>
      <p:sp>
        <p:nvSpPr>
          <p:cNvPr id="10" name="text-2084">
            <a:extLst xmlns:a="http://schemas.openxmlformats.org/drawingml/2006/main">
              <a:ext uri="{FF2B5EF4-FFF2-40B4-BE49-F238E27FC236}">
                <a16:creationId xmlns:a16="http://schemas.microsoft.com/office/drawing/2014/main" id="{CD289E75-E5AF-42BA-A991-924D80364FFE}"/>
              </a:ext>
            </a:extLst>
          </p:cNvPr>
          <p:cNvSpPr>
            <a:spLocks xmlns:a="http://schemas.openxmlformats.org/drawingml/2006/main" noGrp="1"/>
          </p:cNvSpPr>
          <p:nvPr/>
        </p:nvSpPr>
        <p:spPr>
          <a:xfrm xmlns:a="http://schemas.openxmlformats.org/drawingml/2006/main">
            <a:off x="685800" y="2876550"/>
            <a:ext cx="38195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C6090"/>
                </a:solidFill>
                <a:latin typeface="Calibri"/>
                <a:ea typeface="Calibri"/>
                <a:cs typeface="Calibri"/>
              </a:defRPr>
            </a:defPPr>
          </a:lstStyle>
          <a:p xmlns:a="http://schemas.openxmlformats.org/drawingml/2006/main">
            <a:pPr algn="ctr">
              <a:defRPr sz="1800" b="1">
                <a:solidFill>
                  <a:srgbClr val="1C6090"/>
                </a:solidFill>
                <a:latin typeface="Calibri"/>
                <a:ea typeface="Calibri"/>
                <a:cs typeface="Calibri"/>
              </a:defRPr>
            </a:pPr>
            <a:r>
              <a:rPr sz="1800" b="1">
                <a:solidFill>
                  <a:srgbClr val="1C6090"/>
                </a:solidFill>
                <a:latin typeface="Calibri"/>
                <a:ea typeface="Calibri"/>
                <a:cs typeface="Calibri"/>
              </a:rPr>
              <a:t>Client organization IdP</a:t>
            </a:r>
          </a:p>
        </p:txBody>
      </p:sp>
      <p:sp>
        <p:nvSpPr>
          <p:cNvPr id="11" name="flow-2085">
            <a:extLst xmlns:a="http://schemas.openxmlformats.org/drawingml/2006/main">
              <a:ext uri="{FF2B5EF4-FFF2-40B4-BE49-F238E27FC236}">
                <a16:creationId xmlns:a16="http://schemas.microsoft.com/office/drawing/2014/main" id="{4E948FD4-9BDD-4B2C-B635-93370F8E6CF7}"/>
              </a:ext>
            </a:extLst>
          </p:cNvPr>
          <p:cNvSpPr>
            <a:spLocks xmlns:a="http://schemas.openxmlformats.org/drawingml/2006/main" noGrp="1"/>
          </p:cNvSpPr>
          <p:nvPr/>
        </p:nvSpPr>
        <p:spPr>
          <a:xfrm xmlns:a="http://schemas.openxmlformats.org/drawingml/2006/main">
            <a:off x="4829175" y="2914650"/>
            <a:ext cx="619125" cy="209550"/>
          </a:xfrm>
          <a:prstGeom xmlns:a="http://schemas.openxmlformats.org/drawingml/2006/main" prst="rightArrow">
            <a:avLst/>
          </a:prstGeom>
          <a:solidFill xmlns:a="http://schemas.openxmlformats.org/drawingml/2006/main">
            <a:srgbClr val="1C6090"/>
          </a:solidFill>
          <a:ln xmlns:a="http://schemas.openxmlformats.org/drawingml/2006/main" w="0">
            <a:noFill/>
          </a:ln>
        </p:spPr>
      </p:sp>
      <p:sp>
        <p:nvSpPr>
          <p:cNvPr id="12" name="diagram-2086">
            <a:extLst xmlns:a="http://schemas.openxmlformats.org/drawingml/2006/main">
              <a:ext uri="{FF2B5EF4-FFF2-40B4-BE49-F238E27FC236}">
                <a16:creationId xmlns:a16="http://schemas.microsoft.com/office/drawing/2014/main" id="{0E708FC5-3BDC-482D-B7FB-4973E22B77AC}"/>
              </a:ext>
            </a:extLst>
          </p:cNvPr>
          <p:cNvSpPr>
            <a:spLocks xmlns:a="http://schemas.openxmlformats.org/drawingml/2006/main" noGrp="1"/>
          </p:cNvSpPr>
          <p:nvPr/>
        </p:nvSpPr>
        <p:spPr>
          <a:xfrm xmlns:a="http://schemas.openxmlformats.org/drawingml/2006/main">
            <a:off x="5667375" y="2790825"/>
            <a:ext cx="261937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C6090"/>
            </a:solidFill>
          </a:ln>
        </p:spPr>
      </p:sp>
      <p:sp>
        <p:nvSpPr>
          <p:cNvPr id="13" name="text-2087">
            <a:extLst xmlns:a="http://schemas.openxmlformats.org/drawingml/2006/main">
              <a:ext uri="{FF2B5EF4-FFF2-40B4-BE49-F238E27FC236}">
                <a16:creationId xmlns:a16="http://schemas.microsoft.com/office/drawing/2014/main" id="{1702D3C3-22A5-4A3E-811A-2030F7303730}"/>
              </a:ext>
            </a:extLst>
          </p:cNvPr>
          <p:cNvSpPr>
            <a:spLocks xmlns:a="http://schemas.openxmlformats.org/drawingml/2006/main" noGrp="1"/>
          </p:cNvSpPr>
          <p:nvPr/>
        </p:nvSpPr>
        <p:spPr>
          <a:xfrm xmlns:a="http://schemas.openxmlformats.org/drawingml/2006/main">
            <a:off x="5781675" y="2876550"/>
            <a:ext cx="239077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C6090"/>
                </a:solidFill>
                <a:latin typeface="Calibri"/>
                <a:ea typeface="Calibri"/>
                <a:cs typeface="Calibri"/>
              </a:defRPr>
            </a:defPPr>
          </a:lstStyle>
          <a:p xmlns:a="http://schemas.openxmlformats.org/drawingml/2006/main">
            <a:pPr algn="ctr">
              <a:defRPr sz="1800" b="1">
                <a:solidFill>
                  <a:srgbClr val="1C6090"/>
                </a:solidFill>
                <a:latin typeface="Calibri"/>
                <a:ea typeface="Calibri"/>
                <a:cs typeface="Calibri"/>
              </a:defRPr>
            </a:pPr>
            <a:r>
              <a:rPr sz="1800" b="1">
                <a:solidFill>
                  <a:srgbClr val="1C6090"/>
                </a:solidFill>
                <a:latin typeface="Calibri"/>
                <a:ea typeface="Calibri"/>
                <a:cs typeface="Calibri"/>
              </a:rPr>
              <a:t>CIAM</a:t>
            </a:r>
          </a:p>
        </p:txBody>
      </p:sp>
      <p:sp>
        <p:nvSpPr>
          <p:cNvPr id="14" name="flow-2088">
            <a:extLst xmlns:a="http://schemas.openxmlformats.org/drawingml/2006/main">
              <a:ext uri="{FF2B5EF4-FFF2-40B4-BE49-F238E27FC236}">
                <a16:creationId xmlns:a16="http://schemas.microsoft.com/office/drawing/2014/main" id="{30305952-A570-405B-9570-8225E0341ABF}"/>
              </a:ext>
            </a:extLst>
          </p:cNvPr>
          <p:cNvSpPr>
            <a:spLocks xmlns:a="http://schemas.openxmlformats.org/drawingml/2006/main" noGrp="1"/>
          </p:cNvSpPr>
          <p:nvPr/>
        </p:nvSpPr>
        <p:spPr>
          <a:xfrm xmlns:a="http://schemas.openxmlformats.org/drawingml/2006/main">
            <a:off x="8572500" y="2914650"/>
            <a:ext cx="619125" cy="209550"/>
          </a:xfrm>
          <a:prstGeom xmlns:a="http://schemas.openxmlformats.org/drawingml/2006/main" prst="rightArrow">
            <a:avLst/>
          </a:prstGeom>
          <a:solidFill xmlns:a="http://schemas.openxmlformats.org/drawingml/2006/main">
            <a:srgbClr val="1C6090"/>
          </a:solidFill>
          <a:ln xmlns:a="http://schemas.openxmlformats.org/drawingml/2006/main" w="0">
            <a:noFill/>
          </a:ln>
        </p:spPr>
      </p:sp>
      <p:sp>
        <p:nvSpPr>
          <p:cNvPr id="15" name="diagram-2089">
            <a:extLst xmlns:a="http://schemas.openxmlformats.org/drawingml/2006/main">
              <a:ext uri="{FF2B5EF4-FFF2-40B4-BE49-F238E27FC236}">
                <a16:creationId xmlns:a16="http://schemas.microsoft.com/office/drawing/2014/main" id="{30B80A38-2FD7-42EE-AC58-D2D23DB5E411}"/>
              </a:ext>
            </a:extLst>
          </p:cNvPr>
          <p:cNvSpPr>
            <a:spLocks xmlns:a="http://schemas.openxmlformats.org/drawingml/2006/main" noGrp="1"/>
          </p:cNvSpPr>
          <p:nvPr/>
        </p:nvSpPr>
        <p:spPr>
          <a:xfrm xmlns:a="http://schemas.openxmlformats.org/drawingml/2006/main">
            <a:off x="9429750" y="2790825"/>
            <a:ext cx="5238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42D40"/>
            </a:solidFill>
          </a:ln>
        </p:spPr>
      </p:sp>
      <p:sp>
        <p:nvSpPr>
          <p:cNvPr id="16" name="text-2090">
            <a:extLst xmlns:a="http://schemas.openxmlformats.org/drawingml/2006/main">
              <a:ext uri="{FF2B5EF4-FFF2-40B4-BE49-F238E27FC236}">
                <a16:creationId xmlns:a16="http://schemas.microsoft.com/office/drawing/2014/main" id="{96D7535A-9B14-49B7-8F7D-8909957A90EB}"/>
              </a:ext>
            </a:extLst>
          </p:cNvPr>
          <p:cNvSpPr>
            <a:spLocks xmlns:a="http://schemas.openxmlformats.org/drawingml/2006/main" noGrp="1"/>
          </p:cNvSpPr>
          <p:nvPr/>
        </p:nvSpPr>
        <p:spPr>
          <a:xfrm xmlns:a="http://schemas.openxmlformats.org/drawingml/2006/main">
            <a:off x="9544050" y="2876550"/>
            <a:ext cx="5010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42D40"/>
                </a:solidFill>
                <a:latin typeface="Calibri"/>
                <a:ea typeface="Calibri"/>
                <a:cs typeface="Calibri"/>
              </a:defRPr>
            </a:defPPr>
          </a:lstStyle>
          <a:p xmlns:a="http://schemas.openxmlformats.org/drawingml/2006/main">
            <a:pPr algn="ctr">
              <a:defRPr sz="1800" b="1">
                <a:solidFill>
                  <a:srgbClr val="142D40"/>
                </a:solidFill>
                <a:latin typeface="Calibri"/>
                <a:ea typeface="Calibri"/>
                <a:cs typeface="Calibri"/>
              </a:defRPr>
            </a:pPr>
            <a:r>
              <a:rPr sz="1800" b="1">
                <a:solidFill>
                  <a:srgbClr val="142D40"/>
                </a:solidFill>
                <a:latin typeface="Calibri"/>
                <a:ea typeface="Calibri"/>
                <a:cs typeface="Calibri"/>
              </a:rPr>
              <a:t>Client application</a:t>
            </a:r>
          </a:p>
        </p:txBody>
      </p:sp>
      <p:sp>
        <p:nvSpPr>
          <p:cNvPr id="17" name="line-2091">
            <a:extLst xmlns:a="http://schemas.openxmlformats.org/drawingml/2006/main">
              <a:ext uri="{FF2B5EF4-FFF2-40B4-BE49-F238E27FC236}">
                <a16:creationId xmlns:a16="http://schemas.microsoft.com/office/drawing/2014/main" id="{BD027897-0852-4FED-A7EB-1436464671CC}"/>
              </a:ext>
            </a:extLst>
          </p:cNvPr>
          <p:cNvSpPr>
            <a:spLocks xmlns:a="http://schemas.openxmlformats.org/drawingml/2006/main" noGrp="1"/>
          </p:cNvSpPr>
          <p:nvPr/>
        </p:nvSpPr>
        <p:spPr>
          <a:xfrm xmlns:a="http://schemas.openxmlformats.org/drawingml/2006/main">
            <a:off x="571500" y="3362325"/>
            <a:ext cx="14097000" cy="0"/>
          </a:xfrm>
          <a:prstGeom xmlns:a="http://schemas.openxmlformats.org/drawingml/2006/main" prst="line">
            <a:avLst/>
          </a:prstGeom>
          <a:noFill xmlns:a="http://schemas.openxmlformats.org/drawingml/2006/main"/>
          <a:ln xmlns:a="http://schemas.openxmlformats.org/drawingml/2006/main" w="13335">
            <a:solidFill>
              <a:srgbClr val="D8E1E8"/>
            </a:solidFill>
          </a:ln>
        </p:spPr>
      </p:sp>
      <p:sp>
        <p:nvSpPr>
          <p:cNvPr id="18" name="text-2092">
            <a:extLst xmlns:a="http://schemas.openxmlformats.org/drawingml/2006/main">
              <a:ext uri="{FF2B5EF4-FFF2-40B4-BE49-F238E27FC236}">
                <a16:creationId xmlns:a16="http://schemas.microsoft.com/office/drawing/2014/main" id="{E286D533-2D89-4EEA-A0E4-82865A519FCD}"/>
              </a:ext>
            </a:extLst>
          </p:cNvPr>
          <p:cNvSpPr>
            <a:spLocks xmlns:a="http://schemas.openxmlformats.org/drawingml/2006/main" noGrp="1"/>
          </p:cNvSpPr>
          <p:nvPr/>
        </p:nvSpPr>
        <p:spPr>
          <a:xfrm xmlns:a="http://schemas.openxmlformats.org/drawingml/2006/main">
            <a:off x="571500" y="3524250"/>
            <a:ext cx="14097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C80"/>
                </a:solidFill>
                <a:latin typeface="Calibri"/>
                <a:ea typeface="Calibri"/>
                <a:cs typeface="Calibri"/>
              </a:defRPr>
            </a:defPPr>
          </a:lstStyle>
          <a:p xmlns:a="http://schemas.openxmlformats.org/drawingml/2006/main">
            <a:pPr algn="l">
              <a:defRPr sz="2100" b="1">
                <a:solidFill>
                  <a:srgbClr val="087C80"/>
                </a:solidFill>
                <a:latin typeface="Calibri"/>
                <a:ea typeface="Calibri"/>
                <a:cs typeface="Calibri"/>
              </a:defRPr>
            </a:pPr>
            <a:r>
              <a:rPr sz="2100" b="1">
                <a:solidFill>
                  <a:srgbClr val="087C80"/>
                </a:solidFill>
                <a:latin typeface="Calibri"/>
                <a:ea typeface="Calibri"/>
                <a:cs typeface="Calibri"/>
              </a:rPr>
              <a:t>2  Direct workforce application federation</a:t>
            </a:r>
          </a:p>
        </p:txBody>
      </p:sp>
      <p:sp>
        <p:nvSpPr>
          <p:cNvPr id="19" name="text-2093">
            <a:extLst xmlns:a="http://schemas.openxmlformats.org/drawingml/2006/main">
              <a:ext uri="{FF2B5EF4-FFF2-40B4-BE49-F238E27FC236}">
                <a16:creationId xmlns:a16="http://schemas.microsoft.com/office/drawing/2014/main" id="{C9E353E0-0F85-44C4-803C-EAF34C74BCE6}"/>
              </a:ext>
            </a:extLst>
          </p:cNvPr>
          <p:cNvSpPr>
            <a:spLocks xmlns:a="http://schemas.openxmlformats.org/drawingml/2006/main" noGrp="1"/>
          </p:cNvSpPr>
          <p:nvPr/>
        </p:nvSpPr>
        <p:spPr>
          <a:xfrm xmlns:a="http://schemas.openxmlformats.org/drawingml/2006/main">
            <a:off x="571500" y="3876675"/>
            <a:ext cx="1409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67083"/>
                </a:solidFill>
                <a:latin typeface="Calibri"/>
                <a:ea typeface="Calibri"/>
                <a:cs typeface="Calibri"/>
              </a:defRPr>
            </a:defPPr>
          </a:lstStyle>
          <a:p xmlns:a="http://schemas.openxmlformats.org/drawingml/2006/main">
            <a:pPr algn="l">
              <a:defRPr sz="1725" b="0">
                <a:solidFill>
                  <a:srgbClr val="567083"/>
                </a:solidFill>
                <a:latin typeface="Calibri"/>
                <a:ea typeface="Calibri"/>
                <a:cs typeface="Calibri"/>
              </a:defRPr>
            </a:pPr>
            <a:r>
              <a:rPr sz="1725" b="0">
                <a:solidFill>
                  <a:srgbClr val="567083"/>
                </a:solidFill>
                <a:latin typeface="Calibri"/>
                <a:ea typeface="Calibri"/>
                <a:cs typeface="Calibri"/>
              </a:rPr>
              <a:t>When an application trusts IDAM directly. Enables employee SSO for approved operating modes.</a:t>
            </a:r>
          </a:p>
        </p:txBody>
      </p:sp>
      <p:sp>
        <p:nvSpPr>
          <p:cNvPr id="20" name="diagram-2094">
            <a:extLst xmlns:a="http://schemas.openxmlformats.org/drawingml/2006/main">
              <a:ext uri="{FF2B5EF4-FFF2-40B4-BE49-F238E27FC236}">
                <a16:creationId xmlns:a16="http://schemas.microsoft.com/office/drawing/2014/main" id="{D68F768A-6552-4202-8601-6ECDC588BBA1}"/>
              </a:ext>
            </a:extLst>
          </p:cNvPr>
          <p:cNvSpPr>
            <a:spLocks xmlns:a="http://schemas.openxmlformats.org/drawingml/2006/main" noGrp="1"/>
          </p:cNvSpPr>
          <p:nvPr/>
        </p:nvSpPr>
        <p:spPr>
          <a:xfrm xmlns:a="http://schemas.openxmlformats.org/drawingml/2006/main">
            <a:off x="571500" y="4267200"/>
            <a:ext cx="47625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087C80"/>
            </a:solidFill>
          </a:ln>
        </p:spPr>
      </p:sp>
      <p:sp>
        <p:nvSpPr>
          <p:cNvPr id="21" name="text-2095">
            <a:extLst xmlns:a="http://schemas.openxmlformats.org/drawingml/2006/main">
              <a:ext uri="{FF2B5EF4-FFF2-40B4-BE49-F238E27FC236}">
                <a16:creationId xmlns:a16="http://schemas.microsoft.com/office/drawing/2014/main" id="{5B57CBAB-63CD-4353-BC31-C4AA90F5EA28}"/>
              </a:ext>
            </a:extLst>
          </p:cNvPr>
          <p:cNvSpPr>
            <a:spLocks xmlns:a="http://schemas.openxmlformats.org/drawingml/2006/main" noGrp="1"/>
          </p:cNvSpPr>
          <p:nvPr/>
        </p:nvSpPr>
        <p:spPr>
          <a:xfrm xmlns:a="http://schemas.openxmlformats.org/drawingml/2006/main">
            <a:off x="685800" y="4352925"/>
            <a:ext cx="4533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087C80"/>
                </a:solidFill>
                <a:latin typeface="Calibri"/>
                <a:ea typeface="Calibri"/>
                <a:cs typeface="Calibri"/>
              </a:defRPr>
            </a:defPPr>
          </a:lstStyle>
          <a:p xmlns:a="http://schemas.openxmlformats.org/drawingml/2006/main">
            <a:pPr algn="ctr">
              <a:defRPr sz="1800" b="1">
                <a:solidFill>
                  <a:srgbClr val="087C80"/>
                </a:solidFill>
                <a:latin typeface="Calibri"/>
                <a:ea typeface="Calibri"/>
                <a:cs typeface="Calibri"/>
              </a:defRPr>
            </a:pPr>
            <a:r>
              <a:rPr sz="1800" b="1">
                <a:solidFill>
                  <a:srgbClr val="087C80"/>
                </a:solidFill>
                <a:latin typeface="Calibri"/>
                <a:ea typeface="Calibri"/>
                <a:cs typeface="Calibri"/>
              </a:rPr>
              <a:t>Workforce IDAM</a:t>
            </a:r>
          </a:p>
        </p:txBody>
      </p:sp>
      <p:sp>
        <p:nvSpPr>
          <p:cNvPr id="22" name="flow-2096">
            <a:extLst xmlns:a="http://schemas.openxmlformats.org/drawingml/2006/main">
              <a:ext uri="{FF2B5EF4-FFF2-40B4-BE49-F238E27FC236}">
                <a16:creationId xmlns:a16="http://schemas.microsoft.com/office/drawing/2014/main" id="{DC9AB065-4800-471A-83D9-C5E66D173CE3}"/>
              </a:ext>
            </a:extLst>
          </p:cNvPr>
          <p:cNvSpPr>
            <a:spLocks xmlns:a="http://schemas.openxmlformats.org/drawingml/2006/main" noGrp="1"/>
          </p:cNvSpPr>
          <p:nvPr/>
        </p:nvSpPr>
        <p:spPr>
          <a:xfrm xmlns:a="http://schemas.openxmlformats.org/drawingml/2006/main">
            <a:off x="6524625" y="4391025"/>
            <a:ext cx="1905000" cy="209550"/>
          </a:xfrm>
          <a:prstGeom xmlns:a="http://schemas.openxmlformats.org/drawingml/2006/main" prst="rightArrow">
            <a:avLst/>
          </a:prstGeom>
          <a:solidFill xmlns:a="http://schemas.openxmlformats.org/drawingml/2006/main">
            <a:srgbClr val="087C80"/>
          </a:solidFill>
          <a:ln xmlns:a="http://schemas.openxmlformats.org/drawingml/2006/main" w="0">
            <a:noFill/>
          </a:ln>
        </p:spPr>
      </p:sp>
      <p:sp>
        <p:nvSpPr>
          <p:cNvPr id="23" name="diagram-2097">
            <a:extLst xmlns:a="http://schemas.openxmlformats.org/drawingml/2006/main">
              <a:ext uri="{FF2B5EF4-FFF2-40B4-BE49-F238E27FC236}">
                <a16:creationId xmlns:a16="http://schemas.microsoft.com/office/drawing/2014/main" id="{9A895639-231C-49B2-8D55-191FB2398B33}"/>
              </a:ext>
            </a:extLst>
          </p:cNvPr>
          <p:cNvSpPr>
            <a:spLocks xmlns:a="http://schemas.openxmlformats.org/drawingml/2006/main" noGrp="1"/>
          </p:cNvSpPr>
          <p:nvPr/>
        </p:nvSpPr>
        <p:spPr>
          <a:xfrm xmlns:a="http://schemas.openxmlformats.org/drawingml/2006/main">
            <a:off x="9667875" y="4267200"/>
            <a:ext cx="500062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42D40"/>
            </a:solidFill>
          </a:ln>
        </p:spPr>
      </p:sp>
      <p:sp>
        <p:nvSpPr>
          <p:cNvPr id="24" name="text-2098">
            <a:extLst xmlns:a="http://schemas.openxmlformats.org/drawingml/2006/main">
              <a:ext uri="{FF2B5EF4-FFF2-40B4-BE49-F238E27FC236}">
                <a16:creationId xmlns:a16="http://schemas.microsoft.com/office/drawing/2014/main" id="{C928AB38-F7DC-4140-B9B7-6C8513A18655}"/>
              </a:ext>
            </a:extLst>
          </p:cNvPr>
          <p:cNvSpPr>
            <a:spLocks xmlns:a="http://schemas.openxmlformats.org/drawingml/2006/main" noGrp="1"/>
          </p:cNvSpPr>
          <p:nvPr/>
        </p:nvSpPr>
        <p:spPr>
          <a:xfrm xmlns:a="http://schemas.openxmlformats.org/drawingml/2006/main">
            <a:off x="9782175" y="4352925"/>
            <a:ext cx="4772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42D40"/>
                </a:solidFill>
                <a:latin typeface="Calibri"/>
                <a:ea typeface="Calibri"/>
                <a:cs typeface="Calibri"/>
              </a:defRPr>
            </a:defPPr>
          </a:lstStyle>
          <a:p xmlns:a="http://schemas.openxmlformats.org/drawingml/2006/main">
            <a:pPr algn="ctr">
              <a:defRPr sz="1800" b="1">
                <a:solidFill>
                  <a:srgbClr val="142D40"/>
                </a:solidFill>
                <a:latin typeface="Calibri"/>
                <a:ea typeface="Calibri"/>
                <a:cs typeface="Calibri"/>
              </a:defRPr>
            </a:pPr>
            <a:r>
              <a:rPr sz="1800" b="1">
                <a:solidFill>
                  <a:srgbClr val="142D40"/>
                </a:solidFill>
                <a:latin typeface="Calibri"/>
                <a:ea typeface="Calibri"/>
                <a:cs typeface="Calibri"/>
              </a:rPr>
              <a:t>Workforce-enabled application</a:t>
            </a:r>
          </a:p>
        </p:txBody>
      </p:sp>
      <p:sp>
        <p:nvSpPr>
          <p:cNvPr id="25" name="line-2099">
            <a:extLst xmlns:a="http://schemas.openxmlformats.org/drawingml/2006/main">
              <a:ext uri="{FF2B5EF4-FFF2-40B4-BE49-F238E27FC236}">
                <a16:creationId xmlns:a16="http://schemas.microsoft.com/office/drawing/2014/main" id="{1B151FE4-B1F8-4D0A-ABF5-CB59E0EAF6C7}"/>
              </a:ext>
            </a:extLst>
          </p:cNvPr>
          <p:cNvSpPr>
            <a:spLocks xmlns:a="http://schemas.openxmlformats.org/drawingml/2006/main" noGrp="1"/>
          </p:cNvSpPr>
          <p:nvPr/>
        </p:nvSpPr>
        <p:spPr>
          <a:xfrm xmlns:a="http://schemas.openxmlformats.org/drawingml/2006/main">
            <a:off x="571500" y="4838700"/>
            <a:ext cx="14097000" cy="0"/>
          </a:xfrm>
          <a:prstGeom xmlns:a="http://schemas.openxmlformats.org/drawingml/2006/main" prst="line">
            <a:avLst/>
          </a:prstGeom>
          <a:noFill xmlns:a="http://schemas.openxmlformats.org/drawingml/2006/main"/>
          <a:ln xmlns:a="http://schemas.openxmlformats.org/drawingml/2006/main" w="13335">
            <a:solidFill>
              <a:srgbClr val="D8E1E8"/>
            </a:solidFill>
          </a:ln>
        </p:spPr>
      </p:sp>
      <p:sp>
        <p:nvSpPr>
          <p:cNvPr id="26" name="text-2100">
            <a:extLst xmlns:a="http://schemas.openxmlformats.org/drawingml/2006/main">
              <a:ext uri="{FF2B5EF4-FFF2-40B4-BE49-F238E27FC236}">
                <a16:creationId xmlns:a16="http://schemas.microsoft.com/office/drawing/2014/main" id="{E7741872-140F-4E0B-A09A-2BAE3267C0C0}"/>
              </a:ext>
            </a:extLst>
          </p:cNvPr>
          <p:cNvSpPr>
            <a:spLocks xmlns:a="http://schemas.openxmlformats.org/drawingml/2006/main" noGrp="1"/>
          </p:cNvSpPr>
          <p:nvPr/>
        </p:nvSpPr>
        <p:spPr>
          <a:xfrm xmlns:a="http://schemas.openxmlformats.org/drawingml/2006/main">
            <a:off x="571500" y="5000625"/>
            <a:ext cx="14097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87C80"/>
                </a:solidFill>
                <a:latin typeface="Calibri"/>
                <a:ea typeface="Calibri"/>
                <a:cs typeface="Calibri"/>
              </a:defRPr>
            </a:defPPr>
          </a:lstStyle>
          <a:p xmlns:a="http://schemas.openxmlformats.org/drawingml/2006/main">
            <a:pPr algn="l">
              <a:defRPr sz="2100" b="1">
                <a:solidFill>
                  <a:srgbClr val="087C80"/>
                </a:solidFill>
                <a:latin typeface="Calibri"/>
                <a:ea typeface="Calibri"/>
                <a:cs typeface="Calibri"/>
              </a:defRPr>
            </a:pPr>
            <a:r>
              <a:rPr sz="2100" b="1">
                <a:solidFill>
                  <a:srgbClr val="087C80"/>
                </a:solidFill>
                <a:latin typeface="Calibri"/>
                <a:ea typeface="Calibri"/>
                <a:cs typeface="Calibri"/>
              </a:rPr>
              <a:t>3  Workforce SSO to CIAM administration</a:t>
            </a:r>
          </a:p>
        </p:txBody>
      </p:sp>
      <p:sp>
        <p:nvSpPr>
          <p:cNvPr id="27" name="text-2101">
            <a:extLst xmlns:a="http://schemas.openxmlformats.org/drawingml/2006/main">
              <a:ext uri="{FF2B5EF4-FFF2-40B4-BE49-F238E27FC236}">
                <a16:creationId xmlns:a16="http://schemas.microsoft.com/office/drawing/2014/main" id="{37A5ECFF-B812-433E-9CF8-AD5712640E95}"/>
              </a:ext>
            </a:extLst>
          </p:cNvPr>
          <p:cNvSpPr>
            <a:spLocks xmlns:a="http://schemas.openxmlformats.org/drawingml/2006/main" noGrp="1"/>
          </p:cNvSpPr>
          <p:nvPr/>
        </p:nvSpPr>
        <p:spPr>
          <a:xfrm xmlns:a="http://schemas.openxmlformats.org/drawingml/2006/main">
            <a:off x="571500" y="5353050"/>
            <a:ext cx="1409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67083"/>
                </a:solidFill>
                <a:latin typeface="Calibri"/>
                <a:ea typeface="Calibri"/>
                <a:cs typeface="Calibri"/>
              </a:defRPr>
            </a:defPPr>
          </a:lstStyle>
          <a:p xmlns:a="http://schemas.openxmlformats.org/drawingml/2006/main">
            <a:pPr algn="l">
              <a:defRPr sz="1725" b="0">
                <a:solidFill>
                  <a:srgbClr val="567083"/>
                </a:solidFill>
                <a:latin typeface="Calibri"/>
                <a:ea typeface="Calibri"/>
                <a:cs typeface="Calibri"/>
              </a:defRPr>
            </a:pPr>
            <a:r>
              <a:rPr sz="1725" b="0">
                <a:solidFill>
                  <a:srgbClr val="567083"/>
                </a:solidFill>
                <a:latin typeface="Calibri"/>
                <a:ea typeface="Calibri"/>
                <a:cs typeface="Calibri"/>
              </a:rPr>
              <a:t>When the CIAM console supports IDAM federation. Enables employee SSO to business or platform administration.</a:t>
            </a:r>
          </a:p>
        </p:txBody>
      </p:sp>
      <p:sp>
        <p:nvSpPr>
          <p:cNvPr id="28" name="diagram-2102">
            <a:extLst xmlns:a="http://schemas.openxmlformats.org/drawingml/2006/main">
              <a:ext uri="{FF2B5EF4-FFF2-40B4-BE49-F238E27FC236}">
                <a16:creationId xmlns:a16="http://schemas.microsoft.com/office/drawing/2014/main" id="{65597801-DF8C-4C1A-A244-530C1B106EAB}"/>
              </a:ext>
            </a:extLst>
          </p:cNvPr>
          <p:cNvSpPr>
            <a:spLocks xmlns:a="http://schemas.openxmlformats.org/drawingml/2006/main" noGrp="1"/>
          </p:cNvSpPr>
          <p:nvPr/>
        </p:nvSpPr>
        <p:spPr>
          <a:xfrm xmlns:a="http://schemas.openxmlformats.org/drawingml/2006/main">
            <a:off x="571500" y="5743575"/>
            <a:ext cx="47625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087C80"/>
            </a:solidFill>
          </a:ln>
        </p:spPr>
      </p:sp>
      <p:sp>
        <p:nvSpPr>
          <p:cNvPr id="29" name="text-2103">
            <a:extLst xmlns:a="http://schemas.openxmlformats.org/drawingml/2006/main">
              <a:ext uri="{FF2B5EF4-FFF2-40B4-BE49-F238E27FC236}">
                <a16:creationId xmlns:a16="http://schemas.microsoft.com/office/drawing/2014/main" id="{F85DD361-0F84-48A4-8C90-F16D1E02F287}"/>
              </a:ext>
            </a:extLst>
          </p:cNvPr>
          <p:cNvSpPr>
            <a:spLocks xmlns:a="http://schemas.openxmlformats.org/drawingml/2006/main" noGrp="1"/>
          </p:cNvSpPr>
          <p:nvPr/>
        </p:nvSpPr>
        <p:spPr>
          <a:xfrm xmlns:a="http://schemas.openxmlformats.org/drawingml/2006/main">
            <a:off x="685800" y="5829300"/>
            <a:ext cx="4533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087C80"/>
                </a:solidFill>
                <a:latin typeface="Calibri"/>
                <a:ea typeface="Calibri"/>
                <a:cs typeface="Calibri"/>
              </a:defRPr>
            </a:defPPr>
          </a:lstStyle>
          <a:p xmlns:a="http://schemas.openxmlformats.org/drawingml/2006/main">
            <a:pPr algn="ctr">
              <a:defRPr sz="1800" b="1">
                <a:solidFill>
                  <a:srgbClr val="087C80"/>
                </a:solidFill>
                <a:latin typeface="Calibri"/>
                <a:ea typeface="Calibri"/>
                <a:cs typeface="Calibri"/>
              </a:defRPr>
            </a:pPr>
            <a:r>
              <a:rPr sz="1800" b="1">
                <a:solidFill>
                  <a:srgbClr val="087C80"/>
                </a:solidFill>
                <a:latin typeface="Calibri"/>
                <a:ea typeface="Calibri"/>
                <a:cs typeface="Calibri"/>
              </a:rPr>
              <a:t>Workforce IDAM</a:t>
            </a:r>
          </a:p>
        </p:txBody>
      </p:sp>
      <p:sp>
        <p:nvSpPr>
          <p:cNvPr id="30" name="flow-2104">
            <a:extLst xmlns:a="http://schemas.openxmlformats.org/drawingml/2006/main">
              <a:ext uri="{FF2B5EF4-FFF2-40B4-BE49-F238E27FC236}">
                <a16:creationId xmlns:a16="http://schemas.microsoft.com/office/drawing/2014/main" id="{771C7376-D11D-41FA-BE1F-AA773C9C39A7}"/>
              </a:ext>
            </a:extLst>
          </p:cNvPr>
          <p:cNvSpPr>
            <a:spLocks xmlns:a="http://schemas.openxmlformats.org/drawingml/2006/main" noGrp="1"/>
          </p:cNvSpPr>
          <p:nvPr/>
        </p:nvSpPr>
        <p:spPr>
          <a:xfrm xmlns:a="http://schemas.openxmlformats.org/drawingml/2006/main">
            <a:off x="6524625" y="5867400"/>
            <a:ext cx="1905000" cy="209550"/>
          </a:xfrm>
          <a:prstGeom xmlns:a="http://schemas.openxmlformats.org/drawingml/2006/main" prst="rightArrow">
            <a:avLst/>
          </a:prstGeom>
          <a:solidFill xmlns:a="http://schemas.openxmlformats.org/drawingml/2006/main">
            <a:srgbClr val="087C80"/>
          </a:solidFill>
          <a:ln xmlns:a="http://schemas.openxmlformats.org/drawingml/2006/main" w="0">
            <a:noFill/>
          </a:ln>
        </p:spPr>
      </p:sp>
      <p:sp>
        <p:nvSpPr>
          <p:cNvPr id="31" name="diagram-2105">
            <a:extLst xmlns:a="http://schemas.openxmlformats.org/drawingml/2006/main">
              <a:ext uri="{FF2B5EF4-FFF2-40B4-BE49-F238E27FC236}">
                <a16:creationId xmlns:a16="http://schemas.microsoft.com/office/drawing/2014/main" id="{A1C17934-FB5C-4DBA-B323-BE357CDA1D1C}"/>
              </a:ext>
            </a:extLst>
          </p:cNvPr>
          <p:cNvSpPr>
            <a:spLocks xmlns:a="http://schemas.openxmlformats.org/drawingml/2006/main" noGrp="1"/>
          </p:cNvSpPr>
          <p:nvPr/>
        </p:nvSpPr>
        <p:spPr>
          <a:xfrm xmlns:a="http://schemas.openxmlformats.org/drawingml/2006/main">
            <a:off x="9667875" y="5743575"/>
            <a:ext cx="500062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C6090"/>
            </a:solidFill>
          </a:ln>
        </p:spPr>
      </p:sp>
      <p:sp>
        <p:nvSpPr>
          <p:cNvPr id="32" name="text-2106">
            <a:extLst xmlns:a="http://schemas.openxmlformats.org/drawingml/2006/main">
              <a:ext uri="{FF2B5EF4-FFF2-40B4-BE49-F238E27FC236}">
                <a16:creationId xmlns:a16="http://schemas.microsoft.com/office/drawing/2014/main" id="{C2950C1C-A01F-4794-A8EB-1B16542AEFEF}"/>
              </a:ext>
            </a:extLst>
          </p:cNvPr>
          <p:cNvSpPr>
            <a:spLocks xmlns:a="http://schemas.openxmlformats.org/drawingml/2006/main" noGrp="1"/>
          </p:cNvSpPr>
          <p:nvPr/>
        </p:nvSpPr>
        <p:spPr>
          <a:xfrm xmlns:a="http://schemas.openxmlformats.org/drawingml/2006/main">
            <a:off x="9782175" y="5829300"/>
            <a:ext cx="4772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C6090"/>
                </a:solidFill>
                <a:latin typeface="Calibri"/>
                <a:ea typeface="Calibri"/>
                <a:cs typeface="Calibri"/>
              </a:defRPr>
            </a:defPPr>
          </a:lstStyle>
          <a:p xmlns:a="http://schemas.openxmlformats.org/drawingml/2006/main">
            <a:pPr algn="ctr">
              <a:defRPr sz="1800" b="1">
                <a:solidFill>
                  <a:srgbClr val="1C6090"/>
                </a:solidFill>
                <a:latin typeface="Calibri"/>
                <a:ea typeface="Calibri"/>
                <a:cs typeface="Calibri"/>
              </a:defRPr>
            </a:pPr>
            <a:r>
              <a:rPr sz="1800" b="1">
                <a:solidFill>
                  <a:srgbClr val="1C6090"/>
                </a:solidFill>
                <a:latin typeface="Calibri"/>
                <a:ea typeface="Calibri"/>
                <a:cs typeface="Calibri"/>
              </a:rPr>
              <a:t>CIAM administration console</a:t>
            </a:r>
          </a:p>
        </p:txBody>
      </p:sp>
      <p:sp>
        <p:nvSpPr>
          <p:cNvPr id="33" name="line-2107">
            <a:extLst xmlns:a="http://schemas.openxmlformats.org/drawingml/2006/main">
              <a:ext uri="{FF2B5EF4-FFF2-40B4-BE49-F238E27FC236}">
                <a16:creationId xmlns:a16="http://schemas.microsoft.com/office/drawing/2014/main" id="{29EB05E9-FFC2-4590-8D7D-7554E6E23A01}"/>
              </a:ext>
            </a:extLst>
          </p:cNvPr>
          <p:cNvSpPr>
            <a:spLocks xmlns:a="http://schemas.openxmlformats.org/drawingml/2006/main" noGrp="1"/>
          </p:cNvSpPr>
          <p:nvPr/>
        </p:nvSpPr>
        <p:spPr>
          <a:xfrm xmlns:a="http://schemas.openxmlformats.org/drawingml/2006/main">
            <a:off x="571500" y="6315075"/>
            <a:ext cx="14097000" cy="0"/>
          </a:xfrm>
          <a:prstGeom xmlns:a="http://schemas.openxmlformats.org/drawingml/2006/main" prst="line">
            <a:avLst/>
          </a:prstGeom>
          <a:noFill xmlns:a="http://schemas.openxmlformats.org/drawingml/2006/main"/>
          <a:ln xmlns:a="http://schemas.openxmlformats.org/drawingml/2006/main" w="13335">
            <a:solidFill>
              <a:srgbClr val="D8E1E8"/>
            </a:solidFill>
          </a:ln>
        </p:spPr>
      </p:sp>
      <p:sp>
        <p:nvSpPr>
          <p:cNvPr id="34" name="text-2108">
            <a:extLst xmlns:a="http://schemas.openxmlformats.org/drawingml/2006/main">
              <a:ext uri="{FF2B5EF4-FFF2-40B4-BE49-F238E27FC236}">
                <a16:creationId xmlns:a16="http://schemas.microsoft.com/office/drawing/2014/main" id="{F33DB302-0533-4556-AC40-34004C4E66DD}"/>
              </a:ext>
            </a:extLst>
          </p:cNvPr>
          <p:cNvSpPr>
            <a:spLocks xmlns:a="http://schemas.openxmlformats.org/drawingml/2006/main" noGrp="1"/>
          </p:cNvSpPr>
          <p:nvPr/>
        </p:nvSpPr>
        <p:spPr>
          <a:xfrm xmlns:a="http://schemas.openxmlformats.org/drawingml/2006/main">
            <a:off x="571500" y="6477000"/>
            <a:ext cx="14097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94641C"/>
                </a:solidFill>
                <a:latin typeface="Calibri"/>
                <a:ea typeface="Calibri"/>
                <a:cs typeface="Calibri"/>
              </a:defRPr>
            </a:defPPr>
          </a:lstStyle>
          <a:p xmlns:a="http://schemas.openxmlformats.org/drawingml/2006/main">
            <a:pPr algn="l">
              <a:defRPr sz="2100" b="1">
                <a:solidFill>
                  <a:srgbClr val="94641C"/>
                </a:solidFill>
                <a:latin typeface="Calibri"/>
                <a:ea typeface="Calibri"/>
                <a:cs typeface="Calibri"/>
              </a:defRPr>
            </a:pPr>
            <a:r>
              <a:rPr sz="2100" b="1">
                <a:solidFill>
                  <a:srgbClr val="94641C"/>
                </a:solidFill>
                <a:latin typeface="Calibri"/>
                <a:ea typeface="Calibri"/>
                <a:cs typeface="Calibri"/>
              </a:rPr>
              <a:t>4  Workforce access through a CIAM broker - conditional integration</a:t>
            </a:r>
          </a:p>
        </p:txBody>
      </p:sp>
      <p:sp>
        <p:nvSpPr>
          <p:cNvPr id="35" name="text-2109">
            <a:extLst xmlns:a="http://schemas.openxmlformats.org/drawingml/2006/main">
              <a:ext uri="{FF2B5EF4-FFF2-40B4-BE49-F238E27FC236}">
                <a16:creationId xmlns:a16="http://schemas.microsoft.com/office/drawing/2014/main" id="{6A2E04C0-509A-4E9F-BEF5-D395FEA86DA1}"/>
              </a:ext>
            </a:extLst>
          </p:cNvPr>
          <p:cNvSpPr>
            <a:spLocks xmlns:a="http://schemas.openxmlformats.org/drawingml/2006/main" noGrp="1"/>
          </p:cNvSpPr>
          <p:nvPr/>
        </p:nvSpPr>
        <p:spPr>
          <a:xfrm xmlns:a="http://schemas.openxmlformats.org/drawingml/2006/main">
            <a:off x="571500" y="6829425"/>
            <a:ext cx="14097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67083"/>
                </a:solidFill>
                <a:latin typeface="Calibri"/>
                <a:ea typeface="Calibri"/>
                <a:cs typeface="Calibri"/>
              </a:defRPr>
            </a:defPPr>
          </a:lstStyle>
          <a:p xmlns:a="http://schemas.openxmlformats.org/drawingml/2006/main">
            <a:pPr algn="l">
              <a:defRPr sz="1725" b="0">
                <a:solidFill>
                  <a:srgbClr val="567083"/>
                </a:solidFill>
                <a:latin typeface="Calibri"/>
                <a:ea typeface="Calibri"/>
                <a:cs typeface="Calibri"/>
              </a:defRPr>
            </a:pPr>
            <a:r>
              <a:rPr sz="1725" b="0">
                <a:solidFill>
                  <a:srgbClr val="567083"/>
                </a:solidFill>
                <a:latin typeface="Calibri"/>
                <a:ea typeface="Calibri"/>
                <a:cs typeface="Calibri"/>
              </a:rPr>
              <a:t>When application integration needs justify brokering. Requires agreed trust, access controls and architecture approval.</a:t>
            </a:r>
          </a:p>
        </p:txBody>
      </p:sp>
      <p:sp>
        <p:nvSpPr>
          <p:cNvPr id="36" name="diagram-2110">
            <a:extLst xmlns:a="http://schemas.openxmlformats.org/drawingml/2006/main">
              <a:ext uri="{FF2B5EF4-FFF2-40B4-BE49-F238E27FC236}">
                <a16:creationId xmlns:a16="http://schemas.microsoft.com/office/drawing/2014/main" id="{A792A904-522C-4EE1-9ADD-FDC609A3F9A6}"/>
              </a:ext>
            </a:extLst>
          </p:cNvPr>
          <p:cNvSpPr>
            <a:spLocks xmlns:a="http://schemas.openxmlformats.org/drawingml/2006/main" noGrp="1"/>
          </p:cNvSpPr>
          <p:nvPr/>
        </p:nvSpPr>
        <p:spPr>
          <a:xfrm xmlns:a="http://schemas.openxmlformats.org/drawingml/2006/main">
            <a:off x="571500" y="7219950"/>
            <a:ext cx="361950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087C80"/>
            </a:solidFill>
          </a:ln>
        </p:spPr>
      </p:sp>
      <p:sp>
        <p:nvSpPr>
          <p:cNvPr id="37" name="text-2111">
            <a:extLst xmlns:a="http://schemas.openxmlformats.org/drawingml/2006/main">
              <a:ext uri="{FF2B5EF4-FFF2-40B4-BE49-F238E27FC236}">
                <a16:creationId xmlns:a16="http://schemas.microsoft.com/office/drawing/2014/main" id="{F1372B51-931E-4198-B470-419320A9EEA9}"/>
              </a:ext>
            </a:extLst>
          </p:cNvPr>
          <p:cNvSpPr>
            <a:spLocks xmlns:a="http://schemas.openxmlformats.org/drawingml/2006/main" noGrp="1"/>
          </p:cNvSpPr>
          <p:nvPr/>
        </p:nvSpPr>
        <p:spPr>
          <a:xfrm xmlns:a="http://schemas.openxmlformats.org/drawingml/2006/main">
            <a:off x="685800" y="7305675"/>
            <a:ext cx="33909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087C80"/>
                </a:solidFill>
                <a:latin typeface="Calibri"/>
                <a:ea typeface="Calibri"/>
                <a:cs typeface="Calibri"/>
              </a:defRPr>
            </a:defPPr>
          </a:lstStyle>
          <a:p xmlns:a="http://schemas.openxmlformats.org/drawingml/2006/main">
            <a:pPr algn="ctr">
              <a:defRPr sz="1800" b="1">
                <a:solidFill>
                  <a:srgbClr val="087C80"/>
                </a:solidFill>
                <a:latin typeface="Calibri"/>
                <a:ea typeface="Calibri"/>
                <a:cs typeface="Calibri"/>
              </a:defRPr>
            </a:pPr>
            <a:r>
              <a:rPr sz="1800" b="1">
                <a:solidFill>
                  <a:srgbClr val="087C80"/>
                </a:solidFill>
                <a:latin typeface="Calibri"/>
                <a:ea typeface="Calibri"/>
                <a:cs typeface="Calibri"/>
              </a:rPr>
              <a:t>Workforce IDAM</a:t>
            </a:r>
          </a:p>
        </p:txBody>
      </p:sp>
      <p:sp>
        <p:nvSpPr>
          <p:cNvPr id="38" name="flow-2112">
            <a:extLst xmlns:a="http://schemas.openxmlformats.org/drawingml/2006/main">
              <a:ext uri="{FF2B5EF4-FFF2-40B4-BE49-F238E27FC236}">
                <a16:creationId xmlns:a16="http://schemas.microsoft.com/office/drawing/2014/main" id="{B8B029EC-95E6-464F-BC11-B295538E776A}"/>
              </a:ext>
            </a:extLst>
          </p:cNvPr>
          <p:cNvSpPr>
            <a:spLocks xmlns:a="http://schemas.openxmlformats.org/drawingml/2006/main" noGrp="1"/>
          </p:cNvSpPr>
          <p:nvPr/>
        </p:nvSpPr>
        <p:spPr>
          <a:xfrm xmlns:a="http://schemas.openxmlformats.org/drawingml/2006/main">
            <a:off x="4429125" y="7343775"/>
            <a:ext cx="619125" cy="209550"/>
          </a:xfrm>
          <a:prstGeom xmlns:a="http://schemas.openxmlformats.org/drawingml/2006/main" prst="rightArrow">
            <a:avLst/>
          </a:prstGeom>
          <a:solidFill xmlns:a="http://schemas.openxmlformats.org/drawingml/2006/main">
            <a:srgbClr val="94641C"/>
          </a:solidFill>
          <a:ln xmlns:a="http://schemas.openxmlformats.org/drawingml/2006/main" w="0">
            <a:noFill/>
          </a:ln>
        </p:spPr>
      </p:sp>
      <p:sp>
        <p:nvSpPr>
          <p:cNvPr id="39" name="diagram-2113">
            <a:extLst xmlns:a="http://schemas.openxmlformats.org/drawingml/2006/main">
              <a:ext uri="{FF2B5EF4-FFF2-40B4-BE49-F238E27FC236}">
                <a16:creationId xmlns:a16="http://schemas.microsoft.com/office/drawing/2014/main" id="{55916F5A-0D0C-4CE3-A0F2-C3329748A683}"/>
              </a:ext>
            </a:extLst>
          </p:cNvPr>
          <p:cNvSpPr>
            <a:spLocks xmlns:a="http://schemas.openxmlformats.org/drawingml/2006/main" noGrp="1"/>
          </p:cNvSpPr>
          <p:nvPr/>
        </p:nvSpPr>
        <p:spPr>
          <a:xfrm xmlns:a="http://schemas.openxmlformats.org/drawingml/2006/main">
            <a:off x="5286375" y="7219950"/>
            <a:ext cx="366712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94641C"/>
            </a:solidFill>
          </a:ln>
        </p:spPr>
      </p:sp>
      <p:sp>
        <p:nvSpPr>
          <p:cNvPr id="40" name="text-2114">
            <a:extLst xmlns:a="http://schemas.openxmlformats.org/drawingml/2006/main">
              <a:ext uri="{FF2B5EF4-FFF2-40B4-BE49-F238E27FC236}">
                <a16:creationId xmlns:a16="http://schemas.microsoft.com/office/drawing/2014/main" id="{F6DE4E9A-7C1E-4383-8B8B-EBBF6ECCBD53}"/>
              </a:ext>
            </a:extLst>
          </p:cNvPr>
          <p:cNvSpPr>
            <a:spLocks xmlns:a="http://schemas.openxmlformats.org/drawingml/2006/main" noGrp="1"/>
          </p:cNvSpPr>
          <p:nvPr/>
        </p:nvSpPr>
        <p:spPr>
          <a:xfrm xmlns:a="http://schemas.openxmlformats.org/drawingml/2006/main">
            <a:off x="5400675" y="7305675"/>
            <a:ext cx="34385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94641C"/>
                </a:solidFill>
                <a:latin typeface="Calibri"/>
                <a:ea typeface="Calibri"/>
                <a:cs typeface="Calibri"/>
              </a:defRPr>
            </a:defPPr>
          </a:lstStyle>
          <a:p xmlns:a="http://schemas.openxmlformats.org/drawingml/2006/main">
            <a:pPr algn="ctr">
              <a:defRPr sz="1800" b="1">
                <a:solidFill>
                  <a:srgbClr val="94641C"/>
                </a:solidFill>
                <a:latin typeface="Calibri"/>
                <a:ea typeface="Calibri"/>
                <a:cs typeface="Calibri"/>
              </a:defRPr>
            </a:pPr>
            <a:r>
              <a:rPr sz="1800" b="1">
                <a:solidFill>
                  <a:srgbClr val="94641C"/>
                </a:solidFill>
                <a:latin typeface="Calibri"/>
                <a:ea typeface="Calibri"/>
                <a:cs typeface="Calibri"/>
              </a:rPr>
              <a:t>CIAM broker</a:t>
            </a:r>
          </a:p>
        </p:txBody>
      </p:sp>
      <p:sp>
        <p:nvSpPr>
          <p:cNvPr id="41" name="flow-2115">
            <a:extLst xmlns:a="http://schemas.openxmlformats.org/drawingml/2006/main">
              <a:ext uri="{FF2B5EF4-FFF2-40B4-BE49-F238E27FC236}">
                <a16:creationId xmlns:a16="http://schemas.microsoft.com/office/drawing/2014/main" id="{200C9547-886B-47DA-AC12-B9DCD1433D14}"/>
              </a:ext>
            </a:extLst>
          </p:cNvPr>
          <p:cNvSpPr>
            <a:spLocks xmlns:a="http://schemas.openxmlformats.org/drawingml/2006/main" noGrp="1"/>
          </p:cNvSpPr>
          <p:nvPr/>
        </p:nvSpPr>
        <p:spPr>
          <a:xfrm xmlns:a="http://schemas.openxmlformats.org/drawingml/2006/main">
            <a:off x="9191625" y="7343775"/>
            <a:ext cx="619125" cy="209550"/>
          </a:xfrm>
          <a:prstGeom xmlns:a="http://schemas.openxmlformats.org/drawingml/2006/main" prst="rightArrow">
            <a:avLst/>
          </a:prstGeom>
          <a:solidFill xmlns:a="http://schemas.openxmlformats.org/drawingml/2006/main">
            <a:srgbClr val="94641C"/>
          </a:solidFill>
          <a:ln xmlns:a="http://schemas.openxmlformats.org/drawingml/2006/main" w="0">
            <a:noFill/>
          </a:ln>
        </p:spPr>
      </p:sp>
      <p:sp>
        <p:nvSpPr>
          <p:cNvPr id="42" name="diagram-2116">
            <a:extLst xmlns:a="http://schemas.openxmlformats.org/drawingml/2006/main">
              <a:ext uri="{FF2B5EF4-FFF2-40B4-BE49-F238E27FC236}">
                <a16:creationId xmlns:a16="http://schemas.microsoft.com/office/drawing/2014/main" id="{1CAF63F7-786D-4B92-9C5E-5B48EFBE11F0}"/>
              </a:ext>
            </a:extLst>
          </p:cNvPr>
          <p:cNvSpPr>
            <a:spLocks xmlns:a="http://schemas.openxmlformats.org/drawingml/2006/main" noGrp="1"/>
          </p:cNvSpPr>
          <p:nvPr/>
        </p:nvSpPr>
        <p:spPr>
          <a:xfrm xmlns:a="http://schemas.openxmlformats.org/drawingml/2006/main">
            <a:off x="10048875" y="7219950"/>
            <a:ext cx="4619625"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142D40"/>
            </a:solidFill>
          </a:ln>
        </p:spPr>
      </p:sp>
      <p:sp>
        <p:nvSpPr>
          <p:cNvPr id="43" name="text-2117">
            <a:extLst xmlns:a="http://schemas.openxmlformats.org/drawingml/2006/main">
              <a:ext uri="{FF2B5EF4-FFF2-40B4-BE49-F238E27FC236}">
                <a16:creationId xmlns:a16="http://schemas.microsoft.com/office/drawing/2014/main" id="{CA3BF9B5-8B3E-4969-B579-C887F838407D}"/>
              </a:ext>
            </a:extLst>
          </p:cNvPr>
          <p:cNvSpPr>
            <a:spLocks xmlns:a="http://schemas.openxmlformats.org/drawingml/2006/main" noGrp="1"/>
          </p:cNvSpPr>
          <p:nvPr/>
        </p:nvSpPr>
        <p:spPr>
          <a:xfrm xmlns:a="http://schemas.openxmlformats.org/drawingml/2006/main">
            <a:off x="10163175" y="7305675"/>
            <a:ext cx="43910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00" b="1">
                <a:solidFill>
                  <a:srgbClr val="142D40"/>
                </a:solidFill>
                <a:latin typeface="Calibri"/>
                <a:ea typeface="Calibri"/>
                <a:cs typeface="Calibri"/>
              </a:defRPr>
            </a:defPPr>
          </a:lstStyle>
          <a:p xmlns:a="http://schemas.openxmlformats.org/drawingml/2006/main">
            <a:pPr algn="ctr">
              <a:defRPr sz="1800" b="1">
                <a:solidFill>
                  <a:srgbClr val="142D40"/>
                </a:solidFill>
                <a:latin typeface="Calibri"/>
                <a:ea typeface="Calibri"/>
                <a:cs typeface="Calibri"/>
              </a:defRPr>
            </a:pPr>
            <a:r>
              <a:rPr sz="1800" b="1">
                <a:solidFill>
                  <a:srgbClr val="142D40"/>
                </a:solidFill>
                <a:latin typeface="Calibri"/>
                <a:ea typeface="Calibri"/>
                <a:cs typeface="Calibri"/>
              </a:rPr>
              <a:t>Client application</a:t>
            </a:r>
          </a:p>
        </p:txBody>
      </p:sp>
      <p:sp>
        <p:nvSpPr>
          <p:cNvPr id="44" name="text-2118">
            <a:extLst xmlns:a="http://schemas.openxmlformats.org/drawingml/2006/main">
              <a:ext uri="{FF2B5EF4-FFF2-40B4-BE49-F238E27FC236}">
                <a16:creationId xmlns:a16="http://schemas.microsoft.com/office/drawing/2014/main" id="{6176FF83-94D0-4728-9F58-CF5FEEF7600E}"/>
              </a:ext>
            </a:extLst>
          </p:cNvPr>
          <p:cNvSpPr>
            <a:spLocks xmlns:a="http://schemas.openxmlformats.org/drawingml/2006/main" noGrp="1"/>
          </p:cNvSpPr>
          <p:nvPr/>
        </p:nvSpPr>
        <p:spPr>
          <a:xfrm xmlns:a="http://schemas.openxmlformats.org/drawingml/2006/main">
            <a:off x="571500" y="7791450"/>
            <a:ext cx="14097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67083"/>
                </a:solidFill>
                <a:latin typeface="Calibri"/>
                <a:ea typeface="Calibri"/>
                <a:cs typeface="Calibri"/>
              </a:defRPr>
            </a:defPPr>
          </a:lstStyle>
          <a:p xmlns:a="http://schemas.openxmlformats.org/drawingml/2006/main">
            <a:pPr algn="l">
              <a:defRPr sz="1500" b="0">
                <a:solidFill>
                  <a:srgbClr val="567083"/>
                </a:solidFill>
                <a:latin typeface="Calibri"/>
                <a:ea typeface="Calibri"/>
                <a:cs typeface="Calibri"/>
              </a:defRPr>
            </a:pPr>
            <a:r>
              <a:rPr sz="1500" b="0">
                <a:solidFill>
                  <a:srgbClr val="567083"/>
                </a:solidFill>
                <a:latin typeface="Calibri"/>
                <a:ea typeface="Calibri"/>
                <a:cs typeface="Calibri"/>
              </a:rPr>
              <a:t>Logical assertion paths using SAML / OIDC. Administration SSO ends at the console. Brokering continues to an application.</a:t>
            </a:r>
          </a:p>
        </p:txBody>
      </p:sp>
    </p:spTree>
    <p:extLst>
      <p:ext uri="{BB962C8B-B14F-4D97-AF65-F5344CB8AC3E}">
        <p14:creationId xmlns:p14="http://schemas.microsoft.com/office/powerpoint/2010/main" val="14104477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2026-10-08T21:51:46.9130000Z</dcterms:created>
  <dcterms:modified xsi:type="dcterms:W3CDTF">2026-10-08T21:51:46.9130000Z</dcterms:modified>
</coreProperties>
</file>